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6" r:id="rId1"/>
    <p:sldMasterId id="2147483820" r:id="rId2"/>
    <p:sldMasterId id="2147483808" r:id="rId3"/>
  </p:sldMasterIdLst>
  <p:notesMasterIdLst>
    <p:notesMasterId r:id="rId43"/>
  </p:notesMasterIdLst>
  <p:handoutMasterIdLst>
    <p:handoutMasterId r:id="rId44"/>
  </p:handoutMasterIdLst>
  <p:sldIdLst>
    <p:sldId id="272" r:id="rId4"/>
    <p:sldId id="340" r:id="rId5"/>
    <p:sldId id="354" r:id="rId6"/>
    <p:sldId id="2502" r:id="rId7"/>
    <p:sldId id="336" r:id="rId8"/>
    <p:sldId id="337" r:id="rId9"/>
    <p:sldId id="2510" r:id="rId10"/>
    <p:sldId id="2509" r:id="rId11"/>
    <p:sldId id="761" r:id="rId12"/>
    <p:sldId id="265" r:id="rId13"/>
    <p:sldId id="266" r:id="rId14"/>
    <p:sldId id="268" r:id="rId15"/>
    <p:sldId id="269" r:id="rId16"/>
    <p:sldId id="270" r:id="rId17"/>
    <p:sldId id="271" r:id="rId18"/>
    <p:sldId id="755" r:id="rId19"/>
    <p:sldId id="273" r:id="rId20"/>
    <p:sldId id="274" r:id="rId21"/>
    <p:sldId id="275" r:id="rId22"/>
    <p:sldId id="276" r:id="rId23"/>
    <p:sldId id="280" r:id="rId24"/>
    <p:sldId id="281" r:id="rId25"/>
    <p:sldId id="748" r:id="rId26"/>
    <p:sldId id="759" r:id="rId27"/>
    <p:sldId id="760" r:id="rId28"/>
    <p:sldId id="355" r:id="rId29"/>
    <p:sldId id="357" r:id="rId30"/>
    <p:sldId id="358" r:id="rId31"/>
    <p:sldId id="356" r:id="rId32"/>
    <p:sldId id="758" r:id="rId33"/>
    <p:sldId id="258" r:id="rId34"/>
    <p:sldId id="2482" r:id="rId35"/>
    <p:sldId id="2480" r:id="rId36"/>
    <p:sldId id="2484" r:id="rId37"/>
    <p:sldId id="2486" r:id="rId38"/>
    <p:sldId id="2503" r:id="rId39"/>
    <p:sldId id="2514" r:id="rId40"/>
    <p:sldId id="2515" r:id="rId41"/>
    <p:sldId id="320" r:id="rId42"/>
  </p:sldIdLst>
  <p:sldSz cx="12192000" cy="6858000"/>
  <p:notesSz cx="6735763" cy="98663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56" autoAdjust="0"/>
    <p:restoredTop sz="93447" autoAdjust="0"/>
  </p:normalViewPr>
  <p:slideViewPr>
    <p:cSldViewPr snapToGrid="0">
      <p:cViewPr varScale="1">
        <p:scale>
          <a:sx n="74" d="100"/>
          <a:sy n="74" d="100"/>
        </p:scale>
        <p:origin x="39" y="222"/>
      </p:cViewPr>
      <p:guideLst/>
    </p:cSldViewPr>
  </p:slideViewPr>
  <p:notesTextViewPr>
    <p:cViewPr>
      <p:scale>
        <a:sx n="1" d="1"/>
        <a:sy n="1" d="1"/>
      </p:scale>
      <p:origin x="0" y="0"/>
    </p:cViewPr>
  </p:notesTextViewPr>
  <p:notesViewPr>
    <p:cSldViewPr snapToGrid="0">
      <p:cViewPr varScale="1">
        <p:scale>
          <a:sx n="44" d="100"/>
          <a:sy n="44" d="100"/>
        </p:scale>
        <p:origin x="2860" y="5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viewProps" Target="viewProps.xml"/><Relationship Id="rId20" Type="http://schemas.openxmlformats.org/officeDocument/2006/relationships/slide" Target="slides/slide17.xml"/><Relationship Id="rId41" Type="http://schemas.openxmlformats.org/officeDocument/2006/relationships/slide" Target="slides/slide38.xml"/></Relationships>
</file>

<file path=ppt/charts/_rels/chart1.xml.rels><?xml version="1.0" encoding="UTF-8" standalone="yes"?>
<Relationships xmlns="http://schemas.openxmlformats.org/package/2006/relationships"><Relationship Id="rId3" Type="http://schemas.openxmlformats.org/officeDocument/2006/relationships/oleObject" Target="file:///\\172.16.0.5\wind\REVIEW%20MEETINGS\28052025\Previous%20years_12032025.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172.16.0.5\wind\REVIEW%20MEETINGS\11072025\Previous%20years_07082025.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0119238327970816E-2"/>
          <c:y val="3.3274669445496827E-2"/>
          <c:w val="0.92566192041767381"/>
          <c:h val="0.77524736596467769"/>
        </c:manualLayout>
      </c:layout>
      <c:barChart>
        <c:barDir val="col"/>
        <c:grouping val="stacked"/>
        <c:varyColors val="0"/>
        <c:ser>
          <c:idx val="0"/>
          <c:order val="0"/>
          <c:tx>
            <c:strRef>
              <c:f>'YoY progress'!$B$215</c:f>
              <c:strCache>
                <c:ptCount val="1"/>
                <c:pt idx="0">
                  <c:v>Commissioned</c:v>
                </c:pt>
              </c:strCache>
            </c:strRef>
          </c:tx>
          <c:spPr>
            <a:solidFill>
              <a:schemeClr val="accent6"/>
            </a:solidFill>
            <a:ln>
              <a:noFill/>
            </a:ln>
            <a:effectLst/>
          </c:spPr>
          <c:invertIfNegative val="0"/>
          <c:dLbls>
            <c:dLbl>
              <c:idx val="7"/>
              <c:layout>
                <c:manualLayout>
                  <c:x val="0"/>
                  <c:y val="-2.288506830382000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9FD-4829-A30A-2EEFEAB7405D}"/>
                </c:ext>
              </c:extLst>
            </c:dLbl>
            <c:numFmt formatCode="#&quot;&quot;" sourceLinked="0"/>
            <c:spPr>
              <a:noFill/>
              <a:ln>
                <a:noFill/>
              </a:ln>
              <a:effectLst/>
            </c:spPr>
            <c:txPr>
              <a:bodyPr rot="0" spcFirstLastPara="1" vertOverflow="ellipsis" vert="horz" wrap="square" anchor="ctr" anchorCtr="1"/>
              <a:lstStyle/>
              <a:p>
                <a:pPr>
                  <a:defRPr sz="18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'YoY progress'!$A$216:$A$224</c:f>
              <c:strCache>
                <c:ptCount val="9"/>
                <c:pt idx="0">
                  <c:v>FY 2018-19</c:v>
                </c:pt>
                <c:pt idx="1">
                  <c:v>FY 2019-20</c:v>
                </c:pt>
                <c:pt idx="2">
                  <c:v>FY 2020-21</c:v>
                </c:pt>
                <c:pt idx="3">
                  <c:v>FY 2021-22</c:v>
                </c:pt>
                <c:pt idx="4">
                  <c:v>FY 2022-23</c:v>
                </c:pt>
                <c:pt idx="5">
                  <c:v>FY 2023-24</c:v>
                </c:pt>
                <c:pt idx="6">
                  <c:v>FY 2024-25</c:v>
                </c:pt>
                <c:pt idx="7">
                  <c:v>FY 2025-26</c:v>
                </c:pt>
                <c:pt idx="8">
                  <c:v>FY 2026-27</c:v>
                </c:pt>
              </c:strCache>
            </c:strRef>
          </c:cat>
          <c:val>
            <c:numRef>
              <c:f>'YoY progress'!$B$216:$B$224</c:f>
              <c:numCache>
                <c:formatCode>0.00</c:formatCode>
                <c:ptCount val="9"/>
                <c:pt idx="0">
                  <c:v>728.68999999999994</c:v>
                </c:pt>
                <c:pt idx="1">
                  <c:v>1232.7100000000003</c:v>
                </c:pt>
                <c:pt idx="2">
                  <c:v>1123</c:v>
                </c:pt>
                <c:pt idx="3">
                  <c:v>742.50000000000011</c:v>
                </c:pt>
                <c:pt idx="4">
                  <c:v>973.49999999999989</c:v>
                </c:pt>
                <c:pt idx="5">
                  <c:v>1208.3</c:v>
                </c:pt>
                <c:pt idx="6">
                  <c:v>1082.81</c:v>
                </c:pt>
                <c:pt idx="7">
                  <c:v>32.399999999995998</c:v>
                </c:pt>
                <c:pt idx="8">
                  <c:v>0</c:v>
                </c:pt>
              </c:numCache>
            </c:numRef>
          </c:val>
          <c:extLst>
            <c:ext xmlns:c16="http://schemas.microsoft.com/office/drawing/2014/chart" uri="{C3380CC4-5D6E-409C-BE32-E72D297353CC}">
              <c16:uniqueId val="{00000000-479B-4CA1-B9E8-FBE7685F6B64}"/>
            </c:ext>
          </c:extLst>
        </c:ser>
        <c:ser>
          <c:idx val="1"/>
          <c:order val="1"/>
          <c:tx>
            <c:strRef>
              <c:f>'YoY progress'!$C$215</c:f>
              <c:strCache>
                <c:ptCount val="1"/>
                <c:pt idx="0">
                  <c:v>Proposed</c:v>
                </c:pt>
              </c:strCache>
            </c:strRef>
          </c:tx>
          <c:spPr>
            <a:solidFill>
              <a:schemeClr val="accent5"/>
            </a:solidFill>
            <a:ln>
              <a:noFill/>
            </a:ln>
            <a:effectLst/>
          </c:spPr>
          <c:invertIfNegative val="0"/>
          <c:dLbls>
            <c:dLbl>
              <c:idx val="4"/>
              <c:layout>
                <c:manualLayout>
                  <c:x val="0"/>
                  <c:y val="-3.652967286013778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79B-4CA1-B9E8-FBE7685F6B64}"/>
                </c:ext>
              </c:extLst>
            </c:dLbl>
            <c:dLbl>
              <c:idx val="5"/>
              <c:layout>
                <c:manualLayout>
                  <c:x val="-1.8958147024275703E-16"/>
                  <c:y val="-0.1278538550104822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79B-4CA1-B9E8-FBE7685F6B64}"/>
                </c:ext>
              </c:extLst>
            </c:dLbl>
            <c:dLbl>
              <c:idx val="6"/>
              <c:layout>
                <c:manualLayout>
                  <c:x val="-2.5852577746518814E-3"/>
                  <c:y val="-8.871491980319186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79B-4CA1-B9E8-FBE7685F6B64}"/>
                </c:ext>
              </c:extLst>
            </c:dLbl>
            <c:dLbl>
              <c:idx val="7"/>
              <c:layout>
                <c:manualLayout>
                  <c:x val="-2.3786879154330792E-3"/>
                  <c:y val="-7.429916730786895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79B-4CA1-B9E8-FBE7685F6B64}"/>
                </c:ext>
              </c:extLst>
            </c:dLbl>
            <c:dLbl>
              <c:idx val="8"/>
              <c:layout>
                <c:manualLayout>
                  <c:x val="0"/>
                  <c:y val="-0.1067022616574195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79B-4CA1-B9E8-FBE7685F6B64}"/>
                </c:ext>
              </c:extLst>
            </c:dLbl>
            <c:numFmt formatCode="#&quot;&quot;" sourceLinked="0"/>
            <c:spPr>
              <a:noFill/>
              <a:ln>
                <a:noFill/>
              </a:ln>
              <a:effectLst/>
            </c:spPr>
            <c:txPr>
              <a:bodyPr rot="0" spcFirstLastPara="1" vertOverflow="ellipsis" vert="horz" wrap="square" anchor="ctr" anchorCtr="1"/>
              <a:lstStyle/>
              <a:p>
                <a:pPr>
                  <a:defRPr sz="20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'YoY progress'!$A$216:$A$224</c:f>
              <c:strCache>
                <c:ptCount val="9"/>
                <c:pt idx="0">
                  <c:v>FY 2018-19</c:v>
                </c:pt>
                <c:pt idx="1">
                  <c:v>FY 2019-20</c:v>
                </c:pt>
                <c:pt idx="2">
                  <c:v>FY 2020-21</c:v>
                </c:pt>
                <c:pt idx="3">
                  <c:v>FY 2021-22</c:v>
                </c:pt>
                <c:pt idx="4">
                  <c:v>FY 2022-23</c:v>
                </c:pt>
                <c:pt idx="5">
                  <c:v>FY 2023-24</c:v>
                </c:pt>
                <c:pt idx="6">
                  <c:v>FY 2024-25</c:v>
                </c:pt>
                <c:pt idx="7">
                  <c:v>FY 2025-26</c:v>
                </c:pt>
                <c:pt idx="8">
                  <c:v>FY 2026-27</c:v>
                </c:pt>
              </c:strCache>
            </c:strRef>
          </c:cat>
          <c:val>
            <c:numRef>
              <c:f>'YoY progress'!$C$216:$C$224</c:f>
              <c:numCache>
                <c:formatCode>0</c:formatCode>
                <c:ptCount val="9"/>
                <c:pt idx="0">
                  <c:v>0</c:v>
                </c:pt>
                <c:pt idx="1">
                  <c:v>0</c:v>
                </c:pt>
                <c:pt idx="2">
                  <c:v>0</c:v>
                </c:pt>
                <c:pt idx="3">
                  <c:v>0</c:v>
                </c:pt>
                <c:pt idx="4">
                  <c:v>0</c:v>
                </c:pt>
                <c:pt idx="5">
                  <c:v>0</c:v>
                </c:pt>
                <c:pt idx="6" formatCode="0.0">
                  <c:v>0</c:v>
                </c:pt>
                <c:pt idx="7" formatCode="0.0">
                  <c:v>1033.400000000004</c:v>
                </c:pt>
                <c:pt idx="8" formatCode="0.0">
                  <c:v>1525</c:v>
                </c:pt>
              </c:numCache>
            </c:numRef>
          </c:val>
          <c:extLst>
            <c:ext xmlns:c16="http://schemas.microsoft.com/office/drawing/2014/chart" uri="{C3380CC4-5D6E-409C-BE32-E72D297353CC}">
              <c16:uniqueId val="{00000006-479B-4CA1-B9E8-FBE7685F6B64}"/>
            </c:ext>
          </c:extLst>
        </c:ser>
        <c:dLbls>
          <c:showLegendKey val="0"/>
          <c:showVal val="0"/>
          <c:showCatName val="0"/>
          <c:showSerName val="0"/>
          <c:showPercent val="0"/>
          <c:showBubbleSize val="0"/>
        </c:dLbls>
        <c:gapWidth val="150"/>
        <c:overlap val="100"/>
        <c:axId val="476548640"/>
        <c:axId val="476552560"/>
      </c:barChart>
      <c:lineChart>
        <c:grouping val="standard"/>
        <c:varyColors val="0"/>
        <c:ser>
          <c:idx val="2"/>
          <c:order val="2"/>
          <c:tx>
            <c:strRef>
              <c:f>'YoY progress'!$D$215</c:f>
              <c:strCache>
                <c:ptCount val="1"/>
                <c:pt idx="0">
                  <c:v>Cumulative (Comm. + Prop.)</c:v>
                </c:pt>
              </c:strCache>
            </c:strRef>
          </c:tx>
          <c:spPr>
            <a:ln w="28575" cap="rnd">
              <a:solidFill>
                <a:schemeClr val="accent4"/>
              </a:solidFill>
              <a:round/>
            </a:ln>
            <a:effectLst/>
          </c:spPr>
          <c:marker>
            <c:symbol val="none"/>
          </c:marker>
          <c:dLbls>
            <c:numFmt formatCode="#&quot;&quot;" sourceLinked="0"/>
            <c:spPr>
              <a:noFill/>
              <a:ln>
                <a:noFill/>
              </a:ln>
              <a:effectLst/>
            </c:spPr>
            <c:txPr>
              <a:bodyPr rot="0" spcFirstLastPara="1" vertOverflow="ellipsis" vert="horz" wrap="square" anchor="ctr" anchorCtr="1"/>
              <a:lstStyle/>
              <a:p>
                <a:pPr>
                  <a:defRPr sz="24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noFill/>
                      <a:round/>
                    </a:ln>
                    <a:effectLst/>
                  </c:spPr>
                </c15:leaderLines>
              </c:ext>
            </c:extLst>
          </c:dLbls>
          <c:cat>
            <c:strRef>
              <c:f>'YoY progress'!$A$216:$A$224</c:f>
              <c:strCache>
                <c:ptCount val="9"/>
                <c:pt idx="0">
                  <c:v>FY 2018-19</c:v>
                </c:pt>
                <c:pt idx="1">
                  <c:v>FY 2019-20</c:v>
                </c:pt>
                <c:pt idx="2">
                  <c:v>FY 2020-21</c:v>
                </c:pt>
                <c:pt idx="3">
                  <c:v>FY 2021-22</c:v>
                </c:pt>
                <c:pt idx="4">
                  <c:v>FY 2022-23</c:v>
                </c:pt>
                <c:pt idx="5">
                  <c:v>FY 2023-24</c:v>
                </c:pt>
                <c:pt idx="6">
                  <c:v>FY 2024-25</c:v>
                </c:pt>
                <c:pt idx="7">
                  <c:v>FY 2025-26</c:v>
                </c:pt>
                <c:pt idx="8">
                  <c:v>FY 2026-27</c:v>
                </c:pt>
              </c:strCache>
            </c:strRef>
          </c:cat>
          <c:val>
            <c:numRef>
              <c:f>'YoY progress'!$D$216:$D$224</c:f>
              <c:numCache>
                <c:formatCode>0.0</c:formatCode>
                <c:ptCount val="9"/>
                <c:pt idx="0">
                  <c:v>728.68999999999994</c:v>
                </c:pt>
                <c:pt idx="1">
                  <c:v>1961.4</c:v>
                </c:pt>
                <c:pt idx="2">
                  <c:v>3084.4</c:v>
                </c:pt>
                <c:pt idx="3">
                  <c:v>3826.9</c:v>
                </c:pt>
                <c:pt idx="4">
                  <c:v>4800.3999999999996</c:v>
                </c:pt>
                <c:pt idx="5">
                  <c:v>6008.7</c:v>
                </c:pt>
                <c:pt idx="6">
                  <c:v>7091.51</c:v>
                </c:pt>
                <c:pt idx="7">
                  <c:v>8157.31</c:v>
                </c:pt>
                <c:pt idx="8">
                  <c:v>9682.3100000000013</c:v>
                </c:pt>
              </c:numCache>
            </c:numRef>
          </c:val>
          <c:smooth val="0"/>
          <c:extLst>
            <c:ext xmlns:c16="http://schemas.microsoft.com/office/drawing/2014/chart" uri="{C3380CC4-5D6E-409C-BE32-E72D297353CC}">
              <c16:uniqueId val="{00000007-479B-4CA1-B9E8-FBE7685F6B64}"/>
            </c:ext>
          </c:extLst>
        </c:ser>
        <c:dLbls>
          <c:showLegendKey val="0"/>
          <c:showVal val="0"/>
          <c:showCatName val="0"/>
          <c:showSerName val="0"/>
          <c:showPercent val="0"/>
          <c:showBubbleSize val="0"/>
        </c:dLbls>
        <c:marker val="1"/>
        <c:smooth val="0"/>
        <c:axId val="476548640"/>
        <c:axId val="476552560"/>
      </c:lineChart>
      <c:catAx>
        <c:axId val="476548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476552560"/>
        <c:crosses val="autoZero"/>
        <c:auto val="1"/>
        <c:lblAlgn val="ctr"/>
        <c:lblOffset val="100"/>
        <c:noMultiLvlLbl val="0"/>
      </c:catAx>
      <c:valAx>
        <c:axId val="476552560"/>
        <c:scaling>
          <c:orientation val="minMax"/>
        </c:scaling>
        <c:delete val="1"/>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2400" b="1"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GB" sz="2400" b="1"/>
                  <a:t>Capacity (MW)</a:t>
                </a:r>
              </a:p>
            </c:rich>
          </c:tx>
          <c:overlay val="0"/>
          <c:spPr>
            <a:noFill/>
            <a:ln>
              <a:noFill/>
            </a:ln>
            <a:effectLst/>
          </c:spPr>
          <c:txPr>
            <a:bodyPr rot="-5400000" spcFirstLastPara="1" vertOverflow="ellipsis" vert="horz" wrap="square" anchor="ctr" anchorCtr="1"/>
            <a:lstStyle/>
            <a:p>
              <a:pPr>
                <a:defRPr sz="2400" b="1"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numFmt formatCode="0.00" sourceLinked="1"/>
        <c:majorTickMark val="out"/>
        <c:minorTickMark val="none"/>
        <c:tickLblPos val="nextTo"/>
        <c:crossAx val="4765486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800" b="1"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600">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8120213655253506"/>
          <c:y val="5.07433449350842E-2"/>
          <c:w val="0.73474294582641442"/>
          <c:h val="0.4848101978283969"/>
        </c:manualLayout>
      </c:layout>
      <c:barChart>
        <c:barDir val="col"/>
        <c:grouping val="clustered"/>
        <c:varyColors val="0"/>
        <c:ser>
          <c:idx val="0"/>
          <c:order val="0"/>
          <c:tx>
            <c:strRef>
              <c:f>'Tranche-wise'!$E$2</c:f>
              <c:strCache>
                <c:ptCount val="1"/>
                <c:pt idx="0">
                  <c:v>Awarded (MW)</c:v>
                </c:pt>
              </c:strCache>
            </c:strRef>
          </c:tx>
          <c:spPr>
            <a:solidFill>
              <a:schemeClr val="accent2"/>
            </a:solidFill>
            <a:ln>
              <a:noFill/>
            </a:ln>
            <a:effectLst/>
          </c:spPr>
          <c:invertIfNegative val="0"/>
          <c:cat>
            <c:strRef>
              <c:f>'Tranche-wise'!$B$4:$B$19</c:f>
              <c:strCache>
                <c:ptCount val="16"/>
                <c:pt idx="0">
                  <c:v>T-II</c:v>
                </c:pt>
                <c:pt idx="1">
                  <c:v>T-III</c:v>
                </c:pt>
                <c:pt idx="2">
                  <c:v>T-IV</c:v>
                </c:pt>
                <c:pt idx="3">
                  <c:v>T-V</c:v>
                </c:pt>
                <c:pt idx="4">
                  <c:v>T-VI</c:v>
                </c:pt>
                <c:pt idx="5">
                  <c:v>T-VII</c:v>
                </c:pt>
                <c:pt idx="6">
                  <c:v>T-VIII</c:v>
                </c:pt>
                <c:pt idx="7">
                  <c:v>T-IX</c:v>
                </c:pt>
                <c:pt idx="8">
                  <c:v>T-X</c:v>
                </c:pt>
                <c:pt idx="9">
                  <c:v>T-XI</c:v>
                </c:pt>
                <c:pt idx="10">
                  <c:v>T-XII</c:v>
                </c:pt>
                <c:pt idx="11">
                  <c:v>T-XIII</c:v>
                </c:pt>
                <c:pt idx="12">
                  <c:v>T-XIV</c:v>
                </c:pt>
                <c:pt idx="13">
                  <c:v>T-XV</c:v>
                </c:pt>
                <c:pt idx="14">
                  <c:v>T-XVI</c:v>
                </c:pt>
                <c:pt idx="15">
                  <c:v>T-XVII</c:v>
                </c:pt>
              </c:strCache>
            </c:strRef>
          </c:cat>
          <c:val>
            <c:numRef>
              <c:f>'Tranche-wise'!$E$4:$E$19</c:f>
              <c:numCache>
                <c:formatCode>General</c:formatCode>
                <c:ptCount val="16"/>
                <c:pt idx="0">
                  <c:v>1000</c:v>
                </c:pt>
                <c:pt idx="1">
                  <c:v>2000</c:v>
                </c:pt>
                <c:pt idx="2">
                  <c:v>2000</c:v>
                </c:pt>
                <c:pt idx="3">
                  <c:v>1190</c:v>
                </c:pt>
                <c:pt idx="4">
                  <c:v>1200</c:v>
                </c:pt>
                <c:pt idx="5">
                  <c:v>480</c:v>
                </c:pt>
                <c:pt idx="6">
                  <c:v>440.8</c:v>
                </c:pt>
                <c:pt idx="7">
                  <c:v>970</c:v>
                </c:pt>
                <c:pt idx="8">
                  <c:v>1200</c:v>
                </c:pt>
                <c:pt idx="9">
                  <c:v>1200</c:v>
                </c:pt>
                <c:pt idx="10">
                  <c:v>1100</c:v>
                </c:pt>
                <c:pt idx="11">
                  <c:v>600</c:v>
                </c:pt>
                <c:pt idx="12">
                  <c:v>690</c:v>
                </c:pt>
                <c:pt idx="13">
                  <c:v>0</c:v>
                </c:pt>
                <c:pt idx="14">
                  <c:v>1175</c:v>
                </c:pt>
                <c:pt idx="15">
                  <c:v>100</c:v>
                </c:pt>
              </c:numCache>
            </c:numRef>
          </c:val>
          <c:extLst>
            <c:ext xmlns:c16="http://schemas.microsoft.com/office/drawing/2014/chart" uri="{C3380CC4-5D6E-409C-BE32-E72D297353CC}">
              <c16:uniqueId val="{00000000-1949-44D6-98D4-9792DE3F63C1}"/>
            </c:ext>
          </c:extLst>
        </c:ser>
        <c:ser>
          <c:idx val="1"/>
          <c:order val="1"/>
          <c:tx>
            <c:strRef>
              <c:f>'Tranche-wise'!$F$2</c:f>
              <c:strCache>
                <c:ptCount val="1"/>
                <c:pt idx="0">
                  <c:v>PPA Signed (MW)</c:v>
                </c:pt>
              </c:strCache>
            </c:strRef>
          </c:tx>
          <c:spPr>
            <a:solidFill>
              <a:schemeClr val="accent4"/>
            </a:solidFill>
            <a:ln>
              <a:noFill/>
            </a:ln>
            <a:effectLst/>
          </c:spPr>
          <c:invertIfNegative val="0"/>
          <c:cat>
            <c:strRef>
              <c:f>'Tranche-wise'!$B$4:$B$19</c:f>
              <c:strCache>
                <c:ptCount val="16"/>
                <c:pt idx="0">
                  <c:v>T-II</c:v>
                </c:pt>
                <c:pt idx="1">
                  <c:v>T-III</c:v>
                </c:pt>
                <c:pt idx="2">
                  <c:v>T-IV</c:v>
                </c:pt>
                <c:pt idx="3">
                  <c:v>T-V</c:v>
                </c:pt>
                <c:pt idx="4">
                  <c:v>T-VI</c:v>
                </c:pt>
                <c:pt idx="5">
                  <c:v>T-VII</c:v>
                </c:pt>
                <c:pt idx="6">
                  <c:v>T-VIII</c:v>
                </c:pt>
                <c:pt idx="7">
                  <c:v>T-IX</c:v>
                </c:pt>
                <c:pt idx="8">
                  <c:v>T-X</c:v>
                </c:pt>
                <c:pt idx="9">
                  <c:v>T-XI</c:v>
                </c:pt>
                <c:pt idx="10">
                  <c:v>T-XII</c:v>
                </c:pt>
                <c:pt idx="11">
                  <c:v>T-XIII</c:v>
                </c:pt>
                <c:pt idx="12">
                  <c:v>T-XIV</c:v>
                </c:pt>
                <c:pt idx="13">
                  <c:v>T-XV</c:v>
                </c:pt>
                <c:pt idx="14">
                  <c:v>T-XVI</c:v>
                </c:pt>
                <c:pt idx="15">
                  <c:v>T-XVII</c:v>
                </c:pt>
              </c:strCache>
            </c:strRef>
          </c:cat>
          <c:val>
            <c:numRef>
              <c:f>'Tranche-wise'!$F$4:$F$19</c:f>
              <c:numCache>
                <c:formatCode>0</c:formatCode>
                <c:ptCount val="16"/>
                <c:pt idx="0">
                  <c:v>1000</c:v>
                </c:pt>
                <c:pt idx="1">
                  <c:v>2000</c:v>
                </c:pt>
                <c:pt idx="2">
                  <c:v>2000</c:v>
                </c:pt>
                <c:pt idx="3">
                  <c:v>1190</c:v>
                </c:pt>
                <c:pt idx="4">
                  <c:v>1075</c:v>
                </c:pt>
                <c:pt idx="5">
                  <c:v>280</c:v>
                </c:pt>
                <c:pt idx="6" formatCode="0.00">
                  <c:v>440.64</c:v>
                </c:pt>
                <c:pt idx="7">
                  <c:v>970</c:v>
                </c:pt>
                <c:pt idx="8">
                  <c:v>1200</c:v>
                </c:pt>
                <c:pt idx="9">
                  <c:v>1200</c:v>
                </c:pt>
                <c:pt idx="10">
                  <c:v>800</c:v>
                </c:pt>
                <c:pt idx="11" formatCode="General">
                  <c:v>600</c:v>
                </c:pt>
                <c:pt idx="12" formatCode="General">
                  <c:v>500</c:v>
                </c:pt>
                <c:pt idx="13" formatCode="General">
                  <c:v>0</c:v>
                </c:pt>
                <c:pt idx="14" formatCode="General">
                  <c:v>1175</c:v>
                </c:pt>
                <c:pt idx="15" formatCode="General">
                  <c:v>100</c:v>
                </c:pt>
              </c:numCache>
            </c:numRef>
          </c:val>
          <c:extLst>
            <c:ext xmlns:c16="http://schemas.microsoft.com/office/drawing/2014/chart" uri="{C3380CC4-5D6E-409C-BE32-E72D297353CC}">
              <c16:uniqueId val="{00000001-1949-44D6-98D4-9792DE3F63C1}"/>
            </c:ext>
          </c:extLst>
        </c:ser>
        <c:ser>
          <c:idx val="2"/>
          <c:order val="2"/>
          <c:tx>
            <c:strRef>
              <c:f>'Tranche-wise'!$G$2</c:f>
              <c:strCache>
                <c:ptCount val="1"/>
                <c:pt idx="0">
                  <c:v>Commissioned (MW)</c:v>
                </c:pt>
              </c:strCache>
            </c:strRef>
          </c:tx>
          <c:spPr>
            <a:solidFill>
              <a:schemeClr val="accent6"/>
            </a:solidFill>
            <a:ln>
              <a:noFill/>
            </a:ln>
            <a:effectLst/>
          </c:spPr>
          <c:invertIfNegative val="0"/>
          <c:cat>
            <c:strRef>
              <c:f>'Tranche-wise'!$B$4:$B$19</c:f>
              <c:strCache>
                <c:ptCount val="16"/>
                <c:pt idx="0">
                  <c:v>T-II</c:v>
                </c:pt>
                <c:pt idx="1">
                  <c:v>T-III</c:v>
                </c:pt>
                <c:pt idx="2">
                  <c:v>T-IV</c:v>
                </c:pt>
                <c:pt idx="3">
                  <c:v>T-V</c:v>
                </c:pt>
                <c:pt idx="4">
                  <c:v>T-VI</c:v>
                </c:pt>
                <c:pt idx="5">
                  <c:v>T-VII</c:v>
                </c:pt>
                <c:pt idx="6">
                  <c:v>T-VIII</c:v>
                </c:pt>
                <c:pt idx="7">
                  <c:v>T-IX</c:v>
                </c:pt>
                <c:pt idx="8">
                  <c:v>T-X</c:v>
                </c:pt>
                <c:pt idx="9">
                  <c:v>T-XI</c:v>
                </c:pt>
                <c:pt idx="10">
                  <c:v>T-XII</c:v>
                </c:pt>
                <c:pt idx="11">
                  <c:v>T-XIII</c:v>
                </c:pt>
                <c:pt idx="12">
                  <c:v>T-XIV</c:v>
                </c:pt>
                <c:pt idx="13">
                  <c:v>T-XV</c:v>
                </c:pt>
                <c:pt idx="14">
                  <c:v>T-XVI</c:v>
                </c:pt>
                <c:pt idx="15">
                  <c:v>T-XVII</c:v>
                </c:pt>
              </c:strCache>
            </c:strRef>
          </c:cat>
          <c:val>
            <c:numRef>
              <c:f>'Tranche-wise'!$G$4:$G$19</c:f>
              <c:numCache>
                <c:formatCode>0.0</c:formatCode>
                <c:ptCount val="16"/>
                <c:pt idx="0">
                  <c:v>760.1</c:v>
                </c:pt>
                <c:pt idx="1">
                  <c:v>950.2</c:v>
                </c:pt>
                <c:pt idx="2">
                  <c:v>721.9</c:v>
                </c:pt>
                <c:pt idx="3">
                  <c:v>621.5</c:v>
                </c:pt>
                <c:pt idx="4" formatCode="0">
                  <c:v>973</c:v>
                </c:pt>
                <c:pt idx="5" formatCode="0">
                  <c:v>180</c:v>
                </c:pt>
                <c:pt idx="6">
                  <c:v>250.71</c:v>
                </c:pt>
                <c:pt idx="7">
                  <c:v>862</c:v>
                </c:pt>
                <c:pt idx="8" formatCode="0">
                  <c:v>750</c:v>
                </c:pt>
                <c:pt idx="9">
                  <c:v>54.6</c:v>
                </c:pt>
                <c:pt idx="10" formatCode="0">
                  <c:v>0</c:v>
                </c:pt>
                <c:pt idx="11" formatCode="0">
                  <c:v>0</c:v>
                </c:pt>
                <c:pt idx="12" formatCode="0">
                  <c:v>0</c:v>
                </c:pt>
                <c:pt idx="13" formatCode="0">
                  <c:v>0</c:v>
                </c:pt>
                <c:pt idx="14" formatCode="0">
                  <c:v>0</c:v>
                </c:pt>
                <c:pt idx="15" formatCode="0">
                  <c:v>0</c:v>
                </c:pt>
              </c:numCache>
            </c:numRef>
          </c:val>
          <c:extLst>
            <c:ext xmlns:c16="http://schemas.microsoft.com/office/drawing/2014/chart" uri="{C3380CC4-5D6E-409C-BE32-E72D297353CC}">
              <c16:uniqueId val="{00000002-1949-44D6-98D4-9792DE3F63C1}"/>
            </c:ext>
          </c:extLst>
        </c:ser>
        <c:ser>
          <c:idx val="4"/>
          <c:order val="3"/>
          <c:tx>
            <c:strRef>
              <c:f>'Tranche-wise'!$P$2</c:f>
              <c:strCache>
                <c:ptCount val="1"/>
                <c:pt idx="0">
                  <c:v>Not coming up/ Not likely to come up</c:v>
                </c:pt>
              </c:strCache>
            </c:strRef>
          </c:tx>
          <c:spPr>
            <a:solidFill>
              <a:schemeClr val="accent4">
                <a:lumMod val="60000"/>
              </a:schemeClr>
            </a:solidFill>
            <a:ln>
              <a:noFill/>
            </a:ln>
            <a:effectLst/>
          </c:spPr>
          <c:invertIfNegative val="0"/>
          <c:cat>
            <c:strRef>
              <c:f>'Tranche-wise'!$B$4:$B$19</c:f>
              <c:strCache>
                <c:ptCount val="16"/>
                <c:pt idx="0">
                  <c:v>T-II</c:v>
                </c:pt>
                <c:pt idx="1">
                  <c:v>T-III</c:v>
                </c:pt>
                <c:pt idx="2">
                  <c:v>T-IV</c:v>
                </c:pt>
                <c:pt idx="3">
                  <c:v>T-V</c:v>
                </c:pt>
                <c:pt idx="4">
                  <c:v>T-VI</c:v>
                </c:pt>
                <c:pt idx="5">
                  <c:v>T-VII</c:v>
                </c:pt>
                <c:pt idx="6">
                  <c:v>T-VIII</c:v>
                </c:pt>
                <c:pt idx="7">
                  <c:v>T-IX</c:v>
                </c:pt>
                <c:pt idx="8">
                  <c:v>T-X</c:v>
                </c:pt>
                <c:pt idx="9">
                  <c:v>T-XI</c:v>
                </c:pt>
                <c:pt idx="10">
                  <c:v>T-XII</c:v>
                </c:pt>
                <c:pt idx="11">
                  <c:v>T-XIII</c:v>
                </c:pt>
                <c:pt idx="12">
                  <c:v>T-XIV</c:v>
                </c:pt>
                <c:pt idx="13">
                  <c:v>T-XV</c:v>
                </c:pt>
                <c:pt idx="14">
                  <c:v>T-XVI</c:v>
                </c:pt>
                <c:pt idx="15">
                  <c:v>T-XVII</c:v>
                </c:pt>
              </c:strCache>
            </c:strRef>
          </c:cat>
          <c:val>
            <c:numRef>
              <c:f>'Tranche-wise'!$P$4:$P$19</c:f>
              <c:numCache>
                <c:formatCode>0</c:formatCode>
                <c:ptCount val="16"/>
                <c:pt idx="0">
                  <c:v>239.9</c:v>
                </c:pt>
                <c:pt idx="1">
                  <c:v>1049.8</c:v>
                </c:pt>
                <c:pt idx="2">
                  <c:v>1278.0999999999999</c:v>
                </c:pt>
                <c:pt idx="3">
                  <c:v>568.5</c:v>
                </c:pt>
                <c:pt idx="4">
                  <c:v>102</c:v>
                </c:pt>
                <c:pt idx="5">
                  <c:v>100</c:v>
                </c:pt>
                <c:pt idx="6">
                  <c:v>189.92999999999998</c:v>
                </c:pt>
                <c:pt idx="7">
                  <c:v>0</c:v>
                </c:pt>
                <c:pt idx="8">
                  <c:v>450</c:v>
                </c:pt>
                <c:pt idx="9">
                  <c:v>1020</c:v>
                </c:pt>
                <c:pt idx="10">
                  <c:v>0</c:v>
                </c:pt>
                <c:pt idx="11">
                  <c:v>600</c:v>
                </c:pt>
                <c:pt idx="12">
                  <c:v>200</c:v>
                </c:pt>
                <c:pt idx="13">
                  <c:v>0</c:v>
                </c:pt>
                <c:pt idx="14">
                  <c:v>0</c:v>
                </c:pt>
                <c:pt idx="15">
                  <c:v>50</c:v>
                </c:pt>
              </c:numCache>
            </c:numRef>
          </c:val>
          <c:extLst>
            <c:ext xmlns:c16="http://schemas.microsoft.com/office/drawing/2014/chart" uri="{C3380CC4-5D6E-409C-BE32-E72D297353CC}">
              <c16:uniqueId val="{00000003-1949-44D6-98D4-9792DE3F63C1}"/>
            </c:ext>
          </c:extLst>
        </c:ser>
        <c:dLbls>
          <c:showLegendKey val="0"/>
          <c:showVal val="0"/>
          <c:showCatName val="0"/>
          <c:showSerName val="0"/>
          <c:showPercent val="0"/>
          <c:showBubbleSize val="0"/>
        </c:dLbls>
        <c:gapWidth val="150"/>
        <c:axId val="476554520"/>
        <c:axId val="476554912"/>
      </c:barChart>
      <c:lineChart>
        <c:grouping val="standard"/>
        <c:varyColors val="0"/>
        <c:ser>
          <c:idx val="3"/>
          <c:order val="4"/>
          <c:tx>
            <c:strRef>
              <c:f>'Tranche-wise'!$D$2</c:f>
              <c:strCache>
                <c:ptCount val="1"/>
                <c:pt idx="0">
                  <c:v>Maximum Tariff
(INR/kWh)</c:v>
                </c:pt>
              </c:strCache>
            </c:strRef>
          </c:tx>
          <c:spPr>
            <a:ln w="28575" cap="rnd">
              <a:solidFill>
                <a:schemeClr val="accent2">
                  <a:lumMod val="60000"/>
                </a:schemeClr>
              </a:solidFill>
              <a:round/>
            </a:ln>
            <a:effectLst/>
          </c:spPr>
          <c:marker>
            <c:symbol val="none"/>
          </c:marker>
          <c:cat>
            <c:strRef>
              <c:f>'Tranche-wise'!$B$4:$B$20</c:f>
              <c:strCache>
                <c:ptCount val="17"/>
                <c:pt idx="0">
                  <c:v>T-II</c:v>
                </c:pt>
                <c:pt idx="1">
                  <c:v>T-III</c:v>
                </c:pt>
                <c:pt idx="2">
                  <c:v>T-IV</c:v>
                </c:pt>
                <c:pt idx="3">
                  <c:v>T-V</c:v>
                </c:pt>
                <c:pt idx="4">
                  <c:v>T-VI</c:v>
                </c:pt>
                <c:pt idx="5">
                  <c:v>T-VII</c:v>
                </c:pt>
                <c:pt idx="6">
                  <c:v>T-VIII</c:v>
                </c:pt>
                <c:pt idx="7">
                  <c:v>T-IX</c:v>
                </c:pt>
                <c:pt idx="8">
                  <c:v>T-X</c:v>
                </c:pt>
                <c:pt idx="9">
                  <c:v>T-XI</c:v>
                </c:pt>
                <c:pt idx="10">
                  <c:v>T-XII</c:v>
                </c:pt>
                <c:pt idx="11">
                  <c:v>T-XIII</c:v>
                </c:pt>
                <c:pt idx="12">
                  <c:v>T-XIV</c:v>
                </c:pt>
                <c:pt idx="13">
                  <c:v>T-XV</c:v>
                </c:pt>
                <c:pt idx="14">
                  <c:v>T-XVI</c:v>
                </c:pt>
                <c:pt idx="15">
                  <c:v>T-XVII</c:v>
                </c:pt>
                <c:pt idx="16">
                  <c:v>T-XVIII</c:v>
                </c:pt>
              </c:strCache>
            </c:strRef>
          </c:cat>
          <c:val>
            <c:numRef>
              <c:f>'Tranche-wise'!$D$4:$D$19</c:f>
              <c:numCache>
                <c:formatCode>General</c:formatCode>
                <c:ptCount val="16"/>
                <c:pt idx="0">
                  <c:v>2.65</c:v>
                </c:pt>
                <c:pt idx="1">
                  <c:v>2.4500000000000002</c:v>
                </c:pt>
                <c:pt idx="2">
                  <c:v>2.52</c:v>
                </c:pt>
                <c:pt idx="3">
                  <c:v>2.77</c:v>
                </c:pt>
                <c:pt idx="4">
                  <c:v>2.83</c:v>
                </c:pt>
                <c:pt idx="5">
                  <c:v>2.83</c:v>
                </c:pt>
                <c:pt idx="6">
                  <c:v>2.84</c:v>
                </c:pt>
                <c:pt idx="7" formatCode="0.00">
                  <c:v>3</c:v>
                </c:pt>
                <c:pt idx="8">
                  <c:v>2.78</c:v>
                </c:pt>
                <c:pt idx="9" formatCode="0.00">
                  <c:v>2.7</c:v>
                </c:pt>
                <c:pt idx="10">
                  <c:v>2.94</c:v>
                </c:pt>
                <c:pt idx="11">
                  <c:v>2.95</c:v>
                </c:pt>
                <c:pt idx="12">
                  <c:v>3.24</c:v>
                </c:pt>
                <c:pt idx="13">
                  <c:v>4.01</c:v>
                </c:pt>
                <c:pt idx="14" formatCode="0.00">
                  <c:v>3.7</c:v>
                </c:pt>
                <c:pt idx="15">
                  <c:v>3.82</c:v>
                </c:pt>
              </c:numCache>
            </c:numRef>
          </c:val>
          <c:smooth val="0"/>
          <c:extLst>
            <c:ext xmlns:c16="http://schemas.microsoft.com/office/drawing/2014/chart" uri="{C3380CC4-5D6E-409C-BE32-E72D297353CC}">
              <c16:uniqueId val="{00000004-1949-44D6-98D4-9792DE3F63C1}"/>
            </c:ext>
          </c:extLst>
        </c:ser>
        <c:dLbls>
          <c:showLegendKey val="0"/>
          <c:showVal val="0"/>
          <c:showCatName val="0"/>
          <c:showSerName val="0"/>
          <c:showPercent val="0"/>
          <c:showBubbleSize val="0"/>
        </c:dLbls>
        <c:marker val="1"/>
        <c:smooth val="0"/>
        <c:axId val="476549424"/>
        <c:axId val="476549816"/>
      </c:lineChart>
      <c:catAx>
        <c:axId val="4765545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476554912"/>
        <c:crosses val="autoZero"/>
        <c:auto val="1"/>
        <c:lblAlgn val="ctr"/>
        <c:lblOffset val="100"/>
        <c:noMultiLvlLbl val="0"/>
      </c:catAx>
      <c:valAx>
        <c:axId val="476554912"/>
        <c:scaling>
          <c:orientation val="minMax"/>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GB" sz="1600"/>
                  <a:t>Capacity</a:t>
                </a:r>
              </a:p>
              <a:p>
                <a:pPr>
                  <a:defRPr sz="1600"/>
                </a:pPr>
                <a:r>
                  <a:rPr lang="en-GB" sz="1600"/>
                  <a:t>(MW)</a:t>
                </a:r>
              </a:p>
            </c:rich>
          </c:tx>
          <c:layout>
            <c:manualLayout>
              <c:xMode val="edge"/>
              <c:yMode val="edge"/>
              <c:x val="7.2496496049769876E-2"/>
              <c:y val="0.26565858232290973"/>
            </c:manualLayout>
          </c:layout>
          <c:overlay val="0"/>
          <c:spPr>
            <a:noFill/>
            <a:ln>
              <a:noFill/>
            </a:ln>
            <a:effectLst/>
          </c:spPr>
          <c:txPr>
            <a:bodyPr rot="-54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476554520"/>
        <c:crosses val="autoZero"/>
        <c:crossBetween val="between"/>
      </c:valAx>
      <c:valAx>
        <c:axId val="476549816"/>
        <c:scaling>
          <c:orientation val="minMax"/>
        </c:scaling>
        <c:delete val="0"/>
        <c:axPos val="r"/>
        <c:title>
          <c:tx>
            <c:rich>
              <a:bodyPr rot="-54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GB" sz="1600"/>
                  <a:t>Tariff </a:t>
                </a:r>
              </a:p>
              <a:p>
                <a:pPr>
                  <a:defRPr sz="1600"/>
                </a:pPr>
                <a:r>
                  <a:rPr lang="en-GB" sz="1600"/>
                  <a:t>(INR/ kWh)</a:t>
                </a:r>
              </a:p>
            </c:rich>
          </c:tx>
          <c:layout>
            <c:manualLayout>
              <c:xMode val="edge"/>
              <c:yMode val="edge"/>
              <c:x val="0.96049013249064685"/>
              <c:y val="0.27036482188568484"/>
            </c:manualLayout>
          </c:layout>
          <c:overlay val="0"/>
          <c:spPr>
            <a:noFill/>
            <a:ln>
              <a:noFill/>
            </a:ln>
            <a:effectLst/>
          </c:spPr>
          <c:txPr>
            <a:bodyPr rot="-54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476549424"/>
        <c:crosses val="max"/>
        <c:crossBetween val="between"/>
      </c:valAx>
      <c:catAx>
        <c:axId val="476549424"/>
        <c:scaling>
          <c:orientation val="minMax"/>
        </c:scaling>
        <c:delete val="1"/>
        <c:axPos val="b"/>
        <c:numFmt formatCode="General" sourceLinked="1"/>
        <c:majorTickMark val="out"/>
        <c:minorTickMark val="none"/>
        <c:tickLblPos val="nextTo"/>
        <c:crossAx val="476549816"/>
        <c:crosses val="autoZero"/>
        <c:auto val="1"/>
        <c:lblAlgn val="ctr"/>
        <c:lblOffset val="100"/>
        <c:noMultiLvlLbl val="0"/>
      </c:cat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200" b="1"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showDLblsOverMax val="0"/>
  </c:chart>
  <c:spPr>
    <a:noFill/>
    <a:ln>
      <a:noFill/>
    </a:ln>
    <a:effectLst/>
  </c:spPr>
  <c:txPr>
    <a:bodyPr/>
    <a:lstStyle/>
    <a:p>
      <a:pPr>
        <a:defRPr sz="1200" b="1"/>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68DEFD1-A745-6D1E-08DC-9F2C5E19F2D7}"/>
              </a:ext>
            </a:extLst>
          </p:cNvPr>
          <p:cNvSpPr>
            <a:spLocks noGrp="1"/>
          </p:cNvSpPr>
          <p:nvPr>
            <p:ph type="hdr" sz="quarter"/>
          </p:nvPr>
        </p:nvSpPr>
        <p:spPr>
          <a:xfrm>
            <a:off x="0" y="0"/>
            <a:ext cx="2919413" cy="495300"/>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0B70FFD5-1760-384C-135A-634F21194656}"/>
              </a:ext>
            </a:extLst>
          </p:cNvPr>
          <p:cNvSpPr>
            <a:spLocks noGrp="1"/>
          </p:cNvSpPr>
          <p:nvPr>
            <p:ph type="dt" sz="quarter" idx="1"/>
          </p:nvPr>
        </p:nvSpPr>
        <p:spPr>
          <a:xfrm>
            <a:off x="3814763" y="0"/>
            <a:ext cx="2919412" cy="495300"/>
          </a:xfrm>
          <a:prstGeom prst="rect">
            <a:avLst/>
          </a:prstGeom>
        </p:spPr>
        <p:txBody>
          <a:bodyPr vert="horz" lIns="91440" tIns="45720" rIns="91440" bIns="45720" rtlCol="0"/>
          <a:lstStyle>
            <a:lvl1pPr algn="r">
              <a:defRPr sz="1200"/>
            </a:lvl1pPr>
          </a:lstStyle>
          <a:p>
            <a:fld id="{91D81B41-22C8-4029-B834-06C8EB03D1F6}" type="datetimeFigureOut">
              <a:rPr lang="en-IN" smtClean="0"/>
              <a:t>01-12-2025</a:t>
            </a:fld>
            <a:endParaRPr lang="en-IN"/>
          </a:p>
        </p:txBody>
      </p:sp>
      <p:sp>
        <p:nvSpPr>
          <p:cNvPr id="4" name="Footer Placeholder 3">
            <a:extLst>
              <a:ext uri="{FF2B5EF4-FFF2-40B4-BE49-F238E27FC236}">
                <a16:creationId xmlns:a16="http://schemas.microsoft.com/office/drawing/2014/main" id="{D35B8518-FB49-5DF9-C1C6-4BEA8E461E71}"/>
              </a:ext>
            </a:extLst>
          </p:cNvPr>
          <p:cNvSpPr>
            <a:spLocks noGrp="1"/>
          </p:cNvSpPr>
          <p:nvPr>
            <p:ph type="ftr" sz="quarter" idx="2"/>
          </p:nvPr>
        </p:nvSpPr>
        <p:spPr>
          <a:xfrm>
            <a:off x="0" y="9371013"/>
            <a:ext cx="2919413" cy="495300"/>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96AE9FE8-ED74-6928-87EE-D0B357F9E1D6}"/>
              </a:ext>
            </a:extLst>
          </p:cNvPr>
          <p:cNvSpPr>
            <a:spLocks noGrp="1"/>
          </p:cNvSpPr>
          <p:nvPr>
            <p:ph type="sldNum" sz="quarter" idx="3"/>
          </p:nvPr>
        </p:nvSpPr>
        <p:spPr>
          <a:xfrm>
            <a:off x="3814763" y="9371013"/>
            <a:ext cx="2919412" cy="495300"/>
          </a:xfrm>
          <a:prstGeom prst="rect">
            <a:avLst/>
          </a:prstGeom>
        </p:spPr>
        <p:txBody>
          <a:bodyPr vert="horz" lIns="91440" tIns="45720" rIns="91440" bIns="45720" rtlCol="0" anchor="b"/>
          <a:lstStyle>
            <a:lvl1pPr algn="r">
              <a:defRPr sz="1200"/>
            </a:lvl1pPr>
          </a:lstStyle>
          <a:p>
            <a:fld id="{5B2D357C-C53A-4EAB-85EF-F1C1045C3611}" type="slidenum">
              <a:rPr lang="en-IN" smtClean="0"/>
              <a:t>‹#›</a:t>
            </a:fld>
            <a:endParaRPr lang="en-IN"/>
          </a:p>
        </p:txBody>
      </p:sp>
    </p:spTree>
    <p:extLst>
      <p:ext uri="{BB962C8B-B14F-4D97-AF65-F5344CB8AC3E}">
        <p14:creationId xmlns:p14="http://schemas.microsoft.com/office/powerpoint/2010/main" val="25575087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2918832" cy="495029"/>
          </a:xfrm>
          <a:prstGeom prst="rect">
            <a:avLst/>
          </a:prstGeom>
        </p:spPr>
        <p:txBody>
          <a:bodyPr vert="horz" lIns="91399" tIns="45700" rIns="91399" bIns="45700" rtlCol="0"/>
          <a:lstStyle>
            <a:lvl1pPr algn="l">
              <a:defRPr sz="1200"/>
            </a:lvl1pPr>
          </a:lstStyle>
          <a:p>
            <a:endParaRPr lang="en-IN"/>
          </a:p>
        </p:txBody>
      </p:sp>
      <p:sp>
        <p:nvSpPr>
          <p:cNvPr id="3" name="Date Placeholder 2"/>
          <p:cNvSpPr>
            <a:spLocks noGrp="1"/>
          </p:cNvSpPr>
          <p:nvPr>
            <p:ph type="dt" idx="1"/>
          </p:nvPr>
        </p:nvSpPr>
        <p:spPr>
          <a:xfrm>
            <a:off x="3815372" y="3"/>
            <a:ext cx="2918832" cy="495029"/>
          </a:xfrm>
          <a:prstGeom prst="rect">
            <a:avLst/>
          </a:prstGeom>
        </p:spPr>
        <p:txBody>
          <a:bodyPr vert="horz" lIns="91399" tIns="45700" rIns="91399" bIns="45700" rtlCol="0"/>
          <a:lstStyle>
            <a:lvl1pPr algn="r">
              <a:defRPr sz="1200"/>
            </a:lvl1pPr>
          </a:lstStyle>
          <a:p>
            <a:fld id="{DF16E867-EC0C-42CE-B2B2-CEF77EDA0F9F}" type="datetimeFigureOut">
              <a:rPr lang="en-IN" smtClean="0"/>
              <a:t>01-12-2025</a:t>
            </a:fld>
            <a:endParaRPr lang="en-IN"/>
          </a:p>
        </p:txBody>
      </p:sp>
      <p:sp>
        <p:nvSpPr>
          <p:cNvPr id="4" name="Slide Image Placeholder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399" tIns="45700" rIns="91399" bIns="45700" rtlCol="0" anchor="ctr"/>
          <a:lstStyle/>
          <a:p>
            <a:endParaRPr lang="en-IN"/>
          </a:p>
        </p:txBody>
      </p:sp>
      <p:sp>
        <p:nvSpPr>
          <p:cNvPr id="5" name="Notes Placeholder 4"/>
          <p:cNvSpPr>
            <a:spLocks noGrp="1"/>
          </p:cNvSpPr>
          <p:nvPr>
            <p:ph type="body" sz="quarter" idx="3"/>
          </p:nvPr>
        </p:nvSpPr>
        <p:spPr>
          <a:xfrm>
            <a:off x="673577" y="4748167"/>
            <a:ext cx="5388610" cy="3884861"/>
          </a:xfrm>
          <a:prstGeom prst="rect">
            <a:avLst/>
          </a:prstGeom>
        </p:spPr>
        <p:txBody>
          <a:bodyPr vert="horz" lIns="91399" tIns="45700" rIns="91399" bIns="4570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371287"/>
            <a:ext cx="2918832" cy="495027"/>
          </a:xfrm>
          <a:prstGeom prst="rect">
            <a:avLst/>
          </a:prstGeom>
        </p:spPr>
        <p:txBody>
          <a:bodyPr vert="horz" lIns="91399" tIns="45700" rIns="91399" bIns="45700" rtlCol="0" anchor="b"/>
          <a:lstStyle>
            <a:lvl1pPr algn="l">
              <a:defRPr sz="1200"/>
            </a:lvl1pPr>
          </a:lstStyle>
          <a:p>
            <a:endParaRPr lang="en-IN"/>
          </a:p>
        </p:txBody>
      </p:sp>
      <p:sp>
        <p:nvSpPr>
          <p:cNvPr id="7" name="Slide Number Placeholder 6"/>
          <p:cNvSpPr>
            <a:spLocks noGrp="1"/>
          </p:cNvSpPr>
          <p:nvPr>
            <p:ph type="sldNum" sz="quarter" idx="5"/>
          </p:nvPr>
        </p:nvSpPr>
        <p:spPr>
          <a:xfrm>
            <a:off x="3815372" y="9371287"/>
            <a:ext cx="2918832" cy="495027"/>
          </a:xfrm>
          <a:prstGeom prst="rect">
            <a:avLst/>
          </a:prstGeom>
        </p:spPr>
        <p:txBody>
          <a:bodyPr vert="horz" lIns="91399" tIns="45700" rIns="91399" bIns="45700" rtlCol="0" anchor="b"/>
          <a:lstStyle>
            <a:lvl1pPr algn="r">
              <a:defRPr sz="1200"/>
            </a:lvl1pPr>
          </a:lstStyle>
          <a:p>
            <a:fld id="{397ABA0D-EA83-4A17-BDD7-D87ADB6A0CBD}" type="slidenum">
              <a:rPr lang="en-IN" smtClean="0"/>
              <a:t>‹#›</a:t>
            </a:fld>
            <a:endParaRPr lang="en-IN"/>
          </a:p>
        </p:txBody>
      </p:sp>
    </p:spTree>
    <p:extLst>
      <p:ext uri="{BB962C8B-B14F-4D97-AF65-F5344CB8AC3E}">
        <p14:creationId xmlns:p14="http://schemas.microsoft.com/office/powerpoint/2010/main" val="15660824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97ABA0D-EA83-4A17-BDD7-D87ADB6A0CBD}" type="slidenum">
              <a:rPr lang="en-IN" smtClean="0"/>
              <a:t>1</a:t>
            </a:fld>
            <a:endParaRPr lang="en-IN"/>
          </a:p>
        </p:txBody>
      </p:sp>
    </p:spTree>
    <p:extLst>
      <p:ext uri="{BB962C8B-B14F-4D97-AF65-F5344CB8AC3E}">
        <p14:creationId xmlns:p14="http://schemas.microsoft.com/office/powerpoint/2010/main" val="128074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3A2D5F-1943-495D-90CA-45DDE6717B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782593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63A2D5F-1943-495D-90CA-45DDE6717BEB}" type="slidenum">
              <a:rPr lang="en-US" smtClean="0"/>
              <a:t>33</a:t>
            </a:fld>
            <a:endParaRPr lang="en-US"/>
          </a:p>
        </p:txBody>
      </p:sp>
    </p:spTree>
    <p:extLst>
      <p:ext uri="{BB962C8B-B14F-4D97-AF65-F5344CB8AC3E}">
        <p14:creationId xmlns:p14="http://schemas.microsoft.com/office/powerpoint/2010/main" val="8059325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97ABA0D-EA83-4A17-BDD7-D87ADB6A0CBD}" type="slidenum">
              <a:rPr lang="en-IN" smtClean="0"/>
              <a:t>38</a:t>
            </a:fld>
            <a:endParaRPr lang="en-IN"/>
          </a:p>
        </p:txBody>
      </p:sp>
    </p:spTree>
    <p:extLst>
      <p:ext uri="{BB962C8B-B14F-4D97-AF65-F5344CB8AC3E}">
        <p14:creationId xmlns:p14="http://schemas.microsoft.com/office/powerpoint/2010/main" val="20903410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E0289-9E66-669D-8135-EEA606D2C6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86684D3-752A-70AA-9673-1171569CC5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A3785E2-5360-BAF2-D7CA-438107394A3B}"/>
              </a:ext>
            </a:extLst>
          </p:cNvPr>
          <p:cNvSpPr>
            <a:spLocks noGrp="1"/>
          </p:cNvSpPr>
          <p:nvPr>
            <p:ph type="dt" sz="half" idx="10"/>
          </p:nvPr>
        </p:nvSpPr>
        <p:spPr/>
        <p:txBody>
          <a:bodyPr/>
          <a:lstStyle/>
          <a:p>
            <a:fld id="{56E43B78-4B15-48B7-844B-FAF50BD23CF6}" type="datetimeFigureOut">
              <a:rPr lang="en-IN" smtClean="0"/>
              <a:t>01-12-2025</a:t>
            </a:fld>
            <a:endParaRPr lang="en-IN"/>
          </a:p>
        </p:txBody>
      </p:sp>
      <p:sp>
        <p:nvSpPr>
          <p:cNvPr id="5" name="Footer Placeholder 4">
            <a:extLst>
              <a:ext uri="{FF2B5EF4-FFF2-40B4-BE49-F238E27FC236}">
                <a16:creationId xmlns:a16="http://schemas.microsoft.com/office/drawing/2014/main" id="{C18B17CA-EF6D-FD48-38BA-C1A9A2C6E9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C9C51A-D4E2-1C1D-1291-71C3776C4348}"/>
              </a:ext>
            </a:extLst>
          </p:cNvPr>
          <p:cNvSpPr>
            <a:spLocks noGrp="1"/>
          </p:cNvSpPr>
          <p:nvPr>
            <p:ph type="sldNum" sz="quarter" idx="12"/>
          </p:nvPr>
        </p:nvSpPr>
        <p:spPr/>
        <p:txBody>
          <a:bodyPr/>
          <a:lstStyle/>
          <a:p>
            <a:fld id="{0A5CC0E9-971B-4AE6-BC05-046D8314A3D2}" type="slidenum">
              <a:rPr lang="en-IN" smtClean="0"/>
              <a:t>‹#›</a:t>
            </a:fld>
            <a:endParaRPr lang="en-IN"/>
          </a:p>
        </p:txBody>
      </p:sp>
      <p:cxnSp>
        <p:nvCxnSpPr>
          <p:cNvPr id="8" name="Straight Connector 7">
            <a:extLst>
              <a:ext uri="{FF2B5EF4-FFF2-40B4-BE49-F238E27FC236}">
                <a16:creationId xmlns:a16="http://schemas.microsoft.com/office/drawing/2014/main" id="{B9ED1CF2-CA34-392A-5E17-2289800E0C04}"/>
              </a:ext>
            </a:extLst>
          </p:cNvPr>
          <p:cNvCxnSpPr/>
          <p:nvPr userDrawn="1"/>
        </p:nvCxnSpPr>
        <p:spPr>
          <a:xfrm>
            <a:off x="0" y="92891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5530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385A2-CD98-902B-90D2-97993144E66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FB72A2D-D681-36DC-0D52-8E6D319ABC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E9DE84-CE84-5C02-ED65-E3DFFA2FD4C4}"/>
              </a:ext>
            </a:extLst>
          </p:cNvPr>
          <p:cNvSpPr>
            <a:spLocks noGrp="1"/>
          </p:cNvSpPr>
          <p:nvPr>
            <p:ph type="dt" sz="half" idx="10"/>
          </p:nvPr>
        </p:nvSpPr>
        <p:spPr/>
        <p:txBody>
          <a:bodyPr/>
          <a:lstStyle/>
          <a:p>
            <a:fld id="{56E43B78-4B15-48B7-844B-FAF50BD23CF6}" type="datetimeFigureOut">
              <a:rPr lang="en-IN" smtClean="0"/>
              <a:t>01-12-2025</a:t>
            </a:fld>
            <a:endParaRPr lang="en-IN"/>
          </a:p>
        </p:txBody>
      </p:sp>
      <p:sp>
        <p:nvSpPr>
          <p:cNvPr id="5" name="Footer Placeholder 4">
            <a:extLst>
              <a:ext uri="{FF2B5EF4-FFF2-40B4-BE49-F238E27FC236}">
                <a16:creationId xmlns:a16="http://schemas.microsoft.com/office/drawing/2014/main" id="{3A654A08-94AC-3B5A-5375-51058D84CA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66AE6A-E83B-7531-7C6E-6D067B9CA907}"/>
              </a:ext>
            </a:extLst>
          </p:cNvPr>
          <p:cNvSpPr>
            <a:spLocks noGrp="1"/>
          </p:cNvSpPr>
          <p:nvPr>
            <p:ph type="sldNum" sz="quarter" idx="12"/>
          </p:nvPr>
        </p:nvSpPr>
        <p:spPr/>
        <p:txBody>
          <a:bodyPr/>
          <a:lstStyle/>
          <a:p>
            <a:fld id="{0A5CC0E9-971B-4AE6-BC05-046D8314A3D2}" type="slidenum">
              <a:rPr lang="en-IN" smtClean="0"/>
              <a:t>‹#›</a:t>
            </a:fld>
            <a:endParaRPr lang="en-IN"/>
          </a:p>
        </p:txBody>
      </p:sp>
      <p:cxnSp>
        <p:nvCxnSpPr>
          <p:cNvPr id="7" name="Straight Connector 6">
            <a:extLst>
              <a:ext uri="{FF2B5EF4-FFF2-40B4-BE49-F238E27FC236}">
                <a16:creationId xmlns:a16="http://schemas.microsoft.com/office/drawing/2014/main" id="{4576F358-C59C-744F-C5FA-9B87E0DC3CEF}"/>
              </a:ext>
            </a:extLst>
          </p:cNvPr>
          <p:cNvCxnSpPr/>
          <p:nvPr userDrawn="1"/>
        </p:nvCxnSpPr>
        <p:spPr>
          <a:xfrm>
            <a:off x="0" y="92891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1929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F8F26-D86F-488E-53F4-A5F2BEE79D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A549944-E92A-A231-FA52-DED919E226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B95CBA-80AF-D73E-196C-8FE8A5B3ED79}"/>
              </a:ext>
            </a:extLst>
          </p:cNvPr>
          <p:cNvSpPr>
            <a:spLocks noGrp="1"/>
          </p:cNvSpPr>
          <p:nvPr>
            <p:ph type="dt" sz="half" idx="10"/>
          </p:nvPr>
        </p:nvSpPr>
        <p:spPr/>
        <p:txBody>
          <a:bodyPr/>
          <a:lstStyle/>
          <a:p>
            <a:fld id="{56E43B78-4B15-48B7-844B-FAF50BD23CF6}" type="datetimeFigureOut">
              <a:rPr lang="en-IN" smtClean="0"/>
              <a:t>01-12-2025</a:t>
            </a:fld>
            <a:endParaRPr lang="en-IN"/>
          </a:p>
        </p:txBody>
      </p:sp>
      <p:sp>
        <p:nvSpPr>
          <p:cNvPr id="5" name="Footer Placeholder 4">
            <a:extLst>
              <a:ext uri="{FF2B5EF4-FFF2-40B4-BE49-F238E27FC236}">
                <a16:creationId xmlns:a16="http://schemas.microsoft.com/office/drawing/2014/main" id="{5B91902B-A138-35FD-1836-3C10E87A5A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4B5B69-4D67-D9DD-F603-88FCABFD5B45}"/>
              </a:ext>
            </a:extLst>
          </p:cNvPr>
          <p:cNvSpPr>
            <a:spLocks noGrp="1"/>
          </p:cNvSpPr>
          <p:nvPr>
            <p:ph type="sldNum" sz="quarter" idx="12"/>
          </p:nvPr>
        </p:nvSpPr>
        <p:spPr/>
        <p:txBody>
          <a:bodyPr/>
          <a:lstStyle/>
          <a:p>
            <a:fld id="{0A5CC0E9-971B-4AE6-BC05-046D8314A3D2}" type="slidenum">
              <a:rPr lang="en-IN" smtClean="0"/>
              <a:t>‹#›</a:t>
            </a:fld>
            <a:endParaRPr lang="en-IN"/>
          </a:p>
        </p:txBody>
      </p:sp>
      <p:cxnSp>
        <p:nvCxnSpPr>
          <p:cNvPr id="12" name="Straight Connector 11">
            <a:extLst>
              <a:ext uri="{FF2B5EF4-FFF2-40B4-BE49-F238E27FC236}">
                <a16:creationId xmlns:a16="http://schemas.microsoft.com/office/drawing/2014/main" id="{50FDABF6-1A97-9936-808D-56F86B20900D}"/>
              </a:ext>
            </a:extLst>
          </p:cNvPr>
          <p:cNvCxnSpPr/>
          <p:nvPr userDrawn="1"/>
        </p:nvCxnSpPr>
        <p:spPr>
          <a:xfrm>
            <a:off x="0" y="1219200"/>
            <a:ext cx="12192000"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4301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E58A3-FC6B-9474-8A1A-B8DC2C8D050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A945629-E38A-4FCC-5E74-E217DA02D37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01FCEB5-C360-6693-0464-FE2934B6E3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C6DE681-B5F9-60B1-FF31-0D2641A9AEC1}"/>
              </a:ext>
            </a:extLst>
          </p:cNvPr>
          <p:cNvSpPr>
            <a:spLocks noGrp="1"/>
          </p:cNvSpPr>
          <p:nvPr>
            <p:ph type="dt" sz="half" idx="10"/>
          </p:nvPr>
        </p:nvSpPr>
        <p:spPr/>
        <p:txBody>
          <a:bodyPr/>
          <a:lstStyle/>
          <a:p>
            <a:fld id="{56E43B78-4B15-48B7-844B-FAF50BD23CF6}" type="datetimeFigureOut">
              <a:rPr lang="en-IN" smtClean="0"/>
              <a:t>01-12-2025</a:t>
            </a:fld>
            <a:endParaRPr lang="en-IN"/>
          </a:p>
        </p:txBody>
      </p:sp>
      <p:sp>
        <p:nvSpPr>
          <p:cNvPr id="6" name="Footer Placeholder 5">
            <a:extLst>
              <a:ext uri="{FF2B5EF4-FFF2-40B4-BE49-F238E27FC236}">
                <a16:creationId xmlns:a16="http://schemas.microsoft.com/office/drawing/2014/main" id="{821EC349-8990-2C5D-23A0-183CA240D4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41996A1-5BF3-7FAD-9EC9-533C3E783E56}"/>
              </a:ext>
            </a:extLst>
          </p:cNvPr>
          <p:cNvSpPr>
            <a:spLocks noGrp="1"/>
          </p:cNvSpPr>
          <p:nvPr>
            <p:ph type="sldNum" sz="quarter" idx="12"/>
          </p:nvPr>
        </p:nvSpPr>
        <p:spPr/>
        <p:txBody>
          <a:bodyPr/>
          <a:lstStyle/>
          <a:p>
            <a:fld id="{0A5CC0E9-971B-4AE6-BC05-046D8314A3D2}" type="slidenum">
              <a:rPr lang="en-IN" smtClean="0"/>
              <a:t>‹#›</a:t>
            </a:fld>
            <a:endParaRPr lang="en-IN"/>
          </a:p>
        </p:txBody>
      </p:sp>
    </p:spTree>
    <p:extLst>
      <p:ext uri="{BB962C8B-B14F-4D97-AF65-F5344CB8AC3E}">
        <p14:creationId xmlns:p14="http://schemas.microsoft.com/office/powerpoint/2010/main" val="3820779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FB7A2-C643-60F5-9A6B-4AFB00C0E6C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CC943E8-0706-3958-0A3B-5626B3B428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6AB4BB-179A-6618-5CFE-1F3E5CD5706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91F364C-9769-6ECE-C358-8D3CE0092B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E7ACECB-F01F-02AB-4ACB-F9BC7AD10F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3A71E27-A6C7-D794-AF95-61FC0A8EC607}"/>
              </a:ext>
            </a:extLst>
          </p:cNvPr>
          <p:cNvSpPr>
            <a:spLocks noGrp="1"/>
          </p:cNvSpPr>
          <p:nvPr>
            <p:ph type="dt" sz="half" idx="10"/>
          </p:nvPr>
        </p:nvSpPr>
        <p:spPr/>
        <p:txBody>
          <a:bodyPr/>
          <a:lstStyle/>
          <a:p>
            <a:fld id="{56E43B78-4B15-48B7-844B-FAF50BD23CF6}" type="datetimeFigureOut">
              <a:rPr lang="en-IN" smtClean="0"/>
              <a:t>01-12-2025</a:t>
            </a:fld>
            <a:endParaRPr lang="en-IN"/>
          </a:p>
        </p:txBody>
      </p:sp>
      <p:sp>
        <p:nvSpPr>
          <p:cNvPr id="8" name="Footer Placeholder 7">
            <a:extLst>
              <a:ext uri="{FF2B5EF4-FFF2-40B4-BE49-F238E27FC236}">
                <a16:creationId xmlns:a16="http://schemas.microsoft.com/office/drawing/2014/main" id="{34C02DB1-19BC-9E1E-6130-96A00F867B5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ADB0A1A-EC14-B854-B14B-61D9BC549C47}"/>
              </a:ext>
            </a:extLst>
          </p:cNvPr>
          <p:cNvSpPr>
            <a:spLocks noGrp="1"/>
          </p:cNvSpPr>
          <p:nvPr>
            <p:ph type="sldNum" sz="quarter" idx="12"/>
          </p:nvPr>
        </p:nvSpPr>
        <p:spPr/>
        <p:txBody>
          <a:bodyPr/>
          <a:lstStyle/>
          <a:p>
            <a:fld id="{0A5CC0E9-971B-4AE6-BC05-046D8314A3D2}" type="slidenum">
              <a:rPr lang="en-IN" smtClean="0"/>
              <a:t>‹#›</a:t>
            </a:fld>
            <a:endParaRPr lang="en-IN"/>
          </a:p>
        </p:txBody>
      </p:sp>
    </p:spTree>
    <p:extLst>
      <p:ext uri="{BB962C8B-B14F-4D97-AF65-F5344CB8AC3E}">
        <p14:creationId xmlns:p14="http://schemas.microsoft.com/office/powerpoint/2010/main" val="696539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3E1D9-3FA0-460B-B9E9-06BDB26B568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E246D2B-A89A-2990-1C57-4E9857CBC339}"/>
              </a:ext>
            </a:extLst>
          </p:cNvPr>
          <p:cNvSpPr>
            <a:spLocks noGrp="1"/>
          </p:cNvSpPr>
          <p:nvPr>
            <p:ph type="dt" sz="half" idx="10"/>
          </p:nvPr>
        </p:nvSpPr>
        <p:spPr/>
        <p:txBody>
          <a:bodyPr/>
          <a:lstStyle/>
          <a:p>
            <a:fld id="{56E43B78-4B15-48B7-844B-FAF50BD23CF6}" type="datetimeFigureOut">
              <a:rPr lang="en-IN" smtClean="0"/>
              <a:t>01-12-2025</a:t>
            </a:fld>
            <a:endParaRPr lang="en-IN"/>
          </a:p>
        </p:txBody>
      </p:sp>
      <p:sp>
        <p:nvSpPr>
          <p:cNvPr id="4" name="Footer Placeholder 3">
            <a:extLst>
              <a:ext uri="{FF2B5EF4-FFF2-40B4-BE49-F238E27FC236}">
                <a16:creationId xmlns:a16="http://schemas.microsoft.com/office/drawing/2014/main" id="{D14A096E-D8DE-4EC4-425E-65DDDAC365A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E12DE18-39FE-1423-3D3F-FBA266094822}"/>
              </a:ext>
            </a:extLst>
          </p:cNvPr>
          <p:cNvSpPr>
            <a:spLocks noGrp="1"/>
          </p:cNvSpPr>
          <p:nvPr>
            <p:ph type="sldNum" sz="quarter" idx="12"/>
          </p:nvPr>
        </p:nvSpPr>
        <p:spPr/>
        <p:txBody>
          <a:bodyPr/>
          <a:lstStyle/>
          <a:p>
            <a:fld id="{0A5CC0E9-971B-4AE6-BC05-046D8314A3D2}" type="slidenum">
              <a:rPr lang="en-IN" smtClean="0"/>
              <a:t>‹#›</a:t>
            </a:fld>
            <a:endParaRPr lang="en-IN"/>
          </a:p>
        </p:txBody>
      </p:sp>
    </p:spTree>
    <p:extLst>
      <p:ext uri="{BB962C8B-B14F-4D97-AF65-F5344CB8AC3E}">
        <p14:creationId xmlns:p14="http://schemas.microsoft.com/office/powerpoint/2010/main" val="35998359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197C7B-D2F6-64C9-D1C5-4A561FE99BBC}"/>
              </a:ext>
            </a:extLst>
          </p:cNvPr>
          <p:cNvSpPr>
            <a:spLocks noGrp="1"/>
          </p:cNvSpPr>
          <p:nvPr>
            <p:ph type="dt" sz="half" idx="10"/>
          </p:nvPr>
        </p:nvSpPr>
        <p:spPr/>
        <p:txBody>
          <a:bodyPr/>
          <a:lstStyle/>
          <a:p>
            <a:fld id="{56E43B78-4B15-48B7-844B-FAF50BD23CF6}" type="datetimeFigureOut">
              <a:rPr lang="en-IN" smtClean="0"/>
              <a:t>01-12-2025</a:t>
            </a:fld>
            <a:endParaRPr lang="en-IN"/>
          </a:p>
        </p:txBody>
      </p:sp>
      <p:sp>
        <p:nvSpPr>
          <p:cNvPr id="3" name="Footer Placeholder 2">
            <a:extLst>
              <a:ext uri="{FF2B5EF4-FFF2-40B4-BE49-F238E27FC236}">
                <a16:creationId xmlns:a16="http://schemas.microsoft.com/office/drawing/2014/main" id="{74C1E43A-93D9-D78F-0739-EB06699E479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25BC41A-60E2-C184-8620-2225B18B276C}"/>
              </a:ext>
            </a:extLst>
          </p:cNvPr>
          <p:cNvSpPr>
            <a:spLocks noGrp="1"/>
          </p:cNvSpPr>
          <p:nvPr>
            <p:ph type="sldNum" sz="quarter" idx="12"/>
          </p:nvPr>
        </p:nvSpPr>
        <p:spPr/>
        <p:txBody>
          <a:bodyPr/>
          <a:lstStyle/>
          <a:p>
            <a:fld id="{0A5CC0E9-971B-4AE6-BC05-046D8314A3D2}" type="slidenum">
              <a:rPr lang="en-IN" smtClean="0"/>
              <a:t>‹#›</a:t>
            </a:fld>
            <a:endParaRPr lang="en-IN"/>
          </a:p>
        </p:txBody>
      </p:sp>
      <p:pic>
        <p:nvPicPr>
          <p:cNvPr id="5" name="Picture 4">
            <a:extLst>
              <a:ext uri="{FF2B5EF4-FFF2-40B4-BE49-F238E27FC236}">
                <a16:creationId xmlns:a16="http://schemas.microsoft.com/office/drawing/2014/main" id="{CE97CDBA-BA30-2D60-69E6-F4DDF3DEC23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9790" y="1"/>
            <a:ext cx="1272209" cy="807700"/>
          </a:xfrm>
          <a:prstGeom prst="rect">
            <a:avLst/>
          </a:prstGeom>
        </p:spPr>
      </p:pic>
    </p:spTree>
    <p:extLst>
      <p:ext uri="{BB962C8B-B14F-4D97-AF65-F5344CB8AC3E}">
        <p14:creationId xmlns:p14="http://schemas.microsoft.com/office/powerpoint/2010/main" val="2382029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D4F95-334E-C500-CAAB-D745410AE3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3ABEAC4-EF11-B9B3-2D19-2B51C4A998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6D475A9-A7A7-9258-80BD-FDE3E18F32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6126B3-06C4-CC29-6972-F1A5F8C77BBD}"/>
              </a:ext>
            </a:extLst>
          </p:cNvPr>
          <p:cNvSpPr>
            <a:spLocks noGrp="1"/>
          </p:cNvSpPr>
          <p:nvPr>
            <p:ph type="dt" sz="half" idx="10"/>
          </p:nvPr>
        </p:nvSpPr>
        <p:spPr/>
        <p:txBody>
          <a:bodyPr/>
          <a:lstStyle/>
          <a:p>
            <a:fld id="{56E43B78-4B15-48B7-844B-FAF50BD23CF6}" type="datetimeFigureOut">
              <a:rPr lang="en-IN" smtClean="0"/>
              <a:t>01-12-2025</a:t>
            </a:fld>
            <a:endParaRPr lang="en-IN"/>
          </a:p>
        </p:txBody>
      </p:sp>
      <p:sp>
        <p:nvSpPr>
          <p:cNvPr id="6" name="Footer Placeholder 5">
            <a:extLst>
              <a:ext uri="{FF2B5EF4-FFF2-40B4-BE49-F238E27FC236}">
                <a16:creationId xmlns:a16="http://schemas.microsoft.com/office/drawing/2014/main" id="{C02E5F71-3433-DB8F-A4F9-8ABF7A8FB5D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D4E8D7D-0768-9199-8EE7-755D78ED4B24}"/>
              </a:ext>
            </a:extLst>
          </p:cNvPr>
          <p:cNvSpPr>
            <a:spLocks noGrp="1"/>
          </p:cNvSpPr>
          <p:nvPr>
            <p:ph type="sldNum" sz="quarter" idx="12"/>
          </p:nvPr>
        </p:nvSpPr>
        <p:spPr/>
        <p:txBody>
          <a:bodyPr/>
          <a:lstStyle/>
          <a:p>
            <a:fld id="{0A5CC0E9-971B-4AE6-BC05-046D8314A3D2}" type="slidenum">
              <a:rPr lang="en-IN" smtClean="0"/>
              <a:t>‹#›</a:t>
            </a:fld>
            <a:endParaRPr lang="en-IN"/>
          </a:p>
        </p:txBody>
      </p:sp>
    </p:spTree>
    <p:extLst>
      <p:ext uri="{BB962C8B-B14F-4D97-AF65-F5344CB8AC3E}">
        <p14:creationId xmlns:p14="http://schemas.microsoft.com/office/powerpoint/2010/main" val="487589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788F1-290C-2C74-1695-147AE1087E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7A9CB37-D9E1-4E70-93F2-3E72EEE89E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41EDF10-EE0B-D841-C57C-34D416E534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1B2B61-1EF8-ACB0-2F4F-D86F85E52AEB}"/>
              </a:ext>
            </a:extLst>
          </p:cNvPr>
          <p:cNvSpPr>
            <a:spLocks noGrp="1"/>
          </p:cNvSpPr>
          <p:nvPr>
            <p:ph type="dt" sz="half" idx="10"/>
          </p:nvPr>
        </p:nvSpPr>
        <p:spPr/>
        <p:txBody>
          <a:bodyPr/>
          <a:lstStyle/>
          <a:p>
            <a:fld id="{56E43B78-4B15-48B7-844B-FAF50BD23CF6}" type="datetimeFigureOut">
              <a:rPr lang="en-IN" smtClean="0"/>
              <a:t>01-12-2025</a:t>
            </a:fld>
            <a:endParaRPr lang="en-IN"/>
          </a:p>
        </p:txBody>
      </p:sp>
      <p:sp>
        <p:nvSpPr>
          <p:cNvPr id="6" name="Footer Placeholder 5">
            <a:extLst>
              <a:ext uri="{FF2B5EF4-FFF2-40B4-BE49-F238E27FC236}">
                <a16:creationId xmlns:a16="http://schemas.microsoft.com/office/drawing/2014/main" id="{559973C6-5D5C-A431-9F1A-189066D59C3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C373DE5-AB90-0BF4-A8E1-1383EB651DE4}"/>
              </a:ext>
            </a:extLst>
          </p:cNvPr>
          <p:cNvSpPr>
            <a:spLocks noGrp="1"/>
          </p:cNvSpPr>
          <p:nvPr>
            <p:ph type="sldNum" sz="quarter" idx="12"/>
          </p:nvPr>
        </p:nvSpPr>
        <p:spPr/>
        <p:txBody>
          <a:bodyPr/>
          <a:lstStyle/>
          <a:p>
            <a:fld id="{0A5CC0E9-971B-4AE6-BC05-046D8314A3D2}" type="slidenum">
              <a:rPr lang="en-IN" smtClean="0"/>
              <a:t>‹#›</a:t>
            </a:fld>
            <a:endParaRPr lang="en-IN"/>
          </a:p>
        </p:txBody>
      </p:sp>
    </p:spTree>
    <p:extLst>
      <p:ext uri="{BB962C8B-B14F-4D97-AF65-F5344CB8AC3E}">
        <p14:creationId xmlns:p14="http://schemas.microsoft.com/office/powerpoint/2010/main" val="2954083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3597A-FD8C-FA10-852D-1DA54307AE5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1B2E977-2B42-ABC8-5A52-CE68EF982E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02775C-D021-E428-FCBB-D152CFC4723F}"/>
              </a:ext>
            </a:extLst>
          </p:cNvPr>
          <p:cNvSpPr>
            <a:spLocks noGrp="1"/>
          </p:cNvSpPr>
          <p:nvPr>
            <p:ph type="dt" sz="half" idx="10"/>
          </p:nvPr>
        </p:nvSpPr>
        <p:spPr/>
        <p:txBody>
          <a:bodyPr/>
          <a:lstStyle/>
          <a:p>
            <a:fld id="{56E43B78-4B15-48B7-844B-FAF50BD23CF6}" type="datetimeFigureOut">
              <a:rPr lang="en-IN" smtClean="0"/>
              <a:t>01-12-2025</a:t>
            </a:fld>
            <a:endParaRPr lang="en-IN"/>
          </a:p>
        </p:txBody>
      </p:sp>
      <p:sp>
        <p:nvSpPr>
          <p:cNvPr id="5" name="Footer Placeholder 4">
            <a:extLst>
              <a:ext uri="{FF2B5EF4-FFF2-40B4-BE49-F238E27FC236}">
                <a16:creationId xmlns:a16="http://schemas.microsoft.com/office/drawing/2014/main" id="{DD6AB808-FC26-E334-0B92-B6A1C8CF8D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4BECF7-A0AB-9D41-E3F1-83335D166B6A}"/>
              </a:ext>
            </a:extLst>
          </p:cNvPr>
          <p:cNvSpPr>
            <a:spLocks noGrp="1"/>
          </p:cNvSpPr>
          <p:nvPr>
            <p:ph type="sldNum" sz="quarter" idx="12"/>
          </p:nvPr>
        </p:nvSpPr>
        <p:spPr/>
        <p:txBody>
          <a:bodyPr/>
          <a:lstStyle/>
          <a:p>
            <a:fld id="{0A5CC0E9-971B-4AE6-BC05-046D8314A3D2}" type="slidenum">
              <a:rPr lang="en-IN" smtClean="0"/>
              <a:t>‹#›</a:t>
            </a:fld>
            <a:endParaRPr lang="en-IN"/>
          </a:p>
        </p:txBody>
      </p:sp>
    </p:spTree>
    <p:extLst>
      <p:ext uri="{BB962C8B-B14F-4D97-AF65-F5344CB8AC3E}">
        <p14:creationId xmlns:p14="http://schemas.microsoft.com/office/powerpoint/2010/main" val="41833420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6B147A-8B8E-7BD3-5DE1-4C6B9DB0D54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AE5D85B-332D-00BC-9635-77216FAB3E3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9CB000-2EC0-C826-E293-55C4EAAB3DB6}"/>
              </a:ext>
            </a:extLst>
          </p:cNvPr>
          <p:cNvSpPr>
            <a:spLocks noGrp="1"/>
          </p:cNvSpPr>
          <p:nvPr>
            <p:ph type="dt" sz="half" idx="10"/>
          </p:nvPr>
        </p:nvSpPr>
        <p:spPr/>
        <p:txBody>
          <a:bodyPr/>
          <a:lstStyle/>
          <a:p>
            <a:fld id="{56E43B78-4B15-48B7-844B-FAF50BD23CF6}" type="datetimeFigureOut">
              <a:rPr lang="en-IN" smtClean="0"/>
              <a:t>01-12-2025</a:t>
            </a:fld>
            <a:endParaRPr lang="en-IN"/>
          </a:p>
        </p:txBody>
      </p:sp>
      <p:sp>
        <p:nvSpPr>
          <p:cNvPr id="5" name="Footer Placeholder 4">
            <a:extLst>
              <a:ext uri="{FF2B5EF4-FFF2-40B4-BE49-F238E27FC236}">
                <a16:creationId xmlns:a16="http://schemas.microsoft.com/office/drawing/2014/main" id="{B2EC9D97-066E-0685-AA71-FDE1B19DC8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F6159A-F254-4EAE-01FF-7C4069D391BA}"/>
              </a:ext>
            </a:extLst>
          </p:cNvPr>
          <p:cNvSpPr>
            <a:spLocks noGrp="1"/>
          </p:cNvSpPr>
          <p:nvPr>
            <p:ph type="sldNum" sz="quarter" idx="12"/>
          </p:nvPr>
        </p:nvSpPr>
        <p:spPr/>
        <p:txBody>
          <a:bodyPr/>
          <a:lstStyle/>
          <a:p>
            <a:fld id="{0A5CC0E9-971B-4AE6-BC05-046D8314A3D2}" type="slidenum">
              <a:rPr lang="en-IN" smtClean="0"/>
              <a:t>‹#›</a:t>
            </a:fld>
            <a:endParaRPr lang="en-IN"/>
          </a:p>
        </p:txBody>
      </p:sp>
    </p:spTree>
    <p:extLst>
      <p:ext uri="{BB962C8B-B14F-4D97-AF65-F5344CB8AC3E}">
        <p14:creationId xmlns:p14="http://schemas.microsoft.com/office/powerpoint/2010/main" val="24366233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C11A4-8D12-6D63-38D2-F25BD3959DE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13E8EFD-C0B0-E7D6-7DF7-0E8D1A0AD9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D0B0DCC-C344-D466-0D83-2C85266DB6CF}"/>
              </a:ext>
            </a:extLst>
          </p:cNvPr>
          <p:cNvSpPr>
            <a:spLocks noGrp="1"/>
          </p:cNvSpPr>
          <p:nvPr>
            <p:ph type="dt" sz="half" idx="10"/>
          </p:nvPr>
        </p:nvSpPr>
        <p:spPr/>
        <p:txBody>
          <a:bodyPr/>
          <a:lstStyle/>
          <a:p>
            <a:fld id="{05F29C05-E46B-45A3-894C-8239547FA850}" type="datetimeFigureOut">
              <a:rPr lang="en-IN" smtClean="0"/>
              <a:t>01-12-2025</a:t>
            </a:fld>
            <a:endParaRPr lang="en-IN"/>
          </a:p>
        </p:txBody>
      </p:sp>
      <p:sp>
        <p:nvSpPr>
          <p:cNvPr id="5" name="Footer Placeholder 4">
            <a:extLst>
              <a:ext uri="{FF2B5EF4-FFF2-40B4-BE49-F238E27FC236}">
                <a16:creationId xmlns:a16="http://schemas.microsoft.com/office/drawing/2014/main" id="{6FA308C0-8870-356F-7F45-622DDC289F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70E75F-631A-84D4-C248-6E19F08A8513}"/>
              </a:ext>
            </a:extLst>
          </p:cNvPr>
          <p:cNvSpPr>
            <a:spLocks noGrp="1"/>
          </p:cNvSpPr>
          <p:nvPr>
            <p:ph type="sldNum" sz="quarter" idx="12"/>
          </p:nvPr>
        </p:nvSpPr>
        <p:spPr/>
        <p:txBody>
          <a:bodyPr/>
          <a:lstStyle/>
          <a:p>
            <a:fld id="{B62025DE-21F8-441D-AA34-105EB979403C}" type="slidenum">
              <a:rPr lang="en-IN" smtClean="0"/>
              <a:t>‹#›</a:t>
            </a:fld>
            <a:endParaRPr lang="en-IN"/>
          </a:p>
        </p:txBody>
      </p:sp>
    </p:spTree>
    <p:extLst>
      <p:ext uri="{BB962C8B-B14F-4D97-AF65-F5344CB8AC3E}">
        <p14:creationId xmlns:p14="http://schemas.microsoft.com/office/powerpoint/2010/main" val="41735973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A2C61-7E7C-5266-9F92-4DCC37FAD0A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E849A57-0252-61A6-F43D-50347B969D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0CFAD6-65B8-A909-7215-E5089330F9F5}"/>
              </a:ext>
            </a:extLst>
          </p:cNvPr>
          <p:cNvSpPr>
            <a:spLocks noGrp="1"/>
          </p:cNvSpPr>
          <p:nvPr>
            <p:ph type="dt" sz="half" idx="10"/>
          </p:nvPr>
        </p:nvSpPr>
        <p:spPr/>
        <p:txBody>
          <a:bodyPr/>
          <a:lstStyle/>
          <a:p>
            <a:fld id="{05F29C05-E46B-45A3-894C-8239547FA850}" type="datetimeFigureOut">
              <a:rPr lang="en-IN" smtClean="0"/>
              <a:t>01-12-2025</a:t>
            </a:fld>
            <a:endParaRPr lang="en-IN"/>
          </a:p>
        </p:txBody>
      </p:sp>
      <p:sp>
        <p:nvSpPr>
          <p:cNvPr id="5" name="Footer Placeholder 4">
            <a:extLst>
              <a:ext uri="{FF2B5EF4-FFF2-40B4-BE49-F238E27FC236}">
                <a16:creationId xmlns:a16="http://schemas.microsoft.com/office/drawing/2014/main" id="{2D1A508B-9952-3294-A6BB-824513B806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D1B36F-D48B-9E38-8B61-5709AFA0A066}"/>
              </a:ext>
            </a:extLst>
          </p:cNvPr>
          <p:cNvSpPr>
            <a:spLocks noGrp="1"/>
          </p:cNvSpPr>
          <p:nvPr>
            <p:ph type="sldNum" sz="quarter" idx="12"/>
          </p:nvPr>
        </p:nvSpPr>
        <p:spPr/>
        <p:txBody>
          <a:bodyPr/>
          <a:lstStyle/>
          <a:p>
            <a:fld id="{B62025DE-21F8-441D-AA34-105EB979403C}" type="slidenum">
              <a:rPr lang="en-IN" smtClean="0"/>
              <a:t>‹#›</a:t>
            </a:fld>
            <a:endParaRPr lang="en-IN"/>
          </a:p>
        </p:txBody>
      </p:sp>
    </p:spTree>
    <p:extLst>
      <p:ext uri="{BB962C8B-B14F-4D97-AF65-F5344CB8AC3E}">
        <p14:creationId xmlns:p14="http://schemas.microsoft.com/office/powerpoint/2010/main" val="22575911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21BC5-84A7-C22A-EE39-463137B3CB6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CF49508-A730-568C-5B70-A9625453C9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E131A87-90EE-7090-B6E2-C6664A9AB4B2}"/>
              </a:ext>
            </a:extLst>
          </p:cNvPr>
          <p:cNvSpPr>
            <a:spLocks noGrp="1"/>
          </p:cNvSpPr>
          <p:nvPr>
            <p:ph type="dt" sz="half" idx="10"/>
          </p:nvPr>
        </p:nvSpPr>
        <p:spPr/>
        <p:txBody>
          <a:bodyPr/>
          <a:lstStyle/>
          <a:p>
            <a:fld id="{05F29C05-E46B-45A3-894C-8239547FA850}" type="datetimeFigureOut">
              <a:rPr lang="en-IN" smtClean="0"/>
              <a:t>01-12-2025</a:t>
            </a:fld>
            <a:endParaRPr lang="en-IN"/>
          </a:p>
        </p:txBody>
      </p:sp>
      <p:sp>
        <p:nvSpPr>
          <p:cNvPr id="5" name="Footer Placeholder 4">
            <a:extLst>
              <a:ext uri="{FF2B5EF4-FFF2-40B4-BE49-F238E27FC236}">
                <a16:creationId xmlns:a16="http://schemas.microsoft.com/office/drawing/2014/main" id="{FA60375A-1A11-57F7-9492-96667660F7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2DDAB0-C760-7415-FCD4-0C0CE7CE8C65}"/>
              </a:ext>
            </a:extLst>
          </p:cNvPr>
          <p:cNvSpPr>
            <a:spLocks noGrp="1"/>
          </p:cNvSpPr>
          <p:nvPr>
            <p:ph type="sldNum" sz="quarter" idx="12"/>
          </p:nvPr>
        </p:nvSpPr>
        <p:spPr/>
        <p:txBody>
          <a:bodyPr/>
          <a:lstStyle/>
          <a:p>
            <a:fld id="{B62025DE-21F8-441D-AA34-105EB979403C}" type="slidenum">
              <a:rPr lang="en-IN" smtClean="0"/>
              <a:t>‹#›</a:t>
            </a:fld>
            <a:endParaRPr lang="en-IN"/>
          </a:p>
        </p:txBody>
      </p:sp>
    </p:spTree>
    <p:extLst>
      <p:ext uri="{BB962C8B-B14F-4D97-AF65-F5344CB8AC3E}">
        <p14:creationId xmlns:p14="http://schemas.microsoft.com/office/powerpoint/2010/main" val="14457109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45AF0-705C-D13D-B82D-6C9795401A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60FFC7C-1F23-E007-95DF-D4F8F17FCE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E3A19A7-D5D6-42DA-6B51-A5FA18AFCD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B82F2B9-BB49-A90E-77B9-BBDD2D7E1129}"/>
              </a:ext>
            </a:extLst>
          </p:cNvPr>
          <p:cNvSpPr>
            <a:spLocks noGrp="1"/>
          </p:cNvSpPr>
          <p:nvPr>
            <p:ph type="dt" sz="half" idx="10"/>
          </p:nvPr>
        </p:nvSpPr>
        <p:spPr/>
        <p:txBody>
          <a:bodyPr/>
          <a:lstStyle/>
          <a:p>
            <a:fld id="{05F29C05-E46B-45A3-894C-8239547FA850}" type="datetimeFigureOut">
              <a:rPr lang="en-IN" smtClean="0"/>
              <a:t>01-12-2025</a:t>
            </a:fld>
            <a:endParaRPr lang="en-IN"/>
          </a:p>
        </p:txBody>
      </p:sp>
      <p:sp>
        <p:nvSpPr>
          <p:cNvPr id="6" name="Footer Placeholder 5">
            <a:extLst>
              <a:ext uri="{FF2B5EF4-FFF2-40B4-BE49-F238E27FC236}">
                <a16:creationId xmlns:a16="http://schemas.microsoft.com/office/drawing/2014/main" id="{6FBDA384-156E-7DAE-E507-ECD820F4BE0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EB623D-E8F7-6C22-7E40-CB69617BC28E}"/>
              </a:ext>
            </a:extLst>
          </p:cNvPr>
          <p:cNvSpPr>
            <a:spLocks noGrp="1"/>
          </p:cNvSpPr>
          <p:nvPr>
            <p:ph type="sldNum" sz="quarter" idx="12"/>
          </p:nvPr>
        </p:nvSpPr>
        <p:spPr/>
        <p:txBody>
          <a:bodyPr/>
          <a:lstStyle/>
          <a:p>
            <a:fld id="{B62025DE-21F8-441D-AA34-105EB979403C}" type="slidenum">
              <a:rPr lang="en-IN" smtClean="0"/>
              <a:t>‹#›</a:t>
            </a:fld>
            <a:endParaRPr lang="en-IN"/>
          </a:p>
        </p:txBody>
      </p:sp>
    </p:spTree>
    <p:extLst>
      <p:ext uri="{BB962C8B-B14F-4D97-AF65-F5344CB8AC3E}">
        <p14:creationId xmlns:p14="http://schemas.microsoft.com/office/powerpoint/2010/main" val="14090130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38A5D-1391-DED4-A4A8-F2A67E6FE63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66FC693-AF8C-22D1-C0D4-4EC81664CB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38F2D0-EA80-1A4B-E06F-9741FA9021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CA2B4B8-DCE8-31CD-4C47-583699DEE0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D6B37F1-CAFC-5C05-6856-3277D835D3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8B9C56D-3A2C-5078-C8CF-C3145693ACFE}"/>
              </a:ext>
            </a:extLst>
          </p:cNvPr>
          <p:cNvSpPr>
            <a:spLocks noGrp="1"/>
          </p:cNvSpPr>
          <p:nvPr>
            <p:ph type="dt" sz="half" idx="10"/>
          </p:nvPr>
        </p:nvSpPr>
        <p:spPr/>
        <p:txBody>
          <a:bodyPr/>
          <a:lstStyle/>
          <a:p>
            <a:fld id="{05F29C05-E46B-45A3-894C-8239547FA850}" type="datetimeFigureOut">
              <a:rPr lang="en-IN" smtClean="0"/>
              <a:t>01-12-2025</a:t>
            </a:fld>
            <a:endParaRPr lang="en-IN"/>
          </a:p>
        </p:txBody>
      </p:sp>
      <p:sp>
        <p:nvSpPr>
          <p:cNvPr id="8" name="Footer Placeholder 7">
            <a:extLst>
              <a:ext uri="{FF2B5EF4-FFF2-40B4-BE49-F238E27FC236}">
                <a16:creationId xmlns:a16="http://schemas.microsoft.com/office/drawing/2014/main" id="{99E63EE2-0742-0772-E3C9-8E99AF623D9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EED1BDD-34FF-62EA-FC84-FADF37C3D892}"/>
              </a:ext>
            </a:extLst>
          </p:cNvPr>
          <p:cNvSpPr>
            <a:spLocks noGrp="1"/>
          </p:cNvSpPr>
          <p:nvPr>
            <p:ph type="sldNum" sz="quarter" idx="12"/>
          </p:nvPr>
        </p:nvSpPr>
        <p:spPr/>
        <p:txBody>
          <a:bodyPr/>
          <a:lstStyle/>
          <a:p>
            <a:fld id="{B62025DE-21F8-441D-AA34-105EB979403C}" type="slidenum">
              <a:rPr lang="en-IN" smtClean="0"/>
              <a:t>‹#›</a:t>
            </a:fld>
            <a:endParaRPr lang="en-IN"/>
          </a:p>
        </p:txBody>
      </p:sp>
    </p:spTree>
    <p:extLst>
      <p:ext uri="{BB962C8B-B14F-4D97-AF65-F5344CB8AC3E}">
        <p14:creationId xmlns:p14="http://schemas.microsoft.com/office/powerpoint/2010/main" val="33788292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54B35-21BB-2B42-05F6-A39E8B1DEC6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7726B93-0116-FD22-680A-575E568C5266}"/>
              </a:ext>
            </a:extLst>
          </p:cNvPr>
          <p:cNvSpPr>
            <a:spLocks noGrp="1"/>
          </p:cNvSpPr>
          <p:nvPr>
            <p:ph type="dt" sz="half" idx="10"/>
          </p:nvPr>
        </p:nvSpPr>
        <p:spPr/>
        <p:txBody>
          <a:bodyPr/>
          <a:lstStyle/>
          <a:p>
            <a:fld id="{05F29C05-E46B-45A3-894C-8239547FA850}" type="datetimeFigureOut">
              <a:rPr lang="en-IN" smtClean="0"/>
              <a:t>01-12-2025</a:t>
            </a:fld>
            <a:endParaRPr lang="en-IN"/>
          </a:p>
        </p:txBody>
      </p:sp>
      <p:sp>
        <p:nvSpPr>
          <p:cNvPr id="4" name="Footer Placeholder 3">
            <a:extLst>
              <a:ext uri="{FF2B5EF4-FFF2-40B4-BE49-F238E27FC236}">
                <a16:creationId xmlns:a16="http://schemas.microsoft.com/office/drawing/2014/main" id="{1673DE9A-9C78-1AF6-6A5E-8A5AF4E6698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98EFC39-4A42-1CC5-B021-10F48CA73D4B}"/>
              </a:ext>
            </a:extLst>
          </p:cNvPr>
          <p:cNvSpPr>
            <a:spLocks noGrp="1"/>
          </p:cNvSpPr>
          <p:nvPr>
            <p:ph type="sldNum" sz="quarter" idx="12"/>
          </p:nvPr>
        </p:nvSpPr>
        <p:spPr/>
        <p:txBody>
          <a:bodyPr/>
          <a:lstStyle/>
          <a:p>
            <a:fld id="{B62025DE-21F8-441D-AA34-105EB979403C}" type="slidenum">
              <a:rPr lang="en-IN" smtClean="0"/>
              <a:t>‹#›</a:t>
            </a:fld>
            <a:endParaRPr lang="en-IN"/>
          </a:p>
        </p:txBody>
      </p:sp>
    </p:spTree>
    <p:extLst>
      <p:ext uri="{BB962C8B-B14F-4D97-AF65-F5344CB8AC3E}">
        <p14:creationId xmlns:p14="http://schemas.microsoft.com/office/powerpoint/2010/main" val="24368922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81040C-7936-E0CE-5A35-290C85CD98EB}"/>
              </a:ext>
            </a:extLst>
          </p:cNvPr>
          <p:cNvSpPr>
            <a:spLocks noGrp="1"/>
          </p:cNvSpPr>
          <p:nvPr>
            <p:ph type="dt" sz="half" idx="10"/>
          </p:nvPr>
        </p:nvSpPr>
        <p:spPr/>
        <p:txBody>
          <a:bodyPr/>
          <a:lstStyle/>
          <a:p>
            <a:fld id="{05F29C05-E46B-45A3-894C-8239547FA850}" type="datetimeFigureOut">
              <a:rPr lang="en-IN" smtClean="0"/>
              <a:t>01-12-2025</a:t>
            </a:fld>
            <a:endParaRPr lang="en-IN"/>
          </a:p>
        </p:txBody>
      </p:sp>
      <p:sp>
        <p:nvSpPr>
          <p:cNvPr id="3" name="Footer Placeholder 2">
            <a:extLst>
              <a:ext uri="{FF2B5EF4-FFF2-40B4-BE49-F238E27FC236}">
                <a16:creationId xmlns:a16="http://schemas.microsoft.com/office/drawing/2014/main" id="{688F5F38-88FF-3AE3-4C43-F7FC8235F1B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E52DBFB-8290-9A1E-17A6-83F4ADB5B982}"/>
              </a:ext>
            </a:extLst>
          </p:cNvPr>
          <p:cNvSpPr>
            <a:spLocks noGrp="1"/>
          </p:cNvSpPr>
          <p:nvPr>
            <p:ph type="sldNum" sz="quarter" idx="12"/>
          </p:nvPr>
        </p:nvSpPr>
        <p:spPr/>
        <p:txBody>
          <a:bodyPr/>
          <a:lstStyle/>
          <a:p>
            <a:fld id="{B62025DE-21F8-441D-AA34-105EB979403C}" type="slidenum">
              <a:rPr lang="en-IN" smtClean="0"/>
              <a:t>‹#›</a:t>
            </a:fld>
            <a:endParaRPr lang="en-IN"/>
          </a:p>
        </p:txBody>
      </p:sp>
    </p:spTree>
    <p:extLst>
      <p:ext uri="{BB962C8B-B14F-4D97-AF65-F5344CB8AC3E}">
        <p14:creationId xmlns:p14="http://schemas.microsoft.com/office/powerpoint/2010/main" val="4881548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CBF05-8D64-ACD9-50B6-142AC51FC2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A4635CB-A789-856D-5A20-1E870CEEC1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BE14A54-DF51-35A8-682D-B2158F03FA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899904-9D3B-7279-881F-2B0C2F5E1512}"/>
              </a:ext>
            </a:extLst>
          </p:cNvPr>
          <p:cNvSpPr>
            <a:spLocks noGrp="1"/>
          </p:cNvSpPr>
          <p:nvPr>
            <p:ph type="dt" sz="half" idx="10"/>
          </p:nvPr>
        </p:nvSpPr>
        <p:spPr/>
        <p:txBody>
          <a:bodyPr/>
          <a:lstStyle/>
          <a:p>
            <a:fld id="{05F29C05-E46B-45A3-894C-8239547FA850}" type="datetimeFigureOut">
              <a:rPr lang="en-IN" smtClean="0"/>
              <a:t>01-12-2025</a:t>
            </a:fld>
            <a:endParaRPr lang="en-IN"/>
          </a:p>
        </p:txBody>
      </p:sp>
      <p:sp>
        <p:nvSpPr>
          <p:cNvPr id="6" name="Footer Placeholder 5">
            <a:extLst>
              <a:ext uri="{FF2B5EF4-FFF2-40B4-BE49-F238E27FC236}">
                <a16:creationId xmlns:a16="http://schemas.microsoft.com/office/drawing/2014/main" id="{F9269C1C-5761-DA96-15D3-30621DD12E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E5C1442-40A6-0E4E-D60B-623A482309FF}"/>
              </a:ext>
            </a:extLst>
          </p:cNvPr>
          <p:cNvSpPr>
            <a:spLocks noGrp="1"/>
          </p:cNvSpPr>
          <p:nvPr>
            <p:ph type="sldNum" sz="quarter" idx="12"/>
          </p:nvPr>
        </p:nvSpPr>
        <p:spPr/>
        <p:txBody>
          <a:bodyPr/>
          <a:lstStyle/>
          <a:p>
            <a:fld id="{B62025DE-21F8-441D-AA34-105EB979403C}" type="slidenum">
              <a:rPr lang="en-IN" smtClean="0"/>
              <a:t>‹#›</a:t>
            </a:fld>
            <a:endParaRPr lang="en-IN"/>
          </a:p>
        </p:txBody>
      </p:sp>
    </p:spTree>
    <p:extLst>
      <p:ext uri="{BB962C8B-B14F-4D97-AF65-F5344CB8AC3E}">
        <p14:creationId xmlns:p14="http://schemas.microsoft.com/office/powerpoint/2010/main" val="31981833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44472-0140-DA2F-DE65-04F985CE1A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C3526E3-F547-AB66-3642-E349DF8D6E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D2A8794-3D08-444C-1BCA-5620499263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602E2D-C0BA-C67E-F962-1507B79E3FD2}"/>
              </a:ext>
            </a:extLst>
          </p:cNvPr>
          <p:cNvSpPr>
            <a:spLocks noGrp="1"/>
          </p:cNvSpPr>
          <p:nvPr>
            <p:ph type="dt" sz="half" idx="10"/>
          </p:nvPr>
        </p:nvSpPr>
        <p:spPr/>
        <p:txBody>
          <a:bodyPr/>
          <a:lstStyle/>
          <a:p>
            <a:fld id="{05F29C05-E46B-45A3-894C-8239547FA850}" type="datetimeFigureOut">
              <a:rPr lang="en-IN" smtClean="0"/>
              <a:t>01-12-2025</a:t>
            </a:fld>
            <a:endParaRPr lang="en-IN"/>
          </a:p>
        </p:txBody>
      </p:sp>
      <p:sp>
        <p:nvSpPr>
          <p:cNvPr id="6" name="Footer Placeholder 5">
            <a:extLst>
              <a:ext uri="{FF2B5EF4-FFF2-40B4-BE49-F238E27FC236}">
                <a16:creationId xmlns:a16="http://schemas.microsoft.com/office/drawing/2014/main" id="{AB16610E-31D8-88E8-2CAE-259BE29DAF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7E0F70-7295-9D1F-D12B-8B095728D1A2}"/>
              </a:ext>
            </a:extLst>
          </p:cNvPr>
          <p:cNvSpPr>
            <a:spLocks noGrp="1"/>
          </p:cNvSpPr>
          <p:nvPr>
            <p:ph type="sldNum" sz="quarter" idx="12"/>
          </p:nvPr>
        </p:nvSpPr>
        <p:spPr/>
        <p:txBody>
          <a:bodyPr/>
          <a:lstStyle/>
          <a:p>
            <a:fld id="{B62025DE-21F8-441D-AA34-105EB979403C}" type="slidenum">
              <a:rPr lang="en-IN" smtClean="0"/>
              <a:t>‹#›</a:t>
            </a:fld>
            <a:endParaRPr lang="en-IN"/>
          </a:p>
        </p:txBody>
      </p:sp>
    </p:spTree>
    <p:extLst>
      <p:ext uri="{BB962C8B-B14F-4D97-AF65-F5344CB8AC3E}">
        <p14:creationId xmlns:p14="http://schemas.microsoft.com/office/powerpoint/2010/main" val="29651785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C0C07-579D-DE0B-1DBF-8AE310183A4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93B0D26-E72F-8D98-88D0-06F9DF1C4A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F2C2FD-D187-07C6-34FD-7DBF3E19E967}"/>
              </a:ext>
            </a:extLst>
          </p:cNvPr>
          <p:cNvSpPr>
            <a:spLocks noGrp="1"/>
          </p:cNvSpPr>
          <p:nvPr>
            <p:ph type="dt" sz="half" idx="10"/>
          </p:nvPr>
        </p:nvSpPr>
        <p:spPr/>
        <p:txBody>
          <a:bodyPr/>
          <a:lstStyle/>
          <a:p>
            <a:fld id="{05F29C05-E46B-45A3-894C-8239547FA850}" type="datetimeFigureOut">
              <a:rPr lang="en-IN" smtClean="0"/>
              <a:t>01-12-2025</a:t>
            </a:fld>
            <a:endParaRPr lang="en-IN"/>
          </a:p>
        </p:txBody>
      </p:sp>
      <p:sp>
        <p:nvSpPr>
          <p:cNvPr id="5" name="Footer Placeholder 4">
            <a:extLst>
              <a:ext uri="{FF2B5EF4-FFF2-40B4-BE49-F238E27FC236}">
                <a16:creationId xmlns:a16="http://schemas.microsoft.com/office/drawing/2014/main" id="{5C9EC189-511C-641C-6DA5-59B6223091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FC5588-37CE-ADD2-D204-EA4185A591C6}"/>
              </a:ext>
            </a:extLst>
          </p:cNvPr>
          <p:cNvSpPr>
            <a:spLocks noGrp="1"/>
          </p:cNvSpPr>
          <p:nvPr>
            <p:ph type="sldNum" sz="quarter" idx="12"/>
          </p:nvPr>
        </p:nvSpPr>
        <p:spPr/>
        <p:txBody>
          <a:bodyPr/>
          <a:lstStyle/>
          <a:p>
            <a:fld id="{B62025DE-21F8-441D-AA34-105EB979403C}" type="slidenum">
              <a:rPr lang="en-IN" smtClean="0"/>
              <a:t>‹#›</a:t>
            </a:fld>
            <a:endParaRPr lang="en-IN"/>
          </a:p>
        </p:txBody>
      </p:sp>
    </p:spTree>
    <p:extLst>
      <p:ext uri="{BB962C8B-B14F-4D97-AF65-F5344CB8AC3E}">
        <p14:creationId xmlns:p14="http://schemas.microsoft.com/office/powerpoint/2010/main" val="18652476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1C9B4D-E924-B423-760C-1AADEDB8237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78D310-408D-980C-B3AD-EAB87154BE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50B160-8477-5361-4BDE-9BDE5BFD68C6}"/>
              </a:ext>
            </a:extLst>
          </p:cNvPr>
          <p:cNvSpPr>
            <a:spLocks noGrp="1"/>
          </p:cNvSpPr>
          <p:nvPr>
            <p:ph type="dt" sz="half" idx="10"/>
          </p:nvPr>
        </p:nvSpPr>
        <p:spPr/>
        <p:txBody>
          <a:bodyPr/>
          <a:lstStyle/>
          <a:p>
            <a:fld id="{05F29C05-E46B-45A3-894C-8239547FA850}" type="datetimeFigureOut">
              <a:rPr lang="en-IN" smtClean="0"/>
              <a:t>01-12-2025</a:t>
            </a:fld>
            <a:endParaRPr lang="en-IN"/>
          </a:p>
        </p:txBody>
      </p:sp>
      <p:sp>
        <p:nvSpPr>
          <p:cNvPr id="5" name="Footer Placeholder 4">
            <a:extLst>
              <a:ext uri="{FF2B5EF4-FFF2-40B4-BE49-F238E27FC236}">
                <a16:creationId xmlns:a16="http://schemas.microsoft.com/office/drawing/2014/main" id="{06CBB590-2B83-51E4-723E-5C35A2F530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95D643-D53C-0FF3-47B3-B64D6755721D}"/>
              </a:ext>
            </a:extLst>
          </p:cNvPr>
          <p:cNvSpPr>
            <a:spLocks noGrp="1"/>
          </p:cNvSpPr>
          <p:nvPr>
            <p:ph type="sldNum" sz="quarter" idx="12"/>
          </p:nvPr>
        </p:nvSpPr>
        <p:spPr/>
        <p:txBody>
          <a:bodyPr/>
          <a:lstStyle/>
          <a:p>
            <a:fld id="{B62025DE-21F8-441D-AA34-105EB979403C}" type="slidenum">
              <a:rPr lang="en-IN" smtClean="0"/>
              <a:t>‹#›</a:t>
            </a:fld>
            <a:endParaRPr lang="en-IN"/>
          </a:p>
        </p:txBody>
      </p:sp>
    </p:spTree>
    <p:extLst>
      <p:ext uri="{BB962C8B-B14F-4D97-AF65-F5344CB8AC3E}">
        <p14:creationId xmlns:p14="http://schemas.microsoft.com/office/powerpoint/2010/main" val="27129309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98691-466A-6806-AE48-150CC45DC8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319FA31-2831-D405-7963-6BA90A0BC6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015654A-1C71-5030-10C7-9C6F66C38A14}"/>
              </a:ext>
            </a:extLst>
          </p:cNvPr>
          <p:cNvSpPr>
            <a:spLocks noGrp="1"/>
          </p:cNvSpPr>
          <p:nvPr>
            <p:ph type="dt" sz="half" idx="10"/>
          </p:nvPr>
        </p:nvSpPr>
        <p:spPr/>
        <p:txBody>
          <a:bodyPr/>
          <a:lstStyle/>
          <a:p>
            <a:fld id="{95C9594D-C72E-448D-AFFE-6CF0FB6A741A}" type="datetimeFigureOut">
              <a:rPr lang="en-IN" smtClean="0"/>
              <a:t>01-12-2025</a:t>
            </a:fld>
            <a:endParaRPr lang="en-IN"/>
          </a:p>
        </p:txBody>
      </p:sp>
      <p:sp>
        <p:nvSpPr>
          <p:cNvPr id="5" name="Footer Placeholder 4">
            <a:extLst>
              <a:ext uri="{FF2B5EF4-FFF2-40B4-BE49-F238E27FC236}">
                <a16:creationId xmlns:a16="http://schemas.microsoft.com/office/drawing/2014/main" id="{8ECF3839-185A-2148-2E50-2A7D33FC4E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8CF3E6-F602-7832-2FAD-CF57C075B1A4}"/>
              </a:ext>
            </a:extLst>
          </p:cNvPr>
          <p:cNvSpPr>
            <a:spLocks noGrp="1"/>
          </p:cNvSpPr>
          <p:nvPr>
            <p:ph type="sldNum" sz="quarter" idx="12"/>
          </p:nvPr>
        </p:nvSpPr>
        <p:spPr/>
        <p:txBody>
          <a:bodyPr/>
          <a:lstStyle/>
          <a:p>
            <a:fld id="{29D9AE83-E52A-42E6-95E9-5D734B0D6E91}" type="slidenum">
              <a:rPr lang="en-IN" smtClean="0"/>
              <a:t>‹#›</a:t>
            </a:fld>
            <a:endParaRPr lang="en-IN"/>
          </a:p>
        </p:txBody>
      </p:sp>
    </p:spTree>
    <p:extLst>
      <p:ext uri="{BB962C8B-B14F-4D97-AF65-F5344CB8AC3E}">
        <p14:creationId xmlns:p14="http://schemas.microsoft.com/office/powerpoint/2010/main" val="2261700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E7841-9425-DBEF-3F6C-434817985B9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E4E3645-4824-7B6A-8192-D4B24D74B6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F45A356-7D72-841A-12E6-E29A16D1D9C9}"/>
              </a:ext>
            </a:extLst>
          </p:cNvPr>
          <p:cNvSpPr>
            <a:spLocks noGrp="1"/>
          </p:cNvSpPr>
          <p:nvPr>
            <p:ph type="dt" sz="half" idx="10"/>
          </p:nvPr>
        </p:nvSpPr>
        <p:spPr/>
        <p:txBody>
          <a:bodyPr/>
          <a:lstStyle/>
          <a:p>
            <a:fld id="{95C9594D-C72E-448D-AFFE-6CF0FB6A741A}" type="datetimeFigureOut">
              <a:rPr lang="en-IN" smtClean="0"/>
              <a:t>01-12-2025</a:t>
            </a:fld>
            <a:endParaRPr lang="en-IN"/>
          </a:p>
        </p:txBody>
      </p:sp>
      <p:sp>
        <p:nvSpPr>
          <p:cNvPr id="5" name="Footer Placeholder 4">
            <a:extLst>
              <a:ext uri="{FF2B5EF4-FFF2-40B4-BE49-F238E27FC236}">
                <a16:creationId xmlns:a16="http://schemas.microsoft.com/office/drawing/2014/main" id="{B634A594-05A8-2631-26A8-8C47B649A4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F1FACB-468E-E47B-6902-14EA190FD043}"/>
              </a:ext>
            </a:extLst>
          </p:cNvPr>
          <p:cNvSpPr>
            <a:spLocks noGrp="1"/>
          </p:cNvSpPr>
          <p:nvPr>
            <p:ph type="sldNum" sz="quarter" idx="12"/>
          </p:nvPr>
        </p:nvSpPr>
        <p:spPr/>
        <p:txBody>
          <a:bodyPr/>
          <a:lstStyle/>
          <a:p>
            <a:fld id="{29D9AE83-E52A-42E6-95E9-5D734B0D6E91}" type="slidenum">
              <a:rPr lang="en-IN" smtClean="0"/>
              <a:t>‹#›</a:t>
            </a:fld>
            <a:endParaRPr lang="en-IN"/>
          </a:p>
        </p:txBody>
      </p:sp>
    </p:spTree>
    <p:extLst>
      <p:ext uri="{BB962C8B-B14F-4D97-AF65-F5344CB8AC3E}">
        <p14:creationId xmlns:p14="http://schemas.microsoft.com/office/powerpoint/2010/main" val="42584025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C4D01-D80D-CC02-0B01-9070930048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553F4CD-0015-C8C7-46E1-759394C9D6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CC17D7-E20E-B90F-815F-20489F85C901}"/>
              </a:ext>
            </a:extLst>
          </p:cNvPr>
          <p:cNvSpPr>
            <a:spLocks noGrp="1"/>
          </p:cNvSpPr>
          <p:nvPr>
            <p:ph type="dt" sz="half" idx="10"/>
          </p:nvPr>
        </p:nvSpPr>
        <p:spPr/>
        <p:txBody>
          <a:bodyPr/>
          <a:lstStyle/>
          <a:p>
            <a:fld id="{95C9594D-C72E-448D-AFFE-6CF0FB6A741A}" type="datetimeFigureOut">
              <a:rPr lang="en-IN" smtClean="0"/>
              <a:t>01-12-2025</a:t>
            </a:fld>
            <a:endParaRPr lang="en-IN"/>
          </a:p>
        </p:txBody>
      </p:sp>
      <p:sp>
        <p:nvSpPr>
          <p:cNvPr id="5" name="Footer Placeholder 4">
            <a:extLst>
              <a:ext uri="{FF2B5EF4-FFF2-40B4-BE49-F238E27FC236}">
                <a16:creationId xmlns:a16="http://schemas.microsoft.com/office/drawing/2014/main" id="{82E46707-E8DE-9F2A-D039-C582BCD4E7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26CAE0-D19D-3BB8-091A-2F98E2D6A0F4}"/>
              </a:ext>
            </a:extLst>
          </p:cNvPr>
          <p:cNvSpPr>
            <a:spLocks noGrp="1"/>
          </p:cNvSpPr>
          <p:nvPr>
            <p:ph type="sldNum" sz="quarter" idx="12"/>
          </p:nvPr>
        </p:nvSpPr>
        <p:spPr/>
        <p:txBody>
          <a:bodyPr/>
          <a:lstStyle/>
          <a:p>
            <a:fld id="{29D9AE83-E52A-42E6-95E9-5D734B0D6E91}" type="slidenum">
              <a:rPr lang="en-IN" smtClean="0"/>
              <a:t>‹#›</a:t>
            </a:fld>
            <a:endParaRPr lang="en-IN"/>
          </a:p>
        </p:txBody>
      </p:sp>
    </p:spTree>
    <p:extLst>
      <p:ext uri="{BB962C8B-B14F-4D97-AF65-F5344CB8AC3E}">
        <p14:creationId xmlns:p14="http://schemas.microsoft.com/office/powerpoint/2010/main" val="31733407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1DB04-1B98-2A65-CA23-6798888FD92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0182FA-C89F-07BE-3675-F7FB4D80B80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66F3728-FF48-B087-4951-B7A9758881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EB1D4E8-0737-E668-2457-482938B48D5C}"/>
              </a:ext>
            </a:extLst>
          </p:cNvPr>
          <p:cNvSpPr>
            <a:spLocks noGrp="1"/>
          </p:cNvSpPr>
          <p:nvPr>
            <p:ph type="dt" sz="half" idx="10"/>
          </p:nvPr>
        </p:nvSpPr>
        <p:spPr/>
        <p:txBody>
          <a:bodyPr/>
          <a:lstStyle/>
          <a:p>
            <a:fld id="{95C9594D-C72E-448D-AFFE-6CF0FB6A741A}" type="datetimeFigureOut">
              <a:rPr lang="en-IN" smtClean="0"/>
              <a:t>01-12-2025</a:t>
            </a:fld>
            <a:endParaRPr lang="en-IN"/>
          </a:p>
        </p:txBody>
      </p:sp>
      <p:sp>
        <p:nvSpPr>
          <p:cNvPr id="6" name="Footer Placeholder 5">
            <a:extLst>
              <a:ext uri="{FF2B5EF4-FFF2-40B4-BE49-F238E27FC236}">
                <a16:creationId xmlns:a16="http://schemas.microsoft.com/office/drawing/2014/main" id="{A3B7A7DD-2ABC-26F2-5F6C-180636D1950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0156FA-F6F5-B47B-2A9D-06AA2E31F257}"/>
              </a:ext>
            </a:extLst>
          </p:cNvPr>
          <p:cNvSpPr>
            <a:spLocks noGrp="1"/>
          </p:cNvSpPr>
          <p:nvPr>
            <p:ph type="sldNum" sz="quarter" idx="12"/>
          </p:nvPr>
        </p:nvSpPr>
        <p:spPr/>
        <p:txBody>
          <a:bodyPr/>
          <a:lstStyle/>
          <a:p>
            <a:fld id="{29D9AE83-E52A-42E6-95E9-5D734B0D6E91}" type="slidenum">
              <a:rPr lang="en-IN" smtClean="0"/>
              <a:t>‹#›</a:t>
            </a:fld>
            <a:endParaRPr lang="en-IN"/>
          </a:p>
        </p:txBody>
      </p:sp>
    </p:spTree>
    <p:extLst>
      <p:ext uri="{BB962C8B-B14F-4D97-AF65-F5344CB8AC3E}">
        <p14:creationId xmlns:p14="http://schemas.microsoft.com/office/powerpoint/2010/main" val="7405322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FD8B5-9447-89C3-20F6-0CCE5CADCEB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57BAFC-1405-D9F8-FAAE-EC0007C858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A65531-6A78-8658-0DA8-487A93C2AF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01E1989-9B02-7A6E-9C58-FE322C4799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8036F6-31F6-822E-A68C-F4A54A0045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E6E6513-998C-CE01-8E65-547EC7F5C178}"/>
              </a:ext>
            </a:extLst>
          </p:cNvPr>
          <p:cNvSpPr>
            <a:spLocks noGrp="1"/>
          </p:cNvSpPr>
          <p:nvPr>
            <p:ph type="dt" sz="half" idx="10"/>
          </p:nvPr>
        </p:nvSpPr>
        <p:spPr/>
        <p:txBody>
          <a:bodyPr/>
          <a:lstStyle/>
          <a:p>
            <a:fld id="{95C9594D-C72E-448D-AFFE-6CF0FB6A741A}" type="datetimeFigureOut">
              <a:rPr lang="en-IN" smtClean="0"/>
              <a:t>01-12-2025</a:t>
            </a:fld>
            <a:endParaRPr lang="en-IN"/>
          </a:p>
        </p:txBody>
      </p:sp>
      <p:sp>
        <p:nvSpPr>
          <p:cNvPr id="8" name="Footer Placeholder 7">
            <a:extLst>
              <a:ext uri="{FF2B5EF4-FFF2-40B4-BE49-F238E27FC236}">
                <a16:creationId xmlns:a16="http://schemas.microsoft.com/office/drawing/2014/main" id="{014D5415-B957-46F7-1C11-A1D23DA35A2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908452B-474D-4AD2-7968-E9837DDC6D22}"/>
              </a:ext>
            </a:extLst>
          </p:cNvPr>
          <p:cNvSpPr>
            <a:spLocks noGrp="1"/>
          </p:cNvSpPr>
          <p:nvPr>
            <p:ph type="sldNum" sz="quarter" idx="12"/>
          </p:nvPr>
        </p:nvSpPr>
        <p:spPr/>
        <p:txBody>
          <a:bodyPr/>
          <a:lstStyle/>
          <a:p>
            <a:fld id="{29D9AE83-E52A-42E6-95E9-5D734B0D6E91}" type="slidenum">
              <a:rPr lang="en-IN" smtClean="0"/>
              <a:t>‹#›</a:t>
            </a:fld>
            <a:endParaRPr lang="en-IN"/>
          </a:p>
        </p:txBody>
      </p:sp>
    </p:spTree>
    <p:extLst>
      <p:ext uri="{BB962C8B-B14F-4D97-AF65-F5344CB8AC3E}">
        <p14:creationId xmlns:p14="http://schemas.microsoft.com/office/powerpoint/2010/main" val="19601683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CAD77-9166-DDC4-85A0-32F1D6F138C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0D562BC-1E97-78A7-B63A-C024799C5E87}"/>
              </a:ext>
            </a:extLst>
          </p:cNvPr>
          <p:cNvSpPr>
            <a:spLocks noGrp="1"/>
          </p:cNvSpPr>
          <p:nvPr>
            <p:ph type="dt" sz="half" idx="10"/>
          </p:nvPr>
        </p:nvSpPr>
        <p:spPr/>
        <p:txBody>
          <a:bodyPr/>
          <a:lstStyle/>
          <a:p>
            <a:fld id="{95C9594D-C72E-448D-AFFE-6CF0FB6A741A}" type="datetimeFigureOut">
              <a:rPr lang="en-IN" smtClean="0"/>
              <a:t>01-12-2025</a:t>
            </a:fld>
            <a:endParaRPr lang="en-IN"/>
          </a:p>
        </p:txBody>
      </p:sp>
      <p:sp>
        <p:nvSpPr>
          <p:cNvPr id="4" name="Footer Placeholder 3">
            <a:extLst>
              <a:ext uri="{FF2B5EF4-FFF2-40B4-BE49-F238E27FC236}">
                <a16:creationId xmlns:a16="http://schemas.microsoft.com/office/drawing/2014/main" id="{62A0ED7C-7F08-37D7-C2AC-13388758C6A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DFF5752-C21E-70F3-DD9C-776CE8F46E3A}"/>
              </a:ext>
            </a:extLst>
          </p:cNvPr>
          <p:cNvSpPr>
            <a:spLocks noGrp="1"/>
          </p:cNvSpPr>
          <p:nvPr>
            <p:ph type="sldNum" sz="quarter" idx="12"/>
          </p:nvPr>
        </p:nvSpPr>
        <p:spPr/>
        <p:txBody>
          <a:bodyPr/>
          <a:lstStyle/>
          <a:p>
            <a:fld id="{29D9AE83-E52A-42E6-95E9-5D734B0D6E91}" type="slidenum">
              <a:rPr lang="en-IN" smtClean="0"/>
              <a:t>‹#›</a:t>
            </a:fld>
            <a:endParaRPr lang="en-IN"/>
          </a:p>
        </p:txBody>
      </p:sp>
    </p:spTree>
    <p:extLst>
      <p:ext uri="{BB962C8B-B14F-4D97-AF65-F5344CB8AC3E}">
        <p14:creationId xmlns:p14="http://schemas.microsoft.com/office/powerpoint/2010/main" val="42832862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640E0E-C634-9D98-98DF-AA750AE53E88}"/>
              </a:ext>
            </a:extLst>
          </p:cNvPr>
          <p:cNvSpPr>
            <a:spLocks noGrp="1"/>
          </p:cNvSpPr>
          <p:nvPr>
            <p:ph type="dt" sz="half" idx="10"/>
          </p:nvPr>
        </p:nvSpPr>
        <p:spPr/>
        <p:txBody>
          <a:bodyPr/>
          <a:lstStyle/>
          <a:p>
            <a:fld id="{95C9594D-C72E-448D-AFFE-6CF0FB6A741A}" type="datetimeFigureOut">
              <a:rPr lang="en-IN" smtClean="0"/>
              <a:t>01-12-2025</a:t>
            </a:fld>
            <a:endParaRPr lang="en-IN"/>
          </a:p>
        </p:txBody>
      </p:sp>
      <p:sp>
        <p:nvSpPr>
          <p:cNvPr id="3" name="Footer Placeholder 2">
            <a:extLst>
              <a:ext uri="{FF2B5EF4-FFF2-40B4-BE49-F238E27FC236}">
                <a16:creationId xmlns:a16="http://schemas.microsoft.com/office/drawing/2014/main" id="{C1ABD037-E169-8555-F4C8-82630EBC184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BB3F4F2-351D-1F8F-BFC6-9DD7EE988E40}"/>
              </a:ext>
            </a:extLst>
          </p:cNvPr>
          <p:cNvSpPr>
            <a:spLocks noGrp="1"/>
          </p:cNvSpPr>
          <p:nvPr>
            <p:ph type="sldNum" sz="quarter" idx="12"/>
          </p:nvPr>
        </p:nvSpPr>
        <p:spPr/>
        <p:txBody>
          <a:bodyPr/>
          <a:lstStyle/>
          <a:p>
            <a:fld id="{29D9AE83-E52A-42E6-95E9-5D734B0D6E91}" type="slidenum">
              <a:rPr lang="en-IN" smtClean="0"/>
              <a:t>‹#›</a:t>
            </a:fld>
            <a:endParaRPr lang="en-IN"/>
          </a:p>
        </p:txBody>
      </p:sp>
    </p:spTree>
    <p:extLst>
      <p:ext uri="{BB962C8B-B14F-4D97-AF65-F5344CB8AC3E}">
        <p14:creationId xmlns:p14="http://schemas.microsoft.com/office/powerpoint/2010/main" val="199204484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D950C-D960-069A-EF0D-28C7BE08C4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460A2AE-61F6-342A-715A-0452ECE5E4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40AE41E-8F7F-12D0-0C93-02B030693F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441E36-B4D6-FE13-67C7-8CC1E3F0317B}"/>
              </a:ext>
            </a:extLst>
          </p:cNvPr>
          <p:cNvSpPr>
            <a:spLocks noGrp="1"/>
          </p:cNvSpPr>
          <p:nvPr>
            <p:ph type="dt" sz="half" idx="10"/>
          </p:nvPr>
        </p:nvSpPr>
        <p:spPr/>
        <p:txBody>
          <a:bodyPr/>
          <a:lstStyle/>
          <a:p>
            <a:fld id="{95C9594D-C72E-448D-AFFE-6CF0FB6A741A}" type="datetimeFigureOut">
              <a:rPr lang="en-IN" smtClean="0"/>
              <a:t>01-12-2025</a:t>
            </a:fld>
            <a:endParaRPr lang="en-IN"/>
          </a:p>
        </p:txBody>
      </p:sp>
      <p:sp>
        <p:nvSpPr>
          <p:cNvPr id="6" name="Footer Placeholder 5">
            <a:extLst>
              <a:ext uri="{FF2B5EF4-FFF2-40B4-BE49-F238E27FC236}">
                <a16:creationId xmlns:a16="http://schemas.microsoft.com/office/drawing/2014/main" id="{D02BE4F4-5B19-9F55-EAE0-A38ED4B3E7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28A102D-F6F7-1ACA-F761-B10A4DD35CBC}"/>
              </a:ext>
            </a:extLst>
          </p:cNvPr>
          <p:cNvSpPr>
            <a:spLocks noGrp="1"/>
          </p:cNvSpPr>
          <p:nvPr>
            <p:ph type="sldNum" sz="quarter" idx="12"/>
          </p:nvPr>
        </p:nvSpPr>
        <p:spPr/>
        <p:txBody>
          <a:bodyPr/>
          <a:lstStyle/>
          <a:p>
            <a:fld id="{29D9AE83-E52A-42E6-95E9-5D734B0D6E91}" type="slidenum">
              <a:rPr lang="en-IN" smtClean="0"/>
              <a:t>‹#›</a:t>
            </a:fld>
            <a:endParaRPr lang="en-IN"/>
          </a:p>
        </p:txBody>
      </p:sp>
    </p:spTree>
    <p:extLst>
      <p:ext uri="{BB962C8B-B14F-4D97-AF65-F5344CB8AC3E}">
        <p14:creationId xmlns:p14="http://schemas.microsoft.com/office/powerpoint/2010/main" val="72798414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785D4-B671-414C-587D-8183B01054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7167900-884F-AD3A-B539-EAD38B9479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73DC342-0D4B-7DCE-16C7-70967FCD3B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DFCB10-1A58-388A-22BE-8BAB7331ABE6}"/>
              </a:ext>
            </a:extLst>
          </p:cNvPr>
          <p:cNvSpPr>
            <a:spLocks noGrp="1"/>
          </p:cNvSpPr>
          <p:nvPr>
            <p:ph type="dt" sz="half" idx="10"/>
          </p:nvPr>
        </p:nvSpPr>
        <p:spPr/>
        <p:txBody>
          <a:bodyPr/>
          <a:lstStyle/>
          <a:p>
            <a:fld id="{95C9594D-C72E-448D-AFFE-6CF0FB6A741A}" type="datetimeFigureOut">
              <a:rPr lang="en-IN" smtClean="0"/>
              <a:t>01-12-2025</a:t>
            </a:fld>
            <a:endParaRPr lang="en-IN"/>
          </a:p>
        </p:txBody>
      </p:sp>
      <p:sp>
        <p:nvSpPr>
          <p:cNvPr id="6" name="Footer Placeholder 5">
            <a:extLst>
              <a:ext uri="{FF2B5EF4-FFF2-40B4-BE49-F238E27FC236}">
                <a16:creationId xmlns:a16="http://schemas.microsoft.com/office/drawing/2014/main" id="{7C833AD8-BB9F-20E2-5B4D-36E1372983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5763BAF-3982-9D99-01CC-B7D7BA1C7BC2}"/>
              </a:ext>
            </a:extLst>
          </p:cNvPr>
          <p:cNvSpPr>
            <a:spLocks noGrp="1"/>
          </p:cNvSpPr>
          <p:nvPr>
            <p:ph type="sldNum" sz="quarter" idx="12"/>
          </p:nvPr>
        </p:nvSpPr>
        <p:spPr/>
        <p:txBody>
          <a:bodyPr/>
          <a:lstStyle/>
          <a:p>
            <a:fld id="{29D9AE83-E52A-42E6-95E9-5D734B0D6E91}" type="slidenum">
              <a:rPr lang="en-IN" smtClean="0"/>
              <a:t>‹#›</a:t>
            </a:fld>
            <a:endParaRPr lang="en-IN"/>
          </a:p>
        </p:txBody>
      </p:sp>
    </p:spTree>
    <p:extLst>
      <p:ext uri="{BB962C8B-B14F-4D97-AF65-F5344CB8AC3E}">
        <p14:creationId xmlns:p14="http://schemas.microsoft.com/office/powerpoint/2010/main" val="377936279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24E23-362C-D755-07A1-77423B54FC9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A1714A3-C391-9AA3-793B-3AB726FBF7B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E610E0-6305-9474-AA6D-DAFA777C4C20}"/>
              </a:ext>
            </a:extLst>
          </p:cNvPr>
          <p:cNvSpPr>
            <a:spLocks noGrp="1"/>
          </p:cNvSpPr>
          <p:nvPr>
            <p:ph type="dt" sz="half" idx="10"/>
          </p:nvPr>
        </p:nvSpPr>
        <p:spPr/>
        <p:txBody>
          <a:bodyPr/>
          <a:lstStyle/>
          <a:p>
            <a:fld id="{95C9594D-C72E-448D-AFFE-6CF0FB6A741A}" type="datetimeFigureOut">
              <a:rPr lang="en-IN" smtClean="0"/>
              <a:t>01-12-2025</a:t>
            </a:fld>
            <a:endParaRPr lang="en-IN"/>
          </a:p>
        </p:txBody>
      </p:sp>
      <p:sp>
        <p:nvSpPr>
          <p:cNvPr id="5" name="Footer Placeholder 4">
            <a:extLst>
              <a:ext uri="{FF2B5EF4-FFF2-40B4-BE49-F238E27FC236}">
                <a16:creationId xmlns:a16="http://schemas.microsoft.com/office/drawing/2014/main" id="{B34B60E6-78BC-455C-A798-36A99A11C9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A5288E-D573-31FA-4FBB-860C6E172789}"/>
              </a:ext>
            </a:extLst>
          </p:cNvPr>
          <p:cNvSpPr>
            <a:spLocks noGrp="1"/>
          </p:cNvSpPr>
          <p:nvPr>
            <p:ph type="sldNum" sz="quarter" idx="12"/>
          </p:nvPr>
        </p:nvSpPr>
        <p:spPr/>
        <p:txBody>
          <a:bodyPr/>
          <a:lstStyle/>
          <a:p>
            <a:fld id="{29D9AE83-E52A-42E6-95E9-5D734B0D6E91}" type="slidenum">
              <a:rPr lang="en-IN" smtClean="0"/>
              <a:t>‹#›</a:t>
            </a:fld>
            <a:endParaRPr lang="en-IN"/>
          </a:p>
        </p:txBody>
      </p:sp>
    </p:spTree>
    <p:extLst>
      <p:ext uri="{BB962C8B-B14F-4D97-AF65-F5344CB8AC3E}">
        <p14:creationId xmlns:p14="http://schemas.microsoft.com/office/powerpoint/2010/main" val="41981203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F3E022-C7E6-AA2A-342B-5F75753A3C7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A31A402-558D-6CAB-79E5-B475A3FC9C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8CB274-03CC-2413-1E60-B9C4515595FB}"/>
              </a:ext>
            </a:extLst>
          </p:cNvPr>
          <p:cNvSpPr>
            <a:spLocks noGrp="1"/>
          </p:cNvSpPr>
          <p:nvPr>
            <p:ph type="dt" sz="half" idx="10"/>
          </p:nvPr>
        </p:nvSpPr>
        <p:spPr/>
        <p:txBody>
          <a:bodyPr/>
          <a:lstStyle/>
          <a:p>
            <a:fld id="{95C9594D-C72E-448D-AFFE-6CF0FB6A741A}" type="datetimeFigureOut">
              <a:rPr lang="en-IN" smtClean="0"/>
              <a:t>01-12-2025</a:t>
            </a:fld>
            <a:endParaRPr lang="en-IN"/>
          </a:p>
        </p:txBody>
      </p:sp>
      <p:sp>
        <p:nvSpPr>
          <p:cNvPr id="5" name="Footer Placeholder 4">
            <a:extLst>
              <a:ext uri="{FF2B5EF4-FFF2-40B4-BE49-F238E27FC236}">
                <a16:creationId xmlns:a16="http://schemas.microsoft.com/office/drawing/2014/main" id="{5DF134E4-876B-DD38-E937-C2703626D0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7C734B-A08B-B5F5-82C6-671DBAEFE1A6}"/>
              </a:ext>
            </a:extLst>
          </p:cNvPr>
          <p:cNvSpPr>
            <a:spLocks noGrp="1"/>
          </p:cNvSpPr>
          <p:nvPr>
            <p:ph type="sldNum" sz="quarter" idx="12"/>
          </p:nvPr>
        </p:nvSpPr>
        <p:spPr/>
        <p:txBody>
          <a:bodyPr/>
          <a:lstStyle/>
          <a:p>
            <a:fld id="{29D9AE83-E52A-42E6-95E9-5D734B0D6E91}" type="slidenum">
              <a:rPr lang="en-IN" smtClean="0"/>
              <a:t>‹#›</a:t>
            </a:fld>
            <a:endParaRPr lang="en-IN"/>
          </a:p>
        </p:txBody>
      </p:sp>
    </p:spTree>
    <p:extLst>
      <p:ext uri="{BB962C8B-B14F-4D97-AF65-F5344CB8AC3E}">
        <p14:creationId xmlns:p14="http://schemas.microsoft.com/office/powerpoint/2010/main" val="1768317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7224CC-942D-7EEE-74A9-22373430F4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6800962-FD7B-E75D-0513-B940B69EB8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FAD434-6B19-B7D8-CEE4-548A58D172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E43B78-4B15-48B7-844B-FAF50BD23CF6}" type="datetimeFigureOut">
              <a:rPr lang="en-IN" smtClean="0"/>
              <a:t>01-12-2025</a:t>
            </a:fld>
            <a:endParaRPr lang="en-IN"/>
          </a:p>
        </p:txBody>
      </p:sp>
      <p:sp>
        <p:nvSpPr>
          <p:cNvPr id="5" name="Footer Placeholder 4">
            <a:extLst>
              <a:ext uri="{FF2B5EF4-FFF2-40B4-BE49-F238E27FC236}">
                <a16:creationId xmlns:a16="http://schemas.microsoft.com/office/drawing/2014/main" id="{888189A3-F41E-4778-BAC6-6CF6AB7E75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ED336BB-6CA3-328C-D60E-09AD2436C3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5CC0E9-971B-4AE6-BC05-046D8314A3D2}" type="slidenum">
              <a:rPr lang="en-IN" smtClean="0"/>
              <a:t>‹#›</a:t>
            </a:fld>
            <a:endParaRPr lang="en-IN"/>
          </a:p>
        </p:txBody>
      </p:sp>
      <p:pic>
        <p:nvPicPr>
          <p:cNvPr id="7" name="Picture 6">
            <a:extLst>
              <a:ext uri="{FF2B5EF4-FFF2-40B4-BE49-F238E27FC236}">
                <a16:creationId xmlns:a16="http://schemas.microsoft.com/office/drawing/2014/main" id="{5977C252-531B-1EEA-FE2E-312594EF708D}"/>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0897335" y="0"/>
            <a:ext cx="1294665" cy="821957"/>
          </a:xfrm>
          <a:prstGeom prst="rect">
            <a:avLst/>
          </a:prstGeom>
        </p:spPr>
      </p:pic>
    </p:spTree>
    <p:extLst>
      <p:ext uri="{BB962C8B-B14F-4D97-AF65-F5344CB8AC3E}">
        <p14:creationId xmlns:p14="http://schemas.microsoft.com/office/powerpoint/2010/main" val="3670357152"/>
      </p:ext>
    </p:extLst>
  </p:cSld>
  <p:clrMap bg1="lt1" tx1="dk1" bg2="lt2" tx2="dk2" accent1="accent1" accent2="accent2" accent3="accent3" accent4="accent4" accent5="accent5" accent6="accent6" hlink="hlink" folHlink="folHlink"/>
  <p:sldLayoutIdLst>
    <p:sldLayoutId id="2147483797" r:id="rId1"/>
    <p:sldLayoutId id="2147483798" r:id="rId2"/>
    <p:sldLayoutId id="2147483799" r:id="rId3"/>
    <p:sldLayoutId id="2147483800" r:id="rId4"/>
    <p:sldLayoutId id="2147483801" r:id="rId5"/>
    <p:sldLayoutId id="2147483802" r:id="rId6"/>
    <p:sldLayoutId id="2147483803" r:id="rId7"/>
    <p:sldLayoutId id="2147483804" r:id="rId8"/>
    <p:sldLayoutId id="2147483805" r:id="rId9"/>
    <p:sldLayoutId id="2147483806" r:id="rId10"/>
    <p:sldLayoutId id="21474838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9F0021D-C7D4-ED42-9BF8-FB434C647B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992684C-FC72-CA46-1E91-DBECA7857D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A14327-396F-D9A8-826A-CC90720BC3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F29C05-E46B-45A3-894C-8239547FA850}" type="datetimeFigureOut">
              <a:rPr lang="en-IN" smtClean="0"/>
              <a:t>01-12-2025</a:t>
            </a:fld>
            <a:endParaRPr lang="en-IN"/>
          </a:p>
        </p:txBody>
      </p:sp>
      <p:sp>
        <p:nvSpPr>
          <p:cNvPr id="5" name="Footer Placeholder 4">
            <a:extLst>
              <a:ext uri="{FF2B5EF4-FFF2-40B4-BE49-F238E27FC236}">
                <a16:creationId xmlns:a16="http://schemas.microsoft.com/office/drawing/2014/main" id="{2F189883-F099-536F-DE94-B5E89478A3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1FAA49B-26AF-F9DA-D641-DC8D92450C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2025DE-21F8-441D-AA34-105EB979403C}" type="slidenum">
              <a:rPr lang="en-IN" smtClean="0"/>
              <a:t>‹#›</a:t>
            </a:fld>
            <a:endParaRPr lang="en-IN"/>
          </a:p>
        </p:txBody>
      </p:sp>
    </p:spTree>
    <p:extLst>
      <p:ext uri="{BB962C8B-B14F-4D97-AF65-F5344CB8AC3E}">
        <p14:creationId xmlns:p14="http://schemas.microsoft.com/office/powerpoint/2010/main" val="2395213299"/>
      </p:ext>
    </p:extLst>
  </p:cSld>
  <p:clrMap bg1="lt1" tx1="dk1" bg2="lt2" tx2="dk2" accent1="accent1" accent2="accent2" accent3="accent3" accent4="accent4" accent5="accent5" accent6="accent6" hlink="hlink" folHlink="folHlink"/>
  <p:sldLayoutIdLst>
    <p:sldLayoutId id="2147483821" r:id="rId1"/>
    <p:sldLayoutId id="2147483822" r:id="rId2"/>
    <p:sldLayoutId id="2147483823" r:id="rId3"/>
    <p:sldLayoutId id="2147483824" r:id="rId4"/>
    <p:sldLayoutId id="2147483825" r:id="rId5"/>
    <p:sldLayoutId id="2147483826" r:id="rId6"/>
    <p:sldLayoutId id="2147483827" r:id="rId7"/>
    <p:sldLayoutId id="2147483828" r:id="rId8"/>
    <p:sldLayoutId id="2147483829" r:id="rId9"/>
    <p:sldLayoutId id="2147483830" r:id="rId10"/>
    <p:sldLayoutId id="21474838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6C75C0-CBA8-D621-3005-B8A7E6129F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FB155BB-F2C5-CA8E-5C85-4F3F37D602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991D9E-4B8F-101F-76BC-D540B3F154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C9594D-C72E-448D-AFFE-6CF0FB6A741A}" type="datetimeFigureOut">
              <a:rPr lang="en-IN" smtClean="0"/>
              <a:t>01-12-2025</a:t>
            </a:fld>
            <a:endParaRPr lang="en-IN"/>
          </a:p>
        </p:txBody>
      </p:sp>
      <p:sp>
        <p:nvSpPr>
          <p:cNvPr id="5" name="Footer Placeholder 4">
            <a:extLst>
              <a:ext uri="{FF2B5EF4-FFF2-40B4-BE49-F238E27FC236}">
                <a16:creationId xmlns:a16="http://schemas.microsoft.com/office/drawing/2014/main" id="{95F494A0-1B16-CFA9-A1E2-236855F907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F37499D-D0D9-25D3-A4FE-F661B766DE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D9AE83-E52A-42E6-95E9-5D734B0D6E91}" type="slidenum">
              <a:rPr lang="en-IN" smtClean="0"/>
              <a:t>‹#›</a:t>
            </a:fld>
            <a:endParaRPr lang="en-IN"/>
          </a:p>
        </p:txBody>
      </p:sp>
    </p:spTree>
    <p:extLst>
      <p:ext uri="{BB962C8B-B14F-4D97-AF65-F5344CB8AC3E}">
        <p14:creationId xmlns:p14="http://schemas.microsoft.com/office/powerpoint/2010/main" val="4123990016"/>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slide" Target="slide16.xml"/><Relationship Id="rId13" Type="http://schemas.openxmlformats.org/officeDocument/2006/relationships/slide" Target="slide21.xml"/><Relationship Id="rId18" Type="http://schemas.openxmlformats.org/officeDocument/2006/relationships/slide" Target="slide26.xml"/><Relationship Id="rId3" Type="http://schemas.openxmlformats.org/officeDocument/2006/relationships/slide" Target="slide11.xml"/><Relationship Id="rId7" Type="http://schemas.openxmlformats.org/officeDocument/2006/relationships/slide" Target="slide15.xml"/><Relationship Id="rId12" Type="http://schemas.openxmlformats.org/officeDocument/2006/relationships/slide" Target="slide20.xml"/><Relationship Id="rId17" Type="http://schemas.openxmlformats.org/officeDocument/2006/relationships/slide" Target="slide25.xml"/><Relationship Id="rId2" Type="http://schemas.openxmlformats.org/officeDocument/2006/relationships/slide" Target="slide10.xml"/><Relationship Id="rId16" Type="http://schemas.openxmlformats.org/officeDocument/2006/relationships/slide" Target="slide24.xml"/><Relationship Id="rId20" Type="http://schemas.openxmlformats.org/officeDocument/2006/relationships/slide" Target="slide29.xml"/><Relationship Id="rId1" Type="http://schemas.openxmlformats.org/officeDocument/2006/relationships/slideLayout" Target="../slideLayouts/slideLayout2.xml"/><Relationship Id="rId6" Type="http://schemas.openxmlformats.org/officeDocument/2006/relationships/slide" Target="slide14.xml"/><Relationship Id="rId11" Type="http://schemas.openxmlformats.org/officeDocument/2006/relationships/slide" Target="slide19.xml"/><Relationship Id="rId5" Type="http://schemas.openxmlformats.org/officeDocument/2006/relationships/slide" Target="slide13.xml"/><Relationship Id="rId15" Type="http://schemas.openxmlformats.org/officeDocument/2006/relationships/slide" Target="slide23.xml"/><Relationship Id="rId10" Type="http://schemas.openxmlformats.org/officeDocument/2006/relationships/slide" Target="slide18.xml"/><Relationship Id="rId19" Type="http://schemas.openxmlformats.org/officeDocument/2006/relationships/slide" Target="slide27.xml"/><Relationship Id="rId4" Type="http://schemas.openxmlformats.org/officeDocument/2006/relationships/slide" Target="slide12.xml"/><Relationship Id="rId9" Type="http://schemas.openxmlformats.org/officeDocument/2006/relationships/slide" Target="slide17.xml"/><Relationship Id="rId14" Type="http://schemas.openxmlformats.org/officeDocument/2006/relationships/slide" Target="slide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hyperlink" Target="41%20Project%20Status%20for%20Wind%20Power%20Projects%20up%20to%2031Jan23.xlsx#_I" TargetMode="External"/><Relationship Id="rId2" Type="http://schemas.openxmlformats.org/officeDocument/2006/relationships/hyperlink" Target="https://d.docs.live.net/cbfe10444b12620d/Documents/17122022/40%20Project%20Status%20for%20Wind%20Power%20Projects%20up%20to%2031Dec22.xlsx" TargetMode="External"/><Relationship Id="rId1" Type="http://schemas.openxmlformats.org/officeDocument/2006/relationships/slideLayout" Target="../slideLayouts/slideLayout2.xml"/><Relationship Id="rId4" Type="http://schemas.openxmlformats.org/officeDocument/2006/relationships/slide" Target="slide4.xml"/></Relationships>
</file>

<file path=ppt/slides/_rels/slide11.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hyperlink" Target="41%20Project%20Status%20for%20Wind%20Power%20Projects%20up%20to%2031Jan23.xlsx#_II"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hyperlink" Target="41%20Project%20Status%20for%20Wind%20Power%20Projects%20up%20to%2031Jan23.xlsx#_III"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hyperlink" Target="41%20Project%20Status%20for%20Wind%20Power%20Projects%20up%20to%2031Jan23.xlsx#_IV"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hyperlink" Target="41%20Project%20Status%20for%20Wind%20Power%20Projects%20up%20to%2031Jan23.xlsx#_V"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hyperlink" Target="41%20Project%20Status%20for%20Wind%20Power%20Projects%20up%20to%2031Jan23.xlsx#_VI"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hyperlink" Target="41%20Project%20Status%20for%20Wind%20Power%20Projects%20up%20to%2031Jan23.xlsx#_VII"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hyperlink" Target="41%20Project%20Status%20for%20Wind%20Power%20Projects%20up%20to%2031Jan23.xlsx#_VIII"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hyperlink" Target="41%20Project%20Status%20for%20Wind%20Power%20Projects%20up%20to%2031Jan23.xlsx#_IX"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hyperlink" Target="41%20Project%20Status%20for%20Wind%20Power%20Projects%20up%20to%2031Jan23.xlsx#_X"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hyperlink" Target="41%20Project%20Status%20for%20Wind%20Power%20Projects%20up%20to%2031Jan23.xlsx#_XI"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hyperlink" Target="41%20Project%20Status%20for%20Wind%20Power%20Projects%20up%20to%2031Jan23.xlsx#_XI"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hyperlink" Target="41%20Project%20Status%20for%20Wind%20Power%20Projects%20up%20to%2031Jan23.xlsx#_XI"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hyperlink" Target="41%20Project%20Status%20for%20Wind%20Power%20Projects%20up%20to%2031Jan23.xlsx#_XI"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hyperlink" Target="41%20Project%20Status%20for%20Wind%20Power%20Projects%20up%20to%2031Jan23.xlsx#_XI"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hyperlink" Target="41%20Project%20Status%20for%20Wind%20Power%20Projects%20up%20to%2031Jan23.xlsx#_XI"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8.jpg"/><Relationship Id="rId7" Type="http://schemas.openxmlformats.org/officeDocument/2006/relationships/image" Target="../media/image12.jpeg"/><Relationship Id="rId2" Type="http://schemas.openxmlformats.org/officeDocument/2006/relationships/image" Target="../media/image7.jpg"/><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36.xml.rels><?xml version="1.0" encoding="UTF-8" standalone="yes"?>
<Relationships xmlns="http://schemas.openxmlformats.org/package/2006/relationships"><Relationship Id="rId3" Type="http://schemas.openxmlformats.org/officeDocument/2006/relationships/image" Target="../media/image14.jpeg"/><Relationship Id="rId7" Type="http://schemas.openxmlformats.org/officeDocument/2006/relationships/image" Target="../media/image18.jpeg"/><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5323FBF-7DB5-0171-9394-B6C5250621E0}"/>
              </a:ext>
            </a:extLst>
          </p:cNvPr>
          <p:cNvSpPr txBox="1">
            <a:spLocks/>
          </p:cNvSpPr>
          <p:nvPr/>
        </p:nvSpPr>
        <p:spPr>
          <a:xfrm>
            <a:off x="-171545" y="50085"/>
            <a:ext cx="12191999" cy="2387133"/>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solidFill>
                  <a:schemeClr val="accent6">
                    <a:lumMod val="75000"/>
                  </a:schemeClr>
                </a:solidFill>
                <a:latin typeface="Times New Roman" panose="02020603050405020304" pitchFamily="18" charset="0"/>
                <a:cs typeface="Times New Roman" panose="02020603050405020304" pitchFamily="18" charset="0"/>
              </a:rPr>
              <a:t>REVIEW OF</a:t>
            </a:r>
          </a:p>
          <a:p>
            <a:pPr algn="ctr"/>
            <a:r>
              <a:rPr lang="en-US" sz="3600" b="1" dirty="0">
                <a:solidFill>
                  <a:schemeClr val="accent6">
                    <a:lumMod val="75000"/>
                  </a:schemeClr>
                </a:solidFill>
                <a:latin typeface="Times New Roman" panose="02020603050405020304" pitchFamily="18" charset="0"/>
                <a:cs typeface="Times New Roman" panose="02020603050405020304" pitchFamily="18" charset="0"/>
              </a:rPr>
              <a:t>WIND</a:t>
            </a:r>
          </a:p>
          <a:p>
            <a:pPr algn="ctr"/>
            <a:r>
              <a:rPr lang="en-US" sz="3600" b="1" dirty="0">
                <a:solidFill>
                  <a:schemeClr val="accent6">
                    <a:lumMod val="75000"/>
                  </a:schemeClr>
                </a:solidFill>
                <a:latin typeface="Times New Roman" panose="02020603050405020304" pitchFamily="18" charset="0"/>
                <a:cs typeface="Times New Roman" panose="02020603050405020304" pitchFamily="18" charset="0"/>
              </a:rPr>
              <a:t>PROJECTS </a:t>
            </a:r>
          </a:p>
          <a:p>
            <a:pPr algn="ctr"/>
            <a:r>
              <a:rPr lang="en-US" sz="3600" b="1" dirty="0">
                <a:solidFill>
                  <a:schemeClr val="accent6">
                    <a:lumMod val="75000"/>
                  </a:schemeClr>
                </a:solidFill>
                <a:latin typeface="Times New Roman" panose="02020603050405020304" pitchFamily="18" charset="0"/>
                <a:cs typeface="Times New Roman" panose="02020603050405020304" pitchFamily="18" charset="0"/>
              </a:rPr>
              <a:t>UNDER VARIOUS ISTS SCHEMES OF SECI </a:t>
            </a:r>
            <a:endParaRPr lang="en-IN" sz="3600" b="1"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7" name="Subtitle 2">
            <a:extLst>
              <a:ext uri="{FF2B5EF4-FFF2-40B4-BE49-F238E27FC236}">
                <a16:creationId xmlns:a16="http://schemas.microsoft.com/office/drawing/2014/main" id="{CEECCD2F-BEC1-3C8D-3195-EE38BFCBD13D}"/>
              </a:ext>
            </a:extLst>
          </p:cNvPr>
          <p:cNvSpPr txBox="1">
            <a:spLocks/>
          </p:cNvSpPr>
          <p:nvPr/>
        </p:nvSpPr>
        <p:spPr>
          <a:xfrm>
            <a:off x="1524000" y="5915032"/>
            <a:ext cx="9144000" cy="892882"/>
          </a:xfrm>
          <a:prstGeom prst="rect">
            <a:avLst/>
          </a:prstGeom>
        </p:spPr>
        <p:txBody>
          <a:bodyPr>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N" altLang="en-US" sz="12800" b="1" dirty="0">
                <a:ln w="12700">
                  <a:solidFill>
                    <a:schemeClr val="accent1"/>
                  </a:solidFill>
                  <a:prstDash val="solid"/>
                </a:ln>
                <a:solidFill>
                  <a:srgbClr val="002060"/>
                </a:solidFill>
                <a:latin typeface="Times New Roman" panose="02020603050405020304" pitchFamily="18" charset="0"/>
                <a:cs typeface="Times New Roman" panose="02020603050405020304" pitchFamily="18" charset="0"/>
              </a:rPr>
              <a:t>Solar Energy Corporation of India Limited</a:t>
            </a:r>
          </a:p>
          <a:p>
            <a:pPr marL="0" indent="0">
              <a:buNone/>
            </a:pPr>
            <a:r>
              <a:rPr lang="en-IN" sz="11200" b="1" dirty="0">
                <a:ln w="12700">
                  <a:solidFill>
                    <a:schemeClr val="accent1"/>
                  </a:solidFill>
                  <a:prstDash val="solid"/>
                </a:ln>
                <a:solidFill>
                  <a:srgbClr val="002060"/>
                </a:solidFill>
                <a:latin typeface="Times New Roman" panose="02020603050405020304" pitchFamily="18" charset="0"/>
                <a:cs typeface="Times New Roman" panose="02020603050405020304" pitchFamily="18" charset="0"/>
              </a:rPr>
              <a:t>                                        26.09.2025</a:t>
            </a:r>
            <a:endParaRPr lang="en-IN" sz="3200" b="1" dirty="0">
              <a:ln w="12700">
                <a:solidFill>
                  <a:schemeClr val="accent1"/>
                </a:solidFill>
                <a:prstDash val="solid"/>
              </a:ln>
              <a:solidFill>
                <a:srgbClr val="FF0000"/>
              </a:solidFill>
              <a:latin typeface="Times New Roman" panose="02020603050405020304" pitchFamily="18" charset="0"/>
              <a:cs typeface="Times New Roman" panose="02020603050405020304" pitchFamily="18" charset="0"/>
            </a:endParaRPr>
          </a:p>
        </p:txBody>
      </p:sp>
      <p:pic>
        <p:nvPicPr>
          <p:cNvPr id="1026" name="Picture 2" descr="Boosting Energy: Wind and Solar Projects Progress in Four Provinces ...">
            <a:extLst>
              <a:ext uri="{FF2B5EF4-FFF2-40B4-BE49-F238E27FC236}">
                <a16:creationId xmlns:a16="http://schemas.microsoft.com/office/drawing/2014/main" id="{D5E16207-D2CA-7055-95EF-E71A0E563C3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35593" y="2617680"/>
            <a:ext cx="3805519" cy="301214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ee the source image">
            <a:extLst>
              <a:ext uri="{FF2B5EF4-FFF2-40B4-BE49-F238E27FC236}">
                <a16:creationId xmlns:a16="http://schemas.microsoft.com/office/drawing/2014/main" id="{FFE1C735-FDB8-01B1-8458-1E0B2306E3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59" y="2667807"/>
            <a:ext cx="4074922" cy="301663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Dispatch, Fluence and Eneco to deploy Netherlands' largest standalone ...">
            <a:extLst>
              <a:ext uri="{FF2B5EF4-FFF2-40B4-BE49-F238E27FC236}">
                <a16:creationId xmlns:a16="http://schemas.microsoft.com/office/drawing/2014/main" id="{A9339F97-0857-34DB-1B2A-52E3B571789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9879"/>
          <a:stretch>
            <a:fillRect/>
          </a:stretch>
        </p:blipFill>
        <p:spPr bwMode="auto">
          <a:xfrm>
            <a:off x="8172878" y="2617680"/>
            <a:ext cx="3967346" cy="3016637"/>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Connector 2">
            <a:extLst>
              <a:ext uri="{FF2B5EF4-FFF2-40B4-BE49-F238E27FC236}">
                <a16:creationId xmlns:a16="http://schemas.microsoft.com/office/drawing/2014/main" id="{D0DA3FB2-B039-21DE-F6C1-6C6AB9A33C70}"/>
              </a:ext>
            </a:extLst>
          </p:cNvPr>
          <p:cNvCxnSpPr/>
          <p:nvPr/>
        </p:nvCxnSpPr>
        <p:spPr>
          <a:xfrm>
            <a:off x="-51776" y="2437218"/>
            <a:ext cx="12191999" cy="0"/>
          </a:xfrm>
          <a:prstGeom prst="line">
            <a:avLst/>
          </a:prstGeom>
          <a:ln w="28575">
            <a:prstDash val="dash"/>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855430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4D605-FFA5-EB47-2CCA-409EBDC3B37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6B37F4-30F0-B2C5-34E0-956B7340C166}"/>
              </a:ext>
            </a:extLst>
          </p:cNvPr>
          <p:cNvSpPr>
            <a:spLocks noGrp="1"/>
          </p:cNvSpPr>
          <p:nvPr>
            <p:ph idx="1"/>
          </p:nvPr>
        </p:nvSpPr>
        <p:spPr>
          <a:xfrm>
            <a:off x="159434" y="877987"/>
            <a:ext cx="11873132" cy="5853399"/>
          </a:xfrm>
        </p:spPr>
        <p:txBody>
          <a:bodyPr>
            <a:normAutofit/>
          </a:bodyPr>
          <a:lstStyle/>
          <a:p>
            <a:pPr marL="0" indent="0">
              <a:buNone/>
            </a:pPr>
            <a:endParaRPr lang="en-US" sz="2400" i="1" u="sng" dirty="0">
              <a:solidFill>
                <a:schemeClr val="accent1">
                  <a:lumMod val="75000"/>
                </a:schemeClr>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400" i="1" u="sng" dirty="0">
              <a:solidFill>
                <a:schemeClr val="accent1">
                  <a:lumMod val="75000"/>
                </a:schemeClr>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buNone/>
            </a:pPr>
            <a:endParaRPr lang="en-US" dirty="0">
              <a:solidFill>
                <a:srgbClr val="000000"/>
              </a:solidFill>
              <a:latin typeface="Arial" panose="020B0604020202020204" pitchFamily="34" charset="0"/>
            </a:endParaRPr>
          </a:p>
        </p:txBody>
      </p:sp>
      <p:sp>
        <p:nvSpPr>
          <p:cNvPr id="4" name="TextBox 3">
            <a:extLst>
              <a:ext uri="{FF2B5EF4-FFF2-40B4-BE49-F238E27FC236}">
                <a16:creationId xmlns:a16="http://schemas.microsoft.com/office/drawing/2014/main" id="{2363FA02-58E5-472A-90FA-73A98F9B57FB}"/>
              </a:ext>
            </a:extLst>
          </p:cNvPr>
          <p:cNvSpPr txBox="1"/>
          <p:nvPr/>
        </p:nvSpPr>
        <p:spPr>
          <a:xfrm>
            <a:off x="159434" y="214694"/>
            <a:ext cx="11873133" cy="523220"/>
          </a:xfrm>
          <a:prstGeom prst="rect">
            <a:avLst/>
          </a:prstGeom>
          <a:noFill/>
        </p:spPr>
        <p:txBody>
          <a:bodyPr wrap="square" rtlCol="0">
            <a:spAutoFit/>
          </a:bodyPr>
          <a:lstStyle/>
          <a:p>
            <a:pPr algn="ctr"/>
            <a:r>
              <a:rPr lang="en-US" sz="2800" dirty="0">
                <a:solidFill>
                  <a:srgbClr val="0070C0"/>
                </a:solidFill>
                <a:ea typeface="+mj-ea"/>
                <a:cs typeface="+mj-cs"/>
              </a:rPr>
              <a:t>I</a:t>
            </a:r>
            <a:r>
              <a:rPr lang="en-IN" sz="2800" dirty="0">
                <a:solidFill>
                  <a:srgbClr val="0070C0"/>
                </a:solidFill>
                <a:ea typeface="+mj-ea"/>
                <a:cs typeface="+mj-cs"/>
              </a:rPr>
              <a:t>STS WIND POWER PROJECTS – YoY PROGRESS &amp; PROJECTIONS</a:t>
            </a:r>
            <a:endParaRPr lang="en-GB" sz="2800" dirty="0">
              <a:solidFill>
                <a:srgbClr val="0070C0"/>
              </a:solidFill>
              <a:ea typeface="+mj-ea"/>
              <a:cs typeface="+mj-cs"/>
            </a:endParaRPr>
          </a:p>
        </p:txBody>
      </p:sp>
      <p:graphicFrame>
        <p:nvGraphicFramePr>
          <p:cNvPr id="2" name="Chart 1">
            <a:extLst>
              <a:ext uri="{FF2B5EF4-FFF2-40B4-BE49-F238E27FC236}">
                <a16:creationId xmlns:a16="http://schemas.microsoft.com/office/drawing/2014/main" id="{0FCB85DC-20F1-4BE5-9064-6491818E3CB1}"/>
              </a:ext>
            </a:extLst>
          </p:cNvPr>
          <p:cNvGraphicFramePr>
            <a:graphicFrameLocks/>
          </p:cNvGraphicFramePr>
          <p:nvPr>
            <p:extLst>
              <p:ext uri="{D42A27DB-BD31-4B8C-83A1-F6EECF244321}">
                <p14:modId xmlns:p14="http://schemas.microsoft.com/office/powerpoint/2010/main" val="1315634080"/>
              </p:ext>
            </p:extLst>
          </p:nvPr>
        </p:nvGraphicFramePr>
        <p:xfrm>
          <a:off x="311085" y="1046375"/>
          <a:ext cx="11510127" cy="554947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5296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F1687-2FC3-5C15-68F8-E350DF57145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A51B82-4875-E0A1-6E6B-3374A7273F82}"/>
              </a:ext>
            </a:extLst>
          </p:cNvPr>
          <p:cNvSpPr>
            <a:spLocks noGrp="1"/>
          </p:cNvSpPr>
          <p:nvPr>
            <p:ph idx="1"/>
          </p:nvPr>
        </p:nvSpPr>
        <p:spPr>
          <a:xfrm>
            <a:off x="159434" y="877987"/>
            <a:ext cx="11873132" cy="5853399"/>
          </a:xfrm>
        </p:spPr>
        <p:txBody>
          <a:bodyPr>
            <a:normAutofit/>
          </a:bodyPr>
          <a:lstStyle/>
          <a:p>
            <a:pPr marL="0" indent="0">
              <a:buNone/>
            </a:pPr>
            <a:endParaRPr lang="en-US" sz="2400" i="1" u="sng" dirty="0">
              <a:solidFill>
                <a:schemeClr val="accent1">
                  <a:lumMod val="75000"/>
                </a:schemeClr>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400" i="1" u="sng" dirty="0">
              <a:solidFill>
                <a:schemeClr val="accent1">
                  <a:lumMod val="75000"/>
                </a:schemeClr>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buNone/>
            </a:pPr>
            <a:endParaRPr lang="en-US" dirty="0">
              <a:solidFill>
                <a:srgbClr val="000000"/>
              </a:solidFill>
              <a:latin typeface="Arial" panose="020B0604020202020204" pitchFamily="34" charset="0"/>
            </a:endParaRPr>
          </a:p>
        </p:txBody>
      </p:sp>
      <p:sp>
        <p:nvSpPr>
          <p:cNvPr id="4" name="TextBox 3">
            <a:extLst>
              <a:ext uri="{FF2B5EF4-FFF2-40B4-BE49-F238E27FC236}">
                <a16:creationId xmlns:a16="http://schemas.microsoft.com/office/drawing/2014/main" id="{44E9DC9E-4715-E365-AF8E-41EF8F141757}"/>
              </a:ext>
            </a:extLst>
          </p:cNvPr>
          <p:cNvSpPr txBox="1"/>
          <p:nvPr/>
        </p:nvSpPr>
        <p:spPr>
          <a:xfrm>
            <a:off x="159434" y="262155"/>
            <a:ext cx="12192000" cy="523220"/>
          </a:xfrm>
          <a:prstGeom prst="rect">
            <a:avLst/>
          </a:prstGeom>
          <a:noFill/>
        </p:spPr>
        <p:txBody>
          <a:bodyPr wrap="square" rtlCol="0">
            <a:spAutoFit/>
          </a:bodyPr>
          <a:lstStyle/>
          <a:p>
            <a:pPr algn="ctr"/>
            <a:r>
              <a:rPr lang="en-US" sz="2800" dirty="0">
                <a:solidFill>
                  <a:srgbClr val="0070C0"/>
                </a:solidFill>
                <a:ea typeface="+mj-ea"/>
                <a:cs typeface="+mj-cs"/>
              </a:rPr>
              <a:t>I</a:t>
            </a:r>
            <a:r>
              <a:rPr lang="en-IN" sz="2800" dirty="0">
                <a:solidFill>
                  <a:srgbClr val="0070C0"/>
                </a:solidFill>
                <a:ea typeface="+mj-ea"/>
                <a:cs typeface="+mj-cs"/>
              </a:rPr>
              <a:t>STS WIND POWER PROJECTS – TRANCHE-WISE PROGRESS</a:t>
            </a:r>
            <a:endParaRPr lang="en-GB" sz="2800" dirty="0">
              <a:solidFill>
                <a:srgbClr val="0070C0"/>
              </a:solidFill>
              <a:ea typeface="+mj-ea"/>
              <a:cs typeface="+mj-cs"/>
            </a:endParaRPr>
          </a:p>
        </p:txBody>
      </p:sp>
      <p:sp>
        <p:nvSpPr>
          <p:cNvPr id="7" name="TextBox 6">
            <a:extLst>
              <a:ext uri="{FF2B5EF4-FFF2-40B4-BE49-F238E27FC236}">
                <a16:creationId xmlns:a16="http://schemas.microsoft.com/office/drawing/2014/main" id="{2681999B-519A-1D49-DD99-C3D590735DD1}"/>
              </a:ext>
            </a:extLst>
          </p:cNvPr>
          <p:cNvSpPr txBox="1"/>
          <p:nvPr/>
        </p:nvSpPr>
        <p:spPr>
          <a:xfrm>
            <a:off x="421106" y="5948308"/>
            <a:ext cx="8999621" cy="523220"/>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*In T-I, PPA was signed between WPD and PTC</a:t>
            </a:r>
          </a:p>
          <a:p>
            <a:r>
              <a:rPr lang="en-US" sz="1400" dirty="0">
                <a:latin typeface="Times New Roman" panose="02020603050405020304" pitchFamily="18" charset="0"/>
                <a:cs typeface="Times New Roman" panose="02020603050405020304" pitchFamily="18" charset="0"/>
              </a:rPr>
              <a:t>** T-XV was cancelled due to abnormally high tariff quoted by bidders</a:t>
            </a:r>
            <a:endParaRPr lang="en-IN" sz="1400" dirty="0">
              <a:latin typeface="Times New Roman" panose="02020603050405020304" pitchFamily="18" charset="0"/>
              <a:cs typeface="Times New Roman" panose="02020603050405020304" pitchFamily="18" charset="0"/>
            </a:endParaRPr>
          </a:p>
        </p:txBody>
      </p:sp>
      <p:graphicFrame>
        <p:nvGraphicFramePr>
          <p:cNvPr id="6" name="Chart 5">
            <a:extLst>
              <a:ext uri="{FF2B5EF4-FFF2-40B4-BE49-F238E27FC236}">
                <a16:creationId xmlns:a16="http://schemas.microsoft.com/office/drawing/2014/main" id="{65A6AAE8-FE15-44E8-B616-78AF4998E631}"/>
              </a:ext>
            </a:extLst>
          </p:cNvPr>
          <p:cNvGraphicFramePr>
            <a:graphicFrameLocks/>
          </p:cNvGraphicFramePr>
          <p:nvPr>
            <p:extLst>
              <p:ext uri="{D42A27DB-BD31-4B8C-83A1-F6EECF244321}">
                <p14:modId xmlns:p14="http://schemas.microsoft.com/office/powerpoint/2010/main" val="2826402677"/>
              </p:ext>
            </p:extLst>
          </p:nvPr>
        </p:nvGraphicFramePr>
        <p:xfrm>
          <a:off x="-124584" y="967920"/>
          <a:ext cx="11662356" cy="576346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17519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7EBF5-A1BE-E303-B5FA-37C3A5B0728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69EA37-67CD-191A-C0FD-DDA6F78A1937}"/>
              </a:ext>
            </a:extLst>
          </p:cNvPr>
          <p:cNvSpPr>
            <a:spLocks noGrp="1"/>
          </p:cNvSpPr>
          <p:nvPr>
            <p:ph idx="1"/>
          </p:nvPr>
        </p:nvSpPr>
        <p:spPr>
          <a:xfrm>
            <a:off x="159434" y="877987"/>
            <a:ext cx="11873132" cy="5853399"/>
          </a:xfrm>
        </p:spPr>
        <p:txBody>
          <a:bodyPr>
            <a:normAutofit/>
          </a:bodyPr>
          <a:lstStyle/>
          <a:p>
            <a:pPr marL="0" indent="0">
              <a:buNone/>
            </a:pPr>
            <a:endParaRPr lang="en-US" sz="2400" i="1" u="sng" dirty="0">
              <a:solidFill>
                <a:schemeClr val="accent1">
                  <a:lumMod val="75000"/>
                </a:schemeClr>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400" i="1" u="sng" dirty="0">
              <a:solidFill>
                <a:schemeClr val="accent1">
                  <a:lumMod val="75000"/>
                </a:schemeClr>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buNone/>
            </a:pPr>
            <a:endParaRPr lang="en-US" dirty="0">
              <a:solidFill>
                <a:srgbClr val="000000"/>
              </a:solidFill>
              <a:latin typeface="Arial" panose="020B0604020202020204" pitchFamily="34" charset="0"/>
            </a:endParaRPr>
          </a:p>
        </p:txBody>
      </p:sp>
      <p:sp>
        <p:nvSpPr>
          <p:cNvPr id="4" name="TextBox 3">
            <a:extLst>
              <a:ext uri="{FF2B5EF4-FFF2-40B4-BE49-F238E27FC236}">
                <a16:creationId xmlns:a16="http://schemas.microsoft.com/office/drawing/2014/main" id="{89F25AE3-D8D5-F1EB-A4E6-01BF688128FF}"/>
              </a:ext>
            </a:extLst>
          </p:cNvPr>
          <p:cNvSpPr txBox="1"/>
          <p:nvPr/>
        </p:nvSpPr>
        <p:spPr>
          <a:xfrm>
            <a:off x="159434" y="214694"/>
            <a:ext cx="11873133" cy="523220"/>
          </a:xfrm>
          <a:prstGeom prst="rect">
            <a:avLst/>
          </a:prstGeom>
          <a:noFill/>
        </p:spPr>
        <p:txBody>
          <a:bodyPr wrap="square" rtlCol="0">
            <a:spAutoFit/>
          </a:bodyPr>
          <a:lstStyle/>
          <a:p>
            <a:pPr algn="ctr"/>
            <a:r>
              <a:rPr lang="en-US" sz="2800" dirty="0">
                <a:solidFill>
                  <a:srgbClr val="0070C0"/>
                </a:solidFill>
                <a:ea typeface="+mj-ea"/>
                <a:cs typeface="+mj-cs"/>
              </a:rPr>
              <a:t>I</a:t>
            </a:r>
            <a:r>
              <a:rPr lang="en-IN" sz="2800" dirty="0">
                <a:solidFill>
                  <a:srgbClr val="0070C0"/>
                </a:solidFill>
                <a:ea typeface="+mj-ea"/>
                <a:cs typeface="+mj-cs"/>
              </a:rPr>
              <a:t>STS WIND POWER PROJECTS – YoY PROGRESS &amp; PROJECTIONS</a:t>
            </a:r>
            <a:endParaRPr lang="en-GB" sz="2800" dirty="0">
              <a:solidFill>
                <a:srgbClr val="0070C0"/>
              </a:solidFill>
              <a:ea typeface="+mj-ea"/>
              <a:cs typeface="+mj-cs"/>
            </a:endParaRPr>
          </a:p>
        </p:txBody>
      </p:sp>
      <p:graphicFrame>
        <p:nvGraphicFramePr>
          <p:cNvPr id="5" name="Table 4">
            <a:extLst>
              <a:ext uri="{FF2B5EF4-FFF2-40B4-BE49-F238E27FC236}">
                <a16:creationId xmlns:a16="http://schemas.microsoft.com/office/drawing/2014/main" id="{A1E3C813-CABB-C268-25C3-FA7187B33F8E}"/>
              </a:ext>
            </a:extLst>
          </p:cNvPr>
          <p:cNvGraphicFramePr>
            <a:graphicFrameLocks noGrp="1"/>
          </p:cNvGraphicFramePr>
          <p:nvPr>
            <p:extLst>
              <p:ext uri="{D42A27DB-BD31-4B8C-83A1-F6EECF244321}">
                <p14:modId xmlns:p14="http://schemas.microsoft.com/office/powerpoint/2010/main" val="1565093289"/>
              </p:ext>
            </p:extLst>
          </p:nvPr>
        </p:nvGraphicFramePr>
        <p:xfrm>
          <a:off x="31051" y="972856"/>
          <a:ext cx="12129898" cy="5758530"/>
        </p:xfrm>
        <a:graphic>
          <a:graphicData uri="http://schemas.openxmlformats.org/drawingml/2006/table">
            <a:tbl>
              <a:tblPr lastRow="1" bandRow="1">
                <a:tableStyleId>{5C22544A-7EE6-4342-B048-85BDC9FD1C3A}</a:tableStyleId>
              </a:tblPr>
              <a:tblGrid>
                <a:gridCol w="664533">
                  <a:extLst>
                    <a:ext uri="{9D8B030D-6E8A-4147-A177-3AD203B41FA5}">
                      <a16:colId xmlns:a16="http://schemas.microsoft.com/office/drawing/2014/main" val="1525875574"/>
                    </a:ext>
                  </a:extLst>
                </a:gridCol>
                <a:gridCol w="968691">
                  <a:extLst>
                    <a:ext uri="{9D8B030D-6E8A-4147-A177-3AD203B41FA5}">
                      <a16:colId xmlns:a16="http://schemas.microsoft.com/office/drawing/2014/main" val="1865253979"/>
                    </a:ext>
                  </a:extLst>
                </a:gridCol>
                <a:gridCol w="916798">
                  <a:extLst>
                    <a:ext uri="{9D8B030D-6E8A-4147-A177-3AD203B41FA5}">
                      <a16:colId xmlns:a16="http://schemas.microsoft.com/office/drawing/2014/main" val="4255467293"/>
                    </a:ext>
                  </a:extLst>
                </a:gridCol>
                <a:gridCol w="899497">
                  <a:extLst>
                    <a:ext uri="{9D8B030D-6E8A-4147-A177-3AD203B41FA5}">
                      <a16:colId xmlns:a16="http://schemas.microsoft.com/office/drawing/2014/main" val="1839316076"/>
                    </a:ext>
                  </a:extLst>
                </a:gridCol>
                <a:gridCol w="1072479">
                  <a:extLst>
                    <a:ext uri="{9D8B030D-6E8A-4147-A177-3AD203B41FA5}">
                      <a16:colId xmlns:a16="http://schemas.microsoft.com/office/drawing/2014/main" val="4247397983"/>
                    </a:ext>
                  </a:extLst>
                </a:gridCol>
                <a:gridCol w="1011936">
                  <a:extLst>
                    <a:ext uri="{9D8B030D-6E8A-4147-A177-3AD203B41FA5}">
                      <a16:colId xmlns:a16="http://schemas.microsoft.com/office/drawing/2014/main" val="1762696657"/>
                    </a:ext>
                  </a:extLst>
                </a:gridCol>
                <a:gridCol w="1483154">
                  <a:extLst>
                    <a:ext uri="{9D8B030D-6E8A-4147-A177-3AD203B41FA5}">
                      <a16:colId xmlns:a16="http://schemas.microsoft.com/office/drawing/2014/main" val="2371253637"/>
                    </a:ext>
                  </a:extLst>
                </a:gridCol>
                <a:gridCol w="1109288">
                  <a:extLst>
                    <a:ext uri="{9D8B030D-6E8A-4147-A177-3AD203B41FA5}">
                      <a16:colId xmlns:a16="http://schemas.microsoft.com/office/drawing/2014/main" val="392718463"/>
                    </a:ext>
                  </a:extLst>
                </a:gridCol>
                <a:gridCol w="988275">
                  <a:extLst>
                    <a:ext uri="{9D8B030D-6E8A-4147-A177-3AD203B41FA5}">
                      <a16:colId xmlns:a16="http://schemas.microsoft.com/office/drawing/2014/main" val="2266592741"/>
                    </a:ext>
                  </a:extLst>
                </a:gridCol>
                <a:gridCol w="826925">
                  <a:extLst>
                    <a:ext uri="{9D8B030D-6E8A-4147-A177-3AD203B41FA5}">
                      <a16:colId xmlns:a16="http://schemas.microsoft.com/office/drawing/2014/main" val="3877006467"/>
                    </a:ext>
                  </a:extLst>
                </a:gridCol>
                <a:gridCol w="1119373">
                  <a:extLst>
                    <a:ext uri="{9D8B030D-6E8A-4147-A177-3AD203B41FA5}">
                      <a16:colId xmlns:a16="http://schemas.microsoft.com/office/drawing/2014/main" val="1798204644"/>
                    </a:ext>
                  </a:extLst>
                </a:gridCol>
                <a:gridCol w="1068949">
                  <a:extLst>
                    <a:ext uri="{9D8B030D-6E8A-4147-A177-3AD203B41FA5}">
                      <a16:colId xmlns:a16="http://schemas.microsoft.com/office/drawing/2014/main" val="2277054308"/>
                    </a:ext>
                  </a:extLst>
                </a:gridCol>
              </a:tblGrid>
              <a:tr h="613456">
                <a:tc>
                  <a:txBody>
                    <a:bodyPr/>
                    <a:lstStyle/>
                    <a:p>
                      <a:pPr algn="ctr" rtl="0" fontAlgn="ctr"/>
                      <a:r>
                        <a:rPr lang="en-IN" sz="1100" b="1" u="none" strike="noStrike" dirty="0">
                          <a:effectLst/>
                        </a:rPr>
                        <a:t>Tranche</a:t>
                      </a:r>
                      <a:endParaRPr lang="en-IN" sz="11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100" b="1" u="none" strike="noStrike" dirty="0">
                          <a:effectLst/>
                        </a:rPr>
                        <a:t>Total Capacity Tendered </a:t>
                      </a:r>
                    </a:p>
                    <a:p>
                      <a:pPr algn="ctr" rtl="0" fontAlgn="ctr"/>
                      <a:r>
                        <a:rPr lang="en-IN" sz="1100" b="1" u="none" strike="noStrike" dirty="0">
                          <a:effectLst/>
                        </a:rPr>
                        <a:t>(MW)</a:t>
                      </a:r>
                      <a:endParaRPr lang="en-IN" sz="11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100" b="1" u="none" strike="noStrike" dirty="0">
                          <a:effectLst/>
                        </a:rPr>
                        <a:t>Total capacity awarded </a:t>
                      </a:r>
                    </a:p>
                    <a:p>
                      <a:pPr algn="ctr" rtl="0" fontAlgn="ctr"/>
                      <a:r>
                        <a:rPr lang="en-IN" sz="1100" b="1" u="none" strike="noStrike" dirty="0">
                          <a:effectLst/>
                        </a:rPr>
                        <a:t>(MW)</a:t>
                      </a:r>
                      <a:endParaRPr lang="en-IN" sz="11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100" b="1" u="none" strike="noStrike" dirty="0">
                          <a:effectLst/>
                        </a:rPr>
                        <a:t>PPA Signed Capacity</a:t>
                      </a:r>
                    </a:p>
                    <a:p>
                      <a:pPr algn="ctr" rtl="0" fontAlgn="ctr"/>
                      <a:r>
                        <a:rPr lang="en-IN" sz="1100" b="1" i="0" u="none" strike="noStrike" dirty="0">
                          <a:solidFill>
                            <a:srgbClr val="000000"/>
                          </a:solidFill>
                          <a:effectLst/>
                          <a:latin typeface="Calibri" panose="020F0502020204030204" pitchFamily="34" charset="0"/>
                        </a:rPr>
                        <a:t>(MW)</a:t>
                      </a: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100" b="1" u="none" strike="noStrike">
                          <a:effectLst/>
                        </a:rPr>
                        <a:t>PPA Effective Date</a:t>
                      </a:r>
                      <a:endParaRPr lang="en-IN" sz="11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1" u="none" strike="noStrike" dirty="0">
                          <a:effectLst/>
                        </a:rPr>
                        <a:t>Original SCD</a:t>
                      </a:r>
                      <a:endParaRPr lang="en-IN" sz="11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100" b="1" u="none" strike="noStrike" dirty="0">
                          <a:effectLst/>
                        </a:rPr>
                        <a:t>Capacity Commissioned till date </a:t>
                      </a:r>
                    </a:p>
                    <a:p>
                      <a:pPr algn="ctr" rtl="0" fontAlgn="ctr"/>
                      <a:r>
                        <a:rPr lang="en-US" sz="1100" b="1" u="none" strike="noStrike" dirty="0">
                          <a:effectLst/>
                        </a:rPr>
                        <a:t>(MW)</a:t>
                      </a:r>
                      <a:endParaRPr lang="en-IN" sz="11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100" b="1" u="none" strike="noStrike">
                          <a:effectLst/>
                        </a:rPr>
                        <a:t>Capacity Under Implementation</a:t>
                      </a:r>
                    </a:p>
                    <a:p>
                      <a:pPr algn="ctr" rtl="0" fontAlgn="ctr"/>
                      <a:r>
                        <a:rPr lang="en-IN" sz="1100" b="1" i="0" u="none" strike="noStrike">
                          <a:solidFill>
                            <a:srgbClr val="000000"/>
                          </a:solidFill>
                          <a:effectLst/>
                          <a:latin typeface="Calibri" panose="020F0502020204030204" pitchFamily="34" charset="0"/>
                        </a:rPr>
                        <a:t>(MW)</a:t>
                      </a:r>
                      <a:endParaRPr lang="en-IN" sz="11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100" b="1" u="none" strike="noStrike">
                          <a:effectLst/>
                        </a:rPr>
                        <a:t>Cancelled / Terminated</a:t>
                      </a:r>
                    </a:p>
                    <a:p>
                      <a:pPr algn="ctr" rtl="0" fontAlgn="ctr"/>
                      <a:r>
                        <a:rPr lang="en-IN" sz="1100" b="1" u="none" strike="noStrike">
                          <a:effectLst/>
                        </a:rPr>
                        <a:t>(MW) </a:t>
                      </a:r>
                      <a:endParaRPr lang="en-IN" sz="11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100" b="1" u="none" strike="noStrike">
                          <a:effectLst/>
                        </a:rPr>
                        <a:t>Disputed Capacity</a:t>
                      </a:r>
                    </a:p>
                    <a:p>
                      <a:pPr algn="ctr" rtl="0" fontAlgn="ctr"/>
                      <a:r>
                        <a:rPr lang="en-IN" sz="1100" b="1" i="0" u="none" strike="noStrike">
                          <a:solidFill>
                            <a:srgbClr val="000000"/>
                          </a:solidFill>
                          <a:effectLst/>
                          <a:latin typeface="Calibri" panose="020F0502020204030204" pitchFamily="34" charset="0"/>
                        </a:rPr>
                        <a:t>(MW)</a:t>
                      </a:r>
                      <a:endParaRPr lang="en-IN" sz="11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100" b="1" u="none" strike="noStrike">
                          <a:effectLst/>
                        </a:rPr>
                        <a:t>Capacity not likely to come up</a:t>
                      </a:r>
                    </a:p>
                    <a:p>
                      <a:pPr algn="ctr" rtl="0" fontAlgn="ctr"/>
                      <a:r>
                        <a:rPr lang="en-IN" sz="1100" b="1" i="0" u="none" strike="noStrike">
                          <a:solidFill>
                            <a:srgbClr val="000000"/>
                          </a:solidFill>
                          <a:effectLst/>
                          <a:latin typeface="Calibri" panose="020F0502020204030204" pitchFamily="34" charset="0"/>
                        </a:rPr>
                        <a:t>(MW)</a:t>
                      </a:r>
                      <a:endParaRPr lang="en-IN" sz="11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100" b="1" i="0" u="none" strike="noStrike" dirty="0">
                          <a:solidFill>
                            <a:srgbClr val="000000"/>
                          </a:solidFill>
                          <a:effectLst/>
                          <a:latin typeface="Calibri" panose="020F0502020204030204" pitchFamily="34" charset="0"/>
                        </a:rPr>
                        <a:t>Tariff</a:t>
                      </a:r>
                    </a:p>
                    <a:p>
                      <a:pPr algn="ctr" rtl="0" fontAlgn="ctr"/>
                      <a:r>
                        <a:rPr lang="en-IN" sz="1100" b="1" i="0" u="none" strike="noStrike" dirty="0">
                          <a:solidFill>
                            <a:srgbClr val="000000"/>
                          </a:solidFill>
                          <a:effectLst/>
                          <a:latin typeface="Calibri" panose="020F0502020204030204" pitchFamily="34" charset="0"/>
                        </a:rPr>
                        <a:t>(INR/kWh)</a:t>
                      </a: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0626358"/>
                  </a:ext>
                </a:extLst>
              </a:tr>
              <a:tr h="270209">
                <a:tc>
                  <a:txBody>
                    <a:bodyPr/>
                    <a:lstStyle/>
                    <a:p>
                      <a:pPr algn="ctr" rtl="0" fontAlgn="ctr"/>
                      <a:r>
                        <a:rPr lang="en-IN" sz="1400" u="none" strike="noStrike" dirty="0">
                          <a:effectLst/>
                          <a:hlinkClick r:id="rId2" action="ppaction://hlinksldjump"/>
                        </a:rPr>
                        <a:t>I</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hlinkClick r:id="rId2" action="ppaction://hlinksldjump"/>
                        </a:rPr>
                        <a:t>1000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1049.9</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1049.9</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21-07-2017</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05-10-2018</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999.9</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50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600" b="0" i="0" u="none" strike="noStrike" dirty="0">
                          <a:solidFill>
                            <a:srgbClr val="000000"/>
                          </a:solidFill>
                          <a:effectLst/>
                          <a:latin typeface="Calibri" panose="020F0502020204030204" pitchFamily="34" charset="0"/>
                        </a:rPr>
                        <a:t>3.46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3832034"/>
                  </a:ext>
                </a:extLst>
              </a:tr>
              <a:tr h="270209">
                <a:tc>
                  <a:txBody>
                    <a:bodyPr/>
                    <a:lstStyle/>
                    <a:p>
                      <a:pPr algn="ctr" rtl="0" fontAlgn="ctr"/>
                      <a:r>
                        <a:rPr lang="en-IN" sz="1400" u="none" strike="noStrike" dirty="0">
                          <a:effectLst/>
                        </a:rPr>
                        <a:t>II</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hlinkClick r:id="rId3" action="ppaction://hlinksldjump"/>
                        </a:rPr>
                        <a:t>1000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1000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1000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02-01-2018</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03-05-2019</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760.1</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239.9</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600" b="0" i="0" u="none" strike="noStrike" dirty="0">
                          <a:solidFill>
                            <a:srgbClr val="000000"/>
                          </a:solidFill>
                          <a:effectLst/>
                          <a:latin typeface="Calibri" panose="020F0502020204030204" pitchFamily="34" charset="0"/>
                        </a:rPr>
                        <a:t>2.64 - 2.65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210509"/>
                  </a:ext>
                </a:extLst>
              </a:tr>
              <a:tr h="270209">
                <a:tc>
                  <a:txBody>
                    <a:bodyPr/>
                    <a:lstStyle/>
                    <a:p>
                      <a:pPr algn="ctr" rtl="0" fontAlgn="ctr"/>
                      <a:r>
                        <a:rPr lang="en-IN" sz="1400" u="none" strike="noStrike">
                          <a:effectLst/>
                        </a:rPr>
                        <a:t>III</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hlinkClick r:id="rId4" action="ppaction://hlinksldjump"/>
                        </a:rPr>
                        <a:t>2000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2000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2000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24-05-2018</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24-11-2019</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950.2</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1049.8</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prstClr val="black"/>
                          </a:solidFill>
                          <a:effectLst/>
                          <a:uLnTx/>
                          <a:uFillTx/>
                          <a:latin typeface="Calibri" panose="020F0502020204030204"/>
                          <a:ea typeface="+mn-ea"/>
                          <a:cs typeface="+mn-cs"/>
                        </a:rPr>
                        <a:t>0</a:t>
                      </a:r>
                      <a:endParaRPr kumimoji="0" lang="en-IN"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600" b="0" i="0" u="none" strike="noStrike" dirty="0">
                          <a:solidFill>
                            <a:srgbClr val="000000"/>
                          </a:solidFill>
                          <a:effectLst/>
                          <a:latin typeface="Calibri" panose="020F0502020204030204" pitchFamily="34" charset="0"/>
                        </a:rPr>
                        <a:t>2.44 – 2.45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631363"/>
                  </a:ext>
                </a:extLst>
              </a:tr>
              <a:tr h="270209">
                <a:tc>
                  <a:txBody>
                    <a:bodyPr/>
                    <a:lstStyle/>
                    <a:p>
                      <a:pPr algn="ctr" rtl="0" fontAlgn="ctr"/>
                      <a:r>
                        <a:rPr lang="en-IN" sz="1400" u="none" strike="noStrike">
                          <a:effectLst/>
                        </a:rPr>
                        <a:t>IV</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hlinkClick r:id="rId5" action="ppaction://hlinksldjump"/>
                        </a:rPr>
                        <a:t>2000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2000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2000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30-08-2018</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28-02-2020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721.9</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573</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705.1</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prstClr val="black"/>
                          </a:solidFill>
                          <a:effectLst/>
                          <a:uLnTx/>
                          <a:uFillTx/>
                          <a:latin typeface="Calibri" panose="020F0502020204030204"/>
                          <a:ea typeface="+mn-ea"/>
                          <a:cs typeface="+mn-cs"/>
                        </a:rPr>
                        <a:t>0</a:t>
                      </a:r>
                      <a:endParaRPr kumimoji="0" lang="en-IN"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600" b="0" i="0" u="none" strike="noStrike" dirty="0">
                          <a:solidFill>
                            <a:srgbClr val="000000"/>
                          </a:solidFill>
                          <a:effectLst/>
                          <a:latin typeface="Calibri" panose="020F0502020204030204" pitchFamily="34" charset="0"/>
                        </a:rPr>
                        <a:t>2.51 – 2.52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7326882"/>
                  </a:ext>
                </a:extLst>
              </a:tr>
              <a:tr h="270209">
                <a:tc>
                  <a:txBody>
                    <a:bodyPr/>
                    <a:lstStyle/>
                    <a:p>
                      <a:pPr algn="ctr" rtl="0" fontAlgn="ctr"/>
                      <a:r>
                        <a:rPr lang="en-IN" sz="1400" u="none" strike="noStrike" dirty="0">
                          <a:effectLst/>
                        </a:rPr>
                        <a:t>V</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hlinkClick r:id="rId6" action="ppaction://hlinksldjump"/>
                        </a:rPr>
                        <a:t>1200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1190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1190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22-01-2019</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22-07-2020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621.5</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393.5</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175</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prstClr val="black"/>
                          </a:solidFill>
                          <a:effectLst/>
                          <a:uLnTx/>
                          <a:uFillTx/>
                          <a:latin typeface="Calibri" panose="020F0502020204030204"/>
                          <a:ea typeface="+mn-ea"/>
                          <a:cs typeface="+mn-cs"/>
                        </a:rPr>
                        <a:t>0</a:t>
                      </a:r>
                      <a:endParaRPr kumimoji="0" lang="en-IN"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600" b="0" i="0" u="none" strike="noStrike">
                          <a:solidFill>
                            <a:srgbClr val="000000"/>
                          </a:solidFill>
                          <a:effectLst/>
                          <a:latin typeface="Calibri" panose="020F0502020204030204" pitchFamily="34" charset="0"/>
                        </a:rPr>
                        <a:t>2.76 – 2.77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6637469"/>
                  </a:ext>
                </a:extLst>
              </a:tr>
              <a:tr h="270209">
                <a:tc>
                  <a:txBody>
                    <a:bodyPr/>
                    <a:lstStyle/>
                    <a:p>
                      <a:pPr algn="ctr" rtl="0" fontAlgn="ctr"/>
                      <a:r>
                        <a:rPr lang="en-IN" sz="1400" u="none" strike="noStrike">
                          <a:effectLst/>
                        </a:rPr>
                        <a:t>VI</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hlinkClick r:id="rId7" action="ppaction://hlinksldjump"/>
                        </a:rPr>
                        <a:t>1200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1200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1075</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15-09-2019</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15-03-2021</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973</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102</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prstClr val="black"/>
                          </a:solidFill>
                          <a:effectLst/>
                          <a:uLnTx/>
                          <a:uFillTx/>
                          <a:latin typeface="Calibri" panose="020F0502020204030204"/>
                          <a:ea typeface="+mn-ea"/>
                          <a:cs typeface="+mn-cs"/>
                        </a:rPr>
                        <a:t>0</a:t>
                      </a:r>
                      <a:endParaRPr kumimoji="0" lang="en-IN"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600" b="0" i="0" u="none" strike="noStrike" dirty="0">
                          <a:solidFill>
                            <a:srgbClr val="000000"/>
                          </a:solidFill>
                          <a:effectLst/>
                          <a:latin typeface="Calibri" panose="020F0502020204030204" pitchFamily="34" charset="0"/>
                        </a:rPr>
                        <a:t>2.82 – 2.83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9416730"/>
                  </a:ext>
                </a:extLst>
              </a:tr>
              <a:tr h="270209">
                <a:tc>
                  <a:txBody>
                    <a:bodyPr/>
                    <a:lstStyle/>
                    <a:p>
                      <a:pPr algn="ctr" rtl="0" fontAlgn="ctr"/>
                      <a:r>
                        <a:rPr lang="en-IN" sz="1400" u="none" strike="noStrike">
                          <a:effectLst/>
                        </a:rPr>
                        <a:t>VII</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hlinkClick r:id="rId8" action="ppaction://hlinksldjump"/>
                        </a:rPr>
                        <a:t>1200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480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280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18-10-2019</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18-04-2021</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180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100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prstClr val="black"/>
                          </a:solidFill>
                          <a:effectLst/>
                          <a:uLnTx/>
                          <a:uFillTx/>
                          <a:latin typeface="Calibri" panose="020F0502020204030204"/>
                          <a:ea typeface="+mn-ea"/>
                          <a:cs typeface="+mn-cs"/>
                        </a:rPr>
                        <a:t>0</a:t>
                      </a:r>
                      <a:endParaRPr kumimoji="0" lang="en-IN"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600" b="0" i="0" u="none" strike="noStrike">
                          <a:solidFill>
                            <a:srgbClr val="000000"/>
                          </a:solidFill>
                          <a:effectLst/>
                          <a:latin typeface="Calibri" panose="020F0502020204030204" pitchFamily="34" charset="0"/>
                        </a:rPr>
                        <a:t>2.79 – 2.83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8668982"/>
                  </a:ext>
                </a:extLst>
              </a:tr>
              <a:tr h="270209">
                <a:tc>
                  <a:txBody>
                    <a:bodyPr/>
                    <a:lstStyle/>
                    <a:p>
                      <a:pPr algn="ctr" rtl="0" fontAlgn="ctr"/>
                      <a:r>
                        <a:rPr lang="en-IN" sz="1400" u="none" strike="noStrike">
                          <a:effectLst/>
                        </a:rPr>
                        <a:t>VIII</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hlinkClick r:id="rId9" action="ppaction://hlinksldjump"/>
                        </a:rPr>
                        <a:t>1800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440.8</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440.64</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21-05-2020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21-11-2021</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250.71</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400" b="0" i="0" u="none" strike="noStrike" dirty="0">
                          <a:solidFill>
                            <a:srgbClr val="000000"/>
                          </a:solidFill>
                          <a:effectLst/>
                          <a:latin typeface="Calibri" panose="020F0502020204030204" pitchFamily="34" charset="0"/>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189.93</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prstClr val="black"/>
                          </a:solidFill>
                          <a:effectLst/>
                          <a:uLnTx/>
                          <a:uFillTx/>
                          <a:latin typeface="Calibri" panose="020F0502020204030204"/>
                          <a:ea typeface="+mn-ea"/>
                          <a:cs typeface="+mn-cs"/>
                        </a:rPr>
                        <a:t>0</a:t>
                      </a:r>
                      <a:endParaRPr kumimoji="0" lang="en-IN"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600" b="0" i="0" u="none" strike="noStrike" dirty="0">
                          <a:solidFill>
                            <a:srgbClr val="000000"/>
                          </a:solidFill>
                          <a:effectLst/>
                          <a:latin typeface="Calibri" panose="020F0502020204030204" pitchFamily="34" charset="0"/>
                        </a:rPr>
                        <a:t>2.83 – 2.84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7962343"/>
                  </a:ext>
                </a:extLst>
              </a:tr>
              <a:tr h="270209">
                <a:tc>
                  <a:txBody>
                    <a:bodyPr/>
                    <a:lstStyle/>
                    <a:p>
                      <a:pPr algn="ctr" rtl="0" fontAlgn="ctr"/>
                      <a:r>
                        <a:rPr lang="en-IN" sz="1400" u="none" strike="noStrike" dirty="0">
                          <a:effectLst/>
                        </a:rPr>
                        <a:t>IX</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rtl="0" fontAlgn="ctr"/>
                      <a:r>
                        <a:rPr lang="en-IN" sz="1400" u="none" strike="noStrike" dirty="0">
                          <a:effectLst/>
                          <a:hlinkClick r:id="rId10" action="ppaction://hlinksldjump"/>
                        </a:rPr>
                        <a:t>2500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rtl="0" fontAlgn="ctr"/>
                      <a:r>
                        <a:rPr lang="en-IN" sz="1400" u="none" strike="noStrike" dirty="0">
                          <a:effectLst/>
                        </a:rPr>
                        <a:t>970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rtl="0" fontAlgn="ctr"/>
                      <a:r>
                        <a:rPr lang="en-IN" sz="1400" u="none" strike="noStrike" dirty="0">
                          <a:effectLst/>
                        </a:rPr>
                        <a:t>970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rtl="0" fontAlgn="ctr"/>
                      <a:r>
                        <a:rPr lang="en-IN" sz="1400" u="none" strike="noStrike" dirty="0">
                          <a:effectLst/>
                        </a:rPr>
                        <a:t>31-03-2021</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rtl="0" fontAlgn="ctr"/>
                      <a:r>
                        <a:rPr lang="en-IN" sz="1400" u="none" strike="noStrike" dirty="0">
                          <a:effectLst/>
                        </a:rPr>
                        <a:t>31-03-2023</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rtl="0" fontAlgn="ctr"/>
                      <a:r>
                        <a:rPr lang="en-IN" sz="1400" b="0" i="0" u="none" strike="noStrike" dirty="0">
                          <a:solidFill>
                            <a:srgbClr val="000000"/>
                          </a:solidFill>
                          <a:effectLst/>
                          <a:latin typeface="Calibri" panose="020F0502020204030204" pitchFamily="34" charset="0"/>
                        </a:rPr>
                        <a:t>862</a:t>
                      </a: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rtl="0" fontAlgn="ctr"/>
                      <a:r>
                        <a:rPr lang="en-US" sz="1400" b="0" i="0" u="none" strike="noStrike" dirty="0">
                          <a:solidFill>
                            <a:srgbClr val="000000"/>
                          </a:solidFill>
                          <a:effectLst/>
                          <a:latin typeface="Calibri" panose="020F0502020204030204" pitchFamily="34" charset="0"/>
                        </a:rPr>
                        <a:t>108</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rtl="0" fontAlgn="ctr"/>
                      <a:r>
                        <a:rPr lang="en-IN" sz="1400" u="none" strike="noStrike" dirty="0">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rtl="0" fontAlgn="ctr"/>
                      <a:r>
                        <a:rPr lang="en-IN" sz="1400" u="none" strike="noStrike" dirty="0">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rPr>
                        <a:t>0</a:t>
                      </a:r>
                      <a:endParaRPr kumimoji="0" lang="en-IN" sz="14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ctr"/>
                      <a:r>
                        <a:rPr lang="en-GB" sz="1600" b="0" i="0" u="none" strike="noStrike" dirty="0">
                          <a:solidFill>
                            <a:srgbClr val="000000"/>
                          </a:solidFill>
                          <a:effectLst/>
                          <a:latin typeface="Calibri" panose="020F0502020204030204" pitchFamily="34" charset="0"/>
                        </a:rPr>
                        <a:t>2.99 – 3.00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622275763"/>
                  </a:ext>
                </a:extLst>
              </a:tr>
              <a:tr h="270209">
                <a:tc>
                  <a:txBody>
                    <a:bodyPr/>
                    <a:lstStyle/>
                    <a:p>
                      <a:pPr algn="ctr" rtl="0" fontAlgn="ctr"/>
                      <a:r>
                        <a:rPr lang="en-IN" sz="1400" u="none" strike="noStrike">
                          <a:effectLst/>
                        </a:rPr>
                        <a:t>X</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hlinkClick r:id="rId11" action="ppaction://hlinksldjump"/>
                        </a:rPr>
                        <a:t>1200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1200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1200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10-09-2021</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10-03-2023</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750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450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150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600" b="0" i="0" u="none" strike="noStrike">
                          <a:solidFill>
                            <a:srgbClr val="000000"/>
                          </a:solidFill>
                          <a:effectLst/>
                          <a:latin typeface="Calibri" panose="020F0502020204030204" pitchFamily="34" charset="0"/>
                        </a:rPr>
                        <a:t>2.77-2.78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4425385"/>
                  </a:ext>
                </a:extLst>
              </a:tr>
              <a:tr h="270209">
                <a:tc>
                  <a:txBody>
                    <a:bodyPr/>
                    <a:lstStyle/>
                    <a:p>
                      <a:pPr algn="ctr" rtl="0" fontAlgn="ctr"/>
                      <a:r>
                        <a:rPr lang="en-IN" sz="1400" u="none" strike="noStrike" dirty="0">
                          <a:effectLst/>
                        </a:rPr>
                        <a:t>XI</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hlinkClick r:id="rId12" action="ppaction://hlinksldjump"/>
                        </a:rPr>
                        <a:t>1200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1200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1200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30-06-2022</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30-12-2023</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400" b="0" i="0" u="none" strike="noStrike" dirty="0">
                          <a:solidFill>
                            <a:srgbClr val="000000"/>
                          </a:solidFill>
                          <a:effectLst/>
                          <a:latin typeface="Calibri" panose="020F0502020204030204" pitchFamily="34" charset="0"/>
                        </a:rPr>
                        <a:t>5</a:t>
                      </a:r>
                      <a:r>
                        <a:rPr lang="en-IN" sz="1400" b="0" i="0" u="none" strike="noStrike" dirty="0">
                          <a:solidFill>
                            <a:srgbClr val="000000"/>
                          </a:solidFill>
                          <a:effectLst/>
                          <a:latin typeface="Calibri" panose="020F0502020204030204" pitchFamily="34" charset="0"/>
                        </a:rPr>
                        <a:t>4.6</a:t>
                      </a: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125.4</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900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120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600" b="0" i="0" u="none" strike="noStrike" dirty="0">
                          <a:solidFill>
                            <a:srgbClr val="000000"/>
                          </a:solidFill>
                          <a:effectLst/>
                          <a:latin typeface="Calibri" panose="020F0502020204030204" pitchFamily="34" charset="0"/>
                        </a:rPr>
                        <a:t>2.69-2.70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3546900"/>
                  </a:ext>
                </a:extLst>
              </a:tr>
              <a:tr h="270209">
                <a:tc>
                  <a:txBody>
                    <a:bodyPr/>
                    <a:lstStyle/>
                    <a:p>
                      <a:pPr algn="ctr" rtl="0" fontAlgn="ctr"/>
                      <a:r>
                        <a:rPr lang="en-IN" sz="1400" u="none" strike="noStrike">
                          <a:effectLst/>
                        </a:rPr>
                        <a:t>XII</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hlinkClick r:id="rId13" action="ppaction://hlinksldjump"/>
                        </a:rPr>
                        <a:t>1200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1100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800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29-03-2023</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29-03-2025</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800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600" b="0" i="0" u="none" strike="noStrike" dirty="0">
                          <a:solidFill>
                            <a:srgbClr val="000000"/>
                          </a:solidFill>
                          <a:effectLst/>
                          <a:latin typeface="Calibri" panose="020F0502020204030204" pitchFamily="34" charset="0"/>
                        </a:rPr>
                        <a:t>2.89-2.94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8659639"/>
                  </a:ext>
                </a:extLst>
              </a:tr>
              <a:tr h="270209">
                <a:tc>
                  <a:txBody>
                    <a:bodyPr/>
                    <a:lstStyle/>
                    <a:p>
                      <a:pPr algn="ctr" rtl="0" fontAlgn="ctr"/>
                      <a:r>
                        <a:rPr lang="en-IN" sz="1400" u="none" strike="noStrike">
                          <a:effectLst/>
                        </a:rPr>
                        <a:t>XIII</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hlinkClick r:id="rId14" action="ppaction://hlinksldjump"/>
                        </a:rPr>
                        <a:t>1200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600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600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26-06-2023</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26-06-2025</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400" b="0" i="0" u="none" strike="noStrike" dirty="0">
                          <a:solidFill>
                            <a:srgbClr val="000000"/>
                          </a:solidFill>
                          <a:effectLst/>
                          <a:latin typeface="Calibri" panose="020F0502020204030204" pitchFamily="34" charset="0"/>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b="0" i="0" u="none" strike="noStrike" dirty="0">
                          <a:solidFill>
                            <a:srgbClr val="000000"/>
                          </a:solidFill>
                          <a:effectLst/>
                          <a:latin typeface="Calibri" panose="020F0502020204030204" pitchFamily="34" charset="0"/>
                        </a:rPr>
                        <a:t>500</a:t>
                      </a: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b="0" i="0" u="none" strike="noStrike" dirty="0">
                          <a:solidFill>
                            <a:srgbClr val="000000"/>
                          </a:solidFill>
                          <a:effectLst/>
                          <a:latin typeface="Calibri" panose="020F0502020204030204" pitchFamily="34" charset="0"/>
                        </a:rPr>
                        <a:t>100</a:t>
                      </a: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600" b="0" i="0" u="none" strike="noStrike" dirty="0">
                          <a:solidFill>
                            <a:srgbClr val="000000"/>
                          </a:solidFill>
                          <a:effectLst/>
                          <a:latin typeface="Calibri" panose="020F0502020204030204" pitchFamily="34" charset="0"/>
                        </a:rPr>
                        <a:t>2.90-2.95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0328342"/>
                  </a:ext>
                </a:extLst>
              </a:tr>
              <a:tr h="270209">
                <a:tc>
                  <a:txBody>
                    <a:bodyPr/>
                    <a:lstStyle/>
                    <a:p>
                      <a:pPr algn="ctr" rtl="0" fontAlgn="ctr"/>
                      <a:r>
                        <a:rPr lang="en-IN" sz="1400" u="none" strike="noStrike">
                          <a:effectLst/>
                        </a:rPr>
                        <a:t>XIV</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hlinkClick r:id="rId15" action="ppaction://hlinksldjump"/>
                        </a:rPr>
                        <a:t>1200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690</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500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16-11-2023</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16-11-2025</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300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200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600" b="0" i="0" u="none" strike="noStrike" dirty="0">
                          <a:solidFill>
                            <a:srgbClr val="000000"/>
                          </a:solidFill>
                          <a:effectLst/>
                          <a:latin typeface="Calibri" panose="020F0502020204030204" pitchFamily="34" charset="0"/>
                        </a:rPr>
                        <a:t>3.18-3.24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329660"/>
                  </a:ext>
                </a:extLst>
              </a:tr>
              <a:tr h="75443">
                <a:tc>
                  <a:txBody>
                    <a:bodyPr/>
                    <a:lstStyle/>
                    <a:p>
                      <a:pPr algn="ctr" rtl="0" fontAlgn="ctr"/>
                      <a:r>
                        <a:rPr lang="en-IN" sz="1400" u="none" strike="noStrike">
                          <a:effectLst/>
                        </a:rPr>
                        <a:t>XV</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1300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9">
                  <a:txBody>
                    <a:bodyPr/>
                    <a:lstStyle/>
                    <a:p>
                      <a:pPr algn="ctr" rtl="0" fontAlgn="ctr"/>
                      <a:r>
                        <a:rPr lang="en-US" sz="1400" u="none" strike="noStrike" dirty="0">
                          <a:effectLst/>
                        </a:rPr>
                        <a:t>In line with MNRE letter dated 16.02.2024, SECI tender for 1300 MW Wind Tranche-XV stands cancelled.</a:t>
                      </a: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GB"/>
                    </a:p>
                  </a:txBody>
                  <a:tcPr/>
                </a:tc>
                <a:tc hMerge="1">
                  <a:txBody>
                    <a:bodyPr/>
                    <a:lstStyle/>
                    <a:p>
                      <a:endParaRPr lang="en-GB"/>
                    </a:p>
                  </a:txBody>
                  <a:tcPr/>
                </a:tc>
                <a:tc hMerge="1">
                  <a:txBody>
                    <a:bodyPr/>
                    <a:lstStyle/>
                    <a:p>
                      <a:endParaRPr lang="en-GB"/>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GB"/>
                    </a:p>
                  </a:txBody>
                  <a:tcPr/>
                </a:tc>
                <a:tc hMerge="1">
                  <a:txBody>
                    <a:bodyPr/>
                    <a:lstStyle/>
                    <a:p>
                      <a:endParaRPr lang="en-GB"/>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GB"/>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n-GB"/>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pPr algn="ctr" rtl="0" fontAlgn="ctr"/>
                      <a:endParaRPr lang="en-US" sz="1400" u="none" strike="noStrike" dirty="0">
                        <a:effectLst/>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600" b="0" i="0" u="none" strike="noStrike" dirty="0">
                          <a:solidFill>
                            <a:srgbClr val="000000"/>
                          </a:solidFill>
                          <a:effectLst/>
                          <a:latin typeface="Calibri" panose="020F0502020204030204" pitchFamily="34" charset="0"/>
                        </a:rPr>
                        <a: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7263173"/>
                  </a:ext>
                </a:extLst>
              </a:tr>
              <a:tr h="270209">
                <a:tc>
                  <a:txBody>
                    <a:bodyPr/>
                    <a:lstStyle/>
                    <a:p>
                      <a:pPr algn="ctr" rtl="0" fontAlgn="ctr"/>
                      <a:r>
                        <a:rPr lang="en-IN" sz="1400" u="none" strike="noStrike">
                          <a:effectLst/>
                        </a:rPr>
                        <a:t>XVI</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hlinkClick r:id="rId16" action="ppaction://hlinksldjump"/>
                        </a:rPr>
                        <a:t>1350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1175</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1175</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13-06-2024</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13-06-2026</a:t>
                      </a:r>
                      <a:endParaRPr lang="en-IN" sz="1400" b="0" i="0" u="none" strike="noStrike">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1175</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600" b="0" i="0" u="none" strike="noStrike" dirty="0">
                          <a:solidFill>
                            <a:srgbClr val="000000"/>
                          </a:solidFill>
                          <a:effectLst/>
                          <a:latin typeface="Calibri" panose="020F0502020204030204" pitchFamily="34" charset="0"/>
                        </a:rPr>
                        <a:t>3.60-3.70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7355116"/>
                  </a:ext>
                </a:extLst>
              </a:tr>
              <a:tr h="270209">
                <a:tc>
                  <a:txBody>
                    <a:bodyPr/>
                    <a:lstStyle/>
                    <a:p>
                      <a:pPr algn="ctr" rtl="0" fontAlgn="ctr"/>
                      <a:r>
                        <a:rPr lang="en-IN" sz="1400" u="none" strike="noStrike" dirty="0">
                          <a:effectLst/>
                        </a:rPr>
                        <a:t>XVII</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hlinkClick r:id="rId17" action="ppaction://hlinksldjump"/>
                        </a:rPr>
                        <a:t>500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b="0" i="0" u="none" strike="noStrike" dirty="0">
                          <a:solidFill>
                            <a:srgbClr val="000000"/>
                          </a:solidFill>
                          <a:effectLst/>
                          <a:latin typeface="Calibri" panose="020F0502020204030204" pitchFamily="34" charset="0"/>
                        </a:rPr>
                        <a:t>100</a:t>
                      </a: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100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b="0" i="0" u="none" strike="noStrike" dirty="0">
                          <a:solidFill>
                            <a:srgbClr val="000000"/>
                          </a:solidFill>
                          <a:effectLst/>
                          <a:latin typeface="Calibri" panose="020F0502020204030204" pitchFamily="34" charset="0"/>
                        </a:rPr>
                        <a:t>01-03-2025</a:t>
                      </a: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01-03-2027</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400" b="0" i="0" u="none" strike="noStrike" dirty="0">
                          <a:solidFill>
                            <a:srgbClr val="000000"/>
                          </a:solidFill>
                          <a:effectLst/>
                          <a:latin typeface="Calibri" panose="020F0502020204030204" pitchFamily="34" charset="0"/>
                        </a:rPr>
                        <a:t>50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dirty="0">
                          <a:effectLst/>
                        </a:rPr>
                        <a:t>50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u="none" strike="noStrike">
                          <a:effectLst/>
                        </a:rPr>
                        <a:t>-</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GB" sz="1600" b="0" i="0" u="none" strike="noStrike" dirty="0">
                          <a:solidFill>
                            <a:srgbClr val="000000"/>
                          </a:solidFill>
                          <a:effectLst/>
                          <a:latin typeface="Calibri" panose="020F0502020204030204" pitchFamily="34" charset="0"/>
                        </a:rPr>
                        <a:t>3.81-3.82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8337849"/>
                  </a:ext>
                </a:extLst>
              </a:tr>
              <a:tr h="270209">
                <a:tc>
                  <a:txBody>
                    <a:bodyPr/>
                    <a:lstStyle/>
                    <a:p>
                      <a:pPr algn="ctr" rtl="0" fontAlgn="ctr"/>
                      <a:r>
                        <a:rPr lang="en-IN" sz="1400" b="0" i="0" u="none" strike="noStrike" dirty="0">
                          <a:solidFill>
                            <a:srgbClr val="000000"/>
                          </a:solidFill>
                          <a:effectLst/>
                          <a:latin typeface="Calibri" panose="020F0502020204030204" pitchFamily="34" charset="0"/>
                        </a:rPr>
                        <a:t>XVIII</a:t>
                      </a: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400" b="0" i="0" u="none" strike="noStrike" dirty="0">
                          <a:solidFill>
                            <a:srgbClr val="000000"/>
                          </a:solidFill>
                          <a:effectLst/>
                          <a:latin typeface="Calibri" panose="020F0502020204030204" pitchFamily="34" charset="0"/>
                        </a:rPr>
                        <a:t>600</a:t>
                      </a: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400" b="0" i="0" u="none" strike="noStrike" dirty="0">
                          <a:solidFill>
                            <a:srgbClr val="000000"/>
                          </a:solidFill>
                          <a:effectLst/>
                          <a:latin typeface="Calibri" panose="020F0502020204030204" pitchFamily="34" charset="0"/>
                        </a:rPr>
                        <a:t>300</a:t>
                      </a: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8">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400" b="0" i="0" u="none" strike="noStrike" dirty="0">
                          <a:solidFill>
                            <a:srgbClr val="000000"/>
                          </a:solidFill>
                          <a:effectLst/>
                          <a:latin typeface="Calibri" panose="020F0502020204030204" pitchFamily="34" charset="0"/>
                        </a:rPr>
                        <a:t>PPA yet to be signed</a:t>
                      </a: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rtl="0" fontAlgn="ct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rtl="0" fontAlgn="ct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rtl="0" fontAlgn="ct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rtl="0" fontAlgn="ct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rtl="0" fontAlgn="ct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rtl="0" fontAlgn="ctr"/>
                      <a:endParaRPr lang="en-IN" sz="1400" b="0"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GB" sz="14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4638034"/>
                  </a:ext>
                </a:extLst>
              </a:tr>
              <a:tr h="307681">
                <a:tc>
                  <a:txBody>
                    <a:bodyPr/>
                    <a:lstStyle/>
                    <a:p>
                      <a:pPr algn="ctr" rtl="0" fontAlgn="ctr"/>
                      <a:r>
                        <a:rPr lang="en-IN" sz="1800" b="1" u="none" strike="noStrike" dirty="0">
                          <a:effectLst/>
                        </a:rPr>
                        <a:t>Total</a:t>
                      </a:r>
                      <a:endParaRPr lang="en-IN" sz="18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800" b="1" u="none" strike="noStrike" dirty="0">
                          <a:effectLst/>
                        </a:rPr>
                        <a:t>23650</a:t>
                      </a:r>
                      <a:endParaRPr lang="en-IN" sz="18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800" b="1" u="none" strike="noStrike" dirty="0">
                          <a:effectLst/>
                        </a:rPr>
                        <a:t>16695.7</a:t>
                      </a:r>
                      <a:endParaRPr lang="en-IN" sz="18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800" b="1" u="none" strike="noStrike" dirty="0">
                          <a:effectLst/>
                        </a:rPr>
                        <a:t>15580.5</a:t>
                      </a:r>
                      <a:endParaRPr lang="en-IN" sz="18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800" b="1" u="none" strike="noStrike" dirty="0">
                          <a:effectLst/>
                        </a:rPr>
                        <a:t> </a:t>
                      </a:r>
                      <a:endParaRPr lang="en-IN" sz="18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800" b="1" u="none" strike="noStrike" dirty="0">
                          <a:effectLst/>
                        </a:rPr>
                        <a:t> </a:t>
                      </a:r>
                      <a:endParaRPr lang="en-IN" sz="18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800" b="1" i="0" u="none" strike="noStrike" dirty="0">
                          <a:solidFill>
                            <a:schemeClr val="bg1"/>
                          </a:solidFill>
                          <a:effectLst/>
                          <a:latin typeface="Calibri" panose="020F0502020204030204" pitchFamily="34" charset="0"/>
                        </a:rPr>
                        <a:t>7123.9</a:t>
                      </a: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800" b="1" i="0" u="none" strike="noStrike" dirty="0">
                          <a:solidFill>
                            <a:schemeClr val="bg1"/>
                          </a:solidFill>
                          <a:effectLst/>
                          <a:latin typeface="Calibri" panose="020F0502020204030204" pitchFamily="34" charset="0"/>
                        </a:rPr>
                        <a:t>2558.4</a:t>
                      </a: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800" b="1" u="none" strike="noStrike" dirty="0">
                          <a:solidFill>
                            <a:schemeClr val="bg1"/>
                          </a:solidFill>
                          <a:effectLst/>
                          <a:hlinkClick r:id="rId18" action="ppaction://hlinksldjump">
                            <a:extLst>
                              <a:ext uri="{A12FA001-AC4F-418D-AE19-62706E023703}">
                                <ahyp:hlinkClr xmlns:ahyp="http://schemas.microsoft.com/office/drawing/2018/hyperlinkcolor" val="tx"/>
                              </a:ext>
                            </a:extLst>
                          </a:hlinkClick>
                        </a:rPr>
                        <a:t>1508.4</a:t>
                      </a:r>
                      <a:endParaRPr lang="en-IN" sz="1800" b="1" i="0" u="none" strike="noStrike" dirty="0">
                        <a:solidFill>
                          <a:schemeClr val="bg1"/>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800" b="1" u="none" strike="noStrike" dirty="0">
                          <a:solidFill>
                            <a:schemeClr val="bg1"/>
                          </a:solidFill>
                          <a:effectLst/>
                          <a:hlinkClick r:id="rId19" action="ppaction://hlinksldjump">
                            <a:extLst>
                              <a:ext uri="{A12FA001-AC4F-418D-AE19-62706E023703}">
                                <ahyp:hlinkClr xmlns:ahyp="http://schemas.microsoft.com/office/drawing/2018/hyperlinkcolor" val="tx"/>
                              </a:ext>
                            </a:extLst>
                          </a:hlinkClick>
                        </a:rPr>
                        <a:t>3969.8</a:t>
                      </a:r>
                      <a:endParaRPr lang="en-IN" sz="1800" b="1" i="0" u="none" strike="noStrike" dirty="0">
                        <a:solidFill>
                          <a:schemeClr val="bg1"/>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IN" sz="1800" b="1" u="none" strike="noStrike" dirty="0">
                          <a:solidFill>
                            <a:schemeClr val="bg1"/>
                          </a:solidFill>
                          <a:effectLst/>
                          <a:hlinkClick r:id="rId20" action="ppaction://hlinksldjump">
                            <a:extLst>
                              <a:ext uri="{A12FA001-AC4F-418D-AE19-62706E023703}">
                                <ahyp:hlinkClr xmlns:ahyp="http://schemas.microsoft.com/office/drawing/2018/hyperlinkcolor" val="tx"/>
                              </a:ext>
                            </a:extLst>
                          </a:hlinkClick>
                        </a:rPr>
                        <a:t>420.0</a:t>
                      </a:r>
                      <a:endParaRPr lang="en-IN" sz="1800" b="1" i="0" u="none" strike="noStrike" dirty="0">
                        <a:solidFill>
                          <a:schemeClr val="bg1"/>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endParaRPr lang="en-IN" sz="1800" b="1" i="0" u="none" strike="noStrike" dirty="0">
                        <a:solidFill>
                          <a:srgbClr val="000000"/>
                        </a:solidFill>
                        <a:effectLst/>
                        <a:latin typeface="Calibri" panose="020F0502020204030204" pitchFamily="34" charset="0"/>
                      </a:endParaRPr>
                    </a:p>
                  </a:txBody>
                  <a:tcPr marL="5557" marR="5557" marT="555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7278202"/>
                  </a:ext>
                </a:extLst>
              </a:tr>
            </a:tbl>
          </a:graphicData>
        </a:graphic>
      </p:graphicFrame>
    </p:spTree>
    <p:extLst>
      <p:ext uri="{BB962C8B-B14F-4D97-AF65-F5344CB8AC3E}">
        <p14:creationId xmlns:p14="http://schemas.microsoft.com/office/powerpoint/2010/main" val="393604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6FCF826-3D00-0CD4-FFC1-47CF350FC5B1}"/>
              </a:ext>
            </a:extLst>
          </p:cNvPr>
          <p:cNvGraphicFramePr>
            <a:graphicFrameLocks noGrp="1"/>
          </p:cNvGraphicFramePr>
          <p:nvPr>
            <p:extLst>
              <p:ext uri="{D42A27DB-BD31-4B8C-83A1-F6EECF244321}">
                <p14:modId xmlns:p14="http://schemas.microsoft.com/office/powerpoint/2010/main" val="739200645"/>
              </p:ext>
            </p:extLst>
          </p:nvPr>
        </p:nvGraphicFramePr>
        <p:xfrm>
          <a:off x="116541" y="701733"/>
          <a:ext cx="11958917" cy="5454695"/>
        </p:xfrm>
        <a:graphic>
          <a:graphicData uri="http://schemas.openxmlformats.org/drawingml/2006/table">
            <a:tbl>
              <a:tblPr firstRow="1" bandRow="1">
                <a:tableStyleId>{5C22544A-7EE6-4342-B048-85BDC9FD1C3A}</a:tableStyleId>
              </a:tblPr>
              <a:tblGrid>
                <a:gridCol w="872504">
                  <a:extLst>
                    <a:ext uri="{9D8B030D-6E8A-4147-A177-3AD203B41FA5}">
                      <a16:colId xmlns:a16="http://schemas.microsoft.com/office/drawing/2014/main" val="1464149496"/>
                    </a:ext>
                  </a:extLst>
                </a:gridCol>
                <a:gridCol w="942392">
                  <a:extLst>
                    <a:ext uri="{9D8B030D-6E8A-4147-A177-3AD203B41FA5}">
                      <a16:colId xmlns:a16="http://schemas.microsoft.com/office/drawing/2014/main" val="1717262643"/>
                    </a:ext>
                  </a:extLst>
                </a:gridCol>
                <a:gridCol w="1231641">
                  <a:extLst>
                    <a:ext uri="{9D8B030D-6E8A-4147-A177-3AD203B41FA5}">
                      <a16:colId xmlns:a16="http://schemas.microsoft.com/office/drawing/2014/main" val="2210686900"/>
                    </a:ext>
                  </a:extLst>
                </a:gridCol>
                <a:gridCol w="1166326">
                  <a:extLst>
                    <a:ext uri="{9D8B030D-6E8A-4147-A177-3AD203B41FA5}">
                      <a16:colId xmlns:a16="http://schemas.microsoft.com/office/drawing/2014/main" val="1080282854"/>
                    </a:ext>
                  </a:extLst>
                </a:gridCol>
                <a:gridCol w="3341931">
                  <a:extLst>
                    <a:ext uri="{9D8B030D-6E8A-4147-A177-3AD203B41FA5}">
                      <a16:colId xmlns:a16="http://schemas.microsoft.com/office/drawing/2014/main" val="2719856805"/>
                    </a:ext>
                  </a:extLst>
                </a:gridCol>
                <a:gridCol w="4404123">
                  <a:extLst>
                    <a:ext uri="{9D8B030D-6E8A-4147-A177-3AD203B41FA5}">
                      <a16:colId xmlns:a16="http://schemas.microsoft.com/office/drawing/2014/main" val="4210947227"/>
                    </a:ext>
                  </a:extLst>
                </a:gridCol>
              </a:tblGrid>
              <a:tr h="918120">
                <a:tc>
                  <a:txBody>
                    <a:bodyPr/>
                    <a:lstStyle/>
                    <a:p>
                      <a:pPr algn="ctr"/>
                      <a:r>
                        <a:rPr lang="en-IN" sz="1400" dirty="0">
                          <a:latin typeface="Times New Roman" panose="02020603050405020304" pitchFamily="18" charset="0"/>
                          <a:cs typeface="Times New Roman" panose="02020603050405020304" pitchFamily="18" charset="0"/>
                        </a:rPr>
                        <a:t>Tranche</a:t>
                      </a:r>
                    </a:p>
                  </a:txBody>
                  <a:tcPr anchor="ctr"/>
                </a:tc>
                <a:tc>
                  <a:txBody>
                    <a:bodyPr/>
                    <a:lstStyle/>
                    <a:p>
                      <a:pPr algn="ctr"/>
                      <a:r>
                        <a:rPr lang="en-IN" sz="1400" dirty="0">
                          <a:latin typeface="Times New Roman" panose="02020603050405020304" pitchFamily="18" charset="0"/>
                          <a:cs typeface="Times New Roman" panose="02020603050405020304" pitchFamily="18" charset="0"/>
                        </a:rPr>
                        <a:t>PPA Capacity</a:t>
                      </a:r>
                    </a:p>
                    <a:p>
                      <a:pPr algn="ctr"/>
                      <a:r>
                        <a:rPr lang="en-IN" sz="1400" dirty="0">
                          <a:latin typeface="Times New Roman" panose="02020603050405020304" pitchFamily="18" charset="0"/>
                          <a:cs typeface="Times New Roman" panose="02020603050405020304" pitchFamily="18" charset="0"/>
                        </a:rPr>
                        <a:t>(MW)</a:t>
                      </a:r>
                    </a:p>
                  </a:txBody>
                  <a:tcPr anchor="ctr"/>
                </a:tc>
                <a:tc>
                  <a:txBody>
                    <a:bodyPr/>
                    <a:lstStyle/>
                    <a:p>
                      <a:pPr algn="ctr"/>
                      <a:r>
                        <a:rPr lang="en-IN" sz="1400" dirty="0">
                          <a:latin typeface="Times New Roman" panose="02020603050405020304" pitchFamily="18" charset="0"/>
                          <a:cs typeface="Times New Roman" panose="02020603050405020304" pitchFamily="18" charset="0"/>
                        </a:rPr>
                        <a:t>Capacity Commissioned till date</a:t>
                      </a:r>
                    </a:p>
                    <a:p>
                      <a:pPr algn="ctr"/>
                      <a:r>
                        <a:rPr lang="en-IN" sz="1400" dirty="0">
                          <a:latin typeface="Times New Roman" panose="02020603050405020304" pitchFamily="18" charset="0"/>
                          <a:cs typeface="Times New Roman" panose="02020603050405020304" pitchFamily="18" charset="0"/>
                        </a:rPr>
                        <a:t>(MW)</a:t>
                      </a:r>
                    </a:p>
                  </a:txBody>
                  <a:tcPr anchor="ctr"/>
                </a:tc>
                <a:tc>
                  <a:txBody>
                    <a:bodyPr/>
                    <a:lstStyle/>
                    <a:p>
                      <a:pPr algn="ctr"/>
                      <a:r>
                        <a:rPr lang="en-IN" sz="1400" dirty="0">
                          <a:latin typeface="Times New Roman" panose="02020603050405020304" pitchFamily="18" charset="0"/>
                          <a:cs typeface="Times New Roman" panose="02020603050405020304" pitchFamily="18" charset="0"/>
                        </a:rPr>
                        <a:t>Likely to be  commissioned</a:t>
                      </a:r>
                    </a:p>
                    <a:p>
                      <a:pPr algn="ctr"/>
                      <a:r>
                        <a:rPr lang="en-IN" sz="1400" dirty="0">
                          <a:latin typeface="Times New Roman" panose="02020603050405020304" pitchFamily="18" charset="0"/>
                          <a:cs typeface="Times New Roman" panose="02020603050405020304" pitchFamily="18" charset="0"/>
                        </a:rPr>
                        <a:t>(MW)</a:t>
                      </a:r>
                    </a:p>
                  </a:txBody>
                  <a:tcPr anchor="ctr"/>
                </a:tc>
                <a:tc>
                  <a:txBody>
                    <a:bodyPr/>
                    <a:lstStyle/>
                    <a:p>
                      <a:pPr algn="ctr"/>
                      <a:r>
                        <a:rPr lang="en-IN" sz="1400" dirty="0">
                          <a:latin typeface="Times New Roman" panose="02020603050405020304" pitchFamily="18" charset="0"/>
                          <a:cs typeface="Times New Roman" panose="02020603050405020304" pitchFamily="18" charset="0"/>
                        </a:rPr>
                        <a:t>Tariff/</a:t>
                      </a:r>
                    </a:p>
                    <a:p>
                      <a:pPr algn="ctr"/>
                      <a:r>
                        <a:rPr lang="en-IN" sz="1400" dirty="0">
                          <a:latin typeface="Times New Roman" panose="02020603050405020304" pitchFamily="18" charset="0"/>
                          <a:cs typeface="Times New Roman" panose="02020603050405020304" pitchFamily="18" charset="0"/>
                        </a:rPr>
                        <a:t>SCD / Max Timeline</a:t>
                      </a:r>
                    </a:p>
                  </a:txBody>
                  <a:tcPr anchor="ctr"/>
                </a:tc>
                <a:tc>
                  <a:txBody>
                    <a:bodyPr/>
                    <a:lstStyle/>
                    <a:p>
                      <a:pPr algn="ctr"/>
                      <a:r>
                        <a:rPr lang="en-IN" sz="1400" dirty="0">
                          <a:latin typeface="Times New Roman" panose="02020603050405020304" pitchFamily="18" charset="0"/>
                          <a:cs typeface="Times New Roman" panose="02020603050405020304" pitchFamily="18" charset="0"/>
                        </a:rPr>
                        <a:t>Project-wise status</a:t>
                      </a:r>
                    </a:p>
                  </a:txBody>
                  <a:tcPr anchor="ctr"/>
                </a:tc>
                <a:extLst>
                  <a:ext uri="{0D108BD9-81ED-4DB2-BD59-A6C34878D82A}">
                    <a16:rowId xmlns:a16="http://schemas.microsoft.com/office/drawing/2014/main" val="1429358378"/>
                  </a:ext>
                </a:extLst>
              </a:tr>
              <a:tr h="1209425">
                <a:tc>
                  <a:txBody>
                    <a:bodyPr/>
                    <a:lstStyle/>
                    <a:p>
                      <a:pPr algn="ctr"/>
                      <a:r>
                        <a:rPr lang="en-IN" sz="1600" b="0" dirty="0">
                          <a:latin typeface="Times New Roman" panose="02020603050405020304" pitchFamily="18" charset="0"/>
                          <a:cs typeface="Times New Roman" panose="02020603050405020304" pitchFamily="18" charset="0"/>
                        </a:rPr>
                        <a:t>IX</a:t>
                      </a:r>
                    </a:p>
                  </a:txBody>
                  <a:tcPr anchor="ctr"/>
                </a:tc>
                <a:tc>
                  <a:txBody>
                    <a:bodyPr/>
                    <a:lstStyle/>
                    <a:p>
                      <a:pPr algn="ctr"/>
                      <a:r>
                        <a:rPr lang="en-IN" sz="1600" b="0" dirty="0">
                          <a:latin typeface="Times New Roman" panose="02020603050405020304" pitchFamily="18" charset="0"/>
                          <a:cs typeface="Times New Roman" panose="02020603050405020304" pitchFamily="18" charset="0"/>
                        </a:rPr>
                        <a:t>970</a:t>
                      </a:r>
                    </a:p>
                  </a:txBody>
                  <a:tcPr anchor="ctr"/>
                </a:tc>
                <a:tc>
                  <a:txBody>
                    <a:bodyPr/>
                    <a:lstStyle/>
                    <a:p>
                      <a:pPr algn="ctr"/>
                      <a:r>
                        <a:rPr lang="en-US" sz="1600" b="0" dirty="0">
                          <a:latin typeface="Times New Roman" panose="02020603050405020304" pitchFamily="18" charset="0"/>
                          <a:cs typeface="Times New Roman" panose="02020603050405020304" pitchFamily="18" charset="0"/>
                        </a:rPr>
                        <a:t>862</a:t>
                      </a:r>
                      <a:endParaRPr lang="en-IN" sz="1600" b="0" dirty="0">
                        <a:latin typeface="Times New Roman" panose="02020603050405020304" pitchFamily="18" charset="0"/>
                        <a:cs typeface="Times New Roman" panose="02020603050405020304" pitchFamily="18" charset="0"/>
                      </a:endParaRPr>
                    </a:p>
                  </a:txBody>
                  <a:tcPr anchor="ctr"/>
                </a:tc>
                <a:tc>
                  <a:txBody>
                    <a:bodyPr/>
                    <a:lstStyle/>
                    <a:p>
                      <a:pPr algn="ctr"/>
                      <a:r>
                        <a:rPr lang="en-US" sz="1600" b="0" dirty="0">
                          <a:latin typeface="Times New Roman" panose="02020603050405020304" pitchFamily="18" charset="0"/>
                          <a:cs typeface="Times New Roman" panose="02020603050405020304" pitchFamily="18" charset="0"/>
                        </a:rPr>
                        <a:t>108</a:t>
                      </a:r>
                    </a:p>
                  </a:txBody>
                  <a:tcPr anchor="ctr"/>
                </a:tc>
                <a:tc>
                  <a:txBody>
                    <a:bodyPr/>
                    <a:lstStyle/>
                    <a:p>
                      <a:pPr algn="ctr"/>
                      <a:r>
                        <a:rPr lang="en-IN" sz="1400" dirty="0">
                          <a:latin typeface="Times New Roman" panose="02020603050405020304" pitchFamily="18" charset="0"/>
                          <a:cs typeface="Times New Roman" panose="02020603050405020304" pitchFamily="18" charset="0"/>
                        </a:rPr>
                        <a:t>2.99-3.0 INR/kWh</a:t>
                      </a:r>
                    </a:p>
                    <a:p>
                      <a:pPr algn="ctr"/>
                      <a:r>
                        <a:rPr lang="en-IN" sz="1400" dirty="0">
                          <a:latin typeface="Times New Roman" panose="02020603050405020304" pitchFamily="18" charset="0"/>
                          <a:cs typeface="Times New Roman" panose="02020603050405020304" pitchFamily="18" charset="0"/>
                        </a:rPr>
                        <a:t>SCD for JSW/270 MW – (Actual start date of LTA plus 60 days)</a:t>
                      </a:r>
                    </a:p>
                  </a:txBody>
                  <a:tcPr anchor="ctr"/>
                </a:tc>
                <a:tc>
                  <a:txBody>
                    <a:bodyPr/>
                    <a:lstStyle/>
                    <a:p>
                      <a:pPr marL="285750" indent="-285750" algn="l">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Vena (160 MW, fully commissioned on 29.10.2024)</a:t>
                      </a:r>
                    </a:p>
                    <a:p>
                      <a:pPr marL="285750" lvl="0" indent="-285750" algn="l">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JSW (540 MW</a:t>
                      </a:r>
                      <a:r>
                        <a:rPr lang="en-IN" sz="1400" b="1" dirty="0">
                          <a:latin typeface="Times New Roman" panose="02020603050405020304" pitchFamily="18" charset="0"/>
                          <a:cs typeface="Times New Roman" panose="02020603050405020304" pitchFamily="18" charset="0"/>
                        </a:rPr>
                        <a:t>, </a:t>
                      </a:r>
                      <a:r>
                        <a:rPr lang="en-IN" sz="1400" b="0" dirty="0">
                          <a:latin typeface="Times New Roman" panose="02020603050405020304" pitchFamily="18" charset="0"/>
                          <a:cs typeface="Times New Roman" panose="02020603050405020304" pitchFamily="18" charset="0"/>
                        </a:rPr>
                        <a:t>fully commissioned on 31.03.2025</a:t>
                      </a:r>
                      <a:r>
                        <a:rPr lang="en-IN" sz="1400" dirty="0">
                          <a:latin typeface="Times New Roman" panose="02020603050405020304" pitchFamily="18" charset="0"/>
                          <a:cs typeface="Times New Roman" panose="02020603050405020304" pitchFamily="18" charset="0"/>
                        </a:rPr>
                        <a:t>)</a:t>
                      </a:r>
                    </a:p>
                    <a:p>
                      <a:pPr marL="285750" indent="-285750" algn="l">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JSW (270 MW) </a:t>
                      </a:r>
                    </a:p>
                    <a:p>
                      <a:pPr marL="742950" lvl="1" indent="-285750" algn="l">
                        <a:buFont typeface="Courier New" panose="02070309020205020404" pitchFamily="49" charset="0"/>
                        <a:buChar char="o"/>
                      </a:pPr>
                      <a:r>
                        <a:rPr lang="en-IN" sz="1400" dirty="0">
                          <a:latin typeface="Times New Roman" panose="02020603050405020304" pitchFamily="18" charset="0"/>
                          <a:cs typeface="Times New Roman" panose="02020603050405020304" pitchFamily="18" charset="0"/>
                        </a:rPr>
                        <a:t>108 MW - By Sept’2025</a:t>
                      </a:r>
                    </a:p>
                  </a:txBody>
                  <a:tcPr anchor="ctr"/>
                </a:tc>
                <a:extLst>
                  <a:ext uri="{0D108BD9-81ED-4DB2-BD59-A6C34878D82A}">
                    <a16:rowId xmlns:a16="http://schemas.microsoft.com/office/drawing/2014/main" val="611614284"/>
                  </a:ext>
                </a:extLst>
              </a:tr>
              <a:tr h="1439737">
                <a:tc>
                  <a:txBody>
                    <a:bodyPr/>
                    <a:lstStyle/>
                    <a:p>
                      <a:pPr algn="ctr"/>
                      <a:r>
                        <a:rPr lang="en-IN" sz="1600" b="0" dirty="0">
                          <a:latin typeface="Times New Roman" panose="02020603050405020304" pitchFamily="18" charset="0"/>
                          <a:cs typeface="Times New Roman" panose="02020603050405020304" pitchFamily="18" charset="0"/>
                        </a:rPr>
                        <a:t>X</a:t>
                      </a:r>
                    </a:p>
                  </a:txBody>
                  <a:tcPr anchor="ctr"/>
                </a:tc>
                <a:tc>
                  <a:txBody>
                    <a:bodyPr/>
                    <a:lstStyle/>
                    <a:p>
                      <a:pPr algn="ctr"/>
                      <a:r>
                        <a:rPr lang="en-IN" sz="1600" b="0" dirty="0">
                          <a:latin typeface="Times New Roman" panose="02020603050405020304" pitchFamily="18" charset="0"/>
                          <a:cs typeface="Times New Roman" panose="02020603050405020304" pitchFamily="18" charset="0"/>
                        </a:rPr>
                        <a:t>1200</a:t>
                      </a:r>
                    </a:p>
                  </a:txBody>
                  <a:tcPr anchor="ctr"/>
                </a:tc>
                <a:tc>
                  <a:txBody>
                    <a:bodyPr/>
                    <a:lstStyle/>
                    <a:p>
                      <a:pPr algn="ctr"/>
                      <a:r>
                        <a:rPr lang="en-US" sz="1600" b="0" dirty="0">
                          <a:latin typeface="Times New Roman" panose="02020603050405020304" pitchFamily="18" charset="0"/>
                          <a:cs typeface="Times New Roman" panose="02020603050405020304" pitchFamily="18" charset="0"/>
                        </a:rPr>
                        <a:t>750</a:t>
                      </a:r>
                      <a:endParaRPr lang="en-IN" sz="1600" b="0" dirty="0">
                        <a:latin typeface="Times New Roman" panose="02020603050405020304" pitchFamily="18" charset="0"/>
                        <a:cs typeface="Times New Roman" panose="02020603050405020304" pitchFamily="18" charset="0"/>
                      </a:endParaRPr>
                    </a:p>
                  </a:txBody>
                  <a:tcPr anchor="ctr"/>
                </a:tc>
                <a:tc>
                  <a:txBody>
                    <a:bodyPr/>
                    <a:lstStyle/>
                    <a:p>
                      <a:pPr algn="ctr"/>
                      <a:r>
                        <a:rPr lang="en-US" sz="1600" b="0" dirty="0">
                          <a:latin typeface="Times New Roman" panose="02020603050405020304" pitchFamily="18" charset="0"/>
                          <a:cs typeface="Times New Roman" panose="02020603050405020304" pitchFamily="18" charset="0"/>
                        </a:rPr>
                        <a:t>0</a:t>
                      </a:r>
                      <a:endParaRPr lang="en-IN" sz="1600" b="0" dirty="0">
                        <a:latin typeface="Times New Roman" panose="02020603050405020304" pitchFamily="18" charset="0"/>
                        <a:cs typeface="Times New Roman" panose="02020603050405020304" pitchFamily="18" charset="0"/>
                      </a:endParaRPr>
                    </a:p>
                  </a:txBody>
                  <a:tcPr anchor="ctr"/>
                </a:tc>
                <a:tc>
                  <a:txBody>
                    <a:bodyPr/>
                    <a:lstStyle/>
                    <a:p>
                      <a:pPr algn="ctr"/>
                      <a:r>
                        <a:rPr lang="en-IN" sz="1400" dirty="0">
                          <a:latin typeface="Times New Roman" panose="02020603050405020304" pitchFamily="18" charset="0"/>
                          <a:cs typeface="Times New Roman" panose="02020603050405020304" pitchFamily="18" charset="0"/>
                        </a:rPr>
                        <a:t>2.77-2.78 INR/kWh</a:t>
                      </a:r>
                    </a:p>
                    <a:p>
                      <a:pPr algn="ctr"/>
                      <a:r>
                        <a:rPr lang="en-IN" sz="1400" dirty="0">
                          <a:latin typeface="Times New Roman" panose="02020603050405020304" pitchFamily="18" charset="0"/>
                          <a:cs typeface="Times New Roman" panose="02020603050405020304" pitchFamily="18" charset="0"/>
                        </a:rPr>
                        <a:t>SCD for Viento </a:t>
                      </a:r>
                      <a:r>
                        <a:rPr lang="en-IN" sz="1400" dirty="0">
                          <a:solidFill>
                            <a:schemeClr val="tx1"/>
                          </a:solidFill>
                          <a:latin typeface="Times New Roman" panose="02020603050405020304" pitchFamily="18" charset="0"/>
                          <a:cs typeface="Times New Roman" panose="02020603050405020304" pitchFamily="18" charset="0"/>
                        </a:rPr>
                        <a:t>- 09.10.2024</a:t>
                      </a:r>
                    </a:p>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Maximum timeline for commissioning is 06.07.2025.</a:t>
                      </a:r>
                    </a:p>
                  </a:txBody>
                  <a:tcPr anchor="ctr"/>
                </a:tc>
                <a:tc>
                  <a:txBody>
                    <a:bodyPr/>
                    <a:lstStyle/>
                    <a:p>
                      <a:pPr marL="285750" indent="-285750" algn="l">
                        <a:buFont typeface="Arial" panose="020B0604020202020204" pitchFamily="34" charset="0"/>
                        <a:buChar char="•"/>
                      </a:pPr>
                      <a:r>
                        <a:rPr lang="en-IN" sz="1400" dirty="0">
                          <a:solidFill>
                            <a:srgbClr val="FF0000"/>
                          </a:solidFill>
                          <a:latin typeface="Times New Roman" panose="02020603050405020304" pitchFamily="18" charset="0"/>
                          <a:cs typeface="Times New Roman" panose="02020603050405020304" pitchFamily="18" charset="0"/>
                        </a:rPr>
                        <a:t>Adani</a:t>
                      </a:r>
                      <a:r>
                        <a:rPr lang="en-IN" sz="1400" dirty="0">
                          <a:latin typeface="Times New Roman" panose="02020603050405020304" pitchFamily="18" charset="0"/>
                          <a:cs typeface="Times New Roman" panose="02020603050405020304" pitchFamily="18" charset="0"/>
                        </a:rPr>
                        <a:t> (300 MW, under litigation)</a:t>
                      </a:r>
                    </a:p>
                    <a:p>
                      <a:pPr marL="285750" indent="-285750" algn="l">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Ayana (300 MW, fully commissioned)</a:t>
                      </a:r>
                    </a:p>
                    <a:p>
                      <a:pPr marL="285750" indent="-285750" algn="l">
                        <a:buFont typeface="Arial" panose="020B0604020202020204" pitchFamily="34" charset="0"/>
                        <a:buChar char="•"/>
                      </a:pPr>
                      <a:r>
                        <a:rPr lang="en-IN" sz="1400" dirty="0">
                          <a:solidFill>
                            <a:srgbClr val="FF0000"/>
                          </a:solidFill>
                          <a:latin typeface="Times New Roman" panose="02020603050405020304" pitchFamily="18" charset="0"/>
                          <a:cs typeface="Times New Roman" panose="02020603050405020304" pitchFamily="18" charset="0"/>
                        </a:rPr>
                        <a:t>Viento</a:t>
                      </a:r>
                      <a:r>
                        <a:rPr lang="en-IN" sz="1400" dirty="0">
                          <a:latin typeface="Times New Roman" panose="02020603050405020304" pitchFamily="18" charset="0"/>
                          <a:cs typeface="Times New Roman" panose="02020603050405020304" pitchFamily="18" charset="0"/>
                        </a:rPr>
                        <a:t> (150 MW, under litigation</a:t>
                      </a:r>
                      <a:r>
                        <a:rPr lang="en-US" sz="1400" dirty="0">
                          <a:latin typeface="Times New Roman" panose="02020603050405020304" pitchFamily="18" charset="0"/>
                          <a:cs typeface="Times New Roman" panose="02020603050405020304" pitchFamily="18" charset="0"/>
                        </a:rPr>
                        <a:t>)</a:t>
                      </a:r>
                      <a:endParaRPr lang="en-IN" sz="1400" b="1"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JSW (150 MW, fully commissioned)</a:t>
                      </a:r>
                    </a:p>
                    <a:p>
                      <a:pPr marL="285750" indent="-285750" algn="l">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JSW (300 MW, fully commissioned)</a:t>
                      </a:r>
                    </a:p>
                  </a:txBody>
                  <a:tcPr anchor="ctr"/>
                </a:tc>
                <a:extLst>
                  <a:ext uri="{0D108BD9-81ED-4DB2-BD59-A6C34878D82A}">
                    <a16:rowId xmlns:a16="http://schemas.microsoft.com/office/drawing/2014/main" val="4012795597"/>
                  </a:ext>
                </a:extLst>
              </a:tr>
              <a:tr h="1860653">
                <a:tc>
                  <a:txBody>
                    <a:bodyPr/>
                    <a:lstStyle/>
                    <a:p>
                      <a:pPr algn="ctr"/>
                      <a:r>
                        <a:rPr lang="en-IN" sz="1600" dirty="0">
                          <a:latin typeface="Times New Roman" panose="02020603050405020304" pitchFamily="18" charset="0"/>
                          <a:cs typeface="Times New Roman" panose="02020603050405020304" pitchFamily="18" charset="0"/>
                        </a:rPr>
                        <a:t>XI</a:t>
                      </a:r>
                    </a:p>
                  </a:txBody>
                  <a:tcPr anchor="ctr"/>
                </a:tc>
                <a:tc>
                  <a:txBody>
                    <a:bodyPr/>
                    <a:lstStyle/>
                    <a:p>
                      <a:pPr algn="ctr"/>
                      <a:r>
                        <a:rPr lang="en-IN" sz="1600" dirty="0">
                          <a:latin typeface="Times New Roman" panose="02020603050405020304" pitchFamily="18" charset="0"/>
                          <a:cs typeface="Times New Roman" panose="02020603050405020304" pitchFamily="18" charset="0"/>
                        </a:rPr>
                        <a:t>1200</a:t>
                      </a:r>
                    </a:p>
                  </a:txBody>
                  <a:tcPr anchor="ctr"/>
                </a:tc>
                <a:tc>
                  <a:txBody>
                    <a:bodyPr/>
                    <a:lstStyle/>
                    <a:p>
                      <a:pPr algn="ctr"/>
                      <a:r>
                        <a:rPr lang="en-US" sz="1600" dirty="0">
                          <a:latin typeface="Times New Roman" panose="02020603050405020304" pitchFamily="18" charset="0"/>
                          <a:cs typeface="Times New Roman" panose="02020603050405020304" pitchFamily="18" charset="0"/>
                        </a:rPr>
                        <a:t>5</a:t>
                      </a:r>
                      <a:r>
                        <a:rPr lang="en-IN" sz="1600" dirty="0">
                          <a:latin typeface="Times New Roman" panose="02020603050405020304" pitchFamily="18" charset="0"/>
                          <a:cs typeface="Times New Roman" panose="02020603050405020304" pitchFamily="18" charset="0"/>
                        </a:rPr>
                        <a:t>4.6</a:t>
                      </a:r>
                    </a:p>
                  </a:txBody>
                  <a:tcPr anchor="ctr"/>
                </a:tc>
                <a:tc>
                  <a:txBody>
                    <a:bodyPr/>
                    <a:lstStyle/>
                    <a:p>
                      <a:pPr algn="ctr"/>
                      <a:r>
                        <a:rPr lang="en-US" sz="1600" dirty="0">
                          <a:latin typeface="Times New Roman" panose="02020603050405020304" pitchFamily="18" charset="0"/>
                          <a:cs typeface="Times New Roman" panose="02020603050405020304" pitchFamily="18" charset="0"/>
                        </a:rPr>
                        <a:t>125.4</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ctr"/>
                      <a:r>
                        <a:rPr lang="en-IN" sz="1600" dirty="0">
                          <a:latin typeface="Times New Roman" panose="02020603050405020304" pitchFamily="18" charset="0"/>
                          <a:cs typeface="Times New Roman" panose="02020603050405020304" pitchFamily="18" charset="0"/>
                        </a:rPr>
                        <a:t>2.69-2.70 INR/kWh</a:t>
                      </a:r>
                    </a:p>
                    <a:p>
                      <a:pPr algn="ctr"/>
                      <a:r>
                        <a:rPr lang="en-IN" sz="1600" dirty="0">
                          <a:latin typeface="Times New Roman" panose="02020603050405020304" pitchFamily="18" charset="0"/>
                          <a:cs typeface="Times New Roman" panose="02020603050405020304" pitchFamily="18" charset="0"/>
                        </a:rPr>
                        <a:t>SCD for </a:t>
                      </a:r>
                      <a:r>
                        <a:rPr lang="en-IN" sz="1600" b="0" dirty="0">
                          <a:latin typeface="Times New Roman" panose="02020603050405020304" pitchFamily="18" charset="0"/>
                          <a:cs typeface="Times New Roman" panose="02020603050405020304" pitchFamily="18" charset="0"/>
                        </a:rPr>
                        <a:t>Sembcorp – 26.01.2026</a:t>
                      </a:r>
                    </a:p>
                    <a:p>
                      <a:pPr algn="ctr"/>
                      <a:r>
                        <a:rPr lang="en-IN" sz="1600" b="0" dirty="0">
                          <a:latin typeface="Times New Roman" panose="02020603050405020304" pitchFamily="18" charset="0"/>
                          <a:cs typeface="Times New Roman" panose="02020603050405020304" pitchFamily="18" charset="0"/>
                        </a:rPr>
                        <a:t>SCD for Others – 26.07.2025; Max. time for commissioning with LD </a:t>
                      </a:r>
                      <a:r>
                        <a:rPr lang="en-IN" sz="1600" dirty="0">
                          <a:latin typeface="Times New Roman" panose="02020603050405020304" pitchFamily="18" charset="0"/>
                          <a:cs typeface="Times New Roman" panose="02020603050405020304" pitchFamily="18" charset="0"/>
                        </a:rPr>
                        <a:t>is 22.04.2026.</a:t>
                      </a:r>
                    </a:p>
                  </a:txBody>
                  <a:tcPr anchor="ctr"/>
                </a:tc>
                <a:tc>
                  <a:txBody>
                    <a:bodyPr/>
                    <a:lstStyle/>
                    <a:p>
                      <a:pPr marL="285750" indent="-285750" algn="l">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Sembcorp (180 MW, 54.6 MW </a:t>
                      </a:r>
                      <a:r>
                        <a:rPr lang="en-IN" sz="1400" b="1" dirty="0">
                          <a:latin typeface="Times New Roman" panose="02020603050405020304" pitchFamily="18" charset="0"/>
                          <a:cs typeface="Times New Roman" panose="02020603050405020304" pitchFamily="18" charset="0"/>
                        </a:rPr>
                        <a:t>Commissioned</a:t>
                      </a:r>
                      <a:r>
                        <a:rPr lang="en-IN" sz="1400" dirty="0">
                          <a:latin typeface="Times New Roman" panose="02020603050405020304" pitchFamily="18" charset="0"/>
                          <a:cs typeface="Times New Roman" panose="02020603050405020304" pitchFamily="18" charset="0"/>
                        </a:rPr>
                        <a:t>) </a:t>
                      </a:r>
                    </a:p>
                    <a:p>
                      <a:pPr marL="742950" lvl="1" indent="-285750" algn="l">
                        <a:buFont typeface="Courier New" panose="02070309020205020404" pitchFamily="49" charset="0"/>
                        <a:buChar char="o"/>
                      </a:pP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21 MW:           Sept’25</a:t>
                      </a:r>
                    </a:p>
                    <a:p>
                      <a:pPr marL="742950" lvl="1" indent="-285750" algn="l">
                        <a:buFont typeface="Courier New" panose="02070309020205020404" pitchFamily="49" charset="0"/>
                        <a:buChar char="o"/>
                      </a:pP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104.4 MW       Oct’25</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dirty="0">
                          <a:solidFill>
                            <a:srgbClr val="FF0000"/>
                          </a:solidFill>
                          <a:latin typeface="Times New Roman" panose="02020603050405020304" pitchFamily="18" charset="0"/>
                          <a:cs typeface="Times New Roman" panose="02020603050405020304" pitchFamily="18" charset="0"/>
                        </a:rPr>
                        <a:t>Renew (300 MW), </a:t>
                      </a:r>
                      <a:r>
                        <a:rPr lang="en-IN" sz="1400" dirty="0" err="1">
                          <a:solidFill>
                            <a:srgbClr val="FF0000"/>
                          </a:solidFill>
                          <a:latin typeface="Times New Roman" panose="02020603050405020304" pitchFamily="18" charset="0"/>
                          <a:cs typeface="Times New Roman" panose="02020603050405020304" pitchFamily="18" charset="0"/>
                        </a:rPr>
                        <a:t>Anupavan</a:t>
                      </a:r>
                      <a:r>
                        <a:rPr lang="en-IN" sz="1400" dirty="0">
                          <a:solidFill>
                            <a:srgbClr val="FF0000"/>
                          </a:solidFill>
                          <a:latin typeface="Times New Roman" panose="02020603050405020304" pitchFamily="18" charset="0"/>
                          <a:cs typeface="Times New Roman" panose="02020603050405020304" pitchFamily="18" charset="0"/>
                        </a:rPr>
                        <a:t> (150 MW), Adani (450 MW), Azure (120 MW) - under litigation/ not likely to come up</a:t>
                      </a:r>
                    </a:p>
                  </a:txBody>
                  <a:tcPr anchor="ctr"/>
                </a:tc>
                <a:extLst>
                  <a:ext uri="{0D108BD9-81ED-4DB2-BD59-A6C34878D82A}">
                    <a16:rowId xmlns:a16="http://schemas.microsoft.com/office/drawing/2014/main" val="343053435"/>
                  </a:ext>
                </a:extLst>
              </a:tr>
            </a:tbl>
          </a:graphicData>
        </a:graphic>
      </p:graphicFrame>
      <p:sp>
        <p:nvSpPr>
          <p:cNvPr id="3" name="TextBox 2">
            <a:extLst>
              <a:ext uri="{FF2B5EF4-FFF2-40B4-BE49-F238E27FC236}">
                <a16:creationId xmlns:a16="http://schemas.microsoft.com/office/drawing/2014/main" id="{2F5AE45D-B38B-67DC-15D5-377AB69D15BA}"/>
              </a:ext>
            </a:extLst>
          </p:cNvPr>
          <p:cNvSpPr txBox="1"/>
          <p:nvPr/>
        </p:nvSpPr>
        <p:spPr>
          <a:xfrm>
            <a:off x="291966" y="138499"/>
            <a:ext cx="11783493" cy="590931"/>
          </a:xfrm>
          <a:prstGeom prst="rect">
            <a:avLst/>
          </a:prstGeom>
          <a:noFill/>
        </p:spPr>
        <p:txBody>
          <a:bodyPr vert="horz" wrap="square" lIns="91440" tIns="45720" rIns="91440" bIns="45720" rtlCol="0" anchor="ctr">
            <a:spAutoFit/>
          </a:bodyPr>
          <a:lstStyle>
            <a:lvl1pPr>
              <a:lnSpc>
                <a:spcPct val="90000"/>
              </a:lnSpc>
              <a:spcBef>
                <a:spcPct val="0"/>
              </a:spcBef>
              <a:buNone/>
              <a:defRPr sz="2800">
                <a:ln w="0"/>
                <a:solidFill>
                  <a:schemeClr val="accent1"/>
                </a:solidFill>
                <a:effectLst>
                  <a:outerShdw blurRad="38100" dist="25400" dir="5400000" algn="ctr" rotWithShape="0">
                    <a:srgbClr val="6E747A">
                      <a:alpha val="43000"/>
                    </a:srgbClr>
                  </a:outerShdw>
                </a:effectLst>
              </a:defRPr>
            </a:lvl1pPr>
          </a:lstStyle>
          <a:p>
            <a:r>
              <a:rPr lang="en-US" sz="1800" dirty="0">
                <a:latin typeface="Times New Roman" panose="02020603050405020304" pitchFamily="18" charset="0"/>
                <a:cs typeface="Times New Roman" panose="02020603050405020304" pitchFamily="18" charset="0"/>
              </a:rPr>
              <a:t>TRANCHE-WISE REALISTIC FIGURES OF PROJECT CAPACITIES LIKELY TO BE COMMISSIONED FROM THE TOTAL AWARDED CAPACITY</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1686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6AB5F6E-33D9-5987-2488-66FF7469A3BD}"/>
              </a:ext>
            </a:extLst>
          </p:cNvPr>
          <p:cNvGraphicFramePr>
            <a:graphicFrameLocks noGrp="1"/>
          </p:cNvGraphicFramePr>
          <p:nvPr/>
        </p:nvGraphicFramePr>
        <p:xfrm>
          <a:off x="167951" y="677109"/>
          <a:ext cx="11680182" cy="5686794"/>
        </p:xfrm>
        <a:graphic>
          <a:graphicData uri="http://schemas.openxmlformats.org/drawingml/2006/table">
            <a:tbl>
              <a:tblPr firstRow="1" bandRow="1">
                <a:tableStyleId>{5C22544A-7EE6-4342-B048-85BDC9FD1C3A}</a:tableStyleId>
              </a:tblPr>
              <a:tblGrid>
                <a:gridCol w="1007706">
                  <a:extLst>
                    <a:ext uri="{9D8B030D-6E8A-4147-A177-3AD203B41FA5}">
                      <a16:colId xmlns:a16="http://schemas.microsoft.com/office/drawing/2014/main" val="2437246375"/>
                    </a:ext>
                  </a:extLst>
                </a:gridCol>
                <a:gridCol w="906456">
                  <a:extLst>
                    <a:ext uri="{9D8B030D-6E8A-4147-A177-3AD203B41FA5}">
                      <a16:colId xmlns:a16="http://schemas.microsoft.com/office/drawing/2014/main" val="3653494502"/>
                    </a:ext>
                  </a:extLst>
                </a:gridCol>
                <a:gridCol w="1189234">
                  <a:extLst>
                    <a:ext uri="{9D8B030D-6E8A-4147-A177-3AD203B41FA5}">
                      <a16:colId xmlns:a16="http://schemas.microsoft.com/office/drawing/2014/main" val="4185334151"/>
                    </a:ext>
                  </a:extLst>
                </a:gridCol>
                <a:gridCol w="1313890">
                  <a:extLst>
                    <a:ext uri="{9D8B030D-6E8A-4147-A177-3AD203B41FA5}">
                      <a16:colId xmlns:a16="http://schemas.microsoft.com/office/drawing/2014/main" val="167525109"/>
                    </a:ext>
                  </a:extLst>
                </a:gridCol>
                <a:gridCol w="1925215">
                  <a:extLst>
                    <a:ext uri="{9D8B030D-6E8A-4147-A177-3AD203B41FA5}">
                      <a16:colId xmlns:a16="http://schemas.microsoft.com/office/drawing/2014/main" val="405868197"/>
                    </a:ext>
                  </a:extLst>
                </a:gridCol>
                <a:gridCol w="5337681">
                  <a:extLst>
                    <a:ext uri="{9D8B030D-6E8A-4147-A177-3AD203B41FA5}">
                      <a16:colId xmlns:a16="http://schemas.microsoft.com/office/drawing/2014/main" val="3049929814"/>
                    </a:ext>
                  </a:extLst>
                </a:gridCol>
              </a:tblGrid>
              <a:tr h="1121118">
                <a:tc>
                  <a:txBody>
                    <a:bodyPr/>
                    <a:lstStyle/>
                    <a:p>
                      <a:pPr algn="ctr"/>
                      <a:r>
                        <a:rPr lang="en-IN" sz="1400" dirty="0">
                          <a:latin typeface="Times New Roman" panose="02020603050405020304" pitchFamily="18" charset="0"/>
                          <a:cs typeface="Times New Roman" panose="02020603050405020304" pitchFamily="18" charset="0"/>
                        </a:rPr>
                        <a:t>Tranche</a:t>
                      </a:r>
                    </a:p>
                  </a:txBody>
                  <a:tcPr anchor="ctr"/>
                </a:tc>
                <a:tc>
                  <a:txBody>
                    <a:bodyPr/>
                    <a:lstStyle/>
                    <a:p>
                      <a:pPr algn="ctr"/>
                      <a:r>
                        <a:rPr lang="en-IN" sz="1400" dirty="0">
                          <a:latin typeface="Times New Roman" panose="02020603050405020304" pitchFamily="18" charset="0"/>
                          <a:cs typeface="Times New Roman" panose="02020603050405020304" pitchFamily="18" charset="0"/>
                        </a:rPr>
                        <a:t>PPA Capacity</a:t>
                      </a:r>
                    </a:p>
                    <a:p>
                      <a:pPr algn="ctr"/>
                      <a:r>
                        <a:rPr lang="en-IN" sz="1400" dirty="0">
                          <a:latin typeface="Times New Roman" panose="02020603050405020304" pitchFamily="18" charset="0"/>
                          <a:cs typeface="Times New Roman" panose="02020603050405020304" pitchFamily="18" charset="0"/>
                        </a:rPr>
                        <a:t>(MW)</a:t>
                      </a:r>
                    </a:p>
                  </a:txBody>
                  <a:tcPr anchor="ctr"/>
                </a:tc>
                <a:tc>
                  <a:txBody>
                    <a:bodyPr/>
                    <a:lstStyle/>
                    <a:p>
                      <a:pPr algn="ctr"/>
                      <a:r>
                        <a:rPr lang="en-IN" sz="1400" dirty="0">
                          <a:latin typeface="Times New Roman" panose="02020603050405020304" pitchFamily="18" charset="0"/>
                          <a:cs typeface="Times New Roman" panose="02020603050405020304" pitchFamily="18" charset="0"/>
                        </a:rPr>
                        <a:t>Capacity Commissioned till date</a:t>
                      </a:r>
                    </a:p>
                    <a:p>
                      <a:pPr algn="ctr"/>
                      <a:r>
                        <a:rPr lang="en-IN" sz="1400" dirty="0">
                          <a:latin typeface="Times New Roman" panose="02020603050405020304" pitchFamily="18" charset="0"/>
                          <a:cs typeface="Times New Roman" panose="02020603050405020304" pitchFamily="18" charset="0"/>
                        </a:rPr>
                        <a:t>(MW)</a:t>
                      </a:r>
                    </a:p>
                  </a:txBody>
                  <a:tcPr anchor="ctr"/>
                </a:tc>
                <a:tc>
                  <a:txBody>
                    <a:bodyPr/>
                    <a:lstStyle/>
                    <a:p>
                      <a:pPr algn="ctr"/>
                      <a:r>
                        <a:rPr lang="en-IN" sz="1400" dirty="0">
                          <a:latin typeface="Times New Roman" panose="02020603050405020304" pitchFamily="18" charset="0"/>
                          <a:cs typeface="Times New Roman" panose="02020603050405020304" pitchFamily="18" charset="0"/>
                        </a:rPr>
                        <a:t>Likely to be  commissioned</a:t>
                      </a:r>
                    </a:p>
                    <a:p>
                      <a:pPr algn="ctr"/>
                      <a:r>
                        <a:rPr lang="en-IN" sz="1400" dirty="0">
                          <a:latin typeface="Times New Roman" panose="02020603050405020304" pitchFamily="18" charset="0"/>
                          <a:cs typeface="Times New Roman" panose="02020603050405020304" pitchFamily="18" charset="0"/>
                        </a:rPr>
                        <a:t>(MW)</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Tariff/</a:t>
                      </a:r>
                    </a:p>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SCD/ Max Timeline</a:t>
                      </a:r>
                    </a:p>
                    <a:p>
                      <a:pPr algn="ctr"/>
                      <a:endParaRPr lang="en-IN" sz="14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Project-wise status</a:t>
                      </a:r>
                    </a:p>
                  </a:txBody>
                  <a:tcPr anchor="ctr"/>
                </a:tc>
                <a:extLst>
                  <a:ext uri="{0D108BD9-81ED-4DB2-BD59-A6C34878D82A}">
                    <a16:rowId xmlns:a16="http://schemas.microsoft.com/office/drawing/2014/main" val="2870347773"/>
                  </a:ext>
                </a:extLst>
              </a:tr>
              <a:tr h="867962">
                <a:tc>
                  <a:txBody>
                    <a:bodyPr/>
                    <a:lstStyle/>
                    <a:p>
                      <a:pPr algn="ctr"/>
                      <a:r>
                        <a:rPr lang="en-IN" sz="1600" dirty="0">
                          <a:solidFill>
                            <a:schemeClr val="tx1"/>
                          </a:solidFill>
                          <a:latin typeface="Times New Roman" panose="02020603050405020304" pitchFamily="18" charset="0"/>
                          <a:cs typeface="Times New Roman" panose="02020603050405020304" pitchFamily="18" charset="0"/>
                        </a:rPr>
                        <a:t>XII</a:t>
                      </a:r>
                    </a:p>
                  </a:txBody>
                  <a:tcPr anchor="ct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8</a:t>
                      </a:r>
                      <a:r>
                        <a:rPr lang="en-IN" sz="1600" dirty="0">
                          <a:solidFill>
                            <a:schemeClr val="tx1"/>
                          </a:solidFill>
                          <a:latin typeface="Times New Roman" panose="02020603050405020304" pitchFamily="18" charset="0"/>
                          <a:cs typeface="Times New Roman" panose="02020603050405020304" pitchFamily="18" charset="0"/>
                        </a:rPr>
                        <a:t>00</a:t>
                      </a:r>
                    </a:p>
                  </a:txBody>
                  <a:tcPr anchor="ct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0</a:t>
                      </a:r>
                      <a:endParaRPr lang="en-IN"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IN" sz="1600" dirty="0">
                          <a:solidFill>
                            <a:schemeClr val="tx1"/>
                          </a:solidFill>
                          <a:latin typeface="Times New Roman" panose="02020603050405020304" pitchFamily="18" charset="0"/>
                          <a:cs typeface="Times New Roman" panose="02020603050405020304" pitchFamily="18" charset="0"/>
                        </a:rPr>
                        <a:t>800</a:t>
                      </a:r>
                    </a:p>
                  </a:txBody>
                  <a:tcPr anchor="ctr"/>
                </a:tc>
                <a:tc>
                  <a:txBody>
                    <a:bodyPr/>
                    <a:lstStyle/>
                    <a:p>
                      <a:pPr algn="ctr"/>
                      <a:r>
                        <a:rPr lang="en-IN" sz="1600" dirty="0">
                          <a:latin typeface="Times New Roman" panose="02020603050405020304" pitchFamily="18" charset="0"/>
                          <a:cs typeface="Times New Roman" panose="02020603050405020304" pitchFamily="18" charset="0"/>
                        </a:rPr>
                        <a:t>2.89-2.94 INR/kWh</a:t>
                      </a:r>
                    </a:p>
                    <a:p>
                      <a:pPr algn="ctr"/>
                      <a:r>
                        <a:rPr lang="en-IN" sz="1600" dirty="0">
                          <a:latin typeface="Times New Roman" panose="02020603050405020304" pitchFamily="18" charset="0"/>
                          <a:cs typeface="Times New Roman" panose="02020603050405020304" pitchFamily="18" charset="0"/>
                        </a:rPr>
                        <a:t>SCD – 23.01.2026</a:t>
                      </a:r>
                    </a:p>
                  </a:txBody>
                  <a:tcPr anchor="ctr"/>
                </a:tc>
                <a:tc>
                  <a:txBody>
                    <a:bodyPr/>
                    <a:lstStyle/>
                    <a:p>
                      <a:pPr marL="285750" indent="-285750" algn="l">
                        <a:buFont typeface="Arial" panose="020B0604020202020204" pitchFamily="34" charset="0"/>
                        <a:buChar char="•"/>
                      </a:pPr>
                      <a:r>
                        <a:rPr lang="en-IN" sz="1400" dirty="0">
                          <a:solidFill>
                            <a:schemeClr val="tx1"/>
                          </a:solidFill>
                          <a:latin typeface="Times New Roman" panose="02020603050405020304" pitchFamily="18" charset="0"/>
                          <a:cs typeface="Times New Roman" panose="02020603050405020304" pitchFamily="18" charset="0"/>
                        </a:rPr>
                        <a:t>JSW (300 MW, under implementation)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dirty="0">
                          <a:solidFill>
                            <a:schemeClr val="tx1"/>
                          </a:solidFill>
                          <a:latin typeface="Times New Roman" panose="02020603050405020304" pitchFamily="18" charset="0"/>
                          <a:cs typeface="Times New Roman" panose="02020603050405020304" pitchFamily="18" charset="0"/>
                        </a:rPr>
                        <a:t>NTPC (200 MW, under implementation)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dirty="0">
                          <a:solidFill>
                            <a:schemeClr val="tx1"/>
                          </a:solidFill>
                          <a:latin typeface="Times New Roman" panose="02020603050405020304" pitchFamily="18" charset="0"/>
                          <a:cs typeface="Times New Roman" panose="02020603050405020304" pitchFamily="18" charset="0"/>
                        </a:rPr>
                        <a:t>Torrent (300 MW, under implementation)</a:t>
                      </a:r>
                    </a:p>
                  </a:txBody>
                  <a:tcPr anchor="ctr"/>
                </a:tc>
                <a:extLst>
                  <a:ext uri="{0D108BD9-81ED-4DB2-BD59-A6C34878D82A}">
                    <a16:rowId xmlns:a16="http://schemas.microsoft.com/office/drawing/2014/main" val="3076195735"/>
                  </a:ext>
                </a:extLst>
              </a:tr>
              <a:tr h="976458">
                <a:tc>
                  <a:txBody>
                    <a:bodyPr/>
                    <a:lstStyle/>
                    <a:p>
                      <a:pPr algn="ctr"/>
                      <a:r>
                        <a:rPr lang="en-IN" sz="1600" dirty="0">
                          <a:solidFill>
                            <a:schemeClr val="tx1"/>
                          </a:solidFill>
                          <a:latin typeface="Times New Roman" panose="02020603050405020304" pitchFamily="18" charset="0"/>
                          <a:cs typeface="Times New Roman" panose="02020603050405020304" pitchFamily="18" charset="0"/>
                        </a:rPr>
                        <a:t>XIII</a:t>
                      </a:r>
                    </a:p>
                  </a:txBody>
                  <a:tcPr anchor="ct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6</a:t>
                      </a:r>
                      <a:r>
                        <a:rPr lang="en-IN" sz="1600" dirty="0">
                          <a:solidFill>
                            <a:schemeClr val="tx1"/>
                          </a:solidFill>
                          <a:latin typeface="Times New Roman" panose="02020603050405020304" pitchFamily="18" charset="0"/>
                          <a:cs typeface="Times New Roman" panose="02020603050405020304" pitchFamily="18" charset="0"/>
                        </a:rPr>
                        <a:t>00</a:t>
                      </a:r>
                    </a:p>
                  </a:txBody>
                  <a:tcPr anchor="ctr"/>
                </a:tc>
                <a:tc>
                  <a:txBody>
                    <a:bodyPr/>
                    <a:lstStyle/>
                    <a:p>
                      <a:pPr algn="ctr"/>
                      <a:r>
                        <a:rPr lang="en-IN" sz="16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0</a:t>
                      </a:r>
                      <a:endParaRPr lang="en-IN"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IN" sz="1600" dirty="0">
                          <a:latin typeface="Times New Roman" panose="02020603050405020304" pitchFamily="18" charset="0"/>
                          <a:cs typeface="Times New Roman" panose="02020603050405020304" pitchFamily="18" charset="0"/>
                        </a:rPr>
                        <a:t>2.9-2.95 INR/kWh</a:t>
                      </a:r>
                    </a:p>
                    <a:p>
                      <a:pPr algn="ctr"/>
                      <a:r>
                        <a:rPr lang="en-IN" sz="1600" dirty="0">
                          <a:latin typeface="Times New Roman" panose="02020603050405020304" pitchFamily="18" charset="0"/>
                          <a:cs typeface="Times New Roman" panose="02020603050405020304" pitchFamily="18" charset="0"/>
                        </a:rPr>
                        <a:t>SCD – 02.12.2025</a:t>
                      </a:r>
                    </a:p>
                    <a:p>
                      <a:pPr algn="ctr"/>
                      <a:endParaRPr lang="en-IN"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285750" indent="-285750" algn="l">
                        <a:buFont typeface="Arial" panose="020B0604020202020204" pitchFamily="34" charset="0"/>
                        <a:buChar char="•"/>
                      </a:pPr>
                      <a:r>
                        <a:rPr lang="en-IN" sz="1400" dirty="0">
                          <a:solidFill>
                            <a:srgbClr val="FF0000"/>
                          </a:solidFill>
                          <a:latin typeface="Times New Roman" panose="02020603050405020304" pitchFamily="18" charset="0"/>
                          <a:cs typeface="Times New Roman" panose="02020603050405020304" pitchFamily="18" charset="0"/>
                        </a:rPr>
                        <a:t>SJVN</a:t>
                      </a:r>
                      <a:r>
                        <a:rPr lang="en-IN" sz="1400" dirty="0">
                          <a:solidFill>
                            <a:schemeClr val="tx1"/>
                          </a:solidFill>
                          <a:latin typeface="Times New Roman" panose="02020603050405020304" pitchFamily="18" charset="0"/>
                          <a:cs typeface="Times New Roman" panose="02020603050405020304" pitchFamily="18" charset="0"/>
                        </a:rPr>
                        <a:t> (100 MW, under implementation)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dirty="0">
                          <a:solidFill>
                            <a:srgbClr val="FF0000"/>
                          </a:solidFill>
                          <a:latin typeface="Times New Roman" panose="02020603050405020304" pitchFamily="18" charset="0"/>
                          <a:cs typeface="Times New Roman" panose="02020603050405020304" pitchFamily="18" charset="0"/>
                        </a:rPr>
                        <a:t>Scatec</a:t>
                      </a:r>
                      <a:r>
                        <a:rPr lang="en-IN" sz="1400" dirty="0">
                          <a:solidFill>
                            <a:schemeClr val="tx1"/>
                          </a:solidFill>
                          <a:latin typeface="Times New Roman" panose="02020603050405020304" pitchFamily="18" charset="0"/>
                          <a:cs typeface="Times New Roman" panose="02020603050405020304" pitchFamily="18" charset="0"/>
                        </a:rPr>
                        <a:t> (300 MW, under litigation)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dirty="0">
                          <a:solidFill>
                            <a:srgbClr val="FF0000"/>
                          </a:solidFill>
                          <a:latin typeface="Times New Roman" panose="02020603050405020304" pitchFamily="18" charset="0"/>
                          <a:cs typeface="Times New Roman" panose="02020603050405020304" pitchFamily="18" charset="0"/>
                        </a:rPr>
                        <a:t>O2</a:t>
                      </a:r>
                      <a:r>
                        <a:rPr lang="en-IN" sz="1400" dirty="0">
                          <a:solidFill>
                            <a:schemeClr val="tx1"/>
                          </a:solidFill>
                          <a:latin typeface="Times New Roman" panose="02020603050405020304" pitchFamily="18" charset="0"/>
                          <a:cs typeface="Times New Roman" panose="02020603050405020304" pitchFamily="18" charset="0"/>
                        </a:rPr>
                        <a:t> (200 MW, under litigation /DRC)</a:t>
                      </a:r>
                      <a:endParaRPr lang="en-IN" sz="1400" dirty="0">
                        <a:solidFill>
                          <a:srgbClr val="FF0000"/>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18267567"/>
                  </a:ext>
                </a:extLst>
              </a:tr>
              <a:tr h="687137">
                <a:tc>
                  <a:txBody>
                    <a:bodyPr/>
                    <a:lstStyle/>
                    <a:p>
                      <a:pPr algn="ctr"/>
                      <a:r>
                        <a:rPr lang="en-IN" sz="1600" dirty="0">
                          <a:latin typeface="Times New Roman" panose="02020603050405020304" pitchFamily="18" charset="0"/>
                          <a:cs typeface="Times New Roman" panose="02020603050405020304" pitchFamily="18" charset="0"/>
                        </a:rPr>
                        <a:t>XIV</a:t>
                      </a:r>
                    </a:p>
                  </a:txBody>
                  <a:tcPr anchor="ctr"/>
                </a:tc>
                <a:tc>
                  <a:txBody>
                    <a:bodyPr/>
                    <a:lstStyle/>
                    <a:p>
                      <a:pPr algn="ctr"/>
                      <a:r>
                        <a:rPr lang="en-US" sz="1600" dirty="0">
                          <a:latin typeface="Times New Roman" panose="02020603050405020304" pitchFamily="18" charset="0"/>
                          <a:cs typeface="Times New Roman" panose="02020603050405020304" pitchFamily="18" charset="0"/>
                        </a:rPr>
                        <a:t>5</a:t>
                      </a:r>
                      <a:r>
                        <a:rPr lang="en-IN" sz="1600" dirty="0">
                          <a:latin typeface="Times New Roman" panose="02020603050405020304" pitchFamily="18" charset="0"/>
                          <a:cs typeface="Times New Roman" panose="02020603050405020304" pitchFamily="18" charset="0"/>
                        </a:rPr>
                        <a:t>00</a:t>
                      </a:r>
                    </a:p>
                  </a:txBody>
                  <a:tcPr anchor="ctr"/>
                </a:tc>
                <a:tc>
                  <a:txBody>
                    <a:bodyPr/>
                    <a:lstStyle/>
                    <a:p>
                      <a:pPr algn="ctr"/>
                      <a:r>
                        <a:rPr lang="en-IN" sz="1600" dirty="0">
                          <a:latin typeface="Times New Roman" panose="02020603050405020304" pitchFamily="18" charset="0"/>
                          <a:cs typeface="Times New Roman" panose="02020603050405020304" pitchFamily="18" charset="0"/>
                        </a:rPr>
                        <a:t>0</a:t>
                      </a:r>
                    </a:p>
                  </a:txBody>
                  <a:tcPr anchor="ctr"/>
                </a:tc>
                <a:tc>
                  <a:txBody>
                    <a:bodyPr/>
                    <a:lstStyle/>
                    <a:p>
                      <a:pPr algn="ctr"/>
                      <a:r>
                        <a:rPr lang="en-US" sz="1600" dirty="0">
                          <a:latin typeface="Times New Roman" panose="02020603050405020304" pitchFamily="18" charset="0"/>
                          <a:cs typeface="Times New Roman" panose="02020603050405020304" pitchFamily="18" charset="0"/>
                        </a:rPr>
                        <a:t>3</a:t>
                      </a:r>
                      <a:r>
                        <a:rPr lang="en-IN" sz="1600" dirty="0">
                          <a:latin typeface="Times New Roman" panose="02020603050405020304" pitchFamily="18" charset="0"/>
                          <a:cs typeface="Times New Roman" panose="02020603050405020304" pitchFamily="18" charset="0"/>
                        </a:rPr>
                        <a:t>00</a:t>
                      </a:r>
                    </a:p>
                  </a:txBody>
                  <a:tcPr anchor="ctr"/>
                </a:tc>
                <a:tc>
                  <a:txBody>
                    <a:bodyPr/>
                    <a:lstStyle/>
                    <a:p>
                      <a:pPr algn="ctr"/>
                      <a:r>
                        <a:rPr lang="en-IN" sz="1600" dirty="0">
                          <a:latin typeface="Times New Roman" panose="02020603050405020304" pitchFamily="18" charset="0"/>
                          <a:cs typeface="Times New Roman" panose="02020603050405020304" pitchFamily="18" charset="0"/>
                        </a:rPr>
                        <a:t>3.18-3.24 INR/kWh</a:t>
                      </a:r>
                    </a:p>
                    <a:p>
                      <a:pPr algn="ctr"/>
                      <a:r>
                        <a:rPr lang="en-IN" sz="1600" dirty="0">
                          <a:latin typeface="Times New Roman" panose="02020603050405020304" pitchFamily="18" charset="0"/>
                          <a:cs typeface="Times New Roman" panose="02020603050405020304" pitchFamily="18" charset="0"/>
                        </a:rPr>
                        <a:t>SCD – 27.12.2025</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dirty="0">
                          <a:solidFill>
                            <a:schemeClr val="tx1"/>
                          </a:solidFill>
                          <a:latin typeface="Times New Roman" panose="02020603050405020304" pitchFamily="18" charset="0"/>
                          <a:cs typeface="Times New Roman" panose="02020603050405020304" pitchFamily="18" charset="0"/>
                        </a:rPr>
                        <a:t>Apraava (300 MW, under implementation)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dirty="0">
                          <a:solidFill>
                            <a:srgbClr val="FF0000"/>
                          </a:solidFill>
                          <a:latin typeface="Times New Roman" panose="02020603050405020304" pitchFamily="18" charset="0"/>
                          <a:cs typeface="Times New Roman" panose="02020603050405020304" pitchFamily="18" charset="0"/>
                        </a:rPr>
                        <a:t>SJVN</a:t>
                      </a:r>
                      <a:r>
                        <a:rPr lang="en-IN" sz="1400" dirty="0">
                          <a:solidFill>
                            <a:schemeClr val="tx1"/>
                          </a:solidFill>
                          <a:latin typeface="Times New Roman" panose="02020603050405020304" pitchFamily="18" charset="0"/>
                          <a:cs typeface="Times New Roman" panose="02020603050405020304" pitchFamily="18" charset="0"/>
                        </a:rPr>
                        <a:t> (200 MW, under implementation)</a:t>
                      </a:r>
                    </a:p>
                  </a:txBody>
                  <a:tcPr anchor="ctr"/>
                </a:tc>
                <a:extLst>
                  <a:ext uri="{0D108BD9-81ED-4DB2-BD59-A6C34878D82A}">
                    <a16:rowId xmlns:a16="http://schemas.microsoft.com/office/drawing/2014/main" val="2819945185"/>
                  </a:ext>
                </a:extLst>
              </a:tr>
              <a:tr h="867962">
                <a:tc>
                  <a:txBody>
                    <a:bodyPr/>
                    <a:lstStyle/>
                    <a:p>
                      <a:pPr algn="ctr"/>
                      <a:r>
                        <a:rPr lang="en-IN" sz="1600" dirty="0">
                          <a:latin typeface="Times New Roman" panose="02020603050405020304" pitchFamily="18" charset="0"/>
                          <a:cs typeface="Times New Roman" panose="02020603050405020304" pitchFamily="18" charset="0"/>
                        </a:rPr>
                        <a:t>XVI</a:t>
                      </a:r>
                    </a:p>
                  </a:txBody>
                  <a:tcPr anchor="ctr"/>
                </a:tc>
                <a:tc>
                  <a:txBody>
                    <a:bodyPr/>
                    <a:lstStyle/>
                    <a:p>
                      <a:pPr algn="ctr"/>
                      <a:r>
                        <a:rPr lang="en-IN" sz="1600" dirty="0">
                          <a:latin typeface="Times New Roman" panose="02020603050405020304" pitchFamily="18" charset="0"/>
                          <a:cs typeface="Times New Roman" panose="02020603050405020304" pitchFamily="18" charset="0"/>
                        </a:rPr>
                        <a:t>1175</a:t>
                      </a:r>
                    </a:p>
                  </a:txBody>
                  <a:tcPr anchor="ctr"/>
                </a:tc>
                <a:tc>
                  <a:txBody>
                    <a:bodyPr/>
                    <a:lstStyle/>
                    <a:p>
                      <a:pPr algn="ctr"/>
                      <a:r>
                        <a:rPr lang="en-IN" sz="1600" dirty="0">
                          <a:latin typeface="Times New Roman" panose="02020603050405020304" pitchFamily="18" charset="0"/>
                          <a:cs typeface="Times New Roman" panose="02020603050405020304" pitchFamily="18" charset="0"/>
                        </a:rPr>
                        <a:t>0</a:t>
                      </a:r>
                    </a:p>
                  </a:txBody>
                  <a:tcPr anchor="ctr"/>
                </a:tc>
                <a:tc>
                  <a:txBody>
                    <a:bodyPr/>
                    <a:lstStyle/>
                    <a:p>
                      <a:pPr algn="ctr"/>
                      <a:r>
                        <a:rPr lang="en-IN" sz="1600" dirty="0">
                          <a:latin typeface="Times New Roman" panose="02020603050405020304" pitchFamily="18" charset="0"/>
                          <a:cs typeface="Times New Roman" panose="02020603050405020304" pitchFamily="18" charset="0"/>
                        </a:rPr>
                        <a:t>1175</a:t>
                      </a:r>
                    </a:p>
                  </a:txBody>
                  <a:tcPr anchor="ctr"/>
                </a:tc>
                <a:tc>
                  <a:txBody>
                    <a:bodyPr/>
                    <a:lstStyle/>
                    <a:p>
                      <a:pPr algn="ctr"/>
                      <a:r>
                        <a:rPr lang="en-IN" sz="1600" dirty="0">
                          <a:latin typeface="Times New Roman" panose="02020603050405020304" pitchFamily="18" charset="0"/>
                          <a:cs typeface="Times New Roman" panose="02020603050405020304" pitchFamily="18" charset="0"/>
                        </a:rPr>
                        <a:t>3.6-3.7 INR/kWh</a:t>
                      </a:r>
                    </a:p>
                    <a:p>
                      <a:pPr algn="ctr"/>
                      <a:r>
                        <a:rPr lang="en-IN" sz="1600" dirty="0">
                          <a:latin typeface="Times New Roman" panose="02020603050405020304" pitchFamily="18" charset="0"/>
                          <a:cs typeface="Times New Roman" panose="02020603050405020304" pitchFamily="18" charset="0"/>
                        </a:rPr>
                        <a:t>SCD – 19.06.2026</a:t>
                      </a:r>
                    </a:p>
                  </a:txBody>
                  <a:tcPr anchor="ctr"/>
                </a:tc>
                <a:tc>
                  <a:txBody>
                    <a:bodyPr/>
                    <a:lstStyle/>
                    <a:p>
                      <a:pPr marL="285750" indent="-285750" algn="l">
                        <a:buFont typeface="Arial" panose="020B0604020202020204" pitchFamily="34" charset="0"/>
                        <a:buChar char="•"/>
                      </a:pPr>
                      <a:r>
                        <a:rPr lang="en-IN" sz="1400" dirty="0">
                          <a:solidFill>
                            <a:schemeClr val="tx1"/>
                          </a:solidFill>
                          <a:latin typeface="Times New Roman" panose="02020603050405020304" pitchFamily="18" charset="0"/>
                          <a:cs typeface="Times New Roman" panose="02020603050405020304" pitchFamily="18" charset="0"/>
                        </a:rPr>
                        <a:t>Torrent (100 MW, under implementation)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dirty="0">
                          <a:solidFill>
                            <a:schemeClr val="tx1"/>
                          </a:solidFill>
                          <a:latin typeface="Times New Roman" panose="02020603050405020304" pitchFamily="18" charset="0"/>
                          <a:cs typeface="Times New Roman" panose="02020603050405020304" pitchFamily="18" charset="0"/>
                        </a:rPr>
                        <a:t>Powerica (50 MW, under implementation)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dirty="0">
                          <a:solidFill>
                            <a:schemeClr val="tx1"/>
                          </a:solidFill>
                          <a:latin typeface="Times New Roman" panose="02020603050405020304" pitchFamily="18" charset="0"/>
                          <a:cs typeface="Times New Roman" panose="02020603050405020304" pitchFamily="18" charset="0"/>
                        </a:rPr>
                        <a:t>JSW (1025 MW, under implementation)</a:t>
                      </a:r>
                    </a:p>
                  </a:txBody>
                  <a:tcPr anchor="ctr"/>
                </a:tc>
                <a:extLst>
                  <a:ext uri="{0D108BD9-81ED-4DB2-BD59-A6C34878D82A}">
                    <a16:rowId xmlns:a16="http://schemas.microsoft.com/office/drawing/2014/main" val="1777022637"/>
                  </a:ext>
                </a:extLst>
              </a:tr>
              <a:tr h="687137">
                <a:tc>
                  <a:txBody>
                    <a:bodyPr/>
                    <a:lstStyle/>
                    <a:p>
                      <a:pPr algn="ctr"/>
                      <a:r>
                        <a:rPr lang="en-IN" sz="1600" dirty="0">
                          <a:latin typeface="Times New Roman" panose="02020603050405020304" pitchFamily="18" charset="0"/>
                          <a:cs typeface="Times New Roman" panose="02020603050405020304" pitchFamily="18" charset="0"/>
                        </a:rPr>
                        <a:t>XVIII</a:t>
                      </a:r>
                    </a:p>
                  </a:txBody>
                  <a:tcPr anchor="ctr"/>
                </a:tc>
                <a:tc>
                  <a:txBody>
                    <a:bodyPr/>
                    <a:lstStyle/>
                    <a:p>
                      <a:pPr algn="ctr"/>
                      <a:r>
                        <a:rPr lang="en-IN" sz="1600" dirty="0">
                          <a:latin typeface="Times New Roman" panose="02020603050405020304" pitchFamily="18" charset="0"/>
                          <a:cs typeface="Times New Roman" panose="02020603050405020304" pitchFamily="18" charset="0"/>
                        </a:rPr>
                        <a:t>100</a:t>
                      </a:r>
                    </a:p>
                  </a:txBody>
                  <a:tcPr anchor="ctr"/>
                </a:tc>
                <a:tc>
                  <a:txBody>
                    <a:bodyPr/>
                    <a:lstStyle/>
                    <a:p>
                      <a:pPr algn="ctr"/>
                      <a:r>
                        <a:rPr lang="en-IN" sz="1600" dirty="0">
                          <a:latin typeface="Times New Roman" panose="02020603050405020304" pitchFamily="18" charset="0"/>
                          <a:cs typeface="Times New Roman" panose="02020603050405020304" pitchFamily="18" charset="0"/>
                        </a:rPr>
                        <a:t>0</a:t>
                      </a:r>
                    </a:p>
                  </a:txBody>
                  <a:tcPr anchor="ctr"/>
                </a:tc>
                <a:tc>
                  <a:txBody>
                    <a:bodyPr/>
                    <a:lstStyle/>
                    <a:p>
                      <a:pPr algn="ctr"/>
                      <a:r>
                        <a:rPr lang="en-IN" sz="1600" dirty="0">
                          <a:latin typeface="Times New Roman" panose="02020603050405020304" pitchFamily="18" charset="0"/>
                          <a:cs typeface="Times New Roman" panose="02020603050405020304" pitchFamily="18" charset="0"/>
                        </a:rPr>
                        <a:t>50</a:t>
                      </a:r>
                    </a:p>
                  </a:txBody>
                  <a:tcPr anchor="ctr"/>
                </a:tc>
                <a:tc>
                  <a:txBody>
                    <a:bodyPr/>
                    <a:lstStyle/>
                    <a:p>
                      <a:pPr algn="ctr"/>
                      <a:r>
                        <a:rPr lang="en-IN" sz="1600" dirty="0">
                          <a:latin typeface="Times New Roman" panose="02020603050405020304" pitchFamily="18" charset="0"/>
                          <a:cs typeface="Times New Roman" panose="02020603050405020304" pitchFamily="18" charset="0"/>
                        </a:rPr>
                        <a:t>3.81-3.82 INR/kWh</a:t>
                      </a:r>
                    </a:p>
                    <a:p>
                      <a:pPr algn="ctr"/>
                      <a:r>
                        <a:rPr lang="en-IN" sz="1600" dirty="0">
                          <a:latin typeface="Times New Roman" panose="02020603050405020304" pitchFamily="18" charset="0"/>
                          <a:cs typeface="Times New Roman" panose="02020603050405020304" pitchFamily="18" charset="0"/>
                        </a:rPr>
                        <a:t>SCD – 01.03.2027</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dirty="0" err="1">
                          <a:solidFill>
                            <a:schemeClr val="tx1"/>
                          </a:solidFill>
                          <a:latin typeface="Times New Roman" panose="02020603050405020304" pitchFamily="18" charset="0"/>
                          <a:cs typeface="Times New Roman" panose="02020603050405020304" pitchFamily="18" charset="0"/>
                        </a:rPr>
                        <a:t>Powerica</a:t>
                      </a:r>
                      <a:r>
                        <a:rPr lang="en-IN" sz="1400" dirty="0">
                          <a:solidFill>
                            <a:schemeClr val="tx1"/>
                          </a:solidFill>
                          <a:latin typeface="Times New Roman" panose="02020603050405020304" pitchFamily="18" charset="0"/>
                          <a:cs typeface="Times New Roman" panose="02020603050405020304" pitchFamily="18" charset="0"/>
                        </a:rPr>
                        <a:t> (50 MW, under implementation)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dirty="0">
                          <a:solidFill>
                            <a:srgbClr val="FF0000"/>
                          </a:solidFill>
                          <a:latin typeface="Times New Roman" panose="02020603050405020304" pitchFamily="18" charset="0"/>
                          <a:cs typeface="Times New Roman" panose="02020603050405020304" pitchFamily="18" charset="0"/>
                        </a:rPr>
                        <a:t>Adyant (50 MW, tariff not adopted by CERC)</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140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39839491"/>
                  </a:ext>
                </a:extLst>
              </a:tr>
              <a:tr h="434637">
                <a:tc>
                  <a:txBody>
                    <a:bodyPr/>
                    <a:lstStyle/>
                    <a:p>
                      <a:pPr algn="ctr"/>
                      <a:r>
                        <a:rPr lang="en-IN" sz="1600" b="1" dirty="0">
                          <a:latin typeface="Times New Roman" panose="02020603050405020304" pitchFamily="18" charset="0"/>
                          <a:cs typeface="Times New Roman" panose="02020603050405020304" pitchFamily="18" charset="0"/>
                        </a:rPr>
                        <a:t>TOTAL</a:t>
                      </a:r>
                    </a:p>
                  </a:txBody>
                  <a:tcPr anchor="ctr"/>
                </a:tc>
                <a:tc>
                  <a:txBody>
                    <a:bodyPr/>
                    <a:lstStyle/>
                    <a:p>
                      <a:pPr algn="ctr"/>
                      <a:r>
                        <a:rPr lang="en-US" sz="1600" b="1" dirty="0">
                          <a:latin typeface="Times New Roman" panose="02020603050405020304" pitchFamily="18" charset="0"/>
                          <a:cs typeface="Times New Roman" panose="02020603050405020304" pitchFamily="18" charset="0"/>
                        </a:rPr>
                        <a:t>6545</a:t>
                      </a:r>
                      <a:endParaRPr lang="en-IN" sz="16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600" b="1" dirty="0">
                          <a:latin typeface="Times New Roman" panose="02020603050405020304" pitchFamily="18" charset="0"/>
                          <a:cs typeface="Times New Roman" panose="02020603050405020304" pitchFamily="18" charset="0"/>
                        </a:rPr>
                        <a:t>1666.6</a:t>
                      </a:r>
                      <a:endParaRPr lang="en-IN" sz="16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600" b="1" dirty="0">
                          <a:latin typeface="Times New Roman" panose="02020603050405020304" pitchFamily="18" charset="0"/>
                          <a:cs typeface="Times New Roman" panose="02020603050405020304" pitchFamily="18" charset="0"/>
                        </a:rPr>
                        <a:t>2558.4</a:t>
                      </a:r>
                      <a:endParaRPr lang="en-IN" sz="1600" b="1" dirty="0">
                        <a:latin typeface="Times New Roman" panose="02020603050405020304" pitchFamily="18" charset="0"/>
                        <a:cs typeface="Times New Roman" panose="02020603050405020304" pitchFamily="18" charset="0"/>
                      </a:endParaRPr>
                    </a:p>
                  </a:txBody>
                  <a:tcPr anchor="ctr"/>
                </a:tc>
                <a:tc>
                  <a:txBody>
                    <a:bodyPr/>
                    <a:lstStyle/>
                    <a:p>
                      <a:pPr algn="ctr"/>
                      <a:endParaRPr lang="en-IN" sz="1400" b="1" dirty="0">
                        <a:latin typeface="Times New Roman" panose="02020603050405020304" pitchFamily="18" charset="0"/>
                        <a:cs typeface="Times New Roman" panose="02020603050405020304" pitchFamily="18" charset="0"/>
                      </a:endParaRPr>
                    </a:p>
                  </a:txBody>
                  <a:tcPr anchor="ctr"/>
                </a:tc>
                <a:tc>
                  <a:txBody>
                    <a:bodyPr/>
                    <a:lstStyle/>
                    <a:p>
                      <a:pPr algn="ctr"/>
                      <a:endParaRPr lang="en-IN" sz="14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155963587"/>
                  </a:ext>
                </a:extLst>
              </a:tr>
            </a:tbl>
          </a:graphicData>
        </a:graphic>
      </p:graphicFrame>
      <p:sp>
        <p:nvSpPr>
          <p:cNvPr id="3" name="TextBox 2">
            <a:extLst>
              <a:ext uri="{FF2B5EF4-FFF2-40B4-BE49-F238E27FC236}">
                <a16:creationId xmlns:a16="http://schemas.microsoft.com/office/drawing/2014/main" id="{3140D454-DB54-B79F-492B-82EA00FFE5D0}"/>
              </a:ext>
            </a:extLst>
          </p:cNvPr>
          <p:cNvSpPr txBox="1"/>
          <p:nvPr/>
        </p:nvSpPr>
        <p:spPr>
          <a:xfrm>
            <a:off x="375385" y="30777"/>
            <a:ext cx="11444438" cy="646331"/>
          </a:xfrm>
          <a:prstGeom prst="rect">
            <a:avLst/>
          </a:prstGeom>
          <a:noFill/>
        </p:spPr>
        <p:txBody>
          <a:bodyPr vert="horz" wrap="square" lIns="91440" tIns="45720" rIns="91440" bIns="45720" rtlCol="0" anchor="ctr">
            <a:spAutoFit/>
          </a:bodyPr>
          <a:lstStyle>
            <a:defPPr>
              <a:defRPr lang="en-US"/>
            </a:defPPr>
            <a:lvl1pPr>
              <a:lnSpc>
                <a:spcPct val="90000"/>
              </a:lnSpc>
              <a:spcBef>
                <a:spcPct val="0"/>
              </a:spcBef>
              <a:buNone/>
              <a:defRPr sz="2800">
                <a:ln w="0"/>
                <a:solidFill>
                  <a:schemeClr val="accent1"/>
                </a:solidFill>
                <a:effectLst>
                  <a:outerShdw blurRad="38100" dist="25400" dir="5400000" algn="ctr" rotWithShape="0">
                    <a:srgbClr val="6E747A">
                      <a:alpha val="43000"/>
                    </a:srgbClr>
                  </a:outerShdw>
                </a:effectLst>
              </a:defRPr>
            </a:lvl1pPr>
          </a:lstStyle>
          <a:p>
            <a:r>
              <a:rPr lang="en-US" sz="2000" dirty="0"/>
              <a:t>TRANCHE-WISE REALISTIC FIGURES OF PROJECT CAPACITIES LIKELY TO BE COMMISSIONED FROM THE TOTAL AWARDED CAPACITY </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Contd</a:t>
            </a:r>
            <a:r>
              <a:rPr lang="en-US" sz="2000" dirty="0">
                <a:latin typeface="Times New Roman" panose="02020603050405020304" pitchFamily="18" charset="0"/>
                <a:cs typeface="Times New Roman" panose="02020603050405020304" pitchFamily="18" charset="0"/>
              </a:rPr>
              <a:t>…]</a:t>
            </a:r>
            <a:endParaRPr lang="en-IN" sz="2000" dirty="0"/>
          </a:p>
        </p:txBody>
      </p:sp>
    </p:spTree>
    <p:extLst>
      <p:ext uri="{BB962C8B-B14F-4D97-AF65-F5344CB8AC3E}">
        <p14:creationId xmlns:p14="http://schemas.microsoft.com/office/powerpoint/2010/main" val="3141938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17F10-BF40-73F4-2E1F-D0C39288BB69}"/>
              </a:ext>
            </a:extLst>
          </p:cNvPr>
          <p:cNvSpPr>
            <a:spLocks noGrp="1"/>
          </p:cNvSpPr>
          <p:nvPr>
            <p:ph type="title"/>
          </p:nvPr>
        </p:nvSpPr>
        <p:spPr>
          <a:xfrm>
            <a:off x="406400" y="274002"/>
            <a:ext cx="10855960" cy="407035"/>
          </a:xfrm>
        </p:spPr>
        <p:txBody>
          <a:bodyPr>
            <a:noAutofit/>
          </a:bodyPr>
          <a:lstStyle/>
          <a:p>
            <a:r>
              <a:rPr lang="en-IN" sz="2800" b="1" dirty="0">
                <a:latin typeface="Times New Roman" panose="02020603050405020304" pitchFamily="18" charset="0"/>
                <a:cs typeface="Times New Roman" panose="02020603050405020304" pitchFamily="18" charset="0"/>
              </a:rPr>
              <a:t>Wind Power Projects Impacted due to delay in GNA/Connectivity</a:t>
            </a:r>
          </a:p>
        </p:txBody>
      </p:sp>
      <p:graphicFrame>
        <p:nvGraphicFramePr>
          <p:cNvPr id="4" name="Content Placeholder 3">
            <a:extLst>
              <a:ext uri="{FF2B5EF4-FFF2-40B4-BE49-F238E27FC236}">
                <a16:creationId xmlns:a16="http://schemas.microsoft.com/office/drawing/2014/main" id="{3EF84D0A-A1CB-7EA1-B8E6-CB40A4B64A0F}"/>
              </a:ext>
            </a:extLst>
          </p:cNvPr>
          <p:cNvGraphicFramePr>
            <a:graphicFrameLocks noGrp="1"/>
          </p:cNvGraphicFramePr>
          <p:nvPr>
            <p:ph idx="1"/>
            <p:extLst>
              <p:ext uri="{D42A27DB-BD31-4B8C-83A1-F6EECF244321}">
                <p14:modId xmlns:p14="http://schemas.microsoft.com/office/powerpoint/2010/main" val="568474159"/>
              </p:ext>
            </p:extLst>
          </p:nvPr>
        </p:nvGraphicFramePr>
        <p:xfrm>
          <a:off x="233680" y="1056640"/>
          <a:ext cx="11755120" cy="4966602"/>
        </p:xfrm>
        <a:graphic>
          <a:graphicData uri="http://schemas.openxmlformats.org/drawingml/2006/table">
            <a:tbl>
              <a:tblPr>
                <a:tableStyleId>{5C22544A-7EE6-4342-B048-85BDC9FD1C3A}</a:tableStyleId>
              </a:tblPr>
              <a:tblGrid>
                <a:gridCol w="505475">
                  <a:extLst>
                    <a:ext uri="{9D8B030D-6E8A-4147-A177-3AD203B41FA5}">
                      <a16:colId xmlns:a16="http://schemas.microsoft.com/office/drawing/2014/main" val="1377290156"/>
                    </a:ext>
                  </a:extLst>
                </a:gridCol>
                <a:gridCol w="1427223">
                  <a:extLst>
                    <a:ext uri="{9D8B030D-6E8A-4147-A177-3AD203B41FA5}">
                      <a16:colId xmlns:a16="http://schemas.microsoft.com/office/drawing/2014/main" val="2777390116"/>
                    </a:ext>
                  </a:extLst>
                </a:gridCol>
                <a:gridCol w="1063202">
                  <a:extLst>
                    <a:ext uri="{9D8B030D-6E8A-4147-A177-3AD203B41FA5}">
                      <a16:colId xmlns:a16="http://schemas.microsoft.com/office/drawing/2014/main" val="3806877942"/>
                    </a:ext>
                  </a:extLst>
                </a:gridCol>
                <a:gridCol w="1500167">
                  <a:extLst>
                    <a:ext uri="{9D8B030D-6E8A-4147-A177-3AD203B41FA5}">
                      <a16:colId xmlns:a16="http://schemas.microsoft.com/office/drawing/2014/main" val="1396682785"/>
                    </a:ext>
                  </a:extLst>
                </a:gridCol>
                <a:gridCol w="901578">
                  <a:extLst>
                    <a:ext uri="{9D8B030D-6E8A-4147-A177-3AD203B41FA5}">
                      <a16:colId xmlns:a16="http://schemas.microsoft.com/office/drawing/2014/main" val="2460506625"/>
                    </a:ext>
                  </a:extLst>
                </a:gridCol>
                <a:gridCol w="1064158">
                  <a:extLst>
                    <a:ext uri="{9D8B030D-6E8A-4147-A177-3AD203B41FA5}">
                      <a16:colId xmlns:a16="http://schemas.microsoft.com/office/drawing/2014/main" val="2908264120"/>
                    </a:ext>
                  </a:extLst>
                </a:gridCol>
                <a:gridCol w="1421345">
                  <a:extLst>
                    <a:ext uri="{9D8B030D-6E8A-4147-A177-3AD203B41FA5}">
                      <a16:colId xmlns:a16="http://schemas.microsoft.com/office/drawing/2014/main" val="2512322236"/>
                    </a:ext>
                  </a:extLst>
                </a:gridCol>
                <a:gridCol w="1869894">
                  <a:extLst>
                    <a:ext uri="{9D8B030D-6E8A-4147-A177-3AD203B41FA5}">
                      <a16:colId xmlns:a16="http://schemas.microsoft.com/office/drawing/2014/main" val="2326593771"/>
                    </a:ext>
                  </a:extLst>
                </a:gridCol>
                <a:gridCol w="971305">
                  <a:extLst>
                    <a:ext uri="{9D8B030D-6E8A-4147-A177-3AD203B41FA5}">
                      <a16:colId xmlns:a16="http://schemas.microsoft.com/office/drawing/2014/main" val="1453954338"/>
                    </a:ext>
                  </a:extLst>
                </a:gridCol>
                <a:gridCol w="1030773">
                  <a:extLst>
                    <a:ext uri="{9D8B030D-6E8A-4147-A177-3AD203B41FA5}">
                      <a16:colId xmlns:a16="http://schemas.microsoft.com/office/drawing/2014/main" val="3362171086"/>
                    </a:ext>
                  </a:extLst>
                </a:gridCol>
              </a:tblGrid>
              <a:tr h="1572144">
                <a:tc>
                  <a:txBody>
                    <a:bodyPr/>
                    <a:lstStyle/>
                    <a:p>
                      <a:pPr algn="ctr" fontAlgn="ctr"/>
                      <a:r>
                        <a:rPr lang="en-IN" sz="1600" b="1" u="none" strike="noStrike" dirty="0">
                          <a:effectLst/>
                          <a:latin typeface="Times New Roman" panose="02020603050405020304" pitchFamily="18" charset="0"/>
                          <a:cs typeface="Times New Roman" panose="02020603050405020304" pitchFamily="18" charset="0"/>
                        </a:rPr>
                        <a:t>Sl. No.</a:t>
                      </a:r>
                      <a:endParaRPr lang="en-IN"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b="1" u="none" strike="noStrike" dirty="0">
                          <a:effectLst/>
                          <a:latin typeface="Times New Roman" panose="02020603050405020304" pitchFamily="18" charset="0"/>
                          <a:cs typeface="Times New Roman" panose="02020603050405020304" pitchFamily="18" charset="0"/>
                        </a:rPr>
                        <a:t>Tranche/ Scheme Name</a:t>
                      </a:r>
                      <a:endParaRPr lang="en-IN"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b="1" u="none" strike="noStrike" dirty="0">
                          <a:effectLst/>
                          <a:latin typeface="Times New Roman" panose="02020603050405020304" pitchFamily="18" charset="0"/>
                          <a:cs typeface="Times New Roman" panose="02020603050405020304" pitchFamily="18" charset="0"/>
                        </a:rPr>
                        <a:t>Bidder/ SPV Name</a:t>
                      </a:r>
                      <a:endParaRPr lang="en-IN"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b="1" u="none" strike="noStrike" dirty="0">
                          <a:effectLst/>
                          <a:latin typeface="Times New Roman" panose="02020603050405020304" pitchFamily="18" charset="0"/>
                          <a:cs typeface="Times New Roman" panose="02020603050405020304" pitchFamily="18" charset="0"/>
                        </a:rPr>
                        <a:t>Interconnection Point/ Pooling Substation</a:t>
                      </a:r>
                      <a:endParaRPr lang="en-IN"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b="1" u="none" strike="noStrike" dirty="0">
                          <a:effectLst/>
                          <a:latin typeface="Times New Roman" panose="02020603050405020304" pitchFamily="18" charset="0"/>
                          <a:cs typeface="Times New Roman" panose="02020603050405020304" pitchFamily="18" charset="0"/>
                        </a:rPr>
                        <a:t>RE Project Capacity, MW</a:t>
                      </a:r>
                      <a:endParaRPr lang="en-IN"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1" u="none" strike="noStrike" dirty="0">
                          <a:effectLst/>
                          <a:latin typeface="Times New Roman" panose="02020603050405020304" pitchFamily="18" charset="0"/>
                          <a:cs typeface="Times New Roman" panose="02020603050405020304" pitchFamily="18" charset="0"/>
                        </a:rPr>
                        <a:t>Original SCD (as per PPA)</a:t>
                      </a:r>
                      <a:endParaRPr lang="en-US"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1" i="0" u="none" strike="noStrike" dirty="0">
                          <a:solidFill>
                            <a:srgbClr val="000000"/>
                          </a:solidFill>
                          <a:effectLst/>
                          <a:latin typeface="Times New Roman" panose="02020603050405020304" pitchFamily="18" charset="0"/>
                          <a:cs typeface="Times New Roman" panose="02020603050405020304" pitchFamily="18" charset="0"/>
                        </a:rPr>
                        <a:t>Revised SCD</a:t>
                      </a: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1" u="none" strike="noStrike" dirty="0">
                          <a:effectLst/>
                          <a:latin typeface="Times New Roman" panose="02020603050405020304" pitchFamily="18" charset="0"/>
                          <a:cs typeface="Times New Roman" panose="02020603050405020304" pitchFamily="18" charset="0"/>
                        </a:rPr>
                        <a:t>Expected Connectivity/ GNA effectiveness date</a:t>
                      </a:r>
                      <a:endParaRPr lang="en-US"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1" u="none" strike="noStrike" dirty="0">
                          <a:effectLst/>
                          <a:latin typeface="Times New Roman" panose="02020603050405020304" pitchFamily="18" charset="0"/>
                          <a:cs typeface="Times New Roman" panose="02020603050405020304" pitchFamily="18" charset="0"/>
                        </a:rPr>
                        <a:t>Capacity delayed due to transmission (in MW)</a:t>
                      </a:r>
                      <a:endParaRPr lang="en-US"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1" u="none" strike="noStrike" dirty="0">
                          <a:effectLst/>
                          <a:latin typeface="Times New Roman" panose="02020603050405020304" pitchFamily="18" charset="0"/>
                          <a:cs typeface="Times New Roman" panose="02020603050405020304" pitchFamily="18" charset="0"/>
                        </a:rPr>
                        <a:t>Commissioned but under </a:t>
                      </a:r>
                      <a:r>
                        <a:rPr lang="en-US" sz="1600" b="1" u="sng" strike="noStrike" dirty="0">
                          <a:effectLst/>
                          <a:latin typeface="Times New Roman" panose="02020603050405020304" pitchFamily="18" charset="0"/>
                          <a:cs typeface="Times New Roman" panose="02020603050405020304" pitchFamily="18" charset="0"/>
                        </a:rPr>
                        <a:t>TGNA</a:t>
                      </a:r>
                      <a:r>
                        <a:rPr lang="en-US" sz="1600" b="1" u="none" strike="noStrike" dirty="0">
                          <a:effectLst/>
                          <a:latin typeface="Times New Roman" panose="02020603050405020304" pitchFamily="18" charset="0"/>
                          <a:cs typeface="Times New Roman" panose="02020603050405020304" pitchFamily="18" charset="0"/>
                        </a:rPr>
                        <a:t>, MW</a:t>
                      </a:r>
                      <a:endParaRPr lang="en-US"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0986156"/>
                  </a:ext>
                </a:extLst>
              </a:tr>
              <a:tr h="910831">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1</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SECI IX-Blended</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effectLst/>
                          <a:latin typeface="Times New Roman" panose="02020603050405020304" pitchFamily="18" charset="0"/>
                          <a:cs typeface="Times New Roman" panose="02020603050405020304" pitchFamily="18" charset="0"/>
                        </a:rPr>
                        <a:t>JSW</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230 kV Karur S/S</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170</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effectLst/>
                          <a:latin typeface="Times New Roman" panose="02020603050405020304" pitchFamily="18" charset="0"/>
                          <a:cs typeface="Times New Roman" panose="02020603050405020304" pitchFamily="18" charset="0"/>
                        </a:rPr>
                        <a:t>15-07-2023</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Times New Roman" panose="02020603050405020304" pitchFamily="18" charset="0"/>
                          <a:cs typeface="Times New Roman" panose="02020603050405020304" pitchFamily="18" charset="0"/>
                        </a:rPr>
                        <a:t>Actual date of GNA effectiveness + 60 days</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effectLst/>
                          <a:latin typeface="Times New Roman" panose="02020603050405020304" pitchFamily="18" charset="0"/>
                          <a:cs typeface="Times New Roman" panose="02020603050405020304" pitchFamily="18" charset="0"/>
                        </a:rPr>
                        <a:t>30-09-2025*</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effectLst/>
                          <a:latin typeface="Times New Roman" panose="02020603050405020304" pitchFamily="18" charset="0"/>
                          <a:cs typeface="Times New Roman" panose="02020603050405020304" pitchFamily="18" charset="0"/>
                        </a:rPr>
                        <a:t>170</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effectLst/>
                          <a:latin typeface="Times New Roman" panose="02020603050405020304" pitchFamily="18" charset="0"/>
                          <a:cs typeface="Times New Roman" panose="02020603050405020304" pitchFamily="18" charset="0"/>
                        </a:rPr>
                        <a:t>168</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2991077"/>
                  </a:ext>
                </a:extLst>
              </a:tr>
              <a:tr h="798212">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2</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SECI Wind-XI</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Green Infra</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nl-NL" sz="1600" u="none" strike="noStrike" dirty="0">
                          <a:effectLst/>
                          <a:latin typeface="Times New Roman" panose="02020603050405020304" pitchFamily="18" charset="0"/>
                          <a:cs typeface="Times New Roman" panose="02020603050405020304" pitchFamily="18" charset="0"/>
                        </a:rPr>
                        <a:t>400/220 kV Gadag S/S</a:t>
                      </a:r>
                      <a:endParaRPr lang="nl-NL"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180</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30-12-2023</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Times New Roman" panose="02020603050405020304" pitchFamily="18" charset="0"/>
                          <a:cs typeface="Times New Roman" panose="02020603050405020304" pitchFamily="18" charset="0"/>
                        </a:rPr>
                        <a:t>01.07.2025</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effectLst/>
                          <a:latin typeface="Times New Roman" panose="02020603050405020304" pitchFamily="18" charset="0"/>
                          <a:cs typeface="Times New Roman" panose="02020603050405020304" pitchFamily="18" charset="0"/>
                        </a:rPr>
                        <a:t>30-09-2025*</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180</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effectLst/>
                          <a:latin typeface="Times New Roman" panose="02020603050405020304" pitchFamily="18" charset="0"/>
                          <a:cs typeface="Times New Roman" panose="02020603050405020304" pitchFamily="18" charset="0"/>
                        </a:rPr>
                        <a:t>54.6</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6747922"/>
                  </a:ext>
                </a:extLst>
              </a:tr>
              <a:tr h="591660">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3</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SECI Wind-XII</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JSW</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pt-BR" sz="1600" u="none" strike="noStrike" dirty="0">
                          <a:effectLst/>
                          <a:latin typeface="Times New Roman" panose="02020603050405020304" pitchFamily="18" charset="0"/>
                          <a:cs typeface="Times New Roman" panose="02020603050405020304" pitchFamily="18" charset="0"/>
                        </a:rPr>
                        <a:t>400/220 kV Solapur S/S</a:t>
                      </a:r>
                      <a:endParaRPr lang="pt-BR"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300</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29-03-2025</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Times New Roman" panose="02020603050405020304" pitchFamily="18" charset="0"/>
                          <a:cs typeface="Times New Roman" panose="02020603050405020304" pitchFamily="18" charset="0"/>
                        </a:rPr>
                        <a:t>23.01.2026</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effectLst/>
                          <a:latin typeface="Times New Roman" panose="02020603050405020304" pitchFamily="18" charset="0"/>
                          <a:cs typeface="Times New Roman" panose="02020603050405020304" pitchFamily="18" charset="0"/>
                        </a:rPr>
                        <a:t>31-03-2026*</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300</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effectLst/>
                          <a:latin typeface="Times New Roman" panose="02020603050405020304" pitchFamily="18" charset="0"/>
                          <a:cs typeface="Times New Roman" panose="02020603050405020304" pitchFamily="18" charset="0"/>
                        </a:rPr>
                        <a:t> </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8286749"/>
                  </a:ext>
                </a:extLst>
              </a:tr>
              <a:tr h="532140">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4</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SECI Wind-XII</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Torrent</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nl-NL" sz="1600" u="none" strike="noStrike">
                          <a:effectLst/>
                          <a:latin typeface="Times New Roman" panose="02020603050405020304" pitchFamily="18" charset="0"/>
                          <a:cs typeface="Times New Roman" panose="02020603050405020304" pitchFamily="18" charset="0"/>
                        </a:rPr>
                        <a:t>400/220 kV Koppal-II S/S</a:t>
                      </a:r>
                      <a:endParaRPr lang="nl-NL"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300</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29-03-2025</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23.01.2026</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effectLst/>
                          <a:latin typeface="Times New Roman" panose="02020603050405020304" pitchFamily="18" charset="0"/>
                          <a:cs typeface="Times New Roman" panose="02020603050405020304" pitchFamily="18" charset="0"/>
                        </a:rPr>
                        <a:t>27-12-2025#</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300</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 </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6974475"/>
                  </a:ext>
                </a:extLst>
              </a:tr>
              <a:tr h="468526">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5</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SECI Wind-XIV</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Apraava</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Vijayapura/ Bijapur GSS</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300</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a:effectLst/>
                          <a:latin typeface="Times New Roman" panose="02020603050405020304" pitchFamily="18" charset="0"/>
                          <a:cs typeface="Times New Roman" panose="02020603050405020304" pitchFamily="18" charset="0"/>
                        </a:rPr>
                        <a:t>16-11-2025</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600" b="0" i="0" u="none" strike="noStrike" dirty="0">
                          <a:solidFill>
                            <a:srgbClr val="000000"/>
                          </a:solidFill>
                          <a:effectLst/>
                          <a:latin typeface="Times New Roman" panose="02020603050405020304" pitchFamily="18" charset="0"/>
                          <a:cs typeface="Times New Roman" panose="02020603050405020304" pitchFamily="18" charset="0"/>
                        </a:rPr>
                        <a:t>27.12.2025</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effectLst/>
                          <a:latin typeface="Times New Roman" panose="02020603050405020304" pitchFamily="18" charset="0"/>
                          <a:cs typeface="Times New Roman" panose="02020603050405020304" pitchFamily="18" charset="0"/>
                        </a:rPr>
                        <a:t>17-01-2027$</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effectLst/>
                          <a:latin typeface="Times New Roman" panose="02020603050405020304" pitchFamily="18" charset="0"/>
                          <a:cs typeface="Times New Roman" panose="02020603050405020304" pitchFamily="18" charset="0"/>
                        </a:rPr>
                        <a:t>300</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600" u="none" strike="noStrike" dirty="0">
                          <a:effectLst/>
                          <a:latin typeface="Times New Roman" panose="02020603050405020304" pitchFamily="18" charset="0"/>
                          <a:cs typeface="Times New Roman" panose="02020603050405020304" pitchFamily="18" charset="0"/>
                        </a:rPr>
                        <a:t> </a:t>
                      </a:r>
                      <a:endParaRPr lang="en-IN"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703" marR="4703" marT="47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3354754"/>
                  </a:ext>
                </a:extLst>
              </a:tr>
            </a:tbl>
          </a:graphicData>
        </a:graphic>
      </p:graphicFrame>
      <p:sp>
        <p:nvSpPr>
          <p:cNvPr id="3" name="TextBox 2">
            <a:extLst>
              <a:ext uri="{FF2B5EF4-FFF2-40B4-BE49-F238E27FC236}">
                <a16:creationId xmlns:a16="http://schemas.microsoft.com/office/drawing/2014/main" id="{6675F9AB-4AA8-EF4F-D8BD-248B896C4064}"/>
              </a:ext>
            </a:extLst>
          </p:cNvPr>
          <p:cNvSpPr txBox="1"/>
          <p:nvPr/>
        </p:nvSpPr>
        <p:spPr>
          <a:xfrm>
            <a:off x="233680" y="6023242"/>
            <a:ext cx="11519049" cy="738664"/>
          </a:xfrm>
          <a:prstGeom prst="rect">
            <a:avLst/>
          </a:prstGeom>
          <a:noFill/>
        </p:spPr>
        <p:txBody>
          <a:bodyPr wrap="square" rtlCol="0">
            <a:spAutoFit/>
          </a:bodyPr>
          <a:lstStyle/>
          <a:p>
            <a:r>
              <a:rPr lang="en-IN" sz="1400" dirty="0"/>
              <a:t>*Expected COD date of Narendra –Pune Line, which may be further extended.</a:t>
            </a:r>
          </a:p>
          <a:p>
            <a:r>
              <a:rPr lang="en-IN" sz="1400" dirty="0"/>
              <a:t>#Timeline may be extended.</a:t>
            </a:r>
          </a:p>
          <a:p>
            <a:r>
              <a:rPr lang="en-IN" sz="1400" dirty="0"/>
              <a:t>$SPV transfer took place in Jan 2025.  </a:t>
            </a:r>
          </a:p>
        </p:txBody>
      </p:sp>
    </p:spTree>
    <p:extLst>
      <p:ext uri="{BB962C8B-B14F-4D97-AF65-F5344CB8AC3E}">
        <p14:creationId xmlns:p14="http://schemas.microsoft.com/office/powerpoint/2010/main" val="2666987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DAA8D-8A6D-20E3-AE1B-17F359E10220}"/>
              </a:ext>
            </a:extLst>
          </p:cNvPr>
          <p:cNvSpPr>
            <a:spLocks noGrp="1"/>
          </p:cNvSpPr>
          <p:nvPr>
            <p:ph type="title"/>
          </p:nvPr>
        </p:nvSpPr>
        <p:spPr>
          <a:xfrm>
            <a:off x="502920" y="199389"/>
            <a:ext cx="10515600" cy="481648"/>
          </a:xfrm>
        </p:spPr>
        <p:txBody>
          <a:bodyPr>
            <a:normAutofit/>
          </a:bodyPr>
          <a:lstStyle/>
          <a:p>
            <a:pPr algn="ctr"/>
            <a:r>
              <a:rPr lang="en-IN" sz="2800" b="1" dirty="0">
                <a:latin typeface="Times New Roman" panose="02020603050405020304" pitchFamily="18" charset="0"/>
                <a:cs typeface="Times New Roman" panose="02020603050405020304" pitchFamily="18" charset="0"/>
              </a:rPr>
              <a:t>DISCUSSION POINTS</a:t>
            </a:r>
          </a:p>
        </p:txBody>
      </p:sp>
      <p:sp>
        <p:nvSpPr>
          <p:cNvPr id="3" name="Content Placeholder 2">
            <a:extLst>
              <a:ext uri="{FF2B5EF4-FFF2-40B4-BE49-F238E27FC236}">
                <a16:creationId xmlns:a16="http://schemas.microsoft.com/office/drawing/2014/main" id="{C25EC6E8-5983-1F69-D21E-2B6F12EB5DAE}"/>
              </a:ext>
            </a:extLst>
          </p:cNvPr>
          <p:cNvSpPr>
            <a:spLocks noGrp="1"/>
          </p:cNvSpPr>
          <p:nvPr>
            <p:ph idx="1"/>
          </p:nvPr>
        </p:nvSpPr>
        <p:spPr>
          <a:xfrm>
            <a:off x="198120" y="1005841"/>
            <a:ext cx="11892280" cy="5652770"/>
          </a:xfrm>
        </p:spPr>
        <p:txBody>
          <a:bodyPr>
            <a:normAutofit fontScale="92500" lnSpcReduction="10000"/>
          </a:bodyPr>
          <a:lstStyle/>
          <a:p>
            <a:pPr marL="0" indent="0" algn="just">
              <a:buNone/>
            </a:pPr>
            <a:r>
              <a:rPr lang="en-US" sz="2000" b="1" u="sng" dirty="0">
                <a:latin typeface="Times New Roman" panose="02020603050405020304" pitchFamily="18" charset="0"/>
                <a:cs typeface="Times New Roman" panose="02020603050405020304" pitchFamily="18" charset="0"/>
              </a:rPr>
              <a:t>1. TARIFF ADOPTION</a:t>
            </a:r>
          </a:p>
          <a:p>
            <a:pPr algn="just"/>
            <a:r>
              <a:rPr lang="en-US" sz="1800" dirty="0">
                <a:latin typeface="Times New Roman" panose="02020603050405020304" pitchFamily="18" charset="0"/>
                <a:cs typeface="Times New Roman" panose="02020603050405020304" pitchFamily="18" charset="0"/>
              </a:rPr>
              <a:t>CERC, in Tariff Adoption Order dated 19.05.2025 has not adopted the tariff for 50 MW Wind Project of M/s Adyant Enersol Pvt Ltd.</a:t>
            </a:r>
          </a:p>
          <a:p>
            <a:pPr algn="just"/>
            <a:r>
              <a:rPr lang="en-US" sz="1800" dirty="0">
                <a:latin typeface="Times New Roman" panose="02020603050405020304" pitchFamily="18" charset="0"/>
                <a:cs typeface="Times New Roman" panose="02020603050405020304" pitchFamily="18" charset="0"/>
              </a:rPr>
              <a:t>In the Order, CERC also says the following: </a:t>
            </a:r>
          </a:p>
          <a:p>
            <a:pPr marL="457200" lvl="1" indent="0" algn="just">
              <a:buNone/>
            </a:pPr>
            <a:r>
              <a:rPr lang="en-US" sz="1800" i="1" dirty="0">
                <a:latin typeface="Times New Roman" panose="02020603050405020304" pitchFamily="18" charset="0"/>
                <a:cs typeface="Times New Roman" panose="02020603050405020304" pitchFamily="18" charset="0"/>
              </a:rPr>
              <a:t>“However, at this juncture, we may also clarify that our refusal to adopt the tariff for the 50 MW capacity awarded to Adyant Enersol Pvt. Ltd., in the foregoing paragraph, shall not be construed at restricting the rights of the parties, if any, to procure such power by means of any other alternative avenue permissible under the Act and the applicable Regulations made thereof.</a:t>
            </a:r>
            <a:r>
              <a:rPr lang="en-US" sz="1800" dirty="0">
                <a:latin typeface="Times New Roman" panose="02020603050405020304" pitchFamily="18" charset="0"/>
                <a:cs typeface="Times New Roman" panose="02020603050405020304" pitchFamily="18" charset="0"/>
              </a:rPr>
              <a:t>”</a:t>
            </a:r>
          </a:p>
          <a:p>
            <a:pPr algn="just"/>
            <a:r>
              <a:rPr lang="en-US" sz="1800" dirty="0">
                <a:latin typeface="Times New Roman" panose="02020603050405020304" pitchFamily="18" charset="0"/>
                <a:cs typeface="Times New Roman" panose="02020603050405020304" pitchFamily="18" charset="0"/>
              </a:rPr>
              <a:t>SECI may explore avenues to utilize the PPA elsewhere.</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2200" b="1" u="sng" dirty="0">
                <a:latin typeface="Times New Roman" panose="02020603050405020304" pitchFamily="18" charset="0"/>
                <a:cs typeface="Times New Roman" panose="02020603050405020304" pitchFamily="18" charset="0"/>
              </a:rPr>
              <a:t>2. CONNECTIVITY DELAY</a:t>
            </a:r>
          </a:p>
          <a:p>
            <a:pPr algn="just">
              <a:lnSpc>
                <a:spcPct val="130000"/>
              </a:lnSpc>
              <a:spcBef>
                <a:spcPts val="600"/>
              </a:spcBef>
              <a:spcAft>
                <a:spcPts val="600"/>
              </a:spcAft>
            </a:pPr>
            <a:r>
              <a:rPr lang="en-US" sz="1800" b="1" dirty="0">
                <a:latin typeface="Times New Roman" panose="02020603050405020304" pitchFamily="18" charset="0"/>
                <a:cs typeface="Times New Roman" panose="02020603050405020304" pitchFamily="18" charset="0"/>
              </a:rPr>
              <a:t>As per CERC notification dated 20.06.2025</a:t>
            </a:r>
            <a:r>
              <a:rPr lang="en-US" sz="1800" dirty="0">
                <a:latin typeface="Times New Roman" panose="02020603050405020304" pitchFamily="18" charset="0"/>
                <a:cs typeface="Times New Roman" panose="02020603050405020304" pitchFamily="18" charset="0"/>
              </a:rPr>
              <a:t>, any extension in the Scheduled Commissioning Date (SCD) shall not exceed six months at a time and can be granted a maximum of two times, specifically for extensions beyond 30.06.2025.</a:t>
            </a:r>
          </a:p>
          <a:p>
            <a:pPr algn="just">
              <a:lnSpc>
                <a:spcPct val="130000"/>
              </a:lnSpc>
              <a:spcBef>
                <a:spcPts val="600"/>
              </a:spcBef>
              <a:spcAft>
                <a:spcPts val="600"/>
              </a:spcAft>
            </a:pPr>
            <a:r>
              <a:rPr lang="en-US" sz="1800" dirty="0">
                <a:latin typeface="Times New Roman" panose="02020603050405020304" pitchFamily="18" charset="0"/>
                <a:cs typeface="Times New Roman" panose="02020603050405020304" pitchFamily="18" charset="0"/>
              </a:rPr>
              <a:t>However, in the case of M/s Apraava’s 300 MW wind power project under SECI Tranche-XIV, the delay in operationalization of GNA exceeds two years.</a:t>
            </a:r>
          </a:p>
          <a:p>
            <a:pPr algn="just">
              <a:lnSpc>
                <a:spcPct val="130000"/>
              </a:lnSpc>
              <a:spcBef>
                <a:spcPts val="600"/>
              </a:spcBef>
              <a:spcAft>
                <a:spcPts val="600"/>
              </a:spcAft>
            </a:pPr>
            <a:r>
              <a:rPr lang="en-US" sz="1800" dirty="0">
                <a:latin typeface="Times New Roman" panose="02020603050405020304" pitchFamily="18" charset="0"/>
                <a:cs typeface="Times New Roman" panose="02020603050405020304" pitchFamily="18" charset="0"/>
              </a:rPr>
              <a:t>In accordance with the MoP order dated 09.06.2023 and provisions of the PPA, the Competent Authority to grant extensions beyond 30.06.2025 is the Ministry of New and Renewable Energy (MNRE). Accordingly, M/s Apraava’s request for extension of the SCD beyond 30.06.2025 has been submitted to MNRE for necessary directions.</a:t>
            </a:r>
          </a:p>
          <a:p>
            <a:pPr algn="just"/>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763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82A6FB-C5E1-8AC9-1E58-9751FE77E02C}"/>
              </a:ext>
            </a:extLst>
          </p:cNvPr>
          <p:cNvSpPr>
            <a:spLocks noGrp="1"/>
          </p:cNvSpPr>
          <p:nvPr>
            <p:ph type="title"/>
          </p:nvPr>
        </p:nvSpPr>
        <p:spPr>
          <a:xfrm>
            <a:off x="1200150" y="2641600"/>
            <a:ext cx="10515600" cy="1325563"/>
          </a:xfrm>
        </p:spPr>
        <p:txBody>
          <a:bodyPr/>
          <a:lstStyle/>
          <a:p>
            <a:r>
              <a:rPr lang="en-US" b="1" dirty="0"/>
              <a:t>Tranche-wise Progress Status (Wind)</a:t>
            </a:r>
            <a:endParaRPr lang="en-IN" b="1" dirty="0"/>
          </a:p>
        </p:txBody>
      </p:sp>
    </p:spTree>
    <p:extLst>
      <p:ext uri="{BB962C8B-B14F-4D97-AF65-F5344CB8AC3E}">
        <p14:creationId xmlns:p14="http://schemas.microsoft.com/office/powerpoint/2010/main" val="2277495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hlinkClick r:id="rId2"/>
          </p:cNvPr>
          <p:cNvSpPr txBox="1"/>
          <p:nvPr/>
        </p:nvSpPr>
        <p:spPr>
          <a:xfrm>
            <a:off x="4006294" y="123131"/>
            <a:ext cx="3918893" cy="707886"/>
          </a:xfrm>
          <a:prstGeom prst="rect">
            <a:avLst/>
          </a:prstGeom>
          <a:noFill/>
        </p:spPr>
        <p:txBody>
          <a:bodyPr wrap="none" rtlCol="0">
            <a:spAutoFit/>
          </a:bodyPr>
          <a:lstStyle/>
          <a:p>
            <a:pPr algn="ctr"/>
            <a:r>
              <a:rPr lang="en-IN" sz="2000" b="1" i="1" u="sng" dirty="0">
                <a:latin typeface="Times New Roman" panose="02020603050405020304" pitchFamily="18" charset="0"/>
                <a:cs typeface="Times New Roman" panose="02020603050405020304" pitchFamily="18" charset="0"/>
                <a:hlinkClick r:id="rId3" action="ppaction://hlinkfile"/>
              </a:rPr>
              <a:t>Tranche – 1 (Tariff: </a:t>
            </a:r>
            <a:r>
              <a:rPr lang="en-IN" sz="2000" b="1" i="1" u="sng" dirty="0" err="1">
                <a:latin typeface="Times New Roman" panose="02020603050405020304" pitchFamily="18" charset="0"/>
                <a:cs typeface="Times New Roman" panose="02020603050405020304" pitchFamily="18" charset="0"/>
                <a:hlinkClick r:id="rId3" action="ppaction://hlinkfile"/>
              </a:rPr>
              <a:t>Rs</a:t>
            </a:r>
            <a:r>
              <a:rPr lang="en-IN" sz="2000" b="1" i="1" u="sng" dirty="0">
                <a:latin typeface="Times New Roman" panose="02020603050405020304" pitchFamily="18" charset="0"/>
                <a:cs typeface="Times New Roman" panose="02020603050405020304" pitchFamily="18" charset="0"/>
                <a:hlinkClick r:id="rId3" action="ppaction://hlinkfile"/>
              </a:rPr>
              <a:t>. 3.46 /kWh)</a:t>
            </a:r>
            <a:endParaRPr lang="en-IN" sz="2000" b="1" i="1" u="sng" dirty="0">
              <a:latin typeface="Times New Roman" panose="02020603050405020304" pitchFamily="18" charset="0"/>
              <a:cs typeface="Times New Roman" panose="02020603050405020304" pitchFamily="18" charset="0"/>
            </a:endParaRPr>
          </a:p>
          <a:p>
            <a:pPr algn="ctr"/>
            <a:r>
              <a:rPr lang="en-IN" sz="2000" b="1" i="1" u="sng" dirty="0">
                <a:latin typeface="Times New Roman" panose="02020603050405020304" pitchFamily="18" charset="0"/>
                <a:cs typeface="Times New Roman" panose="02020603050405020304" pitchFamily="18" charset="0"/>
              </a:rPr>
              <a:t>Effective date of PPA: 21.07.2017</a:t>
            </a:r>
          </a:p>
        </p:txBody>
      </p:sp>
      <p:sp>
        <p:nvSpPr>
          <p:cNvPr id="5" name="TextBox 4"/>
          <p:cNvSpPr txBox="1"/>
          <p:nvPr/>
        </p:nvSpPr>
        <p:spPr>
          <a:xfrm>
            <a:off x="803412" y="5148470"/>
            <a:ext cx="10721009" cy="369332"/>
          </a:xfrm>
          <a:prstGeom prst="rect">
            <a:avLst/>
          </a:prstGeom>
          <a:noFill/>
        </p:spPr>
        <p:txBody>
          <a:bodyPr wrap="square" rtlCol="0">
            <a:spAutoFit/>
          </a:bodyPr>
          <a:lstStyle/>
          <a:p>
            <a:endParaRPr lang="en-IN" dirty="0">
              <a:solidFill>
                <a:srgbClr val="FF0000"/>
              </a:solidFill>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06B77A46-F501-61F3-964C-A210CC2D8FD0}"/>
              </a:ext>
            </a:extLst>
          </p:cNvPr>
          <p:cNvGraphicFramePr>
            <a:graphicFrameLocks noGrp="1"/>
          </p:cNvGraphicFramePr>
          <p:nvPr>
            <p:extLst>
              <p:ext uri="{D42A27DB-BD31-4B8C-83A1-F6EECF244321}">
                <p14:modId xmlns:p14="http://schemas.microsoft.com/office/powerpoint/2010/main" val="4253389761"/>
              </p:ext>
            </p:extLst>
          </p:nvPr>
        </p:nvGraphicFramePr>
        <p:xfrm>
          <a:off x="156410" y="1143000"/>
          <a:ext cx="11618663" cy="4572000"/>
        </p:xfrm>
        <a:graphic>
          <a:graphicData uri="http://schemas.openxmlformats.org/drawingml/2006/table">
            <a:tbl>
              <a:tblPr firstRow="1" bandRow="1">
                <a:tableStyleId>{5C22544A-7EE6-4342-B048-85BDC9FD1C3A}</a:tableStyleId>
              </a:tblPr>
              <a:tblGrid>
                <a:gridCol w="898525">
                  <a:extLst>
                    <a:ext uri="{9D8B030D-6E8A-4147-A177-3AD203B41FA5}">
                      <a16:colId xmlns:a16="http://schemas.microsoft.com/office/drawing/2014/main" val="3842924706"/>
                    </a:ext>
                  </a:extLst>
                </a:gridCol>
                <a:gridCol w="4804444">
                  <a:extLst>
                    <a:ext uri="{9D8B030D-6E8A-4147-A177-3AD203B41FA5}">
                      <a16:colId xmlns:a16="http://schemas.microsoft.com/office/drawing/2014/main" val="425937265"/>
                    </a:ext>
                  </a:extLst>
                </a:gridCol>
                <a:gridCol w="1455821">
                  <a:extLst>
                    <a:ext uri="{9D8B030D-6E8A-4147-A177-3AD203B41FA5}">
                      <a16:colId xmlns:a16="http://schemas.microsoft.com/office/drawing/2014/main" val="908932994"/>
                    </a:ext>
                  </a:extLst>
                </a:gridCol>
                <a:gridCol w="1708484">
                  <a:extLst>
                    <a:ext uri="{9D8B030D-6E8A-4147-A177-3AD203B41FA5}">
                      <a16:colId xmlns:a16="http://schemas.microsoft.com/office/drawing/2014/main" val="630513307"/>
                    </a:ext>
                  </a:extLst>
                </a:gridCol>
                <a:gridCol w="2751389">
                  <a:extLst>
                    <a:ext uri="{9D8B030D-6E8A-4147-A177-3AD203B41FA5}">
                      <a16:colId xmlns:a16="http://schemas.microsoft.com/office/drawing/2014/main" val="3488083070"/>
                    </a:ext>
                  </a:extLst>
                </a:gridCol>
              </a:tblGrid>
              <a:tr h="584750">
                <a:tc>
                  <a:txBody>
                    <a:bodyPr/>
                    <a:lstStyle/>
                    <a:p>
                      <a:pPr algn="ctr"/>
                      <a:r>
                        <a:rPr lang="en-IN" sz="1800" dirty="0">
                          <a:latin typeface="Times New Roman" panose="02020603050405020304" pitchFamily="18" charset="0"/>
                          <a:cs typeface="Times New Roman" panose="02020603050405020304" pitchFamily="18" charset="0"/>
                        </a:rPr>
                        <a:t>Sr. No.</a:t>
                      </a:r>
                    </a:p>
                  </a:txBody>
                  <a:tcPr/>
                </a:tc>
                <a:tc>
                  <a:txBody>
                    <a:bodyPr/>
                    <a:lstStyle/>
                    <a:p>
                      <a:pPr algn="ctr"/>
                      <a:r>
                        <a:rPr lang="en-IN" sz="1800" dirty="0">
                          <a:latin typeface="Times New Roman" panose="02020603050405020304" pitchFamily="18" charset="0"/>
                          <a:cs typeface="Times New Roman" panose="02020603050405020304" pitchFamily="18" charset="0"/>
                        </a:rPr>
                        <a:t>WPD</a:t>
                      </a:r>
                    </a:p>
                  </a:txBody>
                  <a:tcPr/>
                </a:tc>
                <a:tc>
                  <a:txBody>
                    <a:bodyPr/>
                    <a:lstStyle/>
                    <a:p>
                      <a:pPr algn="ctr"/>
                      <a:r>
                        <a:rPr lang="en-IN" sz="1800" dirty="0">
                          <a:latin typeface="Times New Roman" panose="02020603050405020304" pitchFamily="18" charset="0"/>
                          <a:cs typeface="Times New Roman" panose="02020603050405020304" pitchFamily="18" charset="0"/>
                        </a:rPr>
                        <a:t>PPA Capacity (MW)</a:t>
                      </a:r>
                    </a:p>
                  </a:txBody>
                  <a:tcPr/>
                </a:tc>
                <a:tc>
                  <a:txBody>
                    <a:bodyPr/>
                    <a:lstStyle/>
                    <a:p>
                      <a:pPr algn="ctr"/>
                      <a:r>
                        <a:rPr lang="en-IN" sz="1800" dirty="0">
                          <a:latin typeface="Times New Roman" panose="02020603050405020304" pitchFamily="18" charset="0"/>
                          <a:cs typeface="Times New Roman" panose="02020603050405020304" pitchFamily="18" charset="0"/>
                        </a:rPr>
                        <a:t>Commissioned Capacity (MW)</a:t>
                      </a:r>
                    </a:p>
                  </a:txBody>
                  <a:tcPr/>
                </a:tc>
                <a:tc>
                  <a:txBody>
                    <a:bodyPr/>
                    <a:lstStyle/>
                    <a:p>
                      <a:pPr algn="ctr"/>
                      <a:r>
                        <a:rPr lang="en-IN" sz="1800"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4149655926"/>
                  </a:ext>
                </a:extLst>
              </a:tr>
              <a:tr h="349025">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tc>
                <a:tc>
                  <a:txBody>
                    <a:bodyPr/>
                    <a:lstStyle/>
                    <a:p>
                      <a:pPr algn="l"/>
                      <a:r>
                        <a:rPr lang="it-IT" sz="1800" dirty="0">
                          <a:solidFill>
                            <a:schemeClr val="tx1"/>
                          </a:solidFill>
                          <a:latin typeface="Times New Roman" panose="02020603050405020304" pitchFamily="18" charset="0"/>
                          <a:cs typeface="Times New Roman" panose="02020603050405020304" pitchFamily="18" charset="0"/>
                        </a:rPr>
                        <a:t>Mytrah Vayu (Sabarmati) Private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830504760"/>
                  </a:ext>
                </a:extLst>
              </a:tr>
              <a:tr h="317633">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Green Infra Renewable Energy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249.9</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249.9</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63354006"/>
                  </a:ext>
                </a:extLst>
              </a:tr>
              <a:tr h="31763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p>
                  </a:txBody>
                  <a:tcPr/>
                </a:tc>
                <a:tc>
                  <a:txBody>
                    <a:bodyPr/>
                    <a:lstStyle/>
                    <a:p>
                      <a:pPr algn="l" fontAlgn="ctr"/>
                      <a:r>
                        <a:rPr lang="en-US" sz="1800" b="0" i="0" u="none" strike="noStrike" dirty="0">
                          <a:solidFill>
                            <a:schemeClr val="tx1"/>
                          </a:solidFill>
                          <a:effectLst/>
                          <a:latin typeface="Times New Roman" panose="02020603050405020304" pitchFamily="18" charset="0"/>
                          <a:cs typeface="Times New Roman" panose="02020603050405020304" pitchFamily="18" charset="0"/>
                        </a:rPr>
                        <a:t>  Wind One Renergy   </a:t>
                      </a:r>
                      <a:r>
                        <a:rPr lang="en-US" sz="1800" kern="1200" dirty="0">
                          <a:solidFill>
                            <a:schemeClr val="tx1"/>
                          </a:solidFill>
                          <a:latin typeface="Times New Roman" panose="02020603050405020304" pitchFamily="18" charset="0"/>
                          <a:ea typeface="+mn-ea"/>
                          <a:cs typeface="Times New Roman" panose="02020603050405020304" pitchFamily="18" charset="0"/>
                        </a:rPr>
                        <a:t>Private</a:t>
                      </a:r>
                      <a:r>
                        <a:rPr lang="en-US" sz="1800" b="0" i="0" u="none" strike="noStrike" dirty="0">
                          <a:solidFill>
                            <a:schemeClr val="tx1"/>
                          </a:solidFill>
                          <a:effectLst/>
                          <a:latin typeface="Times New Roman" panose="02020603050405020304" pitchFamily="18" charset="0"/>
                          <a:cs typeface="Times New Roman" panose="02020603050405020304" pitchFamily="18" charset="0"/>
                        </a:rPr>
                        <a:t> Limited</a:t>
                      </a:r>
                    </a:p>
                  </a:txBody>
                  <a:tcPr marL="6350" marR="6350" marT="6350" marB="0"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4057950148"/>
                  </a:ext>
                </a:extLst>
              </a:tr>
              <a:tr h="34651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a:t>
                      </a:r>
                    </a:p>
                  </a:txBody>
                  <a:tcP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Wind Two Renergy Private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3328340920"/>
                  </a:ext>
                </a:extLst>
              </a:tr>
              <a:tr h="36576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a:t>
                      </a:r>
                    </a:p>
                  </a:txBody>
                  <a:tcP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Wind Three Renergy Private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4054741854"/>
                  </a:ext>
                </a:extLst>
              </a:tr>
              <a:tr h="33688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6</a:t>
                      </a:r>
                    </a:p>
                  </a:txBody>
                  <a:tcP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Wind Four Renergy Private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dirty="0">
                          <a:solidFill>
                            <a:schemeClr val="tx1"/>
                          </a:solidFill>
                          <a:latin typeface="Times New Roman" panose="02020603050405020304" pitchFamily="18" charset="0"/>
                          <a:cs typeface="Times New Roman" panose="02020603050405020304" pitchFamily="18" charset="0"/>
                        </a:rPr>
                        <a:t>Project stands cancelled.</a:t>
                      </a:r>
                    </a:p>
                  </a:txBody>
                  <a:tcPr/>
                </a:tc>
                <a:extLst>
                  <a:ext uri="{0D108BD9-81ED-4DB2-BD59-A6C34878D82A}">
                    <a16:rowId xmlns:a16="http://schemas.microsoft.com/office/drawing/2014/main" val="1438233318"/>
                  </a:ext>
                </a:extLst>
              </a:tr>
              <a:tr h="33688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7</a:t>
                      </a:r>
                    </a:p>
                  </a:txBody>
                  <a:tcP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Wind Five Renergy Private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Under litigation.</a:t>
                      </a:r>
                    </a:p>
                  </a:txBody>
                  <a:tcPr/>
                </a:tc>
                <a:extLst>
                  <a:ext uri="{0D108BD9-81ED-4DB2-BD59-A6C34878D82A}">
                    <a16:rowId xmlns:a16="http://schemas.microsoft.com/office/drawing/2014/main" val="406553804"/>
                  </a:ext>
                </a:extLst>
              </a:tr>
              <a:tr h="33688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8</a:t>
                      </a:r>
                    </a:p>
                  </a:txBody>
                  <a:tcP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Ostro Kutch Wind Private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4082087592"/>
                  </a:ext>
                </a:extLst>
              </a:tr>
              <a:tr h="33688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9</a:t>
                      </a:r>
                    </a:p>
                  </a:txBody>
                  <a:tcP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Adani Green Energy (MP)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1069748979"/>
                  </a:ext>
                </a:extLst>
              </a:tr>
              <a:tr h="336884">
                <a:tc>
                  <a:txBody>
                    <a:bodyPr/>
                    <a:lstStyle/>
                    <a:p>
                      <a:pPr algn="ct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b="1" dirty="0">
                          <a:solidFill>
                            <a:schemeClr val="tx1"/>
                          </a:solidFill>
                          <a:latin typeface="Times New Roman" panose="02020603050405020304" pitchFamily="18" charset="0"/>
                          <a:cs typeface="Times New Roman" panose="02020603050405020304" pitchFamily="18" charset="0"/>
                        </a:rPr>
                        <a:t>Total</a:t>
                      </a:r>
                    </a:p>
                  </a:txBody>
                  <a:tcP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1049.9</a:t>
                      </a:r>
                    </a:p>
                  </a:txBody>
                  <a:tcP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999.9</a:t>
                      </a:r>
                    </a:p>
                  </a:txBody>
                  <a:tcPr/>
                </a:tc>
                <a:tc>
                  <a:txBody>
                    <a:bodyPr/>
                    <a:lstStyle/>
                    <a:p>
                      <a:pPr algn="ctr"/>
                      <a:endParaRPr lang="en-IN" sz="18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26171970"/>
                  </a:ext>
                </a:extLst>
              </a:tr>
            </a:tbl>
          </a:graphicData>
        </a:graphic>
      </p:graphicFrame>
      <p:sp>
        <p:nvSpPr>
          <p:cNvPr id="8" name="TextBox 7">
            <a:extLst>
              <a:ext uri="{FF2B5EF4-FFF2-40B4-BE49-F238E27FC236}">
                <a16:creationId xmlns:a16="http://schemas.microsoft.com/office/drawing/2014/main" id="{95E7ED71-CFF7-B67E-93C8-643D6703B404}"/>
              </a:ext>
            </a:extLst>
          </p:cNvPr>
          <p:cNvSpPr txBox="1"/>
          <p:nvPr/>
        </p:nvSpPr>
        <p:spPr>
          <a:xfrm>
            <a:off x="288758" y="6011594"/>
            <a:ext cx="6744988" cy="369332"/>
          </a:xfrm>
          <a:prstGeom prst="rect">
            <a:avLst/>
          </a:prstGeom>
          <a:noFill/>
        </p:spPr>
        <p:txBody>
          <a:bodyPr wrap="none" rtlCol="0">
            <a:spAutoFit/>
          </a:bodyPr>
          <a:lstStyle/>
          <a:p>
            <a:r>
              <a:rPr lang="en-US" sz="1800" dirty="0">
                <a:latin typeface="Times New Roman" panose="02020603050405020304" pitchFamily="18" charset="0"/>
                <a:cs typeface="Times New Roman" panose="02020603050405020304" pitchFamily="18" charset="0"/>
              </a:rPr>
              <a:t>Note: PPAs under this Tranche signed between WPD and M/s PTC Ltd</a:t>
            </a:r>
          </a:p>
        </p:txBody>
      </p:sp>
      <p:sp>
        <p:nvSpPr>
          <p:cNvPr id="3" name="TextBox 2">
            <a:extLst>
              <a:ext uri="{FF2B5EF4-FFF2-40B4-BE49-F238E27FC236}">
                <a16:creationId xmlns:a16="http://schemas.microsoft.com/office/drawing/2014/main" id="{B7BF71A3-A450-401F-8C2E-B25F2AE2C97E}"/>
              </a:ext>
            </a:extLst>
          </p:cNvPr>
          <p:cNvSpPr txBox="1"/>
          <p:nvPr/>
        </p:nvSpPr>
        <p:spPr>
          <a:xfrm>
            <a:off x="8602133" y="6172200"/>
            <a:ext cx="1261534" cy="369332"/>
          </a:xfrm>
          <a:prstGeom prst="rect">
            <a:avLst/>
          </a:prstGeom>
          <a:noFill/>
        </p:spPr>
        <p:txBody>
          <a:bodyPr wrap="square" rtlCol="0">
            <a:spAutoFit/>
          </a:bodyPr>
          <a:lstStyle/>
          <a:p>
            <a:r>
              <a:rPr lang="en-US" dirty="0">
                <a:hlinkClick r:id="rId4" action="ppaction://hlinksldjump"/>
              </a:rPr>
              <a:t>Back</a:t>
            </a:r>
            <a:endParaRPr lang="en-IN" dirty="0"/>
          </a:p>
        </p:txBody>
      </p:sp>
    </p:spTree>
    <p:extLst>
      <p:ext uri="{BB962C8B-B14F-4D97-AF65-F5344CB8AC3E}">
        <p14:creationId xmlns:p14="http://schemas.microsoft.com/office/powerpoint/2010/main" val="17184387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03412" y="5148470"/>
            <a:ext cx="10721009" cy="369332"/>
          </a:xfrm>
          <a:prstGeom prst="rect">
            <a:avLst/>
          </a:prstGeom>
          <a:noFill/>
        </p:spPr>
        <p:txBody>
          <a:bodyPr wrap="square" rtlCol="0">
            <a:spAutoFit/>
          </a:bodyPr>
          <a:lstStyle/>
          <a:p>
            <a:endParaRPr lang="en-IN" dirty="0">
              <a:solidFill>
                <a:srgbClr val="FF0000"/>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3523629" y="127534"/>
            <a:ext cx="5144742" cy="707886"/>
          </a:xfrm>
          <a:prstGeom prst="rect">
            <a:avLst/>
          </a:prstGeom>
          <a:noFill/>
        </p:spPr>
        <p:txBody>
          <a:bodyPr wrap="none" rtlCol="0">
            <a:spAutoFit/>
          </a:bodyPr>
          <a:lstStyle/>
          <a:p>
            <a:pPr algn="ctr"/>
            <a:r>
              <a:rPr lang="en-IN" sz="2000" b="1" i="1" u="sng" dirty="0">
                <a:latin typeface="Times New Roman" panose="02020603050405020304" pitchFamily="18" charset="0"/>
                <a:cs typeface="Times New Roman" panose="02020603050405020304" pitchFamily="18" charset="0"/>
                <a:hlinkClick r:id="rId2" action="ppaction://hlinkfile"/>
              </a:rPr>
              <a:t>Tranche – 2 (Tariff: </a:t>
            </a:r>
            <a:r>
              <a:rPr lang="en-IN" sz="2000" b="1" i="1" u="sng" dirty="0" err="1">
                <a:latin typeface="Times New Roman" panose="02020603050405020304" pitchFamily="18" charset="0"/>
                <a:cs typeface="Times New Roman" panose="02020603050405020304" pitchFamily="18" charset="0"/>
                <a:hlinkClick r:id="rId2" action="ppaction://hlinkfile"/>
              </a:rPr>
              <a:t>Rs</a:t>
            </a:r>
            <a:r>
              <a:rPr lang="en-IN" sz="2000" b="1" i="1" u="sng" dirty="0">
                <a:latin typeface="Times New Roman" panose="02020603050405020304" pitchFamily="18" charset="0"/>
                <a:cs typeface="Times New Roman" panose="02020603050405020304" pitchFamily="18" charset="0"/>
                <a:hlinkClick r:id="rId2" action="ppaction://hlinkfile"/>
              </a:rPr>
              <a:t>. 2.64-2.65/kWh)</a:t>
            </a:r>
            <a:endParaRPr lang="en-IN" sz="2000" b="1" i="1" u="sng" dirty="0">
              <a:latin typeface="Times New Roman" panose="02020603050405020304" pitchFamily="18" charset="0"/>
              <a:cs typeface="Times New Roman" panose="02020603050405020304" pitchFamily="18" charset="0"/>
            </a:endParaRPr>
          </a:p>
          <a:p>
            <a:pPr algn="ctr"/>
            <a:r>
              <a:rPr lang="en-IN" sz="2000" b="1" i="1" u="sng" dirty="0">
                <a:latin typeface="Times New Roman" panose="02020603050405020304" pitchFamily="18" charset="0"/>
                <a:cs typeface="Times New Roman" panose="02020603050405020304" pitchFamily="18" charset="0"/>
              </a:rPr>
              <a:t>Effective date of PPA: 19.12.2017 – 02.01.2018</a:t>
            </a:r>
          </a:p>
        </p:txBody>
      </p:sp>
      <p:graphicFrame>
        <p:nvGraphicFramePr>
          <p:cNvPr id="8" name="Table 7">
            <a:extLst>
              <a:ext uri="{FF2B5EF4-FFF2-40B4-BE49-F238E27FC236}">
                <a16:creationId xmlns:a16="http://schemas.microsoft.com/office/drawing/2014/main" id="{98FEA182-0AF9-2579-8B78-2A141A370C21}"/>
              </a:ext>
            </a:extLst>
          </p:cNvPr>
          <p:cNvGraphicFramePr>
            <a:graphicFrameLocks noGrp="1"/>
          </p:cNvGraphicFramePr>
          <p:nvPr>
            <p:extLst>
              <p:ext uri="{D42A27DB-BD31-4B8C-83A1-F6EECF244321}">
                <p14:modId xmlns:p14="http://schemas.microsoft.com/office/powerpoint/2010/main" val="3053704717"/>
              </p:ext>
            </p:extLst>
          </p:nvPr>
        </p:nvGraphicFramePr>
        <p:xfrm>
          <a:off x="498759" y="1143000"/>
          <a:ext cx="11564101" cy="4572000"/>
        </p:xfrm>
        <a:graphic>
          <a:graphicData uri="http://schemas.openxmlformats.org/drawingml/2006/table">
            <a:tbl>
              <a:tblPr firstRow="1" bandRow="1">
                <a:tableStyleId>{5C22544A-7EE6-4342-B048-85BDC9FD1C3A}</a:tableStyleId>
              </a:tblPr>
              <a:tblGrid>
                <a:gridCol w="581676">
                  <a:extLst>
                    <a:ext uri="{9D8B030D-6E8A-4147-A177-3AD203B41FA5}">
                      <a16:colId xmlns:a16="http://schemas.microsoft.com/office/drawing/2014/main" val="3842924706"/>
                    </a:ext>
                  </a:extLst>
                </a:gridCol>
                <a:gridCol w="4550343">
                  <a:extLst>
                    <a:ext uri="{9D8B030D-6E8A-4147-A177-3AD203B41FA5}">
                      <a16:colId xmlns:a16="http://schemas.microsoft.com/office/drawing/2014/main" val="425937265"/>
                    </a:ext>
                  </a:extLst>
                </a:gridCol>
                <a:gridCol w="1864895">
                  <a:extLst>
                    <a:ext uri="{9D8B030D-6E8A-4147-A177-3AD203B41FA5}">
                      <a16:colId xmlns:a16="http://schemas.microsoft.com/office/drawing/2014/main" val="908932994"/>
                    </a:ext>
                  </a:extLst>
                </a:gridCol>
                <a:gridCol w="1672390">
                  <a:extLst>
                    <a:ext uri="{9D8B030D-6E8A-4147-A177-3AD203B41FA5}">
                      <a16:colId xmlns:a16="http://schemas.microsoft.com/office/drawing/2014/main" val="630513307"/>
                    </a:ext>
                  </a:extLst>
                </a:gridCol>
                <a:gridCol w="2894797">
                  <a:extLst>
                    <a:ext uri="{9D8B030D-6E8A-4147-A177-3AD203B41FA5}">
                      <a16:colId xmlns:a16="http://schemas.microsoft.com/office/drawing/2014/main" val="3488083070"/>
                    </a:ext>
                  </a:extLst>
                </a:gridCol>
              </a:tblGrid>
              <a:tr h="745635">
                <a:tc>
                  <a:txBody>
                    <a:bodyPr/>
                    <a:lstStyle/>
                    <a:p>
                      <a:pPr algn="ctr"/>
                      <a:r>
                        <a:rPr lang="en-IN" sz="1800" dirty="0">
                          <a:latin typeface="Times New Roman" panose="02020603050405020304" pitchFamily="18" charset="0"/>
                          <a:cs typeface="Times New Roman" panose="02020603050405020304" pitchFamily="18" charset="0"/>
                        </a:rPr>
                        <a:t>Sr. No.</a:t>
                      </a:r>
                    </a:p>
                  </a:txBody>
                  <a:tcPr/>
                </a:tc>
                <a:tc>
                  <a:txBody>
                    <a:bodyPr/>
                    <a:lstStyle/>
                    <a:p>
                      <a:pPr algn="ctr"/>
                      <a:r>
                        <a:rPr lang="en-IN" sz="1800" dirty="0">
                          <a:latin typeface="Times New Roman" panose="02020603050405020304" pitchFamily="18" charset="0"/>
                          <a:cs typeface="Times New Roman" panose="02020603050405020304" pitchFamily="18" charset="0"/>
                        </a:rPr>
                        <a:t>WPD</a:t>
                      </a:r>
                    </a:p>
                  </a:txBody>
                  <a:tcPr/>
                </a:tc>
                <a:tc>
                  <a:txBody>
                    <a:bodyPr/>
                    <a:lstStyle/>
                    <a:p>
                      <a:pPr algn="ctr"/>
                      <a:r>
                        <a:rPr lang="en-IN" sz="1800" dirty="0">
                          <a:latin typeface="Times New Roman" panose="02020603050405020304" pitchFamily="18" charset="0"/>
                          <a:cs typeface="Times New Roman" panose="02020603050405020304" pitchFamily="18" charset="0"/>
                        </a:rPr>
                        <a:t>PPA Capacity </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Commissioned Capacity</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4149655926"/>
                  </a:ext>
                </a:extLst>
              </a:tr>
              <a:tr h="24797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ReNew Power Private Limited</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230.1</a:t>
                      </a:r>
                    </a:p>
                  </a:txBody>
                  <a:tcPr/>
                </a:tc>
                <a:tc>
                  <a:txBody>
                    <a:bodyPr/>
                    <a:lstStyle/>
                    <a:p>
                      <a:pPr marL="0" indent="0" algn="ctr">
                        <a:buFont typeface="Arial" panose="020B0604020202020204" pitchFamily="34" charset="0"/>
                        <a:buNone/>
                      </a:pPr>
                      <a:r>
                        <a:rPr lang="en-US" sz="1800" dirty="0">
                          <a:solidFill>
                            <a:schemeClr val="tx1"/>
                          </a:solidFill>
                          <a:latin typeface="Times New Roman" panose="02020603050405020304" pitchFamily="18" charset="0"/>
                          <a:cs typeface="Times New Roman" panose="02020603050405020304" pitchFamily="18" charset="0"/>
                        </a:rPr>
                        <a:t>19.9 MW stands cancelled.</a:t>
                      </a:r>
                      <a:endParaRPr lang="en-IN" sz="18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30504760"/>
                  </a:ext>
                </a:extLst>
              </a:tr>
              <a:tr h="18300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Haroda Wind Energy Private Limited</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Projects stand cancelled.</a:t>
                      </a:r>
                    </a:p>
                  </a:txBody>
                  <a:tcPr anchor="ctr"/>
                </a:tc>
                <a:extLst>
                  <a:ext uri="{0D108BD9-81ED-4DB2-BD59-A6C34878D82A}">
                    <a16:rowId xmlns:a16="http://schemas.microsoft.com/office/drawing/2014/main" val="63354006"/>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p>
                  </a:txBody>
                  <a:tcPr/>
                </a:tc>
                <a:tc>
                  <a:txBody>
                    <a:bodyPr/>
                    <a:lstStyle/>
                    <a:p>
                      <a:pPr algn="l" fontAlgn="ctr"/>
                      <a:r>
                        <a:rPr lang="en-US" sz="1800" b="0" i="0" u="none" strike="noStrike" dirty="0">
                          <a:solidFill>
                            <a:schemeClr val="tx1"/>
                          </a:solidFill>
                          <a:effectLst/>
                          <a:latin typeface="Times New Roman" panose="02020603050405020304" pitchFamily="18" charset="0"/>
                          <a:cs typeface="Times New Roman" panose="02020603050405020304" pitchFamily="18" charset="0"/>
                        </a:rPr>
                        <a:t>  Khatiyu Wind Energy Private Limited</a:t>
                      </a:r>
                    </a:p>
                  </a:txBody>
                  <a:tcPr marL="6350" marR="6350" marT="6350" marB="0"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tc>
                <a:tc vMerge="1">
                  <a:txBody>
                    <a:bodyPr/>
                    <a:lstStyle/>
                    <a:p>
                      <a:endParaRPr/>
                    </a:p>
                  </a:txBody>
                  <a:tcPr/>
                </a:tc>
                <a:extLst>
                  <a:ext uri="{0D108BD9-81ED-4DB2-BD59-A6C34878D82A}">
                    <a16:rowId xmlns:a16="http://schemas.microsoft.com/office/drawing/2014/main" val="4057950148"/>
                  </a:ext>
                </a:extLst>
              </a:tr>
              <a:tr h="173375">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Vigodi Wind Energy Private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tc>
                <a:tc vMerge="1">
                  <a:txBody>
                    <a:bodyPr/>
                    <a:lstStyle/>
                    <a:p>
                      <a:endParaRPr/>
                    </a:p>
                  </a:txBody>
                  <a:tcPr/>
                </a:tc>
                <a:extLst>
                  <a:ext uri="{0D108BD9-81ED-4DB2-BD59-A6C34878D82A}">
                    <a16:rowId xmlns:a16="http://schemas.microsoft.com/office/drawing/2014/main" val="3328340920"/>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Ravapar Wind Energy Private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tc>
                <a:tc vMerge="1">
                  <a:txBody>
                    <a:bodyPr/>
                    <a:lstStyle/>
                    <a:p>
                      <a:endParaRPr dirty="0"/>
                    </a:p>
                  </a:txBody>
                  <a:tcPr/>
                </a:tc>
                <a:extLst>
                  <a:ext uri="{0D108BD9-81ED-4DB2-BD59-A6C34878D82A}">
                    <a16:rowId xmlns:a16="http://schemas.microsoft.com/office/drawing/2014/main" val="4054741854"/>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6</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Inox Clean Energy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dirty="0">
                          <a:solidFill>
                            <a:schemeClr val="tx1"/>
                          </a:solidFill>
                          <a:latin typeface="Times New Roman" panose="02020603050405020304" pitchFamily="18" charset="0"/>
                          <a:cs typeface="Times New Roman" panose="02020603050405020304" pitchFamily="18" charset="0"/>
                        </a:rPr>
                        <a:t>20 MW stands terminated.</a:t>
                      </a:r>
                    </a:p>
                  </a:txBody>
                  <a:tcPr/>
                </a:tc>
                <a:extLst>
                  <a:ext uri="{0D108BD9-81ED-4DB2-BD59-A6C34878D82A}">
                    <a16:rowId xmlns:a16="http://schemas.microsoft.com/office/drawing/2014/main" val="1438233318"/>
                  </a:ext>
                </a:extLst>
              </a:tr>
              <a:tr h="218173">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7</a:t>
                      </a:r>
                    </a:p>
                  </a:txBody>
                  <a:tcPr/>
                </a:tc>
                <a:tc>
                  <a:txBody>
                    <a:bodyPr/>
                    <a:lstStyle/>
                    <a:p>
                      <a:r>
                        <a:rPr lang="en-US" sz="1800" dirty="0" err="1">
                          <a:solidFill>
                            <a:schemeClr val="tx1"/>
                          </a:solidFill>
                          <a:latin typeface="Times New Roman" panose="02020603050405020304" pitchFamily="18" charset="0"/>
                          <a:cs typeface="Times New Roman" panose="02020603050405020304" pitchFamily="18" charset="0"/>
                        </a:rPr>
                        <a:t>Greenko</a:t>
                      </a:r>
                      <a:r>
                        <a:rPr lang="en-US" sz="1800" dirty="0">
                          <a:solidFill>
                            <a:schemeClr val="tx1"/>
                          </a:solidFill>
                          <a:latin typeface="Times New Roman" panose="02020603050405020304" pitchFamily="18" charset="0"/>
                          <a:cs typeface="Times New Roman" panose="02020603050405020304" pitchFamily="18" charset="0"/>
                        </a:rPr>
                        <a:t> Wind Power Private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200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200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a:t>
                      </a:r>
                      <a:endPar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619993447"/>
                  </a:ext>
                </a:extLst>
              </a:tr>
              <a:tr h="1676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8</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Sembcorp Green Infra Private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250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a:t>
                      </a:r>
                      <a:endPar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3629878236"/>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9</a:t>
                      </a: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Adani Wind Energy Kutchh One </a:t>
                      </a:r>
                      <a:r>
                        <a:rPr lang="en-US" sz="1800" dirty="0">
                          <a:solidFill>
                            <a:schemeClr val="tx1"/>
                          </a:solidFill>
                          <a:latin typeface="Times New Roman" panose="02020603050405020304" pitchFamily="18" charset="0"/>
                          <a:cs typeface="Times New Roman" panose="02020603050405020304" pitchFamily="18" charset="0"/>
                        </a:rPr>
                        <a:t>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endPar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252945460"/>
                  </a:ext>
                </a:extLst>
              </a:tr>
              <a:tr h="0">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b="1" dirty="0">
                          <a:solidFill>
                            <a:schemeClr val="tx1"/>
                          </a:solidFill>
                          <a:latin typeface="Times New Roman" panose="02020603050405020304" pitchFamily="18" charset="0"/>
                          <a:cs typeface="Times New Roman" panose="02020603050405020304" pitchFamily="18" charset="0"/>
                        </a:rPr>
                        <a:t>Total</a:t>
                      </a:r>
                    </a:p>
                  </a:txBody>
                  <a:tcP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1000</a:t>
                      </a:r>
                    </a:p>
                  </a:txBody>
                  <a:tcP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760.1</a:t>
                      </a:r>
                    </a:p>
                  </a:txBody>
                  <a:tcPr/>
                </a:tc>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69364343"/>
                  </a:ext>
                </a:extLst>
              </a:tr>
            </a:tbl>
          </a:graphicData>
        </a:graphic>
      </p:graphicFrame>
      <p:sp>
        <p:nvSpPr>
          <p:cNvPr id="2" name="TextBox 1">
            <a:extLst>
              <a:ext uri="{FF2B5EF4-FFF2-40B4-BE49-F238E27FC236}">
                <a16:creationId xmlns:a16="http://schemas.microsoft.com/office/drawing/2014/main" id="{49B2574E-73D3-0E9A-E485-DCE6A09F883C}"/>
              </a:ext>
            </a:extLst>
          </p:cNvPr>
          <p:cNvSpPr txBox="1"/>
          <p:nvPr/>
        </p:nvSpPr>
        <p:spPr>
          <a:xfrm>
            <a:off x="8602133" y="6172200"/>
            <a:ext cx="1261534" cy="369332"/>
          </a:xfrm>
          <a:prstGeom prst="rect">
            <a:avLst/>
          </a:prstGeom>
          <a:noFill/>
        </p:spPr>
        <p:txBody>
          <a:bodyPr wrap="square" rtlCol="0">
            <a:spAutoFit/>
          </a:bodyPr>
          <a:lstStyle/>
          <a:p>
            <a:r>
              <a:rPr lang="en-US" dirty="0">
                <a:hlinkClick r:id="rId3" action="ppaction://hlinksldjump"/>
              </a:rPr>
              <a:t>Back</a:t>
            </a:r>
            <a:endParaRPr lang="en-IN" dirty="0"/>
          </a:p>
        </p:txBody>
      </p:sp>
    </p:spTree>
    <p:extLst>
      <p:ext uri="{BB962C8B-B14F-4D97-AF65-F5344CB8AC3E}">
        <p14:creationId xmlns:p14="http://schemas.microsoft.com/office/powerpoint/2010/main" val="27800848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03412" y="5148470"/>
            <a:ext cx="10721009" cy="369332"/>
          </a:xfrm>
          <a:prstGeom prst="rect">
            <a:avLst/>
          </a:prstGeom>
          <a:noFill/>
        </p:spPr>
        <p:txBody>
          <a:bodyPr wrap="square" rtlCol="0">
            <a:spAutoFit/>
          </a:bodyPr>
          <a:lstStyle/>
          <a:p>
            <a:endParaRPr lang="en-IN" dirty="0">
              <a:solidFill>
                <a:srgbClr val="FF0000"/>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3901713" y="147901"/>
            <a:ext cx="4388573" cy="707886"/>
          </a:xfrm>
          <a:prstGeom prst="rect">
            <a:avLst/>
          </a:prstGeom>
          <a:noFill/>
        </p:spPr>
        <p:txBody>
          <a:bodyPr wrap="none" rtlCol="0">
            <a:spAutoFit/>
          </a:bodyPr>
          <a:lstStyle/>
          <a:p>
            <a:pPr algn="ctr"/>
            <a:r>
              <a:rPr lang="en-IN" sz="2000" b="1" i="1" u="sng" dirty="0">
                <a:latin typeface="Times New Roman" panose="02020603050405020304" pitchFamily="18" charset="0"/>
                <a:cs typeface="Times New Roman" panose="02020603050405020304" pitchFamily="18" charset="0"/>
                <a:hlinkClick r:id="rId2" action="ppaction://hlinkfile"/>
              </a:rPr>
              <a:t>Tranche – 3 (Tariff: Rs. 2.44-2.45/kWh)</a:t>
            </a:r>
            <a:endParaRPr lang="en-IN" sz="2000" b="1" i="1" u="sng" dirty="0">
              <a:latin typeface="Times New Roman" panose="02020603050405020304" pitchFamily="18" charset="0"/>
              <a:cs typeface="Times New Roman" panose="02020603050405020304" pitchFamily="18" charset="0"/>
            </a:endParaRPr>
          </a:p>
          <a:p>
            <a:pPr algn="ctr"/>
            <a:r>
              <a:rPr lang="en-IN" sz="2000" b="1" i="1" u="sng" dirty="0">
                <a:latin typeface="Times New Roman" panose="02020603050405020304" pitchFamily="18" charset="0"/>
                <a:cs typeface="Times New Roman" panose="02020603050405020304" pitchFamily="18" charset="0"/>
              </a:rPr>
              <a:t>Effective date of PPA: 24.05.2018</a:t>
            </a:r>
          </a:p>
        </p:txBody>
      </p:sp>
      <p:graphicFrame>
        <p:nvGraphicFramePr>
          <p:cNvPr id="8" name="Table 7">
            <a:extLst>
              <a:ext uri="{FF2B5EF4-FFF2-40B4-BE49-F238E27FC236}">
                <a16:creationId xmlns:a16="http://schemas.microsoft.com/office/drawing/2014/main" id="{8441B711-4193-88BF-172B-722440D57063}"/>
              </a:ext>
            </a:extLst>
          </p:cNvPr>
          <p:cNvGraphicFramePr>
            <a:graphicFrameLocks noGrp="1"/>
          </p:cNvGraphicFramePr>
          <p:nvPr>
            <p:extLst>
              <p:ext uri="{D42A27DB-BD31-4B8C-83A1-F6EECF244321}">
                <p14:modId xmlns:p14="http://schemas.microsoft.com/office/powerpoint/2010/main" val="1352582640"/>
              </p:ext>
            </p:extLst>
          </p:nvPr>
        </p:nvGraphicFramePr>
        <p:xfrm>
          <a:off x="473157" y="1076571"/>
          <a:ext cx="11245683" cy="4389120"/>
        </p:xfrm>
        <a:graphic>
          <a:graphicData uri="http://schemas.openxmlformats.org/drawingml/2006/table">
            <a:tbl>
              <a:tblPr firstRow="1" bandRow="1">
                <a:tableStyleId>{5C22544A-7EE6-4342-B048-85BDC9FD1C3A}</a:tableStyleId>
              </a:tblPr>
              <a:tblGrid>
                <a:gridCol w="874380">
                  <a:extLst>
                    <a:ext uri="{9D8B030D-6E8A-4147-A177-3AD203B41FA5}">
                      <a16:colId xmlns:a16="http://schemas.microsoft.com/office/drawing/2014/main" val="3943116801"/>
                    </a:ext>
                  </a:extLst>
                </a:gridCol>
                <a:gridCol w="4439652">
                  <a:extLst>
                    <a:ext uri="{9D8B030D-6E8A-4147-A177-3AD203B41FA5}">
                      <a16:colId xmlns:a16="http://schemas.microsoft.com/office/drawing/2014/main" val="35525800"/>
                    </a:ext>
                  </a:extLst>
                </a:gridCol>
                <a:gridCol w="1299411">
                  <a:extLst>
                    <a:ext uri="{9D8B030D-6E8A-4147-A177-3AD203B41FA5}">
                      <a16:colId xmlns:a16="http://schemas.microsoft.com/office/drawing/2014/main" val="2705512042"/>
                    </a:ext>
                  </a:extLst>
                </a:gridCol>
                <a:gridCol w="1828800">
                  <a:extLst>
                    <a:ext uri="{9D8B030D-6E8A-4147-A177-3AD203B41FA5}">
                      <a16:colId xmlns:a16="http://schemas.microsoft.com/office/drawing/2014/main" val="1758622682"/>
                    </a:ext>
                  </a:extLst>
                </a:gridCol>
                <a:gridCol w="2803440">
                  <a:extLst>
                    <a:ext uri="{9D8B030D-6E8A-4147-A177-3AD203B41FA5}">
                      <a16:colId xmlns:a16="http://schemas.microsoft.com/office/drawing/2014/main" val="2903210109"/>
                    </a:ext>
                  </a:extLst>
                </a:gridCol>
              </a:tblGrid>
              <a:tr h="894419">
                <a:tc>
                  <a:txBody>
                    <a:bodyPr/>
                    <a:lstStyle/>
                    <a:p>
                      <a:pPr algn="ctr"/>
                      <a:r>
                        <a:rPr lang="en-IN" sz="1800" dirty="0">
                          <a:latin typeface="Times New Roman" panose="02020603050405020304" pitchFamily="18" charset="0"/>
                          <a:cs typeface="Times New Roman" panose="02020603050405020304" pitchFamily="18" charset="0"/>
                        </a:rPr>
                        <a:t>Sr. No.</a:t>
                      </a:r>
                    </a:p>
                  </a:txBody>
                  <a:tcPr/>
                </a:tc>
                <a:tc>
                  <a:txBody>
                    <a:bodyPr/>
                    <a:lstStyle/>
                    <a:p>
                      <a:pPr algn="ctr"/>
                      <a:r>
                        <a:rPr lang="en-IN" sz="1800" dirty="0">
                          <a:latin typeface="Times New Roman" panose="02020603050405020304" pitchFamily="18" charset="0"/>
                          <a:cs typeface="Times New Roman" panose="02020603050405020304" pitchFamily="18" charset="0"/>
                        </a:rPr>
                        <a:t>WPD</a:t>
                      </a:r>
                    </a:p>
                  </a:txBody>
                  <a:tcPr/>
                </a:tc>
                <a:tc>
                  <a:txBody>
                    <a:bodyPr/>
                    <a:lstStyle/>
                    <a:p>
                      <a:pPr algn="ctr"/>
                      <a:r>
                        <a:rPr lang="en-IN" sz="1800" dirty="0">
                          <a:latin typeface="Times New Roman" panose="02020603050405020304" pitchFamily="18" charset="0"/>
                          <a:cs typeface="Times New Roman" panose="02020603050405020304" pitchFamily="18" charset="0"/>
                        </a:rPr>
                        <a:t>PPA Capacity </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Commissioned Capacity (MW)</a:t>
                      </a:r>
                    </a:p>
                  </a:txBody>
                  <a:tcPr/>
                </a:tc>
                <a:tc>
                  <a:txBody>
                    <a:bodyPr/>
                    <a:lstStyle/>
                    <a:p>
                      <a:pPr algn="ctr"/>
                      <a:r>
                        <a:rPr lang="en-IN" sz="1800"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416379899"/>
                  </a:ext>
                </a:extLst>
              </a:tr>
              <a:tr h="626093">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ReNew Wind Energy (AP2) Private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400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tc>
                <a:tc>
                  <a:txBody>
                    <a:bodyPr/>
                    <a:lstStyle/>
                    <a:p>
                      <a:pPr marL="0" indent="0" algn="ctr">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Under litigation to the extent of 100 MW project capacity.</a:t>
                      </a:r>
                    </a:p>
                  </a:txBody>
                  <a:tcPr/>
                </a:tc>
                <a:extLst>
                  <a:ext uri="{0D108BD9-81ED-4DB2-BD59-A6C34878D82A}">
                    <a16:rowId xmlns:a16="http://schemas.microsoft.com/office/drawing/2014/main" val="2702040455"/>
                  </a:ext>
                </a:extLst>
              </a:tr>
              <a:tr h="214833">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Sembcorp Green Infra Pvt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2346688968"/>
                  </a:ext>
                </a:extLst>
              </a:tr>
              <a:tr h="246115">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p>
                  </a:txBody>
                  <a:tcPr/>
                </a:tc>
                <a:tc>
                  <a:txBody>
                    <a:bodyPr/>
                    <a:lstStyle/>
                    <a:p>
                      <a:pPr algn="l" fontAlgn="ctr"/>
                      <a:r>
                        <a:rPr lang="en-US" sz="1800" b="0" i="0" u="none" strike="noStrike" dirty="0">
                          <a:solidFill>
                            <a:schemeClr val="tx1"/>
                          </a:solidFill>
                          <a:effectLst/>
                          <a:latin typeface="Times New Roman" panose="02020603050405020304" pitchFamily="18" charset="0"/>
                          <a:cs typeface="Times New Roman" panose="02020603050405020304" pitchFamily="18" charset="0"/>
                        </a:rPr>
                        <a:t>Inox Green Energy Services Limited</a:t>
                      </a:r>
                    </a:p>
                  </a:txBody>
                  <a:tcPr marL="6350" marR="6350" marT="6350" marB="0"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200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Under litigation</a:t>
                      </a:r>
                      <a:endParaRPr lang="en-IN" sz="12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37326614"/>
                  </a:ext>
                </a:extLst>
              </a:tr>
              <a:tr h="307061">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a:t>
                      </a: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Torrent Power Limited</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499.8</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Under litigation</a:t>
                      </a:r>
                      <a:endParaRPr lang="en-IN" sz="12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95283902"/>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a:t>
                      </a:r>
                      <a:endParaRPr lang="en-IN" dirty="0"/>
                    </a:p>
                  </a:txBody>
                  <a:tcPr/>
                </a:tc>
                <a:tc>
                  <a:txBody>
                    <a:bodyPr/>
                    <a:lstStyle/>
                    <a:p>
                      <a:r>
                        <a:rPr lang="en-IN" sz="1800">
                          <a:solidFill>
                            <a:schemeClr val="tx1"/>
                          </a:solidFill>
                          <a:latin typeface="Times New Roman" panose="02020603050405020304" pitchFamily="18" charset="0"/>
                          <a:cs typeface="Times New Roman" panose="02020603050405020304" pitchFamily="18" charset="0"/>
                        </a:rPr>
                        <a:t>Alfanar Energy Private Limited</a:t>
                      </a:r>
                      <a:endParaRPr lang="en-IN"/>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endParaRPr lang="en-IN" dirty="0"/>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endParaRPr lang="en-IN" dirty="0"/>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2978790659"/>
                  </a:ext>
                </a:extLst>
              </a:tr>
              <a:tr h="172588">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6</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Adani Green Energy (MP)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Under litigation</a:t>
                      </a:r>
                      <a:endParaRPr lang="en-IN" sz="12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74883551"/>
                  </a:ext>
                </a:extLst>
              </a:tr>
              <a:tr h="172588">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7</a:t>
                      </a: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Betam Wind Energy Private Limited</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50.2</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50.2</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3834773923"/>
                  </a:ext>
                </a:extLst>
              </a:tr>
              <a:tr h="172588">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b="1" dirty="0">
                          <a:solidFill>
                            <a:schemeClr val="tx1"/>
                          </a:solidFill>
                          <a:latin typeface="Times New Roman" panose="02020603050405020304" pitchFamily="18" charset="0"/>
                          <a:cs typeface="Times New Roman" panose="02020603050405020304" pitchFamily="18" charset="0"/>
                        </a:rPr>
                        <a:t>Total</a:t>
                      </a:r>
                    </a:p>
                  </a:txBody>
                  <a:tcP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2000</a:t>
                      </a:r>
                    </a:p>
                  </a:txBody>
                  <a:tcP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950.2</a:t>
                      </a:r>
                    </a:p>
                  </a:txBody>
                  <a:tcPr/>
                </a:tc>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14803005"/>
                  </a:ext>
                </a:extLst>
              </a:tr>
            </a:tbl>
          </a:graphicData>
        </a:graphic>
      </p:graphicFrame>
      <p:sp>
        <p:nvSpPr>
          <p:cNvPr id="3" name="TextBox 2">
            <a:extLst>
              <a:ext uri="{FF2B5EF4-FFF2-40B4-BE49-F238E27FC236}">
                <a16:creationId xmlns:a16="http://schemas.microsoft.com/office/drawing/2014/main" id="{DF2AF25A-1814-F19A-3260-D084E919DED5}"/>
              </a:ext>
            </a:extLst>
          </p:cNvPr>
          <p:cNvSpPr txBox="1"/>
          <p:nvPr/>
        </p:nvSpPr>
        <p:spPr>
          <a:xfrm>
            <a:off x="8602133" y="6172200"/>
            <a:ext cx="1261534" cy="369332"/>
          </a:xfrm>
          <a:prstGeom prst="rect">
            <a:avLst/>
          </a:prstGeom>
          <a:noFill/>
        </p:spPr>
        <p:txBody>
          <a:bodyPr wrap="square" rtlCol="0">
            <a:spAutoFit/>
          </a:bodyPr>
          <a:lstStyle/>
          <a:p>
            <a:r>
              <a:rPr lang="en-US" dirty="0">
                <a:hlinkClick r:id="rId3" action="ppaction://hlinksldjump"/>
              </a:rPr>
              <a:t>Back</a:t>
            </a:r>
            <a:endParaRPr lang="en-IN" dirty="0"/>
          </a:p>
        </p:txBody>
      </p:sp>
    </p:spTree>
    <p:extLst>
      <p:ext uri="{BB962C8B-B14F-4D97-AF65-F5344CB8AC3E}">
        <p14:creationId xmlns:p14="http://schemas.microsoft.com/office/powerpoint/2010/main" val="2291557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901712" y="202733"/>
            <a:ext cx="4388573" cy="707886"/>
          </a:xfrm>
          <a:prstGeom prst="rect">
            <a:avLst/>
          </a:prstGeom>
          <a:noFill/>
        </p:spPr>
        <p:txBody>
          <a:bodyPr wrap="none" rtlCol="0">
            <a:spAutoFit/>
          </a:bodyPr>
          <a:lstStyle/>
          <a:p>
            <a:pPr algn="ctr"/>
            <a:r>
              <a:rPr lang="en-IN" sz="2000" b="1" i="1" u="sng" dirty="0">
                <a:latin typeface="Times New Roman" panose="02020603050405020304" pitchFamily="18" charset="0"/>
                <a:cs typeface="Times New Roman" panose="02020603050405020304" pitchFamily="18" charset="0"/>
                <a:hlinkClick r:id="rId2" action="ppaction://hlinkfile"/>
              </a:rPr>
              <a:t>Tranche – 4 (Tariff: </a:t>
            </a:r>
            <a:r>
              <a:rPr lang="en-IN" sz="2000" b="1" i="1" u="sng" dirty="0" err="1">
                <a:latin typeface="Times New Roman" panose="02020603050405020304" pitchFamily="18" charset="0"/>
                <a:cs typeface="Times New Roman" panose="02020603050405020304" pitchFamily="18" charset="0"/>
                <a:hlinkClick r:id="rId2" action="ppaction://hlinkfile"/>
              </a:rPr>
              <a:t>Rs</a:t>
            </a:r>
            <a:r>
              <a:rPr lang="en-IN" sz="2000" b="1" i="1" u="sng" dirty="0">
                <a:latin typeface="Times New Roman" panose="02020603050405020304" pitchFamily="18" charset="0"/>
                <a:cs typeface="Times New Roman" panose="02020603050405020304" pitchFamily="18" charset="0"/>
                <a:hlinkClick r:id="rId2" action="ppaction://hlinkfile"/>
              </a:rPr>
              <a:t>. 2.51-2.52/kWh)</a:t>
            </a:r>
            <a:endParaRPr lang="en-IN" sz="2000" b="1" i="1" u="sng" dirty="0">
              <a:latin typeface="Times New Roman" panose="02020603050405020304" pitchFamily="18" charset="0"/>
              <a:cs typeface="Times New Roman" panose="02020603050405020304" pitchFamily="18" charset="0"/>
            </a:endParaRPr>
          </a:p>
          <a:p>
            <a:pPr algn="ctr"/>
            <a:r>
              <a:rPr lang="en-IN" sz="2000" b="1" i="1" u="sng" dirty="0">
                <a:latin typeface="Times New Roman" panose="02020603050405020304" pitchFamily="18" charset="0"/>
                <a:cs typeface="Times New Roman" panose="02020603050405020304" pitchFamily="18" charset="0"/>
              </a:rPr>
              <a:t>Effective date of PPA: 30.08.2018</a:t>
            </a:r>
          </a:p>
        </p:txBody>
      </p:sp>
      <p:graphicFrame>
        <p:nvGraphicFramePr>
          <p:cNvPr id="9" name="Table 8">
            <a:extLst>
              <a:ext uri="{FF2B5EF4-FFF2-40B4-BE49-F238E27FC236}">
                <a16:creationId xmlns:a16="http://schemas.microsoft.com/office/drawing/2014/main" id="{AE987960-2659-D8C3-FC43-0952083AE519}"/>
              </a:ext>
            </a:extLst>
          </p:cNvPr>
          <p:cNvGraphicFramePr>
            <a:graphicFrameLocks noGrp="1"/>
          </p:cNvGraphicFramePr>
          <p:nvPr>
            <p:extLst>
              <p:ext uri="{D42A27DB-BD31-4B8C-83A1-F6EECF244321}">
                <p14:modId xmlns:p14="http://schemas.microsoft.com/office/powerpoint/2010/main" val="429301373"/>
              </p:ext>
            </p:extLst>
          </p:nvPr>
        </p:nvGraphicFramePr>
        <p:xfrm>
          <a:off x="455594" y="910619"/>
          <a:ext cx="11280807" cy="5548715"/>
        </p:xfrm>
        <a:graphic>
          <a:graphicData uri="http://schemas.openxmlformats.org/drawingml/2006/table">
            <a:tbl>
              <a:tblPr firstRow="1" bandRow="1">
                <a:tableStyleId>{5C22544A-7EE6-4342-B048-85BDC9FD1C3A}</a:tableStyleId>
              </a:tblPr>
              <a:tblGrid>
                <a:gridCol w="869592">
                  <a:extLst>
                    <a:ext uri="{9D8B030D-6E8A-4147-A177-3AD203B41FA5}">
                      <a16:colId xmlns:a16="http://schemas.microsoft.com/office/drawing/2014/main" val="4064482732"/>
                    </a:ext>
                  </a:extLst>
                </a:gridCol>
                <a:gridCol w="4690603">
                  <a:extLst>
                    <a:ext uri="{9D8B030D-6E8A-4147-A177-3AD203B41FA5}">
                      <a16:colId xmlns:a16="http://schemas.microsoft.com/office/drawing/2014/main" val="320820394"/>
                    </a:ext>
                  </a:extLst>
                </a:gridCol>
                <a:gridCol w="1287379">
                  <a:extLst>
                    <a:ext uri="{9D8B030D-6E8A-4147-A177-3AD203B41FA5}">
                      <a16:colId xmlns:a16="http://schemas.microsoft.com/office/drawing/2014/main" val="1105387179"/>
                    </a:ext>
                  </a:extLst>
                </a:gridCol>
                <a:gridCol w="1744579">
                  <a:extLst>
                    <a:ext uri="{9D8B030D-6E8A-4147-A177-3AD203B41FA5}">
                      <a16:colId xmlns:a16="http://schemas.microsoft.com/office/drawing/2014/main" val="1761692143"/>
                    </a:ext>
                  </a:extLst>
                </a:gridCol>
                <a:gridCol w="2688654">
                  <a:extLst>
                    <a:ext uri="{9D8B030D-6E8A-4147-A177-3AD203B41FA5}">
                      <a16:colId xmlns:a16="http://schemas.microsoft.com/office/drawing/2014/main" val="1177015039"/>
                    </a:ext>
                  </a:extLst>
                </a:gridCol>
              </a:tblGrid>
              <a:tr h="1159595">
                <a:tc>
                  <a:txBody>
                    <a:bodyPr/>
                    <a:lstStyle/>
                    <a:p>
                      <a:pPr algn="ctr"/>
                      <a:r>
                        <a:rPr lang="en-IN" sz="1800" dirty="0">
                          <a:latin typeface="Times New Roman" panose="02020603050405020304" pitchFamily="18" charset="0"/>
                          <a:cs typeface="Times New Roman" panose="02020603050405020304" pitchFamily="18" charset="0"/>
                        </a:rPr>
                        <a:t>Sr. No.</a:t>
                      </a:r>
                    </a:p>
                  </a:txBody>
                  <a:tcPr/>
                </a:tc>
                <a:tc>
                  <a:txBody>
                    <a:bodyPr/>
                    <a:lstStyle/>
                    <a:p>
                      <a:pPr algn="ctr"/>
                      <a:r>
                        <a:rPr lang="en-IN" sz="1800" dirty="0">
                          <a:latin typeface="Times New Roman" panose="02020603050405020304" pitchFamily="18" charset="0"/>
                          <a:cs typeface="Times New Roman" panose="02020603050405020304" pitchFamily="18" charset="0"/>
                        </a:rPr>
                        <a:t>WPD</a:t>
                      </a:r>
                    </a:p>
                  </a:txBody>
                  <a:tcPr/>
                </a:tc>
                <a:tc>
                  <a:txBody>
                    <a:bodyPr/>
                    <a:lstStyle/>
                    <a:p>
                      <a:pPr algn="ctr"/>
                      <a:r>
                        <a:rPr lang="en-IN" sz="1800" dirty="0">
                          <a:latin typeface="Times New Roman" panose="02020603050405020304" pitchFamily="18" charset="0"/>
                          <a:cs typeface="Times New Roman" panose="02020603050405020304" pitchFamily="18" charset="0"/>
                        </a:rPr>
                        <a:t>PPA Capacity </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Commissioned Capacity</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2851679557"/>
                  </a:ext>
                </a:extLst>
              </a:tr>
              <a:tr h="166639">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Continuum Power Trading (TN) Private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88</a:t>
                      </a:r>
                    </a:p>
                  </a:txBody>
                  <a:tcPr/>
                </a:tc>
                <a:tc>
                  <a:txBody>
                    <a:bodyPr/>
                    <a:lstStyle/>
                    <a:p>
                      <a:pPr marL="0" indent="0">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Under litigation to the extent of 126 MW.</a:t>
                      </a:r>
                    </a:p>
                    <a:p>
                      <a:pPr marL="0" indent="0">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124 MW stands cancelled.</a:t>
                      </a:r>
                    </a:p>
                  </a:txBody>
                  <a:tcPr/>
                </a:tc>
                <a:extLst>
                  <a:ext uri="{0D108BD9-81ED-4DB2-BD59-A6C34878D82A}">
                    <a16:rowId xmlns:a16="http://schemas.microsoft.com/office/drawing/2014/main" val="41473822"/>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Sprng Renewable Energy Private Limited</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tc>
                <a:tc>
                  <a:txBody>
                    <a:bodyPr/>
                    <a:lstStyle/>
                    <a:p>
                      <a:pPr marL="0" indent="0">
                        <a:buFont typeface="Arial" panose="020B0604020202020204" pitchFamily="34" charset="0"/>
                        <a:buNone/>
                      </a:pPr>
                      <a:endParaRPr lang="en-IN" sz="18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87842036"/>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p>
                  </a:txBody>
                  <a:tcPr anchor="ctr"/>
                </a:tc>
                <a:tc>
                  <a:txBody>
                    <a:bodyPr/>
                    <a:lstStyle/>
                    <a:p>
                      <a:pPr algn="l" fontAlgn="ctr"/>
                      <a:r>
                        <a:rPr lang="en-US" sz="1800" b="0" i="0" u="none" strike="noStrike" dirty="0">
                          <a:solidFill>
                            <a:schemeClr val="tx1"/>
                          </a:solidFill>
                          <a:effectLst/>
                          <a:latin typeface="Times New Roman" panose="02020603050405020304" pitchFamily="18" charset="0"/>
                          <a:cs typeface="Times New Roman" panose="02020603050405020304" pitchFamily="18" charset="0"/>
                        </a:rPr>
                        <a:t>Avikiran Solar India </a:t>
                      </a:r>
                      <a:r>
                        <a:rPr lang="en-US" sz="1800" dirty="0">
                          <a:solidFill>
                            <a:schemeClr val="tx1"/>
                          </a:solidFill>
                          <a:latin typeface="Times New Roman" panose="02020603050405020304" pitchFamily="18" charset="0"/>
                          <a:cs typeface="Times New Roman" panose="02020603050405020304" pitchFamily="18" charset="0"/>
                        </a:rPr>
                        <a:t>Private</a:t>
                      </a:r>
                      <a:r>
                        <a:rPr lang="en-US" sz="18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Limited</a:t>
                      </a:r>
                      <a:endParaRPr lang="en-US" sz="18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285</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165.9</a:t>
                      </a:r>
                    </a:p>
                  </a:txBody>
                  <a:tcPr/>
                </a:tc>
                <a:tc>
                  <a:txBody>
                    <a:bodyPr/>
                    <a:lstStyle/>
                    <a:p>
                      <a:pPr marL="0" indent="0">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Under dispute to the extent of 2.1 MW.</a:t>
                      </a:r>
                    </a:p>
                    <a:p>
                      <a:pPr marL="0" indent="0">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117 MW stands cancelled.</a:t>
                      </a:r>
                    </a:p>
                  </a:txBody>
                  <a:tcPr/>
                </a:tc>
                <a:extLst>
                  <a:ext uri="{0D108BD9-81ED-4DB2-BD59-A6C34878D82A}">
                    <a16:rowId xmlns:a16="http://schemas.microsoft.com/office/drawing/2014/main" val="2848025075"/>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a:t>
                      </a: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Vivid Solaire Energy </a:t>
                      </a:r>
                      <a:r>
                        <a:rPr lang="en-US" sz="1800" dirty="0">
                          <a:solidFill>
                            <a:schemeClr val="tx1"/>
                          </a:solidFill>
                          <a:latin typeface="Times New Roman" panose="02020603050405020304" pitchFamily="18" charset="0"/>
                          <a:cs typeface="Times New Roman" panose="02020603050405020304" pitchFamily="18" charset="0"/>
                        </a:rPr>
                        <a:t>Private</a:t>
                      </a:r>
                      <a:r>
                        <a:rPr lang="en-IN" sz="1800" dirty="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200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168</a:t>
                      </a:r>
                    </a:p>
                  </a:txBody>
                  <a:tcPr/>
                </a:tc>
                <a:tc>
                  <a:txBody>
                    <a:bodyPr/>
                    <a:lstStyle/>
                    <a:p>
                      <a:pPr marL="0" indent="0">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32 MW stands cancelled.</a:t>
                      </a:r>
                    </a:p>
                  </a:txBody>
                  <a:tcPr/>
                </a:tc>
                <a:extLst>
                  <a:ext uri="{0D108BD9-81ED-4DB2-BD59-A6C34878D82A}">
                    <a16:rowId xmlns:a16="http://schemas.microsoft.com/office/drawing/2014/main" val="1204529395"/>
                  </a:ext>
                </a:extLst>
              </a:tr>
              <a:tr h="219577">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a:t>
                      </a:r>
                    </a:p>
                  </a:txBody>
                  <a:tcPr/>
                </a:tc>
                <a:tc>
                  <a:txBody>
                    <a:bodyPr/>
                    <a:lstStyle/>
                    <a:p>
                      <a:pPr algn="l" fontAlgn="ctr"/>
                      <a:r>
                        <a:rPr lang="en-US" sz="1800" b="0" i="0" u="none" strike="noStrike" dirty="0">
                          <a:solidFill>
                            <a:schemeClr val="tx1"/>
                          </a:solidFill>
                          <a:effectLst/>
                          <a:latin typeface="Times New Roman" panose="02020603050405020304" pitchFamily="18" charset="0"/>
                          <a:cs typeface="Times New Roman" panose="02020603050405020304" pitchFamily="18" charset="0"/>
                        </a:rPr>
                        <a:t>Inox Green Energy Services Limited</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100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tc>
                <a:tc>
                  <a:txBody>
                    <a:bodyPr/>
                    <a:lstStyle/>
                    <a:p>
                      <a:pPr marL="0" indent="0">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Under litigation</a:t>
                      </a:r>
                    </a:p>
                  </a:txBody>
                  <a:tcPr/>
                </a:tc>
                <a:extLst>
                  <a:ext uri="{0D108BD9-81ED-4DB2-BD59-A6C34878D82A}">
                    <a16:rowId xmlns:a16="http://schemas.microsoft.com/office/drawing/2014/main" val="2295815121"/>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6</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Adani Wind Energy Kutchh Two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800" dirty="0">
                          <a:solidFill>
                            <a:schemeClr val="tx1"/>
                          </a:solidFill>
                          <a:latin typeface="Times New Roman" panose="02020603050405020304" pitchFamily="18" charset="0"/>
                          <a:cs typeface="Times New Roman" panose="02020603050405020304" pitchFamily="18" charset="0"/>
                        </a:rPr>
                        <a:t>Project stands cancelled.</a:t>
                      </a:r>
                    </a:p>
                  </a:txBody>
                  <a:tcPr/>
                </a:tc>
                <a:extLst>
                  <a:ext uri="{0D108BD9-81ED-4DB2-BD59-A6C34878D82A}">
                    <a16:rowId xmlns:a16="http://schemas.microsoft.com/office/drawing/2014/main" val="3687927913"/>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7</a:t>
                      </a: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Mytrah Vayu (Brahmaputra) </a:t>
                      </a:r>
                      <a:r>
                        <a:rPr lang="en-US" sz="1800" dirty="0">
                          <a:solidFill>
                            <a:schemeClr val="tx1"/>
                          </a:solidFill>
                          <a:latin typeface="Times New Roman" panose="02020603050405020304" pitchFamily="18" charset="0"/>
                          <a:cs typeface="Times New Roman" panose="02020603050405020304" pitchFamily="18" charset="0"/>
                        </a:rPr>
                        <a:t>Private</a:t>
                      </a:r>
                      <a:r>
                        <a:rPr lang="en-IN" sz="1800" dirty="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Under litigation</a:t>
                      </a:r>
                      <a:endPar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415455846"/>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8</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ReNew Wind Energy (TN) Private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265</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Under litigation</a:t>
                      </a:r>
                    </a:p>
                  </a:txBody>
                  <a:tcPr/>
                </a:tc>
                <a:extLst>
                  <a:ext uri="{0D108BD9-81ED-4DB2-BD59-A6C34878D82A}">
                    <a16:rowId xmlns:a16="http://schemas.microsoft.com/office/drawing/2014/main" val="2133760415"/>
                  </a:ext>
                </a:extLst>
              </a:tr>
              <a:tr h="0">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b="1" dirty="0">
                          <a:solidFill>
                            <a:schemeClr val="tx1"/>
                          </a:solidFill>
                          <a:latin typeface="Times New Roman" panose="02020603050405020304" pitchFamily="18" charset="0"/>
                          <a:cs typeface="Times New Roman" panose="02020603050405020304" pitchFamily="18" charset="0"/>
                        </a:rPr>
                        <a:t>Total</a:t>
                      </a:r>
                    </a:p>
                  </a:txBody>
                  <a:tcP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2000</a:t>
                      </a:r>
                    </a:p>
                  </a:txBody>
                  <a:tcP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721.9</a:t>
                      </a:r>
                    </a:p>
                  </a:txBody>
                  <a:tcPr/>
                </a:tc>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06815686"/>
                  </a:ext>
                </a:extLst>
              </a:tr>
            </a:tbl>
          </a:graphicData>
        </a:graphic>
      </p:graphicFrame>
      <p:sp>
        <p:nvSpPr>
          <p:cNvPr id="3" name="TextBox 2">
            <a:extLst>
              <a:ext uri="{FF2B5EF4-FFF2-40B4-BE49-F238E27FC236}">
                <a16:creationId xmlns:a16="http://schemas.microsoft.com/office/drawing/2014/main" id="{56571E0B-AA9C-6935-4F95-B998DD4BD224}"/>
              </a:ext>
            </a:extLst>
          </p:cNvPr>
          <p:cNvSpPr txBox="1"/>
          <p:nvPr/>
        </p:nvSpPr>
        <p:spPr>
          <a:xfrm>
            <a:off x="9637556" y="6488668"/>
            <a:ext cx="1261534" cy="369332"/>
          </a:xfrm>
          <a:prstGeom prst="rect">
            <a:avLst/>
          </a:prstGeom>
          <a:noFill/>
        </p:spPr>
        <p:txBody>
          <a:bodyPr wrap="square" rtlCol="0">
            <a:spAutoFit/>
          </a:bodyPr>
          <a:lstStyle/>
          <a:p>
            <a:r>
              <a:rPr lang="en-US" dirty="0">
                <a:hlinkClick r:id="rId3" action="ppaction://hlinksldjump"/>
              </a:rPr>
              <a:t>Back</a:t>
            </a:r>
            <a:endParaRPr lang="en-IN" dirty="0"/>
          </a:p>
        </p:txBody>
      </p:sp>
    </p:spTree>
    <p:extLst>
      <p:ext uri="{BB962C8B-B14F-4D97-AF65-F5344CB8AC3E}">
        <p14:creationId xmlns:p14="http://schemas.microsoft.com/office/powerpoint/2010/main" val="3860205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901713" y="113314"/>
            <a:ext cx="4388573" cy="707886"/>
          </a:xfrm>
          <a:prstGeom prst="rect">
            <a:avLst/>
          </a:prstGeom>
          <a:noFill/>
        </p:spPr>
        <p:txBody>
          <a:bodyPr wrap="none" rtlCol="0">
            <a:spAutoFit/>
          </a:bodyPr>
          <a:lstStyle/>
          <a:p>
            <a:pPr algn="ctr"/>
            <a:r>
              <a:rPr lang="en-IN" sz="2000" b="1" i="1" u="sng" dirty="0">
                <a:latin typeface="Times New Roman" panose="02020603050405020304" pitchFamily="18" charset="0"/>
                <a:cs typeface="Times New Roman" panose="02020603050405020304" pitchFamily="18" charset="0"/>
                <a:hlinkClick r:id="rId2" action="ppaction://hlinkfile"/>
              </a:rPr>
              <a:t>Tranche – 5 (Tariff: </a:t>
            </a:r>
            <a:r>
              <a:rPr lang="en-IN" sz="2000" b="1" i="1" u="sng" dirty="0" err="1">
                <a:latin typeface="Times New Roman" panose="02020603050405020304" pitchFamily="18" charset="0"/>
                <a:cs typeface="Times New Roman" panose="02020603050405020304" pitchFamily="18" charset="0"/>
                <a:hlinkClick r:id="rId2" action="ppaction://hlinkfile"/>
              </a:rPr>
              <a:t>Rs</a:t>
            </a:r>
            <a:r>
              <a:rPr lang="en-IN" sz="2000" b="1" i="1" u="sng" dirty="0">
                <a:latin typeface="Times New Roman" panose="02020603050405020304" pitchFamily="18" charset="0"/>
                <a:cs typeface="Times New Roman" panose="02020603050405020304" pitchFamily="18" charset="0"/>
                <a:hlinkClick r:id="rId2" action="ppaction://hlinkfile"/>
              </a:rPr>
              <a:t>. 2.76-2.77/kWh)</a:t>
            </a:r>
            <a:endParaRPr lang="en-IN" sz="2000" b="1" i="1" u="sng" dirty="0">
              <a:latin typeface="Times New Roman" panose="02020603050405020304" pitchFamily="18" charset="0"/>
              <a:cs typeface="Times New Roman" panose="02020603050405020304" pitchFamily="18" charset="0"/>
            </a:endParaRPr>
          </a:p>
          <a:p>
            <a:pPr algn="ctr"/>
            <a:r>
              <a:rPr lang="en-IN" sz="2000" b="1" i="1" u="sng" dirty="0">
                <a:latin typeface="Times New Roman" panose="02020603050405020304" pitchFamily="18" charset="0"/>
                <a:cs typeface="Times New Roman" panose="02020603050405020304" pitchFamily="18" charset="0"/>
              </a:rPr>
              <a:t>Effective date of PPA: 22.01.2019</a:t>
            </a:r>
          </a:p>
        </p:txBody>
      </p:sp>
      <p:graphicFrame>
        <p:nvGraphicFramePr>
          <p:cNvPr id="2" name="Table 1">
            <a:extLst>
              <a:ext uri="{FF2B5EF4-FFF2-40B4-BE49-F238E27FC236}">
                <a16:creationId xmlns:a16="http://schemas.microsoft.com/office/drawing/2014/main" id="{F90BEFFD-8650-4C1E-A8FB-E2F288031CA3}"/>
              </a:ext>
            </a:extLst>
          </p:cNvPr>
          <p:cNvGraphicFramePr>
            <a:graphicFrameLocks noGrp="1"/>
          </p:cNvGraphicFramePr>
          <p:nvPr>
            <p:extLst>
              <p:ext uri="{D42A27DB-BD31-4B8C-83A1-F6EECF244321}">
                <p14:modId xmlns:p14="http://schemas.microsoft.com/office/powerpoint/2010/main" val="3583697529"/>
              </p:ext>
            </p:extLst>
          </p:nvPr>
        </p:nvGraphicFramePr>
        <p:xfrm>
          <a:off x="419100" y="1089341"/>
          <a:ext cx="11353800" cy="3108960"/>
        </p:xfrm>
        <a:graphic>
          <a:graphicData uri="http://schemas.openxmlformats.org/drawingml/2006/table">
            <a:tbl>
              <a:tblPr firstRow="1" bandRow="1">
                <a:tableStyleId>{5C22544A-7EE6-4342-B048-85BDC9FD1C3A}</a:tableStyleId>
              </a:tblPr>
              <a:tblGrid>
                <a:gridCol w="875218">
                  <a:extLst>
                    <a:ext uri="{9D8B030D-6E8A-4147-A177-3AD203B41FA5}">
                      <a16:colId xmlns:a16="http://schemas.microsoft.com/office/drawing/2014/main" val="4064482732"/>
                    </a:ext>
                  </a:extLst>
                </a:gridCol>
                <a:gridCol w="4270740">
                  <a:extLst>
                    <a:ext uri="{9D8B030D-6E8A-4147-A177-3AD203B41FA5}">
                      <a16:colId xmlns:a16="http://schemas.microsoft.com/office/drawing/2014/main" val="320820394"/>
                    </a:ext>
                  </a:extLst>
                </a:gridCol>
                <a:gridCol w="1433546">
                  <a:extLst>
                    <a:ext uri="{9D8B030D-6E8A-4147-A177-3AD203B41FA5}">
                      <a16:colId xmlns:a16="http://schemas.microsoft.com/office/drawing/2014/main" val="1105387179"/>
                    </a:ext>
                  </a:extLst>
                </a:gridCol>
                <a:gridCol w="1911395">
                  <a:extLst>
                    <a:ext uri="{9D8B030D-6E8A-4147-A177-3AD203B41FA5}">
                      <a16:colId xmlns:a16="http://schemas.microsoft.com/office/drawing/2014/main" val="1761692143"/>
                    </a:ext>
                  </a:extLst>
                </a:gridCol>
                <a:gridCol w="2862901">
                  <a:extLst>
                    <a:ext uri="{9D8B030D-6E8A-4147-A177-3AD203B41FA5}">
                      <a16:colId xmlns:a16="http://schemas.microsoft.com/office/drawing/2014/main" val="1177015039"/>
                    </a:ext>
                  </a:extLst>
                </a:gridCol>
              </a:tblGrid>
              <a:tr h="584750">
                <a:tc>
                  <a:txBody>
                    <a:bodyPr/>
                    <a:lstStyle/>
                    <a:p>
                      <a:pPr algn="ctr"/>
                      <a:r>
                        <a:rPr lang="en-IN" sz="1800" dirty="0">
                          <a:latin typeface="Times New Roman" panose="02020603050405020304" pitchFamily="18" charset="0"/>
                          <a:cs typeface="Times New Roman" panose="02020603050405020304" pitchFamily="18" charset="0"/>
                        </a:rPr>
                        <a:t>Sr. No.</a:t>
                      </a:r>
                    </a:p>
                  </a:txBody>
                  <a:tcPr/>
                </a:tc>
                <a:tc>
                  <a:txBody>
                    <a:bodyPr/>
                    <a:lstStyle/>
                    <a:p>
                      <a:pPr algn="ctr"/>
                      <a:r>
                        <a:rPr lang="en-IN" sz="1800" dirty="0">
                          <a:latin typeface="Times New Roman" panose="02020603050405020304" pitchFamily="18" charset="0"/>
                          <a:cs typeface="Times New Roman" panose="02020603050405020304" pitchFamily="18" charset="0"/>
                        </a:rPr>
                        <a:t>WPD</a:t>
                      </a:r>
                    </a:p>
                  </a:txBody>
                  <a:tcPr/>
                </a:tc>
                <a:tc>
                  <a:txBody>
                    <a:bodyPr/>
                    <a:lstStyle/>
                    <a:p>
                      <a:pPr algn="ctr"/>
                      <a:r>
                        <a:rPr lang="en-IN" sz="1800" dirty="0">
                          <a:latin typeface="Times New Roman" panose="02020603050405020304" pitchFamily="18" charset="0"/>
                          <a:cs typeface="Times New Roman" panose="02020603050405020304" pitchFamily="18" charset="0"/>
                        </a:rPr>
                        <a:t>PPA Capacity </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Commissioned Capacity </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2851679557"/>
                  </a:ext>
                </a:extLst>
              </a:tr>
              <a:tr h="349025">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Torrent Solargen Limited</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115</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115</a:t>
                      </a:r>
                    </a:p>
                  </a:txBody>
                  <a:tcPr/>
                </a:tc>
                <a:tc>
                  <a:txBody>
                    <a:bodyPr/>
                    <a:lstStyle/>
                    <a:p>
                      <a:pPr marL="0" indent="0" algn="ctr">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41473822"/>
                  </a:ext>
                </a:extLst>
              </a:tr>
              <a:tr h="317633">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Adani Wind Energy Kutchh Four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800" dirty="0">
                          <a:solidFill>
                            <a:schemeClr val="tx1"/>
                          </a:solidFill>
                          <a:latin typeface="Times New Roman" panose="02020603050405020304" pitchFamily="18" charset="0"/>
                          <a:cs typeface="Times New Roman" panose="02020603050405020304" pitchFamily="18" charset="0"/>
                        </a:rPr>
                        <a:t>Project stands cancelled.</a:t>
                      </a:r>
                    </a:p>
                  </a:txBody>
                  <a:tcPr/>
                </a:tc>
                <a:extLst>
                  <a:ext uri="{0D108BD9-81ED-4DB2-BD59-A6C34878D82A}">
                    <a16:rowId xmlns:a16="http://schemas.microsoft.com/office/drawing/2014/main" val="2987842036"/>
                  </a:ext>
                </a:extLst>
              </a:tr>
              <a:tr h="31763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p>
                  </a:txBody>
                  <a:tcPr/>
                </a:tc>
                <a:tc>
                  <a:txBody>
                    <a:bodyPr/>
                    <a:lstStyle/>
                    <a:p>
                      <a:pPr algn="l" fontAlgn="ctr"/>
                      <a:r>
                        <a:rPr lang="en-US" sz="1800" b="0" i="0" u="none" strike="noStrike" dirty="0">
                          <a:solidFill>
                            <a:schemeClr val="tx1"/>
                          </a:solidFill>
                          <a:effectLst/>
                          <a:latin typeface="Times New Roman" panose="02020603050405020304" pitchFamily="18" charset="0"/>
                          <a:cs typeface="Times New Roman" panose="02020603050405020304" pitchFamily="18" charset="0"/>
                        </a:rPr>
                        <a:t>Netra Wind Private Limited </a:t>
                      </a:r>
                    </a:p>
                  </a:txBody>
                  <a:tcPr marL="6350" marR="6350" marT="6350" marB="0"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206.5</a:t>
                      </a:r>
                    </a:p>
                  </a:txBody>
                  <a:tcPr/>
                </a:tc>
                <a:tc>
                  <a:txBody>
                    <a:bodyPr/>
                    <a:lstStyle/>
                    <a:p>
                      <a:pPr marL="0" indent="0" algn="ctr">
                        <a:buFont typeface="Arial" panose="020B0604020202020204" pitchFamily="34" charset="0"/>
                        <a:buNone/>
                      </a:pPr>
                      <a:r>
                        <a:rPr lang="en-US" sz="1800" dirty="0">
                          <a:solidFill>
                            <a:schemeClr val="tx1"/>
                          </a:solidFill>
                          <a:latin typeface="Times New Roman" panose="02020603050405020304" pitchFamily="18" charset="0"/>
                          <a:cs typeface="Times New Roman" panose="02020603050405020304" pitchFamily="18" charset="0"/>
                        </a:rPr>
                        <a:t>93.5 MW stands cancelled.</a:t>
                      </a:r>
                    </a:p>
                  </a:txBody>
                  <a:tcPr/>
                </a:tc>
                <a:extLst>
                  <a:ext uri="{0D108BD9-81ED-4DB2-BD59-A6C34878D82A}">
                    <a16:rowId xmlns:a16="http://schemas.microsoft.com/office/drawing/2014/main" val="2848025075"/>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a:t>
                      </a:r>
                    </a:p>
                  </a:txBody>
                  <a:tcPr/>
                </a:tc>
                <a:tc>
                  <a:txBody>
                    <a:bodyPr/>
                    <a:lstStyle/>
                    <a:p>
                      <a:pPr algn="l"/>
                      <a:r>
                        <a:rPr lang="en-IN" sz="1800" dirty="0">
                          <a:solidFill>
                            <a:schemeClr val="tx1"/>
                          </a:solidFill>
                          <a:latin typeface="Times New Roman" panose="02020603050405020304" pitchFamily="18" charset="0"/>
                          <a:cs typeface="Times New Roman" panose="02020603050405020304" pitchFamily="18" charset="0"/>
                        </a:rPr>
                        <a:t>Sitac Kabini Renewables Private Limited</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1990048417"/>
                  </a:ext>
                </a:extLst>
              </a:tr>
              <a:tr h="31763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a:t>
                      </a: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Boreas Renewable Energy Private Limited</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175</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tc>
                <a:tc>
                  <a:txBody>
                    <a:bodyPr/>
                    <a:lstStyle/>
                    <a:p>
                      <a:pPr marL="0" indent="0" algn="ctr">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Under litigation.</a:t>
                      </a:r>
                    </a:p>
                  </a:txBody>
                  <a:tcPr/>
                </a:tc>
                <a:extLst>
                  <a:ext uri="{0D108BD9-81ED-4DB2-BD59-A6C34878D82A}">
                    <a16:rowId xmlns:a16="http://schemas.microsoft.com/office/drawing/2014/main" val="664806504"/>
                  </a:ext>
                </a:extLst>
              </a:tr>
              <a:tr h="317634">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b="1" dirty="0">
                          <a:solidFill>
                            <a:schemeClr val="tx1"/>
                          </a:solidFill>
                          <a:latin typeface="Times New Roman" panose="02020603050405020304" pitchFamily="18" charset="0"/>
                          <a:cs typeface="Times New Roman" panose="02020603050405020304" pitchFamily="18" charset="0"/>
                        </a:rPr>
                        <a:t>Total</a:t>
                      </a:r>
                    </a:p>
                  </a:txBody>
                  <a:tcP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1190</a:t>
                      </a:r>
                    </a:p>
                  </a:txBody>
                  <a:tcP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621.5</a:t>
                      </a:r>
                    </a:p>
                  </a:txBody>
                  <a:tcPr/>
                </a:tc>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6006154"/>
                  </a:ext>
                </a:extLst>
              </a:tr>
            </a:tbl>
          </a:graphicData>
        </a:graphic>
      </p:graphicFrame>
      <p:sp>
        <p:nvSpPr>
          <p:cNvPr id="4" name="TextBox 3">
            <a:extLst>
              <a:ext uri="{FF2B5EF4-FFF2-40B4-BE49-F238E27FC236}">
                <a16:creationId xmlns:a16="http://schemas.microsoft.com/office/drawing/2014/main" id="{5739F772-97ED-722B-B475-EF748F663185}"/>
              </a:ext>
            </a:extLst>
          </p:cNvPr>
          <p:cNvSpPr txBox="1"/>
          <p:nvPr/>
        </p:nvSpPr>
        <p:spPr>
          <a:xfrm>
            <a:off x="8602133" y="6172200"/>
            <a:ext cx="1261534" cy="369332"/>
          </a:xfrm>
          <a:prstGeom prst="rect">
            <a:avLst/>
          </a:prstGeom>
          <a:noFill/>
        </p:spPr>
        <p:txBody>
          <a:bodyPr wrap="square" rtlCol="0">
            <a:spAutoFit/>
          </a:bodyPr>
          <a:lstStyle/>
          <a:p>
            <a:r>
              <a:rPr lang="en-US" dirty="0">
                <a:hlinkClick r:id="rId3" action="ppaction://hlinksldjump"/>
              </a:rPr>
              <a:t>Back</a:t>
            </a:r>
            <a:endParaRPr lang="en-IN" dirty="0"/>
          </a:p>
        </p:txBody>
      </p:sp>
    </p:spTree>
    <p:extLst>
      <p:ext uri="{BB962C8B-B14F-4D97-AF65-F5344CB8AC3E}">
        <p14:creationId xmlns:p14="http://schemas.microsoft.com/office/powerpoint/2010/main" val="14973630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901713" y="102748"/>
            <a:ext cx="4388573" cy="707886"/>
          </a:xfrm>
          <a:prstGeom prst="rect">
            <a:avLst/>
          </a:prstGeom>
          <a:noFill/>
        </p:spPr>
        <p:txBody>
          <a:bodyPr wrap="none" rtlCol="0">
            <a:spAutoFit/>
          </a:bodyPr>
          <a:lstStyle/>
          <a:p>
            <a:pPr algn="ctr"/>
            <a:r>
              <a:rPr lang="en-IN" sz="2000" b="1" i="1" u="sng" dirty="0">
                <a:latin typeface="Times New Roman" panose="02020603050405020304" pitchFamily="18" charset="0"/>
                <a:cs typeface="Times New Roman" panose="02020603050405020304" pitchFamily="18" charset="0"/>
                <a:hlinkClick r:id="rId2" action="ppaction://hlinkfile"/>
              </a:rPr>
              <a:t>Tranche – 6 (Tariff: </a:t>
            </a:r>
            <a:r>
              <a:rPr lang="en-IN" sz="2000" b="1" i="1" u="sng" dirty="0" err="1">
                <a:latin typeface="Times New Roman" panose="02020603050405020304" pitchFamily="18" charset="0"/>
                <a:cs typeface="Times New Roman" panose="02020603050405020304" pitchFamily="18" charset="0"/>
                <a:hlinkClick r:id="rId2" action="ppaction://hlinkfile"/>
              </a:rPr>
              <a:t>Rs</a:t>
            </a:r>
            <a:r>
              <a:rPr lang="en-IN" sz="2000" b="1" i="1" u="sng" dirty="0">
                <a:latin typeface="Times New Roman" panose="02020603050405020304" pitchFamily="18" charset="0"/>
                <a:cs typeface="Times New Roman" panose="02020603050405020304" pitchFamily="18" charset="0"/>
                <a:hlinkClick r:id="rId2" action="ppaction://hlinkfile"/>
              </a:rPr>
              <a:t>. 2.82-2.83/kWh)</a:t>
            </a:r>
            <a:endParaRPr lang="en-IN" sz="2000" b="1" i="1" u="sng" dirty="0">
              <a:latin typeface="Times New Roman" panose="02020603050405020304" pitchFamily="18" charset="0"/>
              <a:cs typeface="Times New Roman" panose="02020603050405020304" pitchFamily="18" charset="0"/>
            </a:endParaRPr>
          </a:p>
          <a:p>
            <a:pPr algn="ctr"/>
            <a:r>
              <a:rPr lang="en-IN" sz="2000" b="1" i="1" u="sng" dirty="0">
                <a:latin typeface="Times New Roman" panose="02020603050405020304" pitchFamily="18" charset="0"/>
                <a:cs typeface="Times New Roman" panose="02020603050405020304" pitchFamily="18" charset="0"/>
              </a:rPr>
              <a:t>Effective date of PPA: 15.09.2019</a:t>
            </a:r>
          </a:p>
        </p:txBody>
      </p:sp>
      <p:graphicFrame>
        <p:nvGraphicFramePr>
          <p:cNvPr id="2" name="Table 1">
            <a:extLst>
              <a:ext uri="{FF2B5EF4-FFF2-40B4-BE49-F238E27FC236}">
                <a16:creationId xmlns:a16="http://schemas.microsoft.com/office/drawing/2014/main" id="{EBBB4CD3-E711-6283-A537-783116C6EB7A}"/>
              </a:ext>
            </a:extLst>
          </p:cNvPr>
          <p:cNvGraphicFramePr>
            <a:graphicFrameLocks noGrp="1"/>
          </p:cNvGraphicFramePr>
          <p:nvPr>
            <p:extLst>
              <p:ext uri="{D42A27DB-BD31-4B8C-83A1-F6EECF244321}">
                <p14:modId xmlns:p14="http://schemas.microsoft.com/office/powerpoint/2010/main" val="3740715225"/>
              </p:ext>
            </p:extLst>
          </p:nvPr>
        </p:nvGraphicFramePr>
        <p:xfrm>
          <a:off x="266701" y="1051560"/>
          <a:ext cx="11652451" cy="3823965"/>
        </p:xfrm>
        <a:graphic>
          <a:graphicData uri="http://schemas.openxmlformats.org/drawingml/2006/table">
            <a:tbl>
              <a:tblPr firstRow="1" bandRow="1">
                <a:tableStyleId>{5C22544A-7EE6-4342-B048-85BDC9FD1C3A}</a:tableStyleId>
              </a:tblPr>
              <a:tblGrid>
                <a:gridCol w="898240">
                  <a:extLst>
                    <a:ext uri="{9D8B030D-6E8A-4147-A177-3AD203B41FA5}">
                      <a16:colId xmlns:a16="http://schemas.microsoft.com/office/drawing/2014/main" val="4064482732"/>
                    </a:ext>
                  </a:extLst>
                </a:gridCol>
                <a:gridCol w="5007259">
                  <a:extLst>
                    <a:ext uri="{9D8B030D-6E8A-4147-A177-3AD203B41FA5}">
                      <a16:colId xmlns:a16="http://schemas.microsoft.com/office/drawing/2014/main" val="320820394"/>
                    </a:ext>
                  </a:extLst>
                </a:gridCol>
                <a:gridCol w="1117600">
                  <a:extLst>
                    <a:ext uri="{9D8B030D-6E8A-4147-A177-3AD203B41FA5}">
                      <a16:colId xmlns:a16="http://schemas.microsoft.com/office/drawing/2014/main" val="1105387179"/>
                    </a:ext>
                  </a:extLst>
                </a:gridCol>
                <a:gridCol w="1701800">
                  <a:extLst>
                    <a:ext uri="{9D8B030D-6E8A-4147-A177-3AD203B41FA5}">
                      <a16:colId xmlns:a16="http://schemas.microsoft.com/office/drawing/2014/main" val="1761692143"/>
                    </a:ext>
                  </a:extLst>
                </a:gridCol>
                <a:gridCol w="2927552">
                  <a:extLst>
                    <a:ext uri="{9D8B030D-6E8A-4147-A177-3AD203B41FA5}">
                      <a16:colId xmlns:a16="http://schemas.microsoft.com/office/drawing/2014/main" val="1177015039"/>
                    </a:ext>
                  </a:extLst>
                </a:gridCol>
              </a:tblGrid>
              <a:tr h="539542">
                <a:tc>
                  <a:txBody>
                    <a:bodyPr/>
                    <a:lstStyle/>
                    <a:p>
                      <a:pPr algn="ctr"/>
                      <a:r>
                        <a:rPr lang="en-IN" sz="1800" dirty="0">
                          <a:latin typeface="Times New Roman" panose="02020603050405020304" pitchFamily="18" charset="0"/>
                          <a:cs typeface="Times New Roman" panose="02020603050405020304" pitchFamily="18" charset="0"/>
                        </a:rPr>
                        <a:t>Sr. No.</a:t>
                      </a:r>
                    </a:p>
                  </a:txBody>
                  <a:tcPr/>
                </a:tc>
                <a:tc>
                  <a:txBody>
                    <a:bodyPr/>
                    <a:lstStyle/>
                    <a:p>
                      <a:pPr algn="ctr"/>
                      <a:r>
                        <a:rPr lang="en-IN" sz="1800" dirty="0">
                          <a:latin typeface="Times New Roman" panose="02020603050405020304" pitchFamily="18" charset="0"/>
                          <a:cs typeface="Times New Roman" panose="02020603050405020304" pitchFamily="18" charset="0"/>
                        </a:rPr>
                        <a:t>WPD</a:t>
                      </a:r>
                    </a:p>
                  </a:txBody>
                  <a:tcPr/>
                </a:tc>
                <a:tc>
                  <a:txBody>
                    <a:bodyPr/>
                    <a:lstStyle/>
                    <a:p>
                      <a:pPr algn="ctr"/>
                      <a:r>
                        <a:rPr lang="en-IN" sz="1800" dirty="0">
                          <a:latin typeface="Times New Roman" panose="02020603050405020304" pitchFamily="18" charset="0"/>
                          <a:cs typeface="Times New Roman" panose="02020603050405020304" pitchFamily="18" charset="0"/>
                        </a:rPr>
                        <a:t>PPA Capacity </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Commissioned Capacity</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2851679557"/>
                  </a:ext>
                </a:extLst>
              </a:tr>
              <a:tr h="435609">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nchor="ctr"/>
                </a:tc>
                <a:tc>
                  <a:txBody>
                    <a:bodyPr/>
                    <a:lstStyle/>
                    <a:p>
                      <a:r>
                        <a:rPr lang="en-US" sz="1800" dirty="0">
                          <a:solidFill>
                            <a:schemeClr val="tx1"/>
                          </a:solidFill>
                          <a:latin typeface="Times New Roman" panose="02020603050405020304" pitchFamily="18" charset="0"/>
                          <a:cs typeface="Times New Roman" panose="02020603050405020304" pitchFamily="18" charset="0"/>
                        </a:rPr>
                        <a:t>Adani Wind Energy Kutchh Three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41473822"/>
                  </a:ext>
                </a:extLst>
              </a:tr>
              <a:tr h="303531">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nchor="ctr"/>
                </a:tc>
                <a:tc>
                  <a:txBody>
                    <a:bodyPr/>
                    <a:lstStyle/>
                    <a:p>
                      <a:pPr algn="l" fontAlgn="ctr"/>
                      <a:r>
                        <a:rPr lang="en-US" sz="1800" b="0" i="0" u="none" strike="noStrike" dirty="0">
                          <a:solidFill>
                            <a:schemeClr val="tx1"/>
                          </a:solidFill>
                          <a:effectLst/>
                          <a:latin typeface="Times New Roman" panose="02020603050405020304" pitchFamily="18" charset="0"/>
                          <a:cs typeface="Times New Roman" panose="02020603050405020304" pitchFamily="18" charset="0"/>
                        </a:rPr>
                        <a:t>Ostro Kannada Power Pvt Ltd</a:t>
                      </a:r>
                    </a:p>
                  </a:txBody>
                  <a:tcPr marL="6350" marR="6350" marT="6350" marB="0"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199.5</a:t>
                      </a:r>
                    </a:p>
                  </a:txBody>
                  <a:tcPr/>
                </a:tc>
                <a:tc>
                  <a:txBody>
                    <a:bodyPr/>
                    <a:lstStyle/>
                    <a:p>
                      <a:pPr marL="0" indent="0" algn="ctr">
                        <a:buFont typeface="Arial" panose="020B0604020202020204" pitchFamily="34" charset="0"/>
                        <a:buNone/>
                      </a:pPr>
                      <a:r>
                        <a:rPr lang="en-US" sz="1800" dirty="0">
                          <a:solidFill>
                            <a:schemeClr val="tx1"/>
                          </a:solidFill>
                          <a:latin typeface="Times New Roman" panose="02020603050405020304" pitchFamily="18" charset="0"/>
                          <a:cs typeface="Times New Roman" panose="02020603050405020304" pitchFamily="18" charset="0"/>
                        </a:rPr>
                        <a:t>100.5 MW stands cancelled.</a:t>
                      </a:r>
                    </a:p>
                  </a:txBody>
                  <a:tcPr/>
                </a:tc>
                <a:extLst>
                  <a:ext uri="{0D108BD9-81ED-4DB2-BD59-A6C34878D82A}">
                    <a16:rowId xmlns:a16="http://schemas.microsoft.com/office/drawing/2014/main" val="2848025075"/>
                  </a:ext>
                </a:extLst>
              </a:tr>
              <a:tr h="319721">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p>
                  </a:txBody>
                  <a:tcPr anchor="ctr"/>
                </a:tc>
                <a:tc>
                  <a:txBody>
                    <a:bodyPr/>
                    <a:lstStyle/>
                    <a:p>
                      <a:r>
                        <a:rPr lang="en-IN" sz="1800" dirty="0">
                          <a:solidFill>
                            <a:schemeClr val="tx1"/>
                          </a:solidFill>
                          <a:latin typeface="Times New Roman" panose="02020603050405020304" pitchFamily="18" charset="0"/>
                          <a:cs typeface="Times New Roman" panose="02020603050405020304" pitchFamily="18" charset="0"/>
                        </a:rPr>
                        <a:t>Powerica Limited</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50.6</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50.6</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1204529395"/>
                  </a:ext>
                </a:extLst>
              </a:tr>
              <a:tr h="435609">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a:t>
                      </a:r>
                    </a:p>
                  </a:txBody>
                  <a:tcPr anchor="ctr"/>
                </a:tc>
                <a:tc>
                  <a:txBody>
                    <a:bodyPr/>
                    <a:lstStyle/>
                    <a:p>
                      <a:r>
                        <a:rPr lang="en-US" sz="1800" dirty="0">
                          <a:solidFill>
                            <a:schemeClr val="tx1"/>
                          </a:solidFill>
                          <a:latin typeface="Times New Roman" panose="02020603050405020304" pitchFamily="18" charset="0"/>
                          <a:cs typeface="Times New Roman" panose="02020603050405020304" pitchFamily="18" charset="0"/>
                        </a:rPr>
                        <a:t>Adani Wind Energy MP One Private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324.4</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324.4</a:t>
                      </a:r>
                    </a:p>
                  </a:txBody>
                  <a:tcPr/>
                </a:tc>
                <a:tc>
                  <a:txBody>
                    <a:bodyPr/>
                    <a:lstStyle/>
                    <a:p>
                      <a:pPr marL="0" indent="0" algn="ctr">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2295815121"/>
                  </a:ext>
                </a:extLst>
              </a:tr>
              <a:tr h="435609">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a:t>
                      </a:r>
                    </a:p>
                  </a:txBody>
                  <a:tcPr anchor="ctr"/>
                </a:tc>
                <a:tc>
                  <a:txBody>
                    <a:bodyPr/>
                    <a:lstStyle/>
                    <a:p>
                      <a:r>
                        <a:rPr lang="en-US" sz="1800" dirty="0">
                          <a:solidFill>
                            <a:schemeClr val="tx1"/>
                          </a:solidFill>
                          <a:latin typeface="Times New Roman" panose="02020603050405020304" pitchFamily="18" charset="0"/>
                          <a:cs typeface="Times New Roman" panose="02020603050405020304" pitchFamily="18" charset="0"/>
                        </a:rPr>
                        <a:t>Morjar Windfarm Development Pvt. Ltd.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150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148.5</a:t>
                      </a:r>
                    </a:p>
                  </a:txBody>
                  <a:tcPr/>
                </a:tc>
                <a:tc>
                  <a:txBody>
                    <a:bodyPr/>
                    <a:lstStyle/>
                    <a:p>
                      <a:pPr marL="0" indent="0" algn="ctr">
                        <a:buFont typeface="Arial" panose="020B0604020202020204" pitchFamily="34" charset="0"/>
                        <a:buNone/>
                      </a:pPr>
                      <a:r>
                        <a:rPr lang="en-US" sz="1800" dirty="0">
                          <a:solidFill>
                            <a:schemeClr val="tx1"/>
                          </a:solidFill>
                          <a:latin typeface="Times New Roman" panose="02020603050405020304" pitchFamily="18" charset="0"/>
                          <a:cs typeface="Times New Roman" panose="02020603050405020304" pitchFamily="18" charset="0"/>
                        </a:rPr>
                        <a:t>1.5 MW stands cancelled.</a:t>
                      </a:r>
                    </a:p>
                  </a:txBody>
                  <a:tcPr/>
                </a:tc>
                <a:extLst>
                  <a:ext uri="{0D108BD9-81ED-4DB2-BD59-A6C34878D82A}">
                    <a16:rowId xmlns:a16="http://schemas.microsoft.com/office/drawing/2014/main" val="802768559"/>
                  </a:ext>
                </a:extLst>
              </a:tr>
              <a:tr h="435609">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6</a:t>
                      </a:r>
                    </a:p>
                  </a:txBody>
                  <a:tcPr anchor="ctr"/>
                </a:tc>
                <a:tc>
                  <a:txBody>
                    <a:bodyPr/>
                    <a:lstStyle/>
                    <a:p>
                      <a:r>
                        <a:rPr lang="en-IN" sz="1800" dirty="0">
                          <a:solidFill>
                            <a:schemeClr val="tx1"/>
                          </a:solidFill>
                          <a:latin typeface="Times New Roman" panose="02020603050405020304" pitchFamily="18" charset="0"/>
                          <a:cs typeface="Times New Roman" panose="02020603050405020304" pitchFamily="18" charset="0"/>
                        </a:rPr>
                        <a:t>Zenataris Renewable Energy Private Limited</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125</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tc>
                <a:tc>
                  <a:txBody>
                    <a:bodyPr/>
                    <a:lstStyle/>
                    <a:p>
                      <a:pPr marL="0" indent="0" algn="ctr">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WPD failed to execute PPA.</a:t>
                      </a:r>
                    </a:p>
                  </a:txBody>
                  <a:tcPr/>
                </a:tc>
                <a:extLst>
                  <a:ext uri="{0D108BD9-81ED-4DB2-BD59-A6C34878D82A}">
                    <a16:rowId xmlns:a16="http://schemas.microsoft.com/office/drawing/2014/main" val="1297973505"/>
                  </a:ext>
                </a:extLst>
              </a:tr>
              <a:tr h="435609">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b="1" dirty="0">
                          <a:solidFill>
                            <a:schemeClr val="tx1"/>
                          </a:solidFill>
                          <a:latin typeface="Times New Roman" panose="02020603050405020304" pitchFamily="18" charset="0"/>
                          <a:cs typeface="Times New Roman" panose="02020603050405020304" pitchFamily="18" charset="0"/>
                        </a:rPr>
                        <a:t>Total</a:t>
                      </a:r>
                    </a:p>
                  </a:txBody>
                  <a:tcP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1200</a:t>
                      </a:r>
                    </a:p>
                  </a:txBody>
                  <a:tcP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973</a:t>
                      </a:r>
                    </a:p>
                  </a:txBody>
                  <a:tcPr/>
                </a:tc>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31207604"/>
                  </a:ext>
                </a:extLst>
              </a:tr>
            </a:tbl>
          </a:graphicData>
        </a:graphic>
      </p:graphicFrame>
      <p:sp>
        <p:nvSpPr>
          <p:cNvPr id="4" name="TextBox 3">
            <a:extLst>
              <a:ext uri="{FF2B5EF4-FFF2-40B4-BE49-F238E27FC236}">
                <a16:creationId xmlns:a16="http://schemas.microsoft.com/office/drawing/2014/main" id="{8E390B6D-24EF-F12A-93D3-F25B325F58C1}"/>
              </a:ext>
            </a:extLst>
          </p:cNvPr>
          <p:cNvSpPr txBox="1"/>
          <p:nvPr/>
        </p:nvSpPr>
        <p:spPr>
          <a:xfrm>
            <a:off x="8602133" y="6172200"/>
            <a:ext cx="1261534" cy="369332"/>
          </a:xfrm>
          <a:prstGeom prst="rect">
            <a:avLst/>
          </a:prstGeom>
          <a:noFill/>
        </p:spPr>
        <p:txBody>
          <a:bodyPr wrap="square" rtlCol="0">
            <a:spAutoFit/>
          </a:bodyPr>
          <a:lstStyle/>
          <a:p>
            <a:r>
              <a:rPr lang="en-US" dirty="0">
                <a:hlinkClick r:id="rId3" action="ppaction://hlinksldjump"/>
              </a:rPr>
              <a:t>Back</a:t>
            </a:r>
            <a:endParaRPr lang="en-IN" dirty="0"/>
          </a:p>
        </p:txBody>
      </p:sp>
    </p:spTree>
    <p:extLst>
      <p:ext uri="{BB962C8B-B14F-4D97-AF65-F5344CB8AC3E}">
        <p14:creationId xmlns:p14="http://schemas.microsoft.com/office/powerpoint/2010/main" val="30831218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889739" y="62217"/>
            <a:ext cx="4412521" cy="707886"/>
          </a:xfrm>
          <a:prstGeom prst="rect">
            <a:avLst/>
          </a:prstGeom>
          <a:noFill/>
        </p:spPr>
        <p:txBody>
          <a:bodyPr wrap="square" rtlCol="0">
            <a:spAutoFit/>
          </a:bodyPr>
          <a:lstStyle/>
          <a:p>
            <a:pPr algn="ctr"/>
            <a:r>
              <a:rPr lang="en-IN" sz="2000" b="1" i="1" u="sng" dirty="0">
                <a:latin typeface="Times New Roman" panose="02020603050405020304" pitchFamily="18" charset="0"/>
                <a:cs typeface="Times New Roman" panose="02020603050405020304" pitchFamily="18" charset="0"/>
                <a:hlinkClick r:id="rId2" action="ppaction://hlinkfile"/>
              </a:rPr>
              <a:t>Tranche – 7 (Tariff: </a:t>
            </a:r>
            <a:r>
              <a:rPr lang="en-IN" sz="2000" b="1" i="1" u="sng" dirty="0" err="1">
                <a:latin typeface="Times New Roman" panose="02020603050405020304" pitchFamily="18" charset="0"/>
                <a:cs typeface="Times New Roman" panose="02020603050405020304" pitchFamily="18" charset="0"/>
                <a:hlinkClick r:id="rId2" action="ppaction://hlinkfile"/>
              </a:rPr>
              <a:t>Rs</a:t>
            </a:r>
            <a:r>
              <a:rPr lang="en-IN" sz="2000" b="1" i="1" u="sng" dirty="0">
                <a:latin typeface="Times New Roman" panose="02020603050405020304" pitchFamily="18" charset="0"/>
                <a:cs typeface="Times New Roman" panose="02020603050405020304" pitchFamily="18" charset="0"/>
                <a:hlinkClick r:id="rId2" action="ppaction://hlinkfile"/>
              </a:rPr>
              <a:t>. 2.79-2.83/kWh)</a:t>
            </a:r>
            <a:endParaRPr lang="en-IN" sz="2000" b="1" i="1" u="sng" dirty="0">
              <a:latin typeface="Times New Roman" panose="02020603050405020304" pitchFamily="18" charset="0"/>
              <a:cs typeface="Times New Roman" panose="02020603050405020304" pitchFamily="18" charset="0"/>
            </a:endParaRPr>
          </a:p>
          <a:p>
            <a:pPr algn="ctr"/>
            <a:r>
              <a:rPr lang="en-IN" sz="2000" b="1" i="1" u="sng" dirty="0">
                <a:latin typeface="Times New Roman" panose="02020603050405020304" pitchFamily="18" charset="0"/>
                <a:cs typeface="Times New Roman" panose="02020603050405020304" pitchFamily="18" charset="0"/>
              </a:rPr>
              <a:t>Effective date of PPA: 18.10.2019</a:t>
            </a:r>
          </a:p>
        </p:txBody>
      </p:sp>
      <p:graphicFrame>
        <p:nvGraphicFramePr>
          <p:cNvPr id="2" name="Table 1">
            <a:extLst>
              <a:ext uri="{FF2B5EF4-FFF2-40B4-BE49-F238E27FC236}">
                <a16:creationId xmlns:a16="http://schemas.microsoft.com/office/drawing/2014/main" id="{7BC6B1D9-CCBF-CBCB-0422-225CE84B5427}"/>
              </a:ext>
            </a:extLst>
          </p:cNvPr>
          <p:cNvGraphicFramePr>
            <a:graphicFrameLocks noGrp="1"/>
          </p:cNvGraphicFramePr>
          <p:nvPr>
            <p:extLst>
              <p:ext uri="{D42A27DB-BD31-4B8C-83A1-F6EECF244321}">
                <p14:modId xmlns:p14="http://schemas.microsoft.com/office/powerpoint/2010/main" val="3148170211"/>
              </p:ext>
            </p:extLst>
          </p:nvPr>
        </p:nvGraphicFramePr>
        <p:xfrm>
          <a:off x="184618" y="933875"/>
          <a:ext cx="11804181" cy="2783428"/>
        </p:xfrm>
        <a:graphic>
          <a:graphicData uri="http://schemas.openxmlformats.org/drawingml/2006/table">
            <a:tbl>
              <a:tblPr firstRow="1" bandRow="1">
                <a:tableStyleId>{5C22544A-7EE6-4342-B048-85BDC9FD1C3A}</a:tableStyleId>
              </a:tblPr>
              <a:tblGrid>
                <a:gridCol w="909935">
                  <a:extLst>
                    <a:ext uri="{9D8B030D-6E8A-4147-A177-3AD203B41FA5}">
                      <a16:colId xmlns:a16="http://schemas.microsoft.com/office/drawing/2014/main" val="4064482732"/>
                    </a:ext>
                  </a:extLst>
                </a:gridCol>
                <a:gridCol w="4556947">
                  <a:extLst>
                    <a:ext uri="{9D8B030D-6E8A-4147-A177-3AD203B41FA5}">
                      <a16:colId xmlns:a16="http://schemas.microsoft.com/office/drawing/2014/main" val="320820394"/>
                    </a:ext>
                  </a:extLst>
                </a:gridCol>
                <a:gridCol w="1460500">
                  <a:extLst>
                    <a:ext uri="{9D8B030D-6E8A-4147-A177-3AD203B41FA5}">
                      <a16:colId xmlns:a16="http://schemas.microsoft.com/office/drawing/2014/main" val="1105387179"/>
                    </a:ext>
                  </a:extLst>
                </a:gridCol>
                <a:gridCol w="1663700">
                  <a:extLst>
                    <a:ext uri="{9D8B030D-6E8A-4147-A177-3AD203B41FA5}">
                      <a16:colId xmlns:a16="http://schemas.microsoft.com/office/drawing/2014/main" val="1761692143"/>
                    </a:ext>
                  </a:extLst>
                </a:gridCol>
                <a:gridCol w="3213099">
                  <a:extLst>
                    <a:ext uri="{9D8B030D-6E8A-4147-A177-3AD203B41FA5}">
                      <a16:colId xmlns:a16="http://schemas.microsoft.com/office/drawing/2014/main" val="1177015039"/>
                    </a:ext>
                  </a:extLst>
                </a:gridCol>
              </a:tblGrid>
              <a:tr h="566433">
                <a:tc>
                  <a:txBody>
                    <a:bodyPr/>
                    <a:lstStyle/>
                    <a:p>
                      <a:pPr algn="ctr"/>
                      <a:r>
                        <a:rPr lang="en-IN" sz="1800" dirty="0">
                          <a:latin typeface="Times New Roman" panose="02020603050405020304" pitchFamily="18" charset="0"/>
                          <a:cs typeface="Times New Roman" panose="02020603050405020304" pitchFamily="18" charset="0"/>
                        </a:rPr>
                        <a:t>Sr. No.</a:t>
                      </a:r>
                    </a:p>
                  </a:txBody>
                  <a:tcPr/>
                </a:tc>
                <a:tc>
                  <a:txBody>
                    <a:bodyPr/>
                    <a:lstStyle/>
                    <a:p>
                      <a:pPr algn="ctr"/>
                      <a:r>
                        <a:rPr lang="en-IN" sz="1800" dirty="0">
                          <a:latin typeface="Times New Roman" panose="02020603050405020304" pitchFamily="18" charset="0"/>
                          <a:cs typeface="Times New Roman" panose="02020603050405020304" pitchFamily="18" charset="0"/>
                        </a:rPr>
                        <a:t>WPD</a:t>
                      </a:r>
                    </a:p>
                  </a:txBody>
                  <a:tcPr/>
                </a:tc>
                <a:tc>
                  <a:txBody>
                    <a:bodyPr/>
                    <a:lstStyle/>
                    <a:p>
                      <a:pPr algn="ctr"/>
                      <a:r>
                        <a:rPr lang="en-IN" sz="1800" dirty="0">
                          <a:latin typeface="Times New Roman" panose="02020603050405020304" pitchFamily="18" charset="0"/>
                          <a:cs typeface="Times New Roman" panose="02020603050405020304" pitchFamily="18" charset="0"/>
                        </a:rPr>
                        <a:t>PPA Capacity </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Commissioned Capacity</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2851679557"/>
                  </a:ext>
                </a:extLst>
              </a:tr>
              <a:tr h="348825">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nchor="ctr"/>
                </a:tc>
                <a:tc>
                  <a:txBody>
                    <a:bodyPr/>
                    <a:lstStyle/>
                    <a:p>
                      <a:pPr algn="l"/>
                      <a:r>
                        <a:rPr lang="en-IN" sz="1800" dirty="0">
                          <a:solidFill>
                            <a:schemeClr val="tx1"/>
                          </a:solidFill>
                          <a:latin typeface="Times New Roman" panose="02020603050405020304" pitchFamily="18" charset="0"/>
                          <a:cs typeface="Times New Roman" panose="02020603050405020304" pitchFamily="18" charset="0"/>
                        </a:rPr>
                        <a:t>Betam Wind Energy Private 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200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marL="285750" indent="-285750" algn="ctr">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WPD failed to execute PPA.</a:t>
                      </a:r>
                    </a:p>
                  </a:txBody>
                  <a:tcPr anchor="ctr"/>
                </a:tc>
                <a:extLst>
                  <a:ext uri="{0D108BD9-81ED-4DB2-BD59-A6C34878D82A}">
                    <a16:rowId xmlns:a16="http://schemas.microsoft.com/office/drawing/2014/main" val="41473822"/>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nchor="ctr"/>
                </a:tc>
                <a:tc>
                  <a:txBody>
                    <a:bodyPr/>
                    <a:lstStyle/>
                    <a:p>
                      <a:pPr algn="l"/>
                      <a:r>
                        <a:rPr lang="en-IN" sz="1800" dirty="0">
                          <a:solidFill>
                            <a:schemeClr val="tx1"/>
                          </a:solidFill>
                          <a:latin typeface="Times New Roman" panose="02020603050405020304" pitchFamily="18" charset="0"/>
                          <a:cs typeface="Times New Roman" panose="02020603050405020304" pitchFamily="18" charset="0"/>
                        </a:rPr>
                        <a:t>Ostro Energy Private 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nchor="ctr"/>
                </a:tc>
                <a:tc>
                  <a:txBody>
                    <a:bodyPr/>
                    <a:lstStyle/>
                    <a:p>
                      <a:pPr marL="0" indent="0" algn="ctr">
                        <a:buFont typeface="Arial" panose="020B0604020202020204" pitchFamily="34" charset="0"/>
                        <a:buNone/>
                      </a:pPr>
                      <a:endParaRPr lang="en-IN" sz="180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87842036"/>
                  </a:ext>
                </a:extLst>
              </a:tr>
              <a:tr h="346285">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p>
                  </a:txBody>
                  <a:tcPr anchor="ctr"/>
                </a:tc>
                <a:tc>
                  <a:txBody>
                    <a:bodyPr/>
                    <a:lstStyle/>
                    <a:p>
                      <a:pPr algn="l" fontAlgn="ctr"/>
                      <a:r>
                        <a:rPr lang="en-US" sz="1800" b="0" i="0" u="none" strike="noStrike" dirty="0">
                          <a:solidFill>
                            <a:schemeClr val="tx1"/>
                          </a:solidFill>
                          <a:effectLst/>
                          <a:latin typeface="Times New Roman" panose="02020603050405020304" pitchFamily="18" charset="0"/>
                          <a:cs typeface="Times New Roman" panose="02020603050405020304" pitchFamily="18" charset="0"/>
                        </a:rPr>
                        <a:t>Sprng Wind Energy Private Limited </a:t>
                      </a:r>
                    </a:p>
                  </a:txBody>
                  <a:tcPr marL="6350" marR="6350" marT="6350" marB="0"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100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Project stands cancelled.</a:t>
                      </a:r>
                    </a:p>
                  </a:txBody>
                  <a:tcPr anchor="ctr"/>
                </a:tc>
                <a:extLst>
                  <a:ext uri="{0D108BD9-81ED-4DB2-BD59-A6C34878D82A}">
                    <a16:rowId xmlns:a16="http://schemas.microsoft.com/office/drawing/2014/main" val="2848025075"/>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a:t>
                      </a:r>
                    </a:p>
                  </a:txBody>
                  <a:tcPr anchor="ct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Adani Wind Energy Kutchh Five Limited</a:t>
                      </a:r>
                      <a:endParaRPr lang="en-IN" sz="18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130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130</a:t>
                      </a:r>
                    </a:p>
                  </a:txBody>
                  <a:tcPr anchor="ctr"/>
                </a:tc>
                <a:tc>
                  <a:txBody>
                    <a:bodyPr/>
                    <a:lstStyle/>
                    <a:p>
                      <a:pPr marL="0" indent="0" algn="ctr">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1204529395"/>
                  </a:ext>
                </a:extLst>
              </a:tr>
              <a:tr h="405988">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r>
                        <a:rPr lang="en-IN" sz="1800" b="1" dirty="0">
                          <a:solidFill>
                            <a:schemeClr val="tx1"/>
                          </a:solidFill>
                          <a:latin typeface="Times New Roman" panose="02020603050405020304" pitchFamily="18" charset="0"/>
                          <a:cs typeface="Times New Roman" panose="02020603050405020304" pitchFamily="18" charset="0"/>
                        </a:rPr>
                        <a:t>Total</a:t>
                      </a:r>
                    </a:p>
                  </a:txBody>
                  <a:tcPr anchor="ct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480</a:t>
                      </a:r>
                    </a:p>
                  </a:txBody>
                  <a:tcPr anchor="ct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180</a:t>
                      </a:r>
                    </a:p>
                  </a:txBody>
                  <a:tcPr anchor="ctr"/>
                </a:tc>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42266177"/>
                  </a:ext>
                </a:extLst>
              </a:tr>
            </a:tbl>
          </a:graphicData>
        </a:graphic>
      </p:graphicFrame>
      <p:sp>
        <p:nvSpPr>
          <p:cNvPr id="4" name="TextBox 3">
            <a:extLst>
              <a:ext uri="{FF2B5EF4-FFF2-40B4-BE49-F238E27FC236}">
                <a16:creationId xmlns:a16="http://schemas.microsoft.com/office/drawing/2014/main" id="{63949722-B0D6-DFFC-591D-C0708A600128}"/>
              </a:ext>
            </a:extLst>
          </p:cNvPr>
          <p:cNvSpPr txBox="1"/>
          <p:nvPr/>
        </p:nvSpPr>
        <p:spPr>
          <a:xfrm>
            <a:off x="8602133" y="6172200"/>
            <a:ext cx="1261534" cy="369332"/>
          </a:xfrm>
          <a:prstGeom prst="rect">
            <a:avLst/>
          </a:prstGeom>
          <a:noFill/>
        </p:spPr>
        <p:txBody>
          <a:bodyPr wrap="square" rtlCol="0">
            <a:spAutoFit/>
          </a:bodyPr>
          <a:lstStyle/>
          <a:p>
            <a:r>
              <a:rPr lang="en-US" dirty="0">
                <a:hlinkClick r:id="rId3" action="ppaction://hlinksldjump"/>
              </a:rPr>
              <a:t>Back</a:t>
            </a:r>
            <a:endParaRPr lang="en-IN" dirty="0"/>
          </a:p>
        </p:txBody>
      </p:sp>
    </p:spTree>
    <p:extLst>
      <p:ext uri="{BB962C8B-B14F-4D97-AF65-F5344CB8AC3E}">
        <p14:creationId xmlns:p14="http://schemas.microsoft.com/office/powerpoint/2010/main" val="30373807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901713" y="131301"/>
            <a:ext cx="4388573" cy="707886"/>
          </a:xfrm>
          <a:prstGeom prst="rect">
            <a:avLst/>
          </a:prstGeom>
          <a:noFill/>
        </p:spPr>
        <p:txBody>
          <a:bodyPr wrap="none" rtlCol="0">
            <a:spAutoFit/>
          </a:bodyPr>
          <a:lstStyle/>
          <a:p>
            <a:pPr algn="ctr"/>
            <a:r>
              <a:rPr lang="en-IN" sz="2000" b="1" i="1" u="sng" dirty="0">
                <a:latin typeface="Times New Roman" panose="02020603050405020304" pitchFamily="18" charset="0"/>
                <a:cs typeface="Times New Roman" panose="02020603050405020304" pitchFamily="18" charset="0"/>
                <a:hlinkClick r:id="rId2" action="ppaction://hlinkfile"/>
              </a:rPr>
              <a:t>Tranche – 8 (Tariff: </a:t>
            </a:r>
            <a:r>
              <a:rPr lang="en-IN" sz="2000" b="1" i="1" u="sng" dirty="0" err="1">
                <a:latin typeface="Times New Roman" panose="02020603050405020304" pitchFamily="18" charset="0"/>
                <a:cs typeface="Times New Roman" panose="02020603050405020304" pitchFamily="18" charset="0"/>
                <a:hlinkClick r:id="rId2" action="ppaction://hlinkfile"/>
              </a:rPr>
              <a:t>Rs</a:t>
            </a:r>
            <a:r>
              <a:rPr lang="en-IN" sz="2000" b="1" i="1" u="sng" dirty="0">
                <a:latin typeface="Times New Roman" panose="02020603050405020304" pitchFamily="18" charset="0"/>
                <a:cs typeface="Times New Roman" panose="02020603050405020304" pitchFamily="18" charset="0"/>
                <a:hlinkClick r:id="rId2" action="ppaction://hlinkfile"/>
              </a:rPr>
              <a:t>. 2.83-2.84/kWh)</a:t>
            </a:r>
            <a:endParaRPr lang="en-IN" sz="2000" b="1" i="1" u="sng" dirty="0">
              <a:latin typeface="Times New Roman" panose="02020603050405020304" pitchFamily="18" charset="0"/>
              <a:cs typeface="Times New Roman" panose="02020603050405020304" pitchFamily="18" charset="0"/>
            </a:endParaRPr>
          </a:p>
          <a:p>
            <a:pPr algn="ctr"/>
            <a:r>
              <a:rPr lang="en-IN" sz="2000" b="1" i="1" u="sng" dirty="0">
                <a:latin typeface="Times New Roman" panose="02020603050405020304" pitchFamily="18" charset="0"/>
                <a:cs typeface="Times New Roman" panose="02020603050405020304" pitchFamily="18" charset="0"/>
              </a:rPr>
              <a:t>Effective date of PPA: 21.05.2020</a:t>
            </a:r>
          </a:p>
        </p:txBody>
      </p:sp>
      <p:graphicFrame>
        <p:nvGraphicFramePr>
          <p:cNvPr id="2" name="Table 1">
            <a:extLst>
              <a:ext uri="{FF2B5EF4-FFF2-40B4-BE49-F238E27FC236}">
                <a16:creationId xmlns:a16="http://schemas.microsoft.com/office/drawing/2014/main" id="{C7C148D2-4B83-5936-B660-9A586C0BE7D0}"/>
              </a:ext>
            </a:extLst>
          </p:cNvPr>
          <p:cNvGraphicFramePr>
            <a:graphicFrameLocks noGrp="1"/>
          </p:cNvGraphicFramePr>
          <p:nvPr>
            <p:extLst>
              <p:ext uri="{D42A27DB-BD31-4B8C-83A1-F6EECF244321}">
                <p14:modId xmlns:p14="http://schemas.microsoft.com/office/powerpoint/2010/main" val="2420020496"/>
              </p:ext>
            </p:extLst>
          </p:nvPr>
        </p:nvGraphicFramePr>
        <p:xfrm>
          <a:off x="304801" y="1148380"/>
          <a:ext cx="11468099" cy="2011680"/>
        </p:xfrm>
        <a:graphic>
          <a:graphicData uri="http://schemas.openxmlformats.org/drawingml/2006/table">
            <a:tbl>
              <a:tblPr firstRow="1" bandRow="1">
                <a:tableStyleId>{5C22544A-7EE6-4342-B048-85BDC9FD1C3A}</a:tableStyleId>
              </a:tblPr>
              <a:tblGrid>
                <a:gridCol w="884029">
                  <a:extLst>
                    <a:ext uri="{9D8B030D-6E8A-4147-A177-3AD203B41FA5}">
                      <a16:colId xmlns:a16="http://schemas.microsoft.com/office/drawing/2014/main" val="4064482732"/>
                    </a:ext>
                  </a:extLst>
                </a:gridCol>
                <a:gridCol w="4559771">
                  <a:extLst>
                    <a:ext uri="{9D8B030D-6E8A-4147-A177-3AD203B41FA5}">
                      <a16:colId xmlns:a16="http://schemas.microsoft.com/office/drawing/2014/main" val="320820394"/>
                    </a:ext>
                  </a:extLst>
                </a:gridCol>
                <a:gridCol w="2163687">
                  <a:extLst>
                    <a:ext uri="{9D8B030D-6E8A-4147-A177-3AD203B41FA5}">
                      <a16:colId xmlns:a16="http://schemas.microsoft.com/office/drawing/2014/main" val="1105387179"/>
                    </a:ext>
                  </a:extLst>
                </a:gridCol>
                <a:gridCol w="1847051">
                  <a:extLst>
                    <a:ext uri="{9D8B030D-6E8A-4147-A177-3AD203B41FA5}">
                      <a16:colId xmlns:a16="http://schemas.microsoft.com/office/drawing/2014/main" val="1761692143"/>
                    </a:ext>
                  </a:extLst>
                </a:gridCol>
                <a:gridCol w="2013561">
                  <a:extLst>
                    <a:ext uri="{9D8B030D-6E8A-4147-A177-3AD203B41FA5}">
                      <a16:colId xmlns:a16="http://schemas.microsoft.com/office/drawing/2014/main" val="1177015039"/>
                    </a:ext>
                  </a:extLst>
                </a:gridCol>
              </a:tblGrid>
              <a:tr h="584750">
                <a:tc>
                  <a:txBody>
                    <a:bodyPr/>
                    <a:lstStyle/>
                    <a:p>
                      <a:pPr algn="ctr"/>
                      <a:r>
                        <a:rPr lang="en-IN" sz="1800" dirty="0">
                          <a:latin typeface="Times New Roman" panose="02020603050405020304" pitchFamily="18" charset="0"/>
                          <a:cs typeface="Times New Roman" panose="02020603050405020304" pitchFamily="18" charset="0"/>
                        </a:rPr>
                        <a:t>Sr. No.</a:t>
                      </a:r>
                    </a:p>
                  </a:txBody>
                  <a:tcPr/>
                </a:tc>
                <a:tc>
                  <a:txBody>
                    <a:bodyPr/>
                    <a:lstStyle/>
                    <a:p>
                      <a:pPr algn="ctr"/>
                      <a:r>
                        <a:rPr lang="en-IN" sz="1800" dirty="0">
                          <a:latin typeface="Times New Roman" panose="02020603050405020304" pitchFamily="18" charset="0"/>
                          <a:cs typeface="Times New Roman" panose="02020603050405020304" pitchFamily="18" charset="0"/>
                        </a:rPr>
                        <a:t>WPD</a:t>
                      </a:r>
                    </a:p>
                  </a:txBody>
                  <a:tcPr/>
                </a:tc>
                <a:tc>
                  <a:txBody>
                    <a:bodyPr/>
                    <a:lstStyle/>
                    <a:p>
                      <a:pPr algn="ctr"/>
                      <a:r>
                        <a:rPr lang="en-IN" sz="1800" dirty="0">
                          <a:latin typeface="Times New Roman" panose="02020603050405020304" pitchFamily="18" charset="0"/>
                          <a:cs typeface="Times New Roman" panose="02020603050405020304" pitchFamily="18" charset="0"/>
                        </a:rPr>
                        <a:t>PPA Capacity </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Commissioned Capacity</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2851679557"/>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Apraava Energy Private Limited</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250.71</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250.71</a:t>
                      </a:r>
                    </a:p>
                  </a:txBody>
                  <a:tcPr/>
                </a:tc>
                <a:tc>
                  <a:txBody>
                    <a:bodyPr/>
                    <a:lstStyle/>
                    <a:p>
                      <a:pPr marL="0" indent="0" algn="ctr">
                        <a:buFont typeface="Arial" panose="020B0604020202020204" pitchFamily="34" charset="0"/>
                        <a:buNone/>
                      </a:pPr>
                      <a:r>
                        <a:rPr lang="en-US"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41473822"/>
                  </a:ext>
                </a:extLst>
              </a:tr>
              <a:tr h="317633">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tc>
                <a:tc>
                  <a:txBody>
                    <a:bodyPr/>
                    <a:lstStyle/>
                    <a:p>
                      <a:r>
                        <a:rPr lang="sv-SE" sz="1800" dirty="0">
                          <a:solidFill>
                            <a:schemeClr val="tx1"/>
                          </a:solidFill>
                          <a:latin typeface="Times New Roman" panose="02020603050405020304" pitchFamily="18" charset="0"/>
                          <a:cs typeface="Times New Roman" panose="02020603050405020304" pitchFamily="18" charset="0"/>
                        </a:rPr>
                        <a:t>Tunga Renewable Energy </a:t>
                      </a:r>
                      <a:r>
                        <a:rPr lang="en-IN" sz="1800" dirty="0">
                          <a:solidFill>
                            <a:schemeClr val="tx1"/>
                          </a:solidFill>
                          <a:latin typeface="Times New Roman" panose="02020603050405020304" pitchFamily="18" charset="0"/>
                          <a:cs typeface="Times New Roman" panose="02020603050405020304" pitchFamily="18" charset="0"/>
                        </a:rPr>
                        <a:t>Private Limited</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189.93</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tc>
                <a:tc>
                  <a:txBody>
                    <a:bodyPr/>
                    <a:lstStyle/>
                    <a:p>
                      <a:pPr marL="0" indent="0" algn="ctr">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Under litigation</a:t>
                      </a:r>
                    </a:p>
                  </a:txBody>
                  <a:tcPr/>
                </a:tc>
                <a:extLst>
                  <a:ext uri="{0D108BD9-81ED-4DB2-BD59-A6C34878D82A}">
                    <a16:rowId xmlns:a16="http://schemas.microsoft.com/office/drawing/2014/main" val="2987842036"/>
                  </a:ext>
                </a:extLst>
              </a:tr>
              <a:tr h="342600">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b="1" dirty="0">
                          <a:solidFill>
                            <a:schemeClr val="tx1"/>
                          </a:solidFill>
                          <a:latin typeface="Times New Roman" panose="02020603050405020304" pitchFamily="18" charset="0"/>
                          <a:cs typeface="Times New Roman" panose="02020603050405020304" pitchFamily="18" charset="0"/>
                        </a:rPr>
                        <a:t>Total</a:t>
                      </a:r>
                    </a:p>
                  </a:txBody>
                  <a:tcP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480.8</a:t>
                      </a:r>
                    </a:p>
                  </a:txBody>
                  <a:tcP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250.71</a:t>
                      </a:r>
                    </a:p>
                  </a:txBody>
                  <a:tcPr/>
                </a:tc>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42266177"/>
                  </a:ext>
                </a:extLst>
              </a:tr>
            </a:tbl>
          </a:graphicData>
        </a:graphic>
      </p:graphicFrame>
      <p:sp>
        <p:nvSpPr>
          <p:cNvPr id="4" name="TextBox 3">
            <a:extLst>
              <a:ext uri="{FF2B5EF4-FFF2-40B4-BE49-F238E27FC236}">
                <a16:creationId xmlns:a16="http://schemas.microsoft.com/office/drawing/2014/main" id="{E33F7D7B-C9E9-655E-E8F2-D9026DAA1352}"/>
              </a:ext>
            </a:extLst>
          </p:cNvPr>
          <p:cNvSpPr txBox="1"/>
          <p:nvPr/>
        </p:nvSpPr>
        <p:spPr>
          <a:xfrm>
            <a:off x="8602133" y="6172200"/>
            <a:ext cx="1261534" cy="369332"/>
          </a:xfrm>
          <a:prstGeom prst="rect">
            <a:avLst/>
          </a:prstGeom>
          <a:noFill/>
        </p:spPr>
        <p:txBody>
          <a:bodyPr wrap="square" rtlCol="0">
            <a:spAutoFit/>
          </a:bodyPr>
          <a:lstStyle/>
          <a:p>
            <a:r>
              <a:rPr lang="en-US" dirty="0">
                <a:hlinkClick r:id="rId3" action="ppaction://hlinksldjump"/>
              </a:rPr>
              <a:t>Back</a:t>
            </a:r>
            <a:endParaRPr lang="en-IN" dirty="0"/>
          </a:p>
        </p:txBody>
      </p:sp>
    </p:spTree>
    <p:extLst>
      <p:ext uri="{BB962C8B-B14F-4D97-AF65-F5344CB8AC3E}">
        <p14:creationId xmlns:p14="http://schemas.microsoft.com/office/powerpoint/2010/main" val="22771072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167506" y="215523"/>
            <a:ext cx="8158580" cy="707886"/>
          </a:xfrm>
          <a:prstGeom prst="rect">
            <a:avLst/>
          </a:prstGeom>
          <a:noFill/>
        </p:spPr>
        <p:txBody>
          <a:bodyPr wrap="none" rtlCol="0">
            <a:spAutoFit/>
          </a:bodyPr>
          <a:lstStyle/>
          <a:p>
            <a:pPr algn="ctr"/>
            <a:r>
              <a:rPr lang="en-IN" sz="2000" b="1" i="1" u="sng" dirty="0">
                <a:latin typeface="Times New Roman" panose="02020603050405020304" pitchFamily="18" charset="0"/>
                <a:cs typeface="Times New Roman" panose="02020603050405020304" pitchFamily="18" charset="0"/>
                <a:hlinkClick r:id="rId2" action="ppaction://hlinkfile"/>
              </a:rPr>
              <a:t>Tranche – 9 (Tariff: Rs. 2.99-3.00/kWh)</a:t>
            </a:r>
            <a:endParaRPr lang="en-IN" sz="2000" b="1" i="1" u="sng" dirty="0">
              <a:latin typeface="Times New Roman" panose="02020603050405020304" pitchFamily="18" charset="0"/>
              <a:cs typeface="Times New Roman" panose="02020603050405020304" pitchFamily="18" charset="0"/>
            </a:endParaRPr>
          </a:p>
          <a:p>
            <a:pPr algn="ctr"/>
            <a:r>
              <a:rPr lang="en-IN" sz="2000" b="1" i="1" u="sng" dirty="0">
                <a:latin typeface="Times New Roman" panose="02020603050405020304" pitchFamily="18" charset="0"/>
                <a:cs typeface="Times New Roman" panose="02020603050405020304" pitchFamily="18" charset="0"/>
              </a:rPr>
              <a:t>Effective Date of PPA: 31.03.2021 for 700 MW and 15.07.2021 for 270 MW</a:t>
            </a:r>
          </a:p>
        </p:txBody>
      </p:sp>
      <p:graphicFrame>
        <p:nvGraphicFramePr>
          <p:cNvPr id="2" name="Table 1">
            <a:extLst>
              <a:ext uri="{FF2B5EF4-FFF2-40B4-BE49-F238E27FC236}">
                <a16:creationId xmlns:a16="http://schemas.microsoft.com/office/drawing/2014/main" id="{6C5DADCD-5CCA-A388-35D2-87F9C46733D4}"/>
              </a:ext>
            </a:extLst>
          </p:cNvPr>
          <p:cNvGraphicFramePr>
            <a:graphicFrameLocks noGrp="1"/>
          </p:cNvGraphicFramePr>
          <p:nvPr>
            <p:extLst>
              <p:ext uri="{D42A27DB-BD31-4B8C-83A1-F6EECF244321}">
                <p14:modId xmlns:p14="http://schemas.microsoft.com/office/powerpoint/2010/main" val="1628416420"/>
              </p:ext>
            </p:extLst>
          </p:nvPr>
        </p:nvGraphicFramePr>
        <p:xfrm>
          <a:off x="272715" y="1234334"/>
          <a:ext cx="11646569" cy="2651760"/>
        </p:xfrm>
        <a:graphic>
          <a:graphicData uri="http://schemas.openxmlformats.org/drawingml/2006/table">
            <a:tbl>
              <a:tblPr firstRow="1" bandRow="1">
                <a:tableStyleId>{5C22544A-7EE6-4342-B048-85BDC9FD1C3A}</a:tableStyleId>
              </a:tblPr>
              <a:tblGrid>
                <a:gridCol w="897787">
                  <a:extLst>
                    <a:ext uri="{9D8B030D-6E8A-4147-A177-3AD203B41FA5}">
                      <a16:colId xmlns:a16="http://schemas.microsoft.com/office/drawing/2014/main" val="4064482732"/>
                    </a:ext>
                  </a:extLst>
                </a:gridCol>
                <a:gridCol w="4551568">
                  <a:extLst>
                    <a:ext uri="{9D8B030D-6E8A-4147-A177-3AD203B41FA5}">
                      <a16:colId xmlns:a16="http://schemas.microsoft.com/office/drawing/2014/main" val="320820394"/>
                    </a:ext>
                  </a:extLst>
                </a:gridCol>
                <a:gridCol w="1272619">
                  <a:extLst>
                    <a:ext uri="{9D8B030D-6E8A-4147-A177-3AD203B41FA5}">
                      <a16:colId xmlns:a16="http://schemas.microsoft.com/office/drawing/2014/main" val="1105387179"/>
                    </a:ext>
                  </a:extLst>
                </a:gridCol>
                <a:gridCol w="1800519">
                  <a:extLst>
                    <a:ext uri="{9D8B030D-6E8A-4147-A177-3AD203B41FA5}">
                      <a16:colId xmlns:a16="http://schemas.microsoft.com/office/drawing/2014/main" val="1761692143"/>
                    </a:ext>
                  </a:extLst>
                </a:gridCol>
                <a:gridCol w="3124076">
                  <a:extLst>
                    <a:ext uri="{9D8B030D-6E8A-4147-A177-3AD203B41FA5}">
                      <a16:colId xmlns:a16="http://schemas.microsoft.com/office/drawing/2014/main" val="1177015039"/>
                    </a:ext>
                  </a:extLst>
                </a:gridCol>
              </a:tblGrid>
              <a:tr h="731170">
                <a:tc>
                  <a:txBody>
                    <a:bodyPr/>
                    <a:lstStyle/>
                    <a:p>
                      <a:pPr algn="ctr"/>
                      <a:r>
                        <a:rPr lang="en-IN" sz="1800" dirty="0">
                          <a:latin typeface="Times New Roman" panose="02020603050405020304" pitchFamily="18" charset="0"/>
                          <a:cs typeface="Times New Roman" panose="02020603050405020304" pitchFamily="18" charset="0"/>
                        </a:rPr>
                        <a:t>Sr. No.</a:t>
                      </a:r>
                    </a:p>
                  </a:txBody>
                  <a:tcPr/>
                </a:tc>
                <a:tc>
                  <a:txBody>
                    <a:bodyPr/>
                    <a:lstStyle/>
                    <a:p>
                      <a:pPr algn="ctr"/>
                      <a:r>
                        <a:rPr lang="en-IN" sz="1800" dirty="0">
                          <a:latin typeface="Times New Roman" panose="02020603050405020304" pitchFamily="18" charset="0"/>
                          <a:cs typeface="Times New Roman" panose="02020603050405020304" pitchFamily="18" charset="0"/>
                        </a:rPr>
                        <a:t>WPD</a:t>
                      </a:r>
                    </a:p>
                  </a:txBody>
                  <a:tcPr/>
                </a:tc>
                <a:tc>
                  <a:txBody>
                    <a:bodyPr/>
                    <a:lstStyle/>
                    <a:p>
                      <a:pPr algn="ctr"/>
                      <a:r>
                        <a:rPr lang="en-IN" sz="1800" dirty="0">
                          <a:latin typeface="Times New Roman" panose="02020603050405020304" pitchFamily="18" charset="0"/>
                          <a:cs typeface="Times New Roman" panose="02020603050405020304" pitchFamily="18" charset="0"/>
                        </a:rPr>
                        <a:t>PPA Capacity </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Commissioned Capacity</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2851679557"/>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nchor="ctr"/>
                </a:tc>
                <a:tc>
                  <a:txBody>
                    <a:bodyPr/>
                    <a:lstStyle/>
                    <a:p>
                      <a:r>
                        <a:rPr lang="sv-SE" sz="1800" dirty="0">
                          <a:solidFill>
                            <a:schemeClr val="tx1"/>
                          </a:solidFill>
                          <a:latin typeface="Times New Roman" panose="02020603050405020304" pitchFamily="18" charset="0"/>
                          <a:cs typeface="Times New Roman" panose="02020603050405020304" pitchFamily="18" charset="0"/>
                        </a:rPr>
                        <a:t>Vena Energy Vidyuth </a:t>
                      </a:r>
                      <a:r>
                        <a:rPr lang="en-IN" sz="1800" dirty="0">
                          <a:solidFill>
                            <a:schemeClr val="tx1"/>
                          </a:solidFill>
                          <a:latin typeface="Times New Roman" panose="02020603050405020304" pitchFamily="18" charset="0"/>
                          <a:cs typeface="Times New Roman" panose="02020603050405020304" pitchFamily="18" charset="0"/>
                        </a:rPr>
                        <a:t>Private 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160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160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41473822"/>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nchor="ctr"/>
                </a:tc>
                <a:tc>
                  <a:txBody>
                    <a:bodyPr/>
                    <a:lstStyle/>
                    <a:p>
                      <a:r>
                        <a:rPr lang="en-IN" sz="1800" dirty="0">
                          <a:solidFill>
                            <a:schemeClr val="tx1"/>
                          </a:solidFill>
                          <a:latin typeface="Times New Roman" panose="02020603050405020304" pitchFamily="18" charset="0"/>
                          <a:cs typeface="Times New Roman" panose="02020603050405020304" pitchFamily="18" charset="0"/>
                        </a:rPr>
                        <a:t>JSW Renew Energy 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540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540</a:t>
                      </a:r>
                    </a:p>
                  </a:txBody>
                  <a:tcPr anchor="ctr"/>
                </a:tc>
                <a:tc>
                  <a:txBody>
                    <a:bodyPr/>
                    <a:lstStyle/>
                    <a:p>
                      <a:pPr marL="0" indent="0" algn="ctr">
                        <a:buFont typeface="Arial" panose="020B0604020202020204" pitchFamily="34" charset="0"/>
                        <a:buNone/>
                      </a:pPr>
                      <a:r>
                        <a:rPr lang="en-US" sz="1800" dirty="0">
                          <a:solidFill>
                            <a:schemeClr val="tx1"/>
                          </a:solidFill>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2987842036"/>
                  </a:ext>
                </a:extLst>
              </a:tr>
              <a:tr h="1295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p>
                  </a:txBody>
                  <a:tcPr anchor="ctr"/>
                </a:tc>
                <a:tc>
                  <a:txBody>
                    <a:bodyPr/>
                    <a:lstStyle/>
                    <a:p>
                      <a:pPr algn="l" fontAlgn="ctr"/>
                      <a:r>
                        <a:rPr lang="en-US" sz="1800" kern="1200" dirty="0">
                          <a:solidFill>
                            <a:schemeClr val="tx1"/>
                          </a:solidFill>
                          <a:latin typeface="Times New Roman" panose="02020603050405020304" pitchFamily="18" charset="0"/>
                          <a:ea typeface="+mn-ea"/>
                          <a:cs typeface="Times New Roman" panose="02020603050405020304" pitchFamily="18" charset="0"/>
                        </a:rPr>
                        <a:t>JSW</a:t>
                      </a:r>
                      <a:r>
                        <a:rPr lang="en-US" sz="1800" b="0" i="0" u="none" strike="noStrike" dirty="0">
                          <a:solidFill>
                            <a:schemeClr val="tx1"/>
                          </a:solidFill>
                          <a:effectLst/>
                          <a:latin typeface="Times New Roman" panose="02020603050405020304" pitchFamily="18" charset="0"/>
                          <a:cs typeface="Times New Roman" panose="02020603050405020304" pitchFamily="18" charset="0"/>
                        </a:rPr>
                        <a:t> Renew Energy Limited</a:t>
                      </a:r>
                    </a:p>
                  </a:txBody>
                  <a:tcPr marL="6350" marR="6350" marT="6350" marB="0"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270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162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dirty="0">
                          <a:solidFill>
                            <a:schemeClr val="tx1"/>
                          </a:solidFill>
                          <a:latin typeface="Times New Roman" panose="02020603050405020304" pitchFamily="18" charset="0"/>
                          <a:cs typeface="Times New Roman" panose="02020603050405020304" pitchFamily="18" charset="0"/>
                        </a:rPr>
                        <a:t>Under execution</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dirty="0">
                          <a:solidFill>
                            <a:schemeClr val="tx1"/>
                          </a:solidFill>
                          <a:latin typeface="Times New Roman" panose="02020603050405020304" pitchFamily="18" charset="0"/>
                          <a:cs typeface="Times New Roman" panose="02020603050405020304" pitchFamily="18" charset="0"/>
                        </a:rPr>
                        <a:t>(Revised SCD is 30.11.2025)</a:t>
                      </a:r>
                    </a:p>
                  </a:txBody>
                  <a:tcPr anchor="ctr"/>
                </a:tc>
                <a:extLst>
                  <a:ext uri="{0D108BD9-81ED-4DB2-BD59-A6C34878D82A}">
                    <a16:rowId xmlns:a16="http://schemas.microsoft.com/office/drawing/2014/main" val="325724539"/>
                  </a:ext>
                </a:extLst>
              </a:tr>
              <a:tr h="233680">
                <a:tc>
                  <a:txBody>
                    <a:bodyPr/>
                    <a:lstStyle/>
                    <a:p>
                      <a:pPr algn="ctr"/>
                      <a:endParaRPr lang="en-IN" sz="1800" b="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l" fontAlgn="ctr"/>
                      <a:r>
                        <a:rPr lang="en-US" sz="1800" b="1" i="0" u="none" strike="noStrike" dirty="0">
                          <a:solidFill>
                            <a:schemeClr val="tx1"/>
                          </a:solidFill>
                          <a:effectLst/>
                          <a:latin typeface="Times New Roman" panose="02020603050405020304" pitchFamily="18" charset="0"/>
                          <a:cs typeface="Times New Roman" panose="02020603050405020304" pitchFamily="18" charset="0"/>
                        </a:rPr>
                        <a:t>Total</a:t>
                      </a:r>
                    </a:p>
                  </a:txBody>
                  <a:tcPr marL="6350" marR="6350" marT="6350" marB="0" anchor="ct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970</a:t>
                      </a:r>
                    </a:p>
                  </a:txBody>
                  <a:tcPr anchor="ct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862</a:t>
                      </a:r>
                    </a:p>
                  </a:txBody>
                  <a:tcPr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800" b="1"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629064028"/>
                  </a:ext>
                </a:extLst>
              </a:tr>
            </a:tbl>
          </a:graphicData>
        </a:graphic>
      </p:graphicFrame>
      <p:sp>
        <p:nvSpPr>
          <p:cNvPr id="4" name="TextBox 3">
            <a:extLst>
              <a:ext uri="{FF2B5EF4-FFF2-40B4-BE49-F238E27FC236}">
                <a16:creationId xmlns:a16="http://schemas.microsoft.com/office/drawing/2014/main" id="{1836F01F-7498-0C86-C8A2-D73632CAB974}"/>
              </a:ext>
            </a:extLst>
          </p:cNvPr>
          <p:cNvSpPr txBox="1"/>
          <p:nvPr/>
        </p:nvSpPr>
        <p:spPr>
          <a:xfrm>
            <a:off x="8602133" y="6172200"/>
            <a:ext cx="1261534" cy="369332"/>
          </a:xfrm>
          <a:prstGeom prst="rect">
            <a:avLst/>
          </a:prstGeom>
          <a:noFill/>
        </p:spPr>
        <p:txBody>
          <a:bodyPr wrap="square" rtlCol="0">
            <a:spAutoFit/>
          </a:bodyPr>
          <a:lstStyle/>
          <a:p>
            <a:r>
              <a:rPr lang="en-US" dirty="0">
                <a:hlinkClick r:id="rId3" action="ppaction://hlinksldjump"/>
              </a:rPr>
              <a:t>Back</a:t>
            </a:r>
            <a:endParaRPr lang="en-IN" dirty="0"/>
          </a:p>
        </p:txBody>
      </p:sp>
    </p:spTree>
    <p:extLst>
      <p:ext uri="{BB962C8B-B14F-4D97-AF65-F5344CB8AC3E}">
        <p14:creationId xmlns:p14="http://schemas.microsoft.com/office/powerpoint/2010/main" val="23998967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837593" y="155365"/>
            <a:ext cx="4516813" cy="707886"/>
          </a:xfrm>
          <a:prstGeom prst="rect">
            <a:avLst/>
          </a:prstGeom>
          <a:noFill/>
        </p:spPr>
        <p:txBody>
          <a:bodyPr wrap="none" rtlCol="0">
            <a:spAutoFit/>
          </a:bodyPr>
          <a:lstStyle/>
          <a:p>
            <a:pPr algn="ctr"/>
            <a:r>
              <a:rPr lang="en-IN" sz="2000" b="1" i="1" u="sng" dirty="0">
                <a:latin typeface="Times New Roman" panose="02020603050405020304" pitchFamily="18" charset="0"/>
                <a:cs typeface="Times New Roman" panose="02020603050405020304" pitchFamily="18" charset="0"/>
                <a:hlinkClick r:id="rId2" action="ppaction://hlinkfile"/>
              </a:rPr>
              <a:t>Tranche – 10 (Tariff: Rs. 2.77-2.78/kWh)</a:t>
            </a:r>
            <a:endParaRPr lang="en-IN" sz="2000" b="1" i="1" u="sng" dirty="0">
              <a:latin typeface="Times New Roman" panose="02020603050405020304" pitchFamily="18" charset="0"/>
              <a:cs typeface="Times New Roman" panose="02020603050405020304" pitchFamily="18" charset="0"/>
            </a:endParaRPr>
          </a:p>
          <a:p>
            <a:pPr algn="ctr"/>
            <a:r>
              <a:rPr lang="en-IN" sz="2000" b="1" i="1" u="sng" dirty="0">
                <a:latin typeface="Times New Roman" panose="02020603050405020304" pitchFamily="18" charset="0"/>
                <a:cs typeface="Times New Roman" panose="02020603050405020304" pitchFamily="18" charset="0"/>
              </a:rPr>
              <a:t>Effective Date of PPA: 10.09.2021</a:t>
            </a:r>
          </a:p>
        </p:txBody>
      </p:sp>
      <p:graphicFrame>
        <p:nvGraphicFramePr>
          <p:cNvPr id="2" name="Table 1">
            <a:extLst>
              <a:ext uri="{FF2B5EF4-FFF2-40B4-BE49-F238E27FC236}">
                <a16:creationId xmlns:a16="http://schemas.microsoft.com/office/drawing/2014/main" id="{F5E82248-A568-455C-1B2E-11204F5AF212}"/>
              </a:ext>
            </a:extLst>
          </p:cNvPr>
          <p:cNvGraphicFramePr>
            <a:graphicFrameLocks noGrp="1"/>
          </p:cNvGraphicFramePr>
          <p:nvPr>
            <p:extLst>
              <p:ext uri="{D42A27DB-BD31-4B8C-83A1-F6EECF244321}">
                <p14:modId xmlns:p14="http://schemas.microsoft.com/office/powerpoint/2010/main" val="3727784828"/>
              </p:ext>
            </p:extLst>
          </p:nvPr>
        </p:nvGraphicFramePr>
        <p:xfrm>
          <a:off x="228600" y="1032807"/>
          <a:ext cx="11722101" cy="3108960"/>
        </p:xfrm>
        <a:graphic>
          <a:graphicData uri="http://schemas.openxmlformats.org/drawingml/2006/table">
            <a:tbl>
              <a:tblPr firstRow="1" bandRow="1">
                <a:tableStyleId>{5C22544A-7EE6-4342-B048-85BDC9FD1C3A}</a:tableStyleId>
              </a:tblPr>
              <a:tblGrid>
                <a:gridCol w="903609">
                  <a:extLst>
                    <a:ext uri="{9D8B030D-6E8A-4147-A177-3AD203B41FA5}">
                      <a16:colId xmlns:a16="http://schemas.microsoft.com/office/drawing/2014/main" val="4064482732"/>
                    </a:ext>
                  </a:extLst>
                </a:gridCol>
                <a:gridCol w="4448459">
                  <a:extLst>
                    <a:ext uri="{9D8B030D-6E8A-4147-A177-3AD203B41FA5}">
                      <a16:colId xmlns:a16="http://schemas.microsoft.com/office/drawing/2014/main" val="320820394"/>
                    </a:ext>
                  </a:extLst>
                </a:gridCol>
                <a:gridCol w="1197204">
                  <a:extLst>
                    <a:ext uri="{9D8B030D-6E8A-4147-A177-3AD203B41FA5}">
                      <a16:colId xmlns:a16="http://schemas.microsoft.com/office/drawing/2014/main" val="1105387179"/>
                    </a:ext>
                  </a:extLst>
                </a:gridCol>
                <a:gridCol w="1753386">
                  <a:extLst>
                    <a:ext uri="{9D8B030D-6E8A-4147-A177-3AD203B41FA5}">
                      <a16:colId xmlns:a16="http://schemas.microsoft.com/office/drawing/2014/main" val="1761692143"/>
                    </a:ext>
                  </a:extLst>
                </a:gridCol>
                <a:gridCol w="3419443">
                  <a:extLst>
                    <a:ext uri="{9D8B030D-6E8A-4147-A177-3AD203B41FA5}">
                      <a16:colId xmlns:a16="http://schemas.microsoft.com/office/drawing/2014/main" val="1177015039"/>
                    </a:ext>
                  </a:extLst>
                </a:gridCol>
              </a:tblGrid>
              <a:tr h="860465">
                <a:tc>
                  <a:txBody>
                    <a:bodyPr/>
                    <a:lstStyle/>
                    <a:p>
                      <a:pPr algn="ctr"/>
                      <a:r>
                        <a:rPr lang="en-IN" sz="1800" dirty="0">
                          <a:latin typeface="Times New Roman" panose="02020603050405020304" pitchFamily="18" charset="0"/>
                          <a:cs typeface="Times New Roman" panose="02020603050405020304" pitchFamily="18" charset="0"/>
                        </a:rPr>
                        <a:t>Sr. No.</a:t>
                      </a:r>
                    </a:p>
                  </a:txBody>
                  <a:tcPr/>
                </a:tc>
                <a:tc>
                  <a:txBody>
                    <a:bodyPr/>
                    <a:lstStyle/>
                    <a:p>
                      <a:pPr algn="ctr"/>
                      <a:r>
                        <a:rPr lang="en-IN" sz="1800" dirty="0">
                          <a:latin typeface="Times New Roman" panose="02020603050405020304" pitchFamily="18" charset="0"/>
                          <a:cs typeface="Times New Roman" panose="02020603050405020304" pitchFamily="18" charset="0"/>
                        </a:rPr>
                        <a:t>WPD</a:t>
                      </a:r>
                    </a:p>
                  </a:txBody>
                  <a:tcPr/>
                </a:tc>
                <a:tc>
                  <a:txBody>
                    <a:bodyPr/>
                    <a:lstStyle/>
                    <a:p>
                      <a:pPr algn="ctr"/>
                      <a:r>
                        <a:rPr lang="en-IN" sz="1800" dirty="0">
                          <a:latin typeface="Times New Roman" panose="02020603050405020304" pitchFamily="18" charset="0"/>
                          <a:cs typeface="Times New Roman" panose="02020603050405020304" pitchFamily="18" charset="0"/>
                        </a:rPr>
                        <a:t>PPA Capacity </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Commissioned Capacity</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2851679557"/>
                  </a:ext>
                </a:extLst>
              </a:tr>
              <a:tr h="224493">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nchor="ctr"/>
                </a:tc>
                <a:tc>
                  <a:txBody>
                    <a:bodyPr/>
                    <a:lstStyle/>
                    <a:p>
                      <a:r>
                        <a:rPr lang="en-US" sz="1800" dirty="0">
                          <a:solidFill>
                            <a:schemeClr val="tx1"/>
                          </a:solidFill>
                          <a:latin typeface="Times New Roman" panose="02020603050405020304" pitchFamily="18" charset="0"/>
                          <a:cs typeface="Times New Roman" panose="02020603050405020304" pitchFamily="18" charset="0"/>
                        </a:rPr>
                        <a:t>Adani Renewable Energy Seven Limited</a:t>
                      </a:r>
                      <a:endParaRPr lang="en-IN" sz="18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Under litigation</a:t>
                      </a:r>
                    </a:p>
                  </a:txBody>
                  <a:tcPr anchor="ctr"/>
                </a:tc>
                <a:extLst>
                  <a:ext uri="{0D108BD9-81ED-4DB2-BD59-A6C34878D82A}">
                    <a16:rowId xmlns:a16="http://schemas.microsoft.com/office/drawing/2014/main" val="41473822"/>
                  </a:ext>
                </a:extLst>
              </a:tr>
              <a:tr h="328633">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nchor="ctr"/>
                </a:tc>
                <a:tc>
                  <a:txBody>
                    <a:bodyPr/>
                    <a:lstStyle/>
                    <a:p>
                      <a:r>
                        <a:rPr lang="en-IN" sz="1800" dirty="0">
                          <a:solidFill>
                            <a:schemeClr val="tx1"/>
                          </a:solidFill>
                          <a:latin typeface="Times New Roman" panose="02020603050405020304" pitchFamily="18" charset="0"/>
                          <a:cs typeface="Times New Roman" panose="02020603050405020304" pitchFamily="18" charset="0"/>
                        </a:rPr>
                        <a:t>Ayana Renewable Power Six </a:t>
                      </a:r>
                      <a:r>
                        <a:rPr lang="en-US" sz="1800" b="0" i="0" u="none" strike="noStrike" dirty="0">
                          <a:solidFill>
                            <a:schemeClr val="tx1"/>
                          </a:solidFill>
                          <a:effectLst/>
                          <a:latin typeface="Times New Roman" panose="02020603050405020304" pitchFamily="18" charset="0"/>
                          <a:cs typeface="Times New Roman" panose="02020603050405020304" pitchFamily="18" charset="0"/>
                        </a:rPr>
                        <a:t>Private</a:t>
                      </a:r>
                      <a:r>
                        <a:rPr lang="en-IN" sz="1800" dirty="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Limited</a:t>
                      </a:r>
                      <a:endParaRPr lang="en-IN" sz="18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dirty="0">
                          <a:solidFill>
                            <a:schemeClr val="tx1"/>
                          </a:solidFill>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2987842036"/>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p>
                  </a:txBody>
                  <a:tcPr anchor="ctr"/>
                </a:tc>
                <a:tc>
                  <a:txBody>
                    <a:bodyPr/>
                    <a:lstStyle/>
                    <a:p>
                      <a:pPr algn="l" fontAlgn="ctr"/>
                      <a:r>
                        <a:rPr lang="en-US" sz="1800" b="0" i="0" u="none" strike="noStrike" dirty="0">
                          <a:solidFill>
                            <a:schemeClr val="tx1"/>
                          </a:solidFill>
                          <a:effectLst/>
                          <a:latin typeface="Times New Roman" panose="02020603050405020304" pitchFamily="18" charset="0"/>
                          <a:cs typeface="Times New Roman" panose="02020603050405020304" pitchFamily="18" charset="0"/>
                        </a:rPr>
                        <a:t>Viento Renewables Private </a:t>
                      </a:r>
                      <a:r>
                        <a:rPr lang="en-US" sz="1800" dirty="0">
                          <a:solidFill>
                            <a:schemeClr val="tx1"/>
                          </a:solidFill>
                          <a:latin typeface="Times New Roman" panose="02020603050405020304" pitchFamily="18" charset="0"/>
                          <a:cs typeface="Times New Roman" panose="02020603050405020304" pitchFamily="18" charset="0"/>
                        </a:rPr>
                        <a:t>Limited</a:t>
                      </a:r>
                      <a:endParaRPr lang="en-US" sz="18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150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Under litigation</a:t>
                      </a:r>
                    </a:p>
                  </a:txBody>
                  <a:tcPr anchor="ctr"/>
                </a:tc>
                <a:extLst>
                  <a:ext uri="{0D108BD9-81ED-4DB2-BD59-A6C34878D82A}">
                    <a16:rowId xmlns:a16="http://schemas.microsoft.com/office/drawing/2014/main" val="2848025075"/>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a:t>
                      </a:r>
                    </a:p>
                  </a:txBody>
                  <a:tcPr anchor="ctr"/>
                </a:tc>
                <a:tc>
                  <a:txBody>
                    <a:bodyPr/>
                    <a:lstStyle/>
                    <a:p>
                      <a:r>
                        <a:rPr lang="en-US" sz="1800" dirty="0">
                          <a:solidFill>
                            <a:schemeClr val="tx1"/>
                          </a:solidFill>
                          <a:latin typeface="Times New Roman" panose="02020603050405020304" pitchFamily="18" charset="0"/>
                          <a:cs typeface="Times New Roman" panose="02020603050405020304" pitchFamily="18" charset="0"/>
                        </a:rPr>
                        <a:t>JSW Renew Energy Two Limited</a:t>
                      </a:r>
                      <a:endParaRPr lang="en-IN" sz="18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150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150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dirty="0">
                          <a:solidFill>
                            <a:schemeClr val="tx1"/>
                          </a:solidFill>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1204529395"/>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a:t>
                      </a:r>
                    </a:p>
                  </a:txBody>
                  <a:tcPr/>
                </a:tc>
                <a:tc>
                  <a:txBody>
                    <a:bodyPr/>
                    <a:lstStyle/>
                    <a:p>
                      <a:r>
                        <a:rPr lang="en-US" sz="1800" dirty="0">
                          <a:solidFill>
                            <a:schemeClr val="tx1"/>
                          </a:solidFill>
                          <a:latin typeface="Times New Roman" panose="02020603050405020304" pitchFamily="18" charset="0"/>
                          <a:cs typeface="Times New Roman" panose="02020603050405020304" pitchFamily="18" charset="0"/>
                        </a:rPr>
                        <a:t>JSW Renew Energy Two Limited</a:t>
                      </a:r>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dirty="0">
                          <a:solidFill>
                            <a:schemeClr val="tx1"/>
                          </a:solidFill>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1106855049"/>
                  </a:ext>
                </a:extLst>
              </a:tr>
              <a:tr h="0">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800" b="1" dirty="0">
                          <a:solidFill>
                            <a:schemeClr val="tx1"/>
                          </a:solidFill>
                          <a:latin typeface="Times New Roman" panose="02020603050405020304" pitchFamily="18" charset="0"/>
                          <a:cs typeface="Times New Roman" panose="02020603050405020304" pitchFamily="18" charset="0"/>
                        </a:rPr>
                        <a:t>Total</a:t>
                      </a:r>
                    </a:p>
                  </a:txBody>
                  <a:tcP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1200</a:t>
                      </a:r>
                    </a:p>
                  </a:txBody>
                  <a:tcP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750</a:t>
                      </a:r>
                    </a:p>
                  </a:txBody>
                  <a:tcPr/>
                </a:tc>
                <a:tc>
                  <a:txBody>
                    <a:bodyPr/>
                    <a:lstStyle/>
                    <a:p>
                      <a:pPr algn="ctr"/>
                      <a:endParaRPr lang="en-IN" sz="18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59386847"/>
                  </a:ext>
                </a:extLst>
              </a:tr>
            </a:tbl>
          </a:graphicData>
        </a:graphic>
      </p:graphicFrame>
      <p:sp>
        <p:nvSpPr>
          <p:cNvPr id="4" name="TextBox 3">
            <a:extLst>
              <a:ext uri="{FF2B5EF4-FFF2-40B4-BE49-F238E27FC236}">
                <a16:creationId xmlns:a16="http://schemas.microsoft.com/office/drawing/2014/main" id="{326F9C97-E6F1-744A-AA7D-C475F26C2C3C}"/>
              </a:ext>
            </a:extLst>
          </p:cNvPr>
          <p:cNvSpPr txBox="1"/>
          <p:nvPr/>
        </p:nvSpPr>
        <p:spPr>
          <a:xfrm>
            <a:off x="8602133" y="6172200"/>
            <a:ext cx="1261534" cy="369332"/>
          </a:xfrm>
          <a:prstGeom prst="rect">
            <a:avLst/>
          </a:prstGeom>
          <a:noFill/>
        </p:spPr>
        <p:txBody>
          <a:bodyPr wrap="square" rtlCol="0">
            <a:spAutoFit/>
          </a:bodyPr>
          <a:lstStyle/>
          <a:p>
            <a:r>
              <a:rPr lang="en-US" dirty="0">
                <a:hlinkClick r:id="rId3" action="ppaction://hlinksldjump"/>
              </a:rPr>
              <a:t>Back</a:t>
            </a:r>
            <a:endParaRPr lang="en-IN" dirty="0"/>
          </a:p>
        </p:txBody>
      </p:sp>
    </p:spTree>
    <p:extLst>
      <p:ext uri="{BB962C8B-B14F-4D97-AF65-F5344CB8AC3E}">
        <p14:creationId xmlns:p14="http://schemas.microsoft.com/office/powerpoint/2010/main" val="31019405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844678" y="155365"/>
            <a:ext cx="4502643" cy="707886"/>
          </a:xfrm>
          <a:prstGeom prst="rect">
            <a:avLst/>
          </a:prstGeom>
          <a:noFill/>
        </p:spPr>
        <p:txBody>
          <a:bodyPr wrap="none" rtlCol="0">
            <a:spAutoFit/>
          </a:bodyPr>
          <a:lstStyle/>
          <a:p>
            <a:pPr algn="ctr"/>
            <a:r>
              <a:rPr lang="en-IN" sz="2000" b="1" i="1" u="sng" dirty="0">
                <a:latin typeface="Times New Roman" panose="02020603050405020304" pitchFamily="18" charset="0"/>
                <a:cs typeface="Times New Roman" panose="02020603050405020304" pitchFamily="18" charset="0"/>
                <a:hlinkClick r:id="rId2" action="ppaction://hlinkfile"/>
              </a:rPr>
              <a:t>Tranche – 11 (Tariff: Rs. 2.69-2.70/kWh)</a:t>
            </a:r>
            <a:endParaRPr lang="en-IN" sz="2000" b="1" i="1" u="sng" dirty="0">
              <a:latin typeface="Times New Roman" panose="02020603050405020304" pitchFamily="18" charset="0"/>
              <a:cs typeface="Times New Roman" panose="02020603050405020304" pitchFamily="18" charset="0"/>
            </a:endParaRPr>
          </a:p>
          <a:p>
            <a:pPr algn="ctr"/>
            <a:r>
              <a:rPr lang="en-IN" sz="2000" b="1" i="1" u="sng" dirty="0">
                <a:latin typeface="Times New Roman" panose="02020603050405020304" pitchFamily="18" charset="0"/>
                <a:cs typeface="Times New Roman" panose="02020603050405020304" pitchFamily="18" charset="0"/>
              </a:rPr>
              <a:t>Effective Date of PPA: 30.06.2022</a:t>
            </a:r>
          </a:p>
        </p:txBody>
      </p:sp>
      <p:graphicFrame>
        <p:nvGraphicFramePr>
          <p:cNvPr id="2" name="Table 1">
            <a:extLst>
              <a:ext uri="{FF2B5EF4-FFF2-40B4-BE49-F238E27FC236}">
                <a16:creationId xmlns:a16="http://schemas.microsoft.com/office/drawing/2014/main" id="{65C55EFD-A1CC-7EC9-7E7C-F40DCC2089EC}"/>
              </a:ext>
            </a:extLst>
          </p:cNvPr>
          <p:cNvGraphicFramePr>
            <a:graphicFrameLocks noGrp="1"/>
          </p:cNvGraphicFramePr>
          <p:nvPr>
            <p:extLst>
              <p:ext uri="{D42A27DB-BD31-4B8C-83A1-F6EECF244321}">
                <p14:modId xmlns:p14="http://schemas.microsoft.com/office/powerpoint/2010/main" val="1882561958"/>
              </p:ext>
            </p:extLst>
          </p:nvPr>
        </p:nvGraphicFramePr>
        <p:xfrm>
          <a:off x="228600" y="1029135"/>
          <a:ext cx="11658600" cy="4414485"/>
        </p:xfrm>
        <a:graphic>
          <a:graphicData uri="http://schemas.openxmlformats.org/drawingml/2006/table">
            <a:tbl>
              <a:tblPr firstRow="1" bandRow="1">
                <a:tableStyleId>{5C22544A-7EE6-4342-B048-85BDC9FD1C3A}</a:tableStyleId>
              </a:tblPr>
              <a:tblGrid>
                <a:gridCol w="864909">
                  <a:extLst>
                    <a:ext uri="{9D8B030D-6E8A-4147-A177-3AD203B41FA5}">
                      <a16:colId xmlns:a16="http://schemas.microsoft.com/office/drawing/2014/main" val="4064482732"/>
                    </a:ext>
                  </a:extLst>
                </a:gridCol>
                <a:gridCol w="3780149">
                  <a:extLst>
                    <a:ext uri="{9D8B030D-6E8A-4147-A177-3AD203B41FA5}">
                      <a16:colId xmlns:a16="http://schemas.microsoft.com/office/drawing/2014/main" val="320820394"/>
                    </a:ext>
                  </a:extLst>
                </a:gridCol>
                <a:gridCol w="1131216">
                  <a:extLst>
                    <a:ext uri="{9D8B030D-6E8A-4147-A177-3AD203B41FA5}">
                      <a16:colId xmlns:a16="http://schemas.microsoft.com/office/drawing/2014/main" val="1105387179"/>
                    </a:ext>
                  </a:extLst>
                </a:gridCol>
                <a:gridCol w="1640264">
                  <a:extLst>
                    <a:ext uri="{9D8B030D-6E8A-4147-A177-3AD203B41FA5}">
                      <a16:colId xmlns:a16="http://schemas.microsoft.com/office/drawing/2014/main" val="1761692143"/>
                    </a:ext>
                  </a:extLst>
                </a:gridCol>
                <a:gridCol w="4242062">
                  <a:extLst>
                    <a:ext uri="{9D8B030D-6E8A-4147-A177-3AD203B41FA5}">
                      <a16:colId xmlns:a16="http://schemas.microsoft.com/office/drawing/2014/main" val="1177015039"/>
                    </a:ext>
                  </a:extLst>
                </a:gridCol>
              </a:tblGrid>
              <a:tr h="615817">
                <a:tc>
                  <a:txBody>
                    <a:bodyPr/>
                    <a:lstStyle/>
                    <a:p>
                      <a:pPr algn="ctr"/>
                      <a:r>
                        <a:rPr lang="en-IN" sz="1800" dirty="0">
                          <a:latin typeface="Times New Roman" panose="02020603050405020304" pitchFamily="18" charset="0"/>
                          <a:cs typeface="Times New Roman" panose="02020603050405020304" pitchFamily="18" charset="0"/>
                        </a:rPr>
                        <a:t>Sr. No.</a:t>
                      </a:r>
                    </a:p>
                  </a:txBody>
                  <a:tcPr/>
                </a:tc>
                <a:tc>
                  <a:txBody>
                    <a:bodyPr/>
                    <a:lstStyle/>
                    <a:p>
                      <a:pPr algn="ctr"/>
                      <a:r>
                        <a:rPr lang="en-IN" sz="1800" dirty="0">
                          <a:latin typeface="Times New Roman" panose="02020603050405020304" pitchFamily="18" charset="0"/>
                          <a:cs typeface="Times New Roman" panose="02020603050405020304" pitchFamily="18" charset="0"/>
                        </a:rPr>
                        <a:t>WPD</a:t>
                      </a:r>
                    </a:p>
                  </a:txBody>
                  <a:tcPr/>
                </a:tc>
                <a:tc>
                  <a:txBody>
                    <a:bodyPr/>
                    <a:lstStyle/>
                    <a:p>
                      <a:pPr algn="ctr"/>
                      <a:r>
                        <a:rPr lang="en-IN" sz="1800" dirty="0">
                          <a:latin typeface="Times New Roman" panose="02020603050405020304" pitchFamily="18" charset="0"/>
                          <a:cs typeface="Times New Roman" panose="02020603050405020304" pitchFamily="18" charset="0"/>
                        </a:rPr>
                        <a:t>PPA Capacity </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Commissioned Capacity</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2851679557"/>
                  </a:ext>
                </a:extLst>
              </a:tr>
              <a:tr h="444065">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nchor="ctr"/>
                </a:tc>
                <a:tc>
                  <a:txBody>
                    <a:bodyPr/>
                    <a:lstStyle/>
                    <a:p>
                      <a:pPr algn="l"/>
                      <a:r>
                        <a:rPr lang="en-IN" sz="1800" dirty="0">
                          <a:solidFill>
                            <a:schemeClr val="tx1"/>
                          </a:solidFill>
                          <a:latin typeface="Times New Roman" panose="02020603050405020304" pitchFamily="18" charset="0"/>
                          <a:cs typeface="Times New Roman" panose="02020603050405020304" pitchFamily="18" charset="0"/>
                        </a:rPr>
                        <a:t>ReNew Naveen Urja Private 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Under litigation.</a:t>
                      </a:r>
                    </a:p>
                  </a:txBody>
                  <a:tcPr anchor="ctr"/>
                </a:tc>
                <a:extLst>
                  <a:ext uri="{0D108BD9-81ED-4DB2-BD59-A6C34878D82A}">
                    <a16:rowId xmlns:a16="http://schemas.microsoft.com/office/drawing/2014/main" val="41473822"/>
                  </a:ext>
                </a:extLst>
              </a:tr>
              <a:tr h="27940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nchor="ct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Green lnfra Wind Energy Limited</a:t>
                      </a:r>
                      <a:endParaRPr lang="en-IN" sz="18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180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54.6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Under execution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Times New Roman" panose="02020603050405020304" pitchFamily="18" charset="0"/>
                          <a:cs typeface="Times New Roman" panose="02020603050405020304" pitchFamily="18" charset="0"/>
                        </a:rPr>
                        <a:t>(Revised SCD is 26.07.2025)</a:t>
                      </a:r>
                    </a:p>
                  </a:txBody>
                  <a:tcPr anchor="ctr"/>
                </a:tc>
                <a:extLst>
                  <a:ext uri="{0D108BD9-81ED-4DB2-BD59-A6C34878D82A}">
                    <a16:rowId xmlns:a16="http://schemas.microsoft.com/office/drawing/2014/main" val="2987842036"/>
                  </a:ext>
                </a:extLst>
              </a:tr>
              <a:tr h="2057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p>
                  </a:txBody>
                  <a:tcPr anchor="ctr"/>
                </a:tc>
                <a:tc>
                  <a:txBody>
                    <a:bodyPr/>
                    <a:lstStyle/>
                    <a:p>
                      <a:pPr algn="l" fontAlgn="ctr"/>
                      <a:r>
                        <a:rPr lang="en-US" sz="1800" b="0" i="0" u="none" strike="noStrike" dirty="0">
                          <a:solidFill>
                            <a:schemeClr val="tx1"/>
                          </a:solidFill>
                          <a:effectLst/>
                          <a:latin typeface="Times New Roman" panose="02020603050405020304" pitchFamily="18" charset="0"/>
                          <a:cs typeface="Times New Roman" panose="02020603050405020304" pitchFamily="18" charset="0"/>
                        </a:rPr>
                        <a:t>Anupavan Renewables </a:t>
                      </a:r>
                      <a:r>
                        <a:rPr lang="en-IN" sz="1800" dirty="0">
                          <a:solidFill>
                            <a:schemeClr val="tx1"/>
                          </a:solidFill>
                          <a:latin typeface="Times New Roman" panose="02020603050405020304" pitchFamily="18" charset="0"/>
                          <a:cs typeface="Times New Roman" panose="02020603050405020304" pitchFamily="18" charset="0"/>
                        </a:rPr>
                        <a:t>Private Limited</a:t>
                      </a:r>
                      <a:endParaRPr lang="en-US" sz="18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150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dirty="0">
                          <a:solidFill>
                            <a:schemeClr val="tx1"/>
                          </a:solidFill>
                          <a:latin typeface="Times New Roman" panose="02020603050405020304" pitchFamily="18" charset="0"/>
                          <a:cs typeface="Times New Roman" panose="02020603050405020304" pitchFamily="18" charset="0"/>
                        </a:rPr>
                        <a:t>Under litigation.</a:t>
                      </a:r>
                    </a:p>
                  </a:txBody>
                  <a:tcPr anchor="ctr"/>
                </a:tc>
                <a:extLst>
                  <a:ext uri="{0D108BD9-81ED-4DB2-BD59-A6C34878D82A}">
                    <a16:rowId xmlns:a16="http://schemas.microsoft.com/office/drawing/2014/main" val="2848025075"/>
                  </a:ext>
                </a:extLst>
              </a:tr>
              <a:tr h="33528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a:t>
                      </a:r>
                    </a:p>
                  </a:txBody>
                  <a:tcPr anchor="ctr"/>
                </a:tc>
                <a:tc>
                  <a:txBody>
                    <a:bodyPr/>
                    <a:lstStyle/>
                    <a:p>
                      <a:pPr algn="l"/>
                      <a:r>
                        <a:rPr lang="en-IN" sz="1800" dirty="0">
                          <a:solidFill>
                            <a:schemeClr val="tx1"/>
                          </a:solidFill>
                          <a:latin typeface="Times New Roman" panose="02020603050405020304" pitchFamily="18" charset="0"/>
                          <a:cs typeface="Times New Roman" panose="02020603050405020304" pitchFamily="18" charset="0"/>
                        </a:rPr>
                        <a:t>Adani Renewable Energy Holding Fifteen 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450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dirty="0">
                          <a:solidFill>
                            <a:schemeClr val="tx1"/>
                          </a:solidFill>
                          <a:latin typeface="Times New Roman" panose="02020603050405020304" pitchFamily="18" charset="0"/>
                          <a:cs typeface="Times New Roman" panose="02020603050405020304" pitchFamily="18" charset="0"/>
                        </a:rPr>
                        <a:t>Under litigation.</a:t>
                      </a:r>
                    </a:p>
                  </a:txBody>
                  <a:tcPr anchor="ctr"/>
                </a:tc>
                <a:extLst>
                  <a:ext uri="{0D108BD9-81ED-4DB2-BD59-A6C34878D82A}">
                    <a16:rowId xmlns:a16="http://schemas.microsoft.com/office/drawing/2014/main" val="1204529395"/>
                  </a:ext>
                </a:extLst>
              </a:tr>
              <a:tr h="19812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a:t>
                      </a:r>
                    </a:p>
                  </a:txBody>
                  <a:tcPr anchor="ctr"/>
                </a:tc>
                <a:tc>
                  <a:txBody>
                    <a:bodyPr/>
                    <a:lstStyle/>
                    <a:p>
                      <a:pPr algn="l"/>
                      <a:r>
                        <a:rPr lang="en-US" sz="1800" dirty="0">
                          <a:solidFill>
                            <a:schemeClr val="tx1"/>
                          </a:solidFill>
                          <a:latin typeface="Times New Roman" panose="02020603050405020304" pitchFamily="18" charset="0"/>
                          <a:cs typeface="Times New Roman" panose="02020603050405020304" pitchFamily="18" charset="0"/>
                        </a:rPr>
                        <a:t>Two Wind Energy </a:t>
                      </a:r>
                      <a:r>
                        <a:rPr lang="en-IN" sz="1800" dirty="0">
                          <a:solidFill>
                            <a:schemeClr val="tx1"/>
                          </a:solidFill>
                          <a:latin typeface="Times New Roman" panose="02020603050405020304" pitchFamily="18" charset="0"/>
                          <a:cs typeface="Times New Roman" panose="02020603050405020304" pitchFamily="18" charset="0"/>
                        </a:rPr>
                        <a:t>Private 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120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marL="285750" marR="0" lvl="0" indent="-2857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800" dirty="0">
                          <a:solidFill>
                            <a:schemeClr val="tx1"/>
                          </a:solidFill>
                          <a:latin typeface="Times New Roman" panose="02020603050405020304" pitchFamily="18" charset="0"/>
                          <a:cs typeface="Times New Roman" panose="02020603050405020304" pitchFamily="18" charset="0"/>
                        </a:rPr>
                        <a:t>No progress</a:t>
                      </a:r>
                    </a:p>
                    <a:p>
                      <a:pPr marL="285750" marR="0" lvl="0" indent="-2857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solidFill>
                            <a:schemeClr val="tx1"/>
                          </a:solidFill>
                          <a:latin typeface="Times New Roman" panose="02020603050405020304" pitchFamily="18" charset="0"/>
                          <a:cs typeface="Times New Roman" panose="02020603050405020304" pitchFamily="18" charset="0"/>
                        </a:rPr>
                        <a:t>FC not achieved (Due Date 26.01.2024)</a:t>
                      </a:r>
                    </a:p>
                    <a:p>
                      <a:pPr marL="285750" marR="0" lvl="0" indent="-2857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solidFill>
                            <a:schemeClr val="tx1"/>
                          </a:solidFill>
                          <a:latin typeface="Times New Roman" panose="02020603050405020304" pitchFamily="18" charset="0"/>
                          <a:cs typeface="Times New Roman" panose="02020603050405020304" pitchFamily="18" charset="0"/>
                        </a:rPr>
                        <a:t>Revised SCD is 26.07.2025</a:t>
                      </a:r>
                    </a:p>
                  </a:txBody>
                  <a:tcPr anchor="ctr"/>
                </a:tc>
                <a:extLst>
                  <a:ext uri="{0D108BD9-81ED-4DB2-BD59-A6C34878D82A}">
                    <a16:rowId xmlns:a16="http://schemas.microsoft.com/office/drawing/2014/main" val="2295815121"/>
                  </a:ext>
                </a:extLst>
              </a:tr>
              <a:tr h="495700">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r>
                        <a:rPr lang="en-IN" sz="1800" b="1" dirty="0">
                          <a:solidFill>
                            <a:schemeClr val="tx1"/>
                          </a:solidFill>
                          <a:latin typeface="Times New Roman" panose="02020603050405020304" pitchFamily="18" charset="0"/>
                          <a:cs typeface="Times New Roman" panose="02020603050405020304" pitchFamily="18" charset="0"/>
                        </a:rPr>
                        <a:t>Total</a:t>
                      </a:r>
                    </a:p>
                  </a:txBody>
                  <a:tcPr anchor="ct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1200</a:t>
                      </a:r>
                    </a:p>
                  </a:txBody>
                  <a:tcPr anchor="ct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54.6</a:t>
                      </a:r>
                    </a:p>
                  </a:txBody>
                  <a:tcPr anchor="ctr"/>
                </a:tc>
                <a:tc>
                  <a:txBody>
                    <a:bodyPr/>
                    <a:lstStyle/>
                    <a:p>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42266177"/>
                  </a:ext>
                </a:extLst>
              </a:tr>
            </a:tbl>
          </a:graphicData>
        </a:graphic>
      </p:graphicFrame>
      <p:sp>
        <p:nvSpPr>
          <p:cNvPr id="4" name="TextBox 3">
            <a:extLst>
              <a:ext uri="{FF2B5EF4-FFF2-40B4-BE49-F238E27FC236}">
                <a16:creationId xmlns:a16="http://schemas.microsoft.com/office/drawing/2014/main" id="{78A63BFF-58C3-716D-30AF-E0B37B076A1D}"/>
              </a:ext>
            </a:extLst>
          </p:cNvPr>
          <p:cNvSpPr txBox="1"/>
          <p:nvPr/>
        </p:nvSpPr>
        <p:spPr>
          <a:xfrm>
            <a:off x="8602133" y="6172200"/>
            <a:ext cx="1261534" cy="369332"/>
          </a:xfrm>
          <a:prstGeom prst="rect">
            <a:avLst/>
          </a:prstGeom>
          <a:noFill/>
        </p:spPr>
        <p:txBody>
          <a:bodyPr wrap="square" rtlCol="0">
            <a:spAutoFit/>
          </a:bodyPr>
          <a:lstStyle/>
          <a:p>
            <a:r>
              <a:rPr lang="en-US" dirty="0">
                <a:hlinkClick r:id="rId3" action="ppaction://hlinksldjump"/>
              </a:rPr>
              <a:t>Back</a:t>
            </a:r>
            <a:endParaRPr lang="en-IN" dirty="0"/>
          </a:p>
        </p:txBody>
      </p:sp>
    </p:spTree>
    <p:extLst>
      <p:ext uri="{BB962C8B-B14F-4D97-AF65-F5344CB8AC3E}">
        <p14:creationId xmlns:p14="http://schemas.microsoft.com/office/powerpoint/2010/main" val="8093153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837593" y="107239"/>
            <a:ext cx="4516813" cy="707886"/>
          </a:xfrm>
          <a:prstGeom prst="rect">
            <a:avLst/>
          </a:prstGeom>
          <a:noFill/>
        </p:spPr>
        <p:txBody>
          <a:bodyPr wrap="none" rtlCol="0">
            <a:spAutoFit/>
          </a:bodyPr>
          <a:lstStyle/>
          <a:p>
            <a:pPr algn="ctr"/>
            <a:r>
              <a:rPr lang="en-IN" sz="2000" b="1" i="1" u="sng" dirty="0">
                <a:latin typeface="Times New Roman" panose="02020603050405020304" pitchFamily="18" charset="0"/>
                <a:cs typeface="Times New Roman" panose="02020603050405020304" pitchFamily="18" charset="0"/>
                <a:hlinkClick r:id="rId2" action="ppaction://hlinkfile"/>
              </a:rPr>
              <a:t>Tranche – 12 (Tariff: Rs. 2.89-2.94/kWh)</a:t>
            </a:r>
            <a:endParaRPr lang="en-IN" sz="2000" b="1" i="1" u="sng" dirty="0">
              <a:latin typeface="Times New Roman" panose="02020603050405020304" pitchFamily="18" charset="0"/>
              <a:cs typeface="Times New Roman" panose="02020603050405020304" pitchFamily="18" charset="0"/>
            </a:endParaRPr>
          </a:p>
          <a:p>
            <a:pPr algn="ctr"/>
            <a:r>
              <a:rPr lang="en-IN" sz="2000" b="1" i="1" u="sng" dirty="0">
                <a:latin typeface="Times New Roman" panose="02020603050405020304" pitchFamily="18" charset="0"/>
                <a:cs typeface="Times New Roman" panose="02020603050405020304" pitchFamily="18" charset="0"/>
              </a:rPr>
              <a:t>Effective date of PPA: 29.03.2023</a:t>
            </a:r>
          </a:p>
        </p:txBody>
      </p:sp>
      <p:graphicFrame>
        <p:nvGraphicFramePr>
          <p:cNvPr id="2" name="Table 1">
            <a:extLst>
              <a:ext uri="{FF2B5EF4-FFF2-40B4-BE49-F238E27FC236}">
                <a16:creationId xmlns:a16="http://schemas.microsoft.com/office/drawing/2014/main" id="{D6ABE611-63F6-D08F-31C9-8FB1ED17CD66}"/>
              </a:ext>
            </a:extLst>
          </p:cNvPr>
          <p:cNvGraphicFramePr>
            <a:graphicFrameLocks noGrp="1"/>
          </p:cNvGraphicFramePr>
          <p:nvPr>
            <p:extLst>
              <p:ext uri="{D42A27DB-BD31-4B8C-83A1-F6EECF244321}">
                <p14:modId xmlns:p14="http://schemas.microsoft.com/office/powerpoint/2010/main" val="2809480606"/>
              </p:ext>
            </p:extLst>
          </p:nvPr>
        </p:nvGraphicFramePr>
        <p:xfrm>
          <a:off x="254000" y="1042588"/>
          <a:ext cx="11544301" cy="4630875"/>
        </p:xfrm>
        <a:graphic>
          <a:graphicData uri="http://schemas.openxmlformats.org/drawingml/2006/table">
            <a:tbl>
              <a:tblPr firstRow="1" bandRow="1">
                <a:tableStyleId>{5C22544A-7EE6-4342-B048-85BDC9FD1C3A}</a:tableStyleId>
              </a:tblPr>
              <a:tblGrid>
                <a:gridCol w="970881">
                  <a:extLst>
                    <a:ext uri="{9D8B030D-6E8A-4147-A177-3AD203B41FA5}">
                      <a16:colId xmlns:a16="http://schemas.microsoft.com/office/drawing/2014/main" val="4064482732"/>
                    </a:ext>
                  </a:extLst>
                </a:gridCol>
                <a:gridCol w="4363119">
                  <a:extLst>
                    <a:ext uri="{9D8B030D-6E8A-4147-A177-3AD203B41FA5}">
                      <a16:colId xmlns:a16="http://schemas.microsoft.com/office/drawing/2014/main" val="320820394"/>
                    </a:ext>
                  </a:extLst>
                </a:gridCol>
                <a:gridCol w="1422400">
                  <a:extLst>
                    <a:ext uri="{9D8B030D-6E8A-4147-A177-3AD203B41FA5}">
                      <a16:colId xmlns:a16="http://schemas.microsoft.com/office/drawing/2014/main" val="1105387179"/>
                    </a:ext>
                  </a:extLst>
                </a:gridCol>
                <a:gridCol w="1638300">
                  <a:extLst>
                    <a:ext uri="{9D8B030D-6E8A-4147-A177-3AD203B41FA5}">
                      <a16:colId xmlns:a16="http://schemas.microsoft.com/office/drawing/2014/main" val="1761692143"/>
                    </a:ext>
                  </a:extLst>
                </a:gridCol>
                <a:gridCol w="3149601">
                  <a:extLst>
                    <a:ext uri="{9D8B030D-6E8A-4147-A177-3AD203B41FA5}">
                      <a16:colId xmlns:a16="http://schemas.microsoft.com/office/drawing/2014/main" val="1177015039"/>
                    </a:ext>
                  </a:extLst>
                </a:gridCol>
              </a:tblGrid>
              <a:tr h="494947">
                <a:tc>
                  <a:txBody>
                    <a:bodyPr/>
                    <a:lstStyle/>
                    <a:p>
                      <a:pPr algn="ctr"/>
                      <a:r>
                        <a:rPr lang="en-IN" sz="1800" dirty="0">
                          <a:latin typeface="Times New Roman" panose="02020603050405020304" pitchFamily="18" charset="0"/>
                          <a:cs typeface="Times New Roman" panose="02020603050405020304" pitchFamily="18" charset="0"/>
                        </a:rPr>
                        <a:t>Sr. No.</a:t>
                      </a:r>
                    </a:p>
                  </a:txBody>
                  <a:tcPr/>
                </a:tc>
                <a:tc>
                  <a:txBody>
                    <a:bodyPr/>
                    <a:lstStyle/>
                    <a:p>
                      <a:pPr algn="ctr"/>
                      <a:r>
                        <a:rPr lang="en-IN" sz="1800" dirty="0">
                          <a:latin typeface="Times New Roman" panose="02020603050405020304" pitchFamily="18" charset="0"/>
                          <a:cs typeface="Times New Roman" panose="02020603050405020304" pitchFamily="18" charset="0"/>
                        </a:rPr>
                        <a:t>WPD</a:t>
                      </a:r>
                    </a:p>
                  </a:txBody>
                  <a:tcPr/>
                </a:tc>
                <a:tc>
                  <a:txBody>
                    <a:bodyPr/>
                    <a:lstStyle/>
                    <a:p>
                      <a:pPr algn="ctr"/>
                      <a:r>
                        <a:rPr lang="en-IN" sz="1800" dirty="0">
                          <a:latin typeface="Times New Roman" panose="02020603050405020304" pitchFamily="18" charset="0"/>
                          <a:cs typeface="Times New Roman" panose="02020603050405020304" pitchFamily="18" charset="0"/>
                        </a:rPr>
                        <a:t>PPA Capacity </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Commissioned Capacity</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2851679557"/>
                  </a:ext>
                </a:extLst>
              </a:tr>
              <a:tr h="349025">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nchor="ctr"/>
                </a:tc>
                <a:tc>
                  <a:txBody>
                    <a:bodyPr/>
                    <a:lstStyle/>
                    <a:p>
                      <a:r>
                        <a:rPr lang="en-IN" sz="1800" dirty="0">
                          <a:solidFill>
                            <a:schemeClr val="tx1"/>
                          </a:solidFill>
                          <a:latin typeface="Times New Roman" panose="02020603050405020304" pitchFamily="18" charset="0"/>
                          <a:cs typeface="Times New Roman" panose="02020603050405020304" pitchFamily="18" charset="0"/>
                        </a:rPr>
                        <a:t>Halvad Renewables Private 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r>
                        <a:rPr lang="en-IN" sz="1800" dirty="0">
                          <a:solidFill>
                            <a:schemeClr val="tx1"/>
                          </a:solidFill>
                          <a:latin typeface="Times New Roman" panose="02020603050405020304" pitchFamily="18" charset="0"/>
                          <a:cs typeface="Times New Roman" panose="02020603050405020304" pitchFamily="18" charset="0"/>
                        </a:rPr>
                        <a:t>WPD failed to execute PPA.</a:t>
                      </a:r>
                    </a:p>
                  </a:txBody>
                  <a:tcPr anchor="ctr"/>
                </a:tc>
                <a:extLst>
                  <a:ext uri="{0D108BD9-81ED-4DB2-BD59-A6C34878D82A}">
                    <a16:rowId xmlns:a16="http://schemas.microsoft.com/office/drawing/2014/main" val="41473822"/>
                  </a:ext>
                </a:extLst>
              </a:tr>
              <a:tr h="64008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nchor="ctr"/>
                </a:tc>
                <a:tc>
                  <a:txBody>
                    <a:bodyPr/>
                    <a:lstStyle/>
                    <a:p>
                      <a:r>
                        <a:rPr lang="en-US" sz="1800" dirty="0">
                          <a:solidFill>
                            <a:schemeClr val="tx1"/>
                          </a:solidFill>
                          <a:latin typeface="Times New Roman" panose="02020603050405020304" pitchFamily="18" charset="0"/>
                          <a:cs typeface="Times New Roman" panose="02020603050405020304" pitchFamily="18" charset="0"/>
                        </a:rPr>
                        <a:t>JSW Renew Energy Three Limited</a:t>
                      </a:r>
                      <a:endParaRPr lang="en-IN" sz="18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marL="285750" indent="-285750">
                        <a:buFont typeface="Arial" panose="020B0604020202020204" pitchFamily="34" charset="0"/>
                        <a:buChar char="•"/>
                      </a:pPr>
                      <a:r>
                        <a:rPr lang="en-IN" sz="1800" dirty="0">
                          <a:solidFill>
                            <a:schemeClr val="tx1"/>
                          </a:solidFill>
                          <a:latin typeface="Times New Roman" panose="02020603050405020304" pitchFamily="18" charset="0"/>
                          <a:cs typeface="Times New Roman" panose="02020603050405020304" pitchFamily="18" charset="0"/>
                        </a:rPr>
                        <a:t>Financial Closure achieved.</a:t>
                      </a:r>
                    </a:p>
                    <a:p>
                      <a:pPr marL="285750" indent="-285750">
                        <a:buFont typeface="Arial" panose="020B0604020202020204" pitchFamily="34" charset="0"/>
                        <a:buChar char="•"/>
                      </a:pPr>
                      <a:r>
                        <a:rPr lang="en-IN" sz="1800" dirty="0">
                          <a:solidFill>
                            <a:schemeClr val="tx1"/>
                          </a:solidFill>
                          <a:latin typeface="Times New Roman" panose="02020603050405020304" pitchFamily="18" charset="0"/>
                          <a:cs typeface="Times New Roman" panose="02020603050405020304" pitchFamily="18" charset="0"/>
                        </a:rPr>
                        <a:t>Under execution.</a:t>
                      </a:r>
                    </a:p>
                    <a:p>
                      <a:pPr marL="0" indent="0">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(Revised SCD is 23.01.2026)</a:t>
                      </a:r>
                    </a:p>
                  </a:txBody>
                  <a:tcPr anchor="ctr"/>
                </a:tc>
                <a:extLst>
                  <a:ext uri="{0D108BD9-81ED-4DB2-BD59-A6C34878D82A}">
                    <a16:rowId xmlns:a16="http://schemas.microsoft.com/office/drawing/2014/main" val="2987842036"/>
                  </a:ext>
                </a:extLst>
              </a:tr>
              <a:tr h="55499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p>
                  </a:txBody>
                  <a:tcPr anchor="ctr"/>
                </a:tc>
                <a:tc>
                  <a:txBody>
                    <a:bodyPr/>
                    <a:lstStyle/>
                    <a:p>
                      <a:pPr algn="l" fontAlgn="ctr"/>
                      <a:r>
                        <a:rPr lang="en-US" sz="1800" b="0" i="0" u="none" strike="noStrike" dirty="0">
                          <a:solidFill>
                            <a:schemeClr val="tx1"/>
                          </a:solidFill>
                          <a:effectLst/>
                          <a:latin typeface="Times New Roman" panose="02020603050405020304" pitchFamily="18" charset="0"/>
                          <a:cs typeface="Times New Roman" panose="02020603050405020304" pitchFamily="18" charset="0"/>
                        </a:rPr>
                        <a:t>NTPC Renewable Energy Limited</a:t>
                      </a:r>
                    </a:p>
                  </a:txBody>
                  <a:tcPr marL="6350" marR="6350" marT="6350" marB="0"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200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Financial Closure achieved.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Under execution.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800" dirty="0">
                          <a:solidFill>
                            <a:schemeClr val="tx1"/>
                          </a:solidFill>
                          <a:latin typeface="Times New Roman" panose="02020603050405020304" pitchFamily="18" charset="0"/>
                          <a:cs typeface="Times New Roman" panose="02020603050405020304" pitchFamily="18" charset="0"/>
                        </a:rPr>
                        <a:t>(Revised SCD is 23.01.2026)</a:t>
                      </a:r>
                    </a:p>
                  </a:txBody>
                  <a:tcPr anchor="ctr"/>
                </a:tc>
                <a:extLst>
                  <a:ext uri="{0D108BD9-81ED-4DB2-BD59-A6C34878D82A}">
                    <a16:rowId xmlns:a16="http://schemas.microsoft.com/office/drawing/2014/main" val="2848025075"/>
                  </a:ext>
                </a:extLst>
              </a:tr>
              <a:tr h="34651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a:t>
                      </a:r>
                    </a:p>
                  </a:txBody>
                  <a:tcPr anchor="ctr"/>
                </a:tc>
                <a:tc>
                  <a:txBody>
                    <a:bodyPr/>
                    <a:lstStyle/>
                    <a:p>
                      <a:r>
                        <a:rPr lang="sv-SE" sz="1800" dirty="0">
                          <a:solidFill>
                            <a:schemeClr val="tx1"/>
                          </a:solidFill>
                          <a:latin typeface="Times New Roman" panose="02020603050405020304" pitchFamily="18" charset="0"/>
                          <a:cs typeface="Times New Roman" panose="02020603050405020304" pitchFamily="18" charset="0"/>
                        </a:rPr>
                        <a:t>Torrent Saurya Urja 2 </a:t>
                      </a:r>
                      <a:r>
                        <a:rPr lang="en-IN" sz="1800" dirty="0">
                          <a:solidFill>
                            <a:schemeClr val="tx1"/>
                          </a:solidFill>
                          <a:latin typeface="Times New Roman" panose="02020603050405020304" pitchFamily="18" charset="0"/>
                          <a:cs typeface="Times New Roman" panose="02020603050405020304" pitchFamily="18" charset="0"/>
                        </a:rPr>
                        <a:t>Private 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Financial Closure achieved.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Under execution.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800" dirty="0">
                          <a:solidFill>
                            <a:schemeClr val="tx1"/>
                          </a:solidFill>
                          <a:latin typeface="Times New Roman" panose="02020603050405020304" pitchFamily="18" charset="0"/>
                          <a:cs typeface="Times New Roman" panose="02020603050405020304" pitchFamily="18" charset="0"/>
                        </a:rPr>
                        <a:t>(Revised SCD is 23.01.2026)</a:t>
                      </a:r>
                    </a:p>
                  </a:txBody>
                  <a:tcPr anchor="ctr"/>
                </a:tc>
                <a:extLst>
                  <a:ext uri="{0D108BD9-81ED-4DB2-BD59-A6C34878D82A}">
                    <a16:rowId xmlns:a16="http://schemas.microsoft.com/office/drawing/2014/main" val="1204529395"/>
                  </a:ext>
                </a:extLst>
              </a:tr>
              <a:tr h="607515">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r>
                        <a:rPr lang="en-IN" sz="1800" b="1" dirty="0">
                          <a:solidFill>
                            <a:schemeClr val="tx1"/>
                          </a:solidFill>
                          <a:latin typeface="Times New Roman" panose="02020603050405020304" pitchFamily="18" charset="0"/>
                          <a:cs typeface="Times New Roman" panose="02020603050405020304" pitchFamily="18" charset="0"/>
                        </a:rPr>
                        <a:t>Total</a:t>
                      </a:r>
                    </a:p>
                  </a:txBody>
                  <a:tcPr anchor="ct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1100</a:t>
                      </a:r>
                    </a:p>
                  </a:txBody>
                  <a:tcPr anchor="ct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42266177"/>
                  </a:ext>
                </a:extLst>
              </a:tr>
            </a:tbl>
          </a:graphicData>
        </a:graphic>
      </p:graphicFrame>
      <p:sp>
        <p:nvSpPr>
          <p:cNvPr id="4" name="TextBox 3">
            <a:extLst>
              <a:ext uri="{FF2B5EF4-FFF2-40B4-BE49-F238E27FC236}">
                <a16:creationId xmlns:a16="http://schemas.microsoft.com/office/drawing/2014/main" id="{FF736C75-D912-2D0C-DF02-42AB547A2CA7}"/>
              </a:ext>
            </a:extLst>
          </p:cNvPr>
          <p:cNvSpPr txBox="1"/>
          <p:nvPr/>
        </p:nvSpPr>
        <p:spPr>
          <a:xfrm>
            <a:off x="8602133" y="6172200"/>
            <a:ext cx="1261534" cy="369332"/>
          </a:xfrm>
          <a:prstGeom prst="rect">
            <a:avLst/>
          </a:prstGeom>
          <a:noFill/>
        </p:spPr>
        <p:txBody>
          <a:bodyPr wrap="square" rtlCol="0">
            <a:spAutoFit/>
          </a:bodyPr>
          <a:lstStyle/>
          <a:p>
            <a:r>
              <a:rPr lang="en-US" dirty="0">
                <a:hlinkClick r:id="rId3" action="ppaction://hlinksldjump"/>
              </a:rPr>
              <a:t>Back</a:t>
            </a:r>
            <a:endParaRPr lang="en-IN" dirty="0"/>
          </a:p>
        </p:txBody>
      </p:sp>
    </p:spTree>
    <p:extLst>
      <p:ext uri="{BB962C8B-B14F-4D97-AF65-F5344CB8AC3E}">
        <p14:creationId xmlns:p14="http://schemas.microsoft.com/office/powerpoint/2010/main" val="15921180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901713" y="131302"/>
            <a:ext cx="4388573" cy="707886"/>
          </a:xfrm>
          <a:prstGeom prst="rect">
            <a:avLst/>
          </a:prstGeom>
          <a:noFill/>
        </p:spPr>
        <p:txBody>
          <a:bodyPr wrap="none" rtlCol="0">
            <a:spAutoFit/>
          </a:bodyPr>
          <a:lstStyle/>
          <a:p>
            <a:pPr algn="ctr"/>
            <a:r>
              <a:rPr lang="en-IN" sz="2000" b="1" i="1" u="sng" dirty="0">
                <a:latin typeface="Times New Roman" panose="02020603050405020304" pitchFamily="18" charset="0"/>
                <a:cs typeface="Times New Roman" panose="02020603050405020304" pitchFamily="18" charset="0"/>
                <a:hlinkClick r:id="rId2" action="ppaction://hlinkfile"/>
              </a:rPr>
              <a:t>Tranche – 13 (Tariff: Rs. 2.9-2.95/kWh)</a:t>
            </a:r>
            <a:endParaRPr lang="en-IN" sz="2000" b="1" i="1" u="sng" dirty="0">
              <a:latin typeface="Times New Roman" panose="02020603050405020304" pitchFamily="18" charset="0"/>
              <a:cs typeface="Times New Roman" panose="02020603050405020304" pitchFamily="18" charset="0"/>
            </a:endParaRPr>
          </a:p>
          <a:p>
            <a:pPr algn="ctr"/>
            <a:r>
              <a:rPr lang="en-IN" sz="2000" b="1" i="1" u="sng" dirty="0">
                <a:latin typeface="Times New Roman" panose="02020603050405020304" pitchFamily="18" charset="0"/>
                <a:cs typeface="Times New Roman" panose="02020603050405020304" pitchFamily="18" charset="0"/>
              </a:rPr>
              <a:t>Effective date of PPA: 26.06.2023</a:t>
            </a:r>
          </a:p>
        </p:txBody>
      </p:sp>
      <p:graphicFrame>
        <p:nvGraphicFramePr>
          <p:cNvPr id="2" name="Table 1">
            <a:extLst>
              <a:ext uri="{FF2B5EF4-FFF2-40B4-BE49-F238E27FC236}">
                <a16:creationId xmlns:a16="http://schemas.microsoft.com/office/drawing/2014/main" id="{8991BCE3-0606-18CB-CF39-FDE94FADCD79}"/>
              </a:ext>
            </a:extLst>
          </p:cNvPr>
          <p:cNvGraphicFramePr>
            <a:graphicFrameLocks noGrp="1"/>
          </p:cNvGraphicFramePr>
          <p:nvPr>
            <p:extLst>
              <p:ext uri="{D42A27DB-BD31-4B8C-83A1-F6EECF244321}">
                <p14:modId xmlns:p14="http://schemas.microsoft.com/office/powerpoint/2010/main" val="1604011932"/>
              </p:ext>
            </p:extLst>
          </p:nvPr>
        </p:nvGraphicFramePr>
        <p:xfrm>
          <a:off x="330200" y="983810"/>
          <a:ext cx="11683999" cy="3749040"/>
        </p:xfrm>
        <a:graphic>
          <a:graphicData uri="http://schemas.openxmlformats.org/drawingml/2006/table">
            <a:tbl>
              <a:tblPr firstRow="1" bandRow="1">
                <a:tableStyleId>{5C22544A-7EE6-4342-B048-85BDC9FD1C3A}</a:tableStyleId>
              </a:tblPr>
              <a:tblGrid>
                <a:gridCol w="1003333">
                  <a:extLst>
                    <a:ext uri="{9D8B030D-6E8A-4147-A177-3AD203B41FA5}">
                      <a16:colId xmlns:a16="http://schemas.microsoft.com/office/drawing/2014/main" val="4064482732"/>
                    </a:ext>
                  </a:extLst>
                </a:gridCol>
                <a:gridCol w="3804075">
                  <a:extLst>
                    <a:ext uri="{9D8B030D-6E8A-4147-A177-3AD203B41FA5}">
                      <a16:colId xmlns:a16="http://schemas.microsoft.com/office/drawing/2014/main" val="320820394"/>
                    </a:ext>
                  </a:extLst>
                </a:gridCol>
                <a:gridCol w="1178351">
                  <a:extLst>
                    <a:ext uri="{9D8B030D-6E8A-4147-A177-3AD203B41FA5}">
                      <a16:colId xmlns:a16="http://schemas.microsoft.com/office/drawing/2014/main" val="1105387179"/>
                    </a:ext>
                  </a:extLst>
                </a:gridCol>
                <a:gridCol w="1621410">
                  <a:extLst>
                    <a:ext uri="{9D8B030D-6E8A-4147-A177-3AD203B41FA5}">
                      <a16:colId xmlns:a16="http://schemas.microsoft.com/office/drawing/2014/main" val="1761692143"/>
                    </a:ext>
                  </a:extLst>
                </a:gridCol>
                <a:gridCol w="4076830">
                  <a:extLst>
                    <a:ext uri="{9D8B030D-6E8A-4147-A177-3AD203B41FA5}">
                      <a16:colId xmlns:a16="http://schemas.microsoft.com/office/drawing/2014/main" val="1177015039"/>
                    </a:ext>
                  </a:extLst>
                </a:gridCol>
              </a:tblGrid>
              <a:tr h="584750">
                <a:tc>
                  <a:txBody>
                    <a:bodyPr/>
                    <a:lstStyle/>
                    <a:p>
                      <a:pPr algn="ctr"/>
                      <a:r>
                        <a:rPr lang="en-IN" sz="1800" dirty="0">
                          <a:latin typeface="Times New Roman" panose="02020603050405020304" pitchFamily="18" charset="0"/>
                          <a:cs typeface="Times New Roman" panose="02020603050405020304" pitchFamily="18" charset="0"/>
                        </a:rPr>
                        <a:t>Sr. No.</a:t>
                      </a:r>
                    </a:p>
                  </a:txBody>
                  <a:tcPr/>
                </a:tc>
                <a:tc>
                  <a:txBody>
                    <a:bodyPr/>
                    <a:lstStyle/>
                    <a:p>
                      <a:pPr algn="ctr"/>
                      <a:r>
                        <a:rPr lang="en-IN" sz="1800" dirty="0">
                          <a:latin typeface="Times New Roman" panose="02020603050405020304" pitchFamily="18" charset="0"/>
                          <a:cs typeface="Times New Roman" panose="02020603050405020304" pitchFamily="18" charset="0"/>
                        </a:rPr>
                        <a:t>WPD</a:t>
                      </a:r>
                    </a:p>
                  </a:txBody>
                  <a:tcPr/>
                </a:tc>
                <a:tc>
                  <a:txBody>
                    <a:bodyPr/>
                    <a:lstStyle/>
                    <a:p>
                      <a:pPr algn="ctr"/>
                      <a:r>
                        <a:rPr lang="en-IN" sz="1800" dirty="0">
                          <a:latin typeface="Times New Roman" panose="02020603050405020304" pitchFamily="18" charset="0"/>
                          <a:cs typeface="Times New Roman" panose="02020603050405020304" pitchFamily="18" charset="0"/>
                        </a:rPr>
                        <a:t>PPA Capacity </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Commissioned Capacity</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2851679557"/>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nchor="ctr"/>
                </a:tc>
                <a:tc>
                  <a:txBody>
                    <a:bodyPr/>
                    <a:lstStyle/>
                    <a:p>
                      <a:pPr algn="l"/>
                      <a:r>
                        <a:rPr lang="en-IN" sz="1800" dirty="0">
                          <a:solidFill>
                            <a:schemeClr val="tx1"/>
                          </a:solidFill>
                          <a:latin typeface="Times New Roman" panose="02020603050405020304" pitchFamily="18" charset="0"/>
                          <a:cs typeface="Times New Roman" panose="02020603050405020304" pitchFamily="18" charset="0"/>
                        </a:rPr>
                        <a:t>SJVN Green Energy 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100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marL="171450" indent="-171450">
                        <a:buFont typeface="Arial" panose="020B0604020202020204" pitchFamily="34" charset="0"/>
                        <a:buChar char="•"/>
                      </a:pPr>
                      <a:r>
                        <a:rPr lang="en-IN" sz="1800" dirty="0">
                          <a:solidFill>
                            <a:schemeClr val="tx1"/>
                          </a:solidFill>
                          <a:latin typeface="Times New Roman" panose="02020603050405020304" pitchFamily="18" charset="0"/>
                          <a:cs typeface="Times New Roman" panose="02020603050405020304" pitchFamily="18" charset="0"/>
                        </a:rPr>
                        <a:t>No progress</a:t>
                      </a:r>
                    </a:p>
                    <a:p>
                      <a:pPr marL="171450" indent="-171450">
                        <a:buFont typeface="Arial" panose="020B0604020202020204" pitchFamily="34" charset="0"/>
                        <a:buChar char="•"/>
                      </a:pPr>
                      <a:r>
                        <a:rPr lang="en-IN" sz="1800" dirty="0">
                          <a:solidFill>
                            <a:schemeClr val="tx1"/>
                          </a:solidFill>
                          <a:latin typeface="Times New Roman" panose="02020603050405020304" pitchFamily="18" charset="0"/>
                          <a:cs typeface="Times New Roman" panose="02020603050405020304" pitchFamily="18" charset="0"/>
                        </a:rPr>
                        <a:t>FC not achieved (Due Date 26.01.2024)</a:t>
                      </a:r>
                    </a:p>
                    <a:p>
                      <a:pPr marL="171450" indent="-171450">
                        <a:buFont typeface="Arial" panose="020B0604020202020204" pitchFamily="34" charset="0"/>
                        <a:buChar char="•"/>
                      </a:pPr>
                      <a:r>
                        <a:rPr lang="en-IN" sz="1800" dirty="0">
                          <a:solidFill>
                            <a:schemeClr val="tx1"/>
                          </a:solidFill>
                          <a:latin typeface="Times New Roman" panose="02020603050405020304" pitchFamily="18" charset="0"/>
                          <a:cs typeface="Times New Roman" panose="02020603050405020304" pitchFamily="18" charset="0"/>
                        </a:rPr>
                        <a:t>Revised SCD is 02.12.2025</a:t>
                      </a:r>
                    </a:p>
                  </a:txBody>
                  <a:tcPr anchor="ctr"/>
                </a:tc>
                <a:extLst>
                  <a:ext uri="{0D108BD9-81ED-4DB2-BD59-A6C34878D82A}">
                    <a16:rowId xmlns:a16="http://schemas.microsoft.com/office/drawing/2014/main" val="41473822"/>
                  </a:ext>
                </a:extLst>
              </a:tr>
              <a:tr h="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nchor="ctr"/>
                </a:tc>
                <a:tc>
                  <a:txBody>
                    <a:bodyPr/>
                    <a:lstStyle/>
                    <a:p>
                      <a:pPr algn="l"/>
                      <a:r>
                        <a:rPr lang="en-IN" sz="1800" dirty="0">
                          <a:solidFill>
                            <a:schemeClr val="tx1"/>
                          </a:solidFill>
                          <a:latin typeface="Times New Roman" panose="02020603050405020304" pitchFamily="18" charset="0"/>
                          <a:cs typeface="Times New Roman" panose="02020603050405020304" pitchFamily="18" charset="0"/>
                        </a:rPr>
                        <a:t>Scatec India Renewables One Private 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r>
                        <a:rPr lang="en-IN" sz="1800" dirty="0">
                          <a:latin typeface="Times New Roman" panose="02020603050405020304" pitchFamily="18" charset="0"/>
                          <a:cs typeface="Times New Roman" panose="02020603050405020304" pitchFamily="18" charset="0"/>
                        </a:rPr>
                        <a:t>Under litigation</a:t>
                      </a:r>
                    </a:p>
                  </a:txBody>
                  <a:tcPr anchor="ctr"/>
                </a:tc>
                <a:extLst>
                  <a:ext uri="{0D108BD9-81ED-4DB2-BD59-A6C34878D82A}">
                    <a16:rowId xmlns:a16="http://schemas.microsoft.com/office/drawing/2014/main" val="2987842036"/>
                  </a:ext>
                </a:extLst>
              </a:tr>
              <a:tr h="55916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p>
                  </a:txBody>
                  <a:tcPr anchor="ctr"/>
                </a:tc>
                <a:tc>
                  <a:txBody>
                    <a:bodyPr/>
                    <a:lstStyle/>
                    <a:p>
                      <a:pPr algn="l" fontAlgn="ctr"/>
                      <a:r>
                        <a:rPr lang="en-US" sz="1800" b="0" i="0" u="none" strike="noStrike" dirty="0">
                          <a:solidFill>
                            <a:schemeClr val="tx1"/>
                          </a:solidFill>
                          <a:effectLst/>
                          <a:latin typeface="Times New Roman" panose="02020603050405020304" pitchFamily="18" charset="0"/>
                          <a:cs typeface="Times New Roman" panose="02020603050405020304" pitchFamily="18" charset="0"/>
                        </a:rPr>
                        <a:t>Teq Green Power XI </a:t>
                      </a:r>
                      <a:r>
                        <a:rPr lang="en-IN" sz="1800" dirty="0">
                          <a:solidFill>
                            <a:schemeClr val="tx1"/>
                          </a:solidFill>
                          <a:latin typeface="Times New Roman" panose="02020603050405020304" pitchFamily="18" charset="0"/>
                          <a:cs typeface="Times New Roman" panose="02020603050405020304" pitchFamily="18" charset="0"/>
                        </a:rPr>
                        <a:t>Private Limited</a:t>
                      </a:r>
                      <a:endParaRPr lang="en-US" sz="18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200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marL="171450" indent="-171450">
                        <a:buFont typeface="Arial" panose="020B0604020202020204" pitchFamily="34" charset="0"/>
                        <a:buChar char="•"/>
                      </a:pPr>
                      <a:r>
                        <a:rPr lang="en-IN" sz="1800" dirty="0">
                          <a:solidFill>
                            <a:schemeClr val="tx1"/>
                          </a:solidFill>
                          <a:latin typeface="Times New Roman" panose="02020603050405020304" pitchFamily="18" charset="0"/>
                          <a:cs typeface="Times New Roman" panose="02020603050405020304" pitchFamily="18" charset="0"/>
                        </a:rPr>
                        <a:t>Under dispute in DRC</a:t>
                      </a:r>
                    </a:p>
                    <a:p>
                      <a:pPr marL="171450" indent="-171450">
                        <a:buFont typeface="Arial" panose="020B0604020202020204" pitchFamily="34" charset="0"/>
                        <a:buChar char="•"/>
                      </a:pPr>
                      <a:r>
                        <a:rPr lang="en-IN" sz="1800" dirty="0">
                          <a:solidFill>
                            <a:schemeClr val="tx1"/>
                          </a:solidFill>
                          <a:latin typeface="Times New Roman" panose="02020603050405020304" pitchFamily="18" charset="0"/>
                          <a:cs typeface="Times New Roman" panose="02020603050405020304" pitchFamily="18" charset="0"/>
                        </a:rPr>
                        <a:t>FC not achieved (Due Date 26.01.2024)</a:t>
                      </a:r>
                    </a:p>
                    <a:p>
                      <a:pPr marL="171450" indent="-171450">
                        <a:buFont typeface="Arial" panose="020B0604020202020204" pitchFamily="34" charset="0"/>
                        <a:buChar char="•"/>
                      </a:pPr>
                      <a:r>
                        <a:rPr lang="en-IN" sz="1800" dirty="0">
                          <a:solidFill>
                            <a:schemeClr val="tx1"/>
                          </a:solidFill>
                          <a:latin typeface="Times New Roman" panose="02020603050405020304" pitchFamily="18" charset="0"/>
                          <a:cs typeface="Times New Roman" panose="02020603050405020304" pitchFamily="18" charset="0"/>
                        </a:rPr>
                        <a:t>Revised SCD is 02.12.2025</a:t>
                      </a:r>
                    </a:p>
                  </a:txBody>
                  <a:tcPr anchor="ctr"/>
                </a:tc>
                <a:extLst>
                  <a:ext uri="{0D108BD9-81ED-4DB2-BD59-A6C34878D82A}">
                    <a16:rowId xmlns:a16="http://schemas.microsoft.com/office/drawing/2014/main" val="2848025075"/>
                  </a:ext>
                </a:extLst>
              </a:tr>
              <a:tr h="0">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r>
                        <a:rPr lang="en-IN" sz="1800" b="1" dirty="0">
                          <a:solidFill>
                            <a:schemeClr val="tx1"/>
                          </a:solidFill>
                          <a:latin typeface="Times New Roman" panose="02020603050405020304" pitchFamily="18" charset="0"/>
                          <a:cs typeface="Times New Roman" panose="02020603050405020304" pitchFamily="18" charset="0"/>
                        </a:rPr>
                        <a:t>Total</a:t>
                      </a:r>
                    </a:p>
                  </a:txBody>
                  <a:tcPr anchor="ct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600</a:t>
                      </a:r>
                    </a:p>
                  </a:txBody>
                  <a:tcPr anchor="ct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42266177"/>
                  </a:ext>
                </a:extLst>
              </a:tr>
            </a:tbl>
          </a:graphicData>
        </a:graphic>
      </p:graphicFrame>
      <p:sp>
        <p:nvSpPr>
          <p:cNvPr id="4" name="TextBox 3">
            <a:extLst>
              <a:ext uri="{FF2B5EF4-FFF2-40B4-BE49-F238E27FC236}">
                <a16:creationId xmlns:a16="http://schemas.microsoft.com/office/drawing/2014/main" id="{A07A4725-9E6F-A1FB-33A5-39767F0E3744}"/>
              </a:ext>
            </a:extLst>
          </p:cNvPr>
          <p:cNvSpPr txBox="1"/>
          <p:nvPr/>
        </p:nvSpPr>
        <p:spPr>
          <a:xfrm>
            <a:off x="8602133" y="6172200"/>
            <a:ext cx="1261534" cy="369332"/>
          </a:xfrm>
          <a:prstGeom prst="rect">
            <a:avLst/>
          </a:prstGeom>
          <a:noFill/>
        </p:spPr>
        <p:txBody>
          <a:bodyPr wrap="square" rtlCol="0">
            <a:spAutoFit/>
          </a:bodyPr>
          <a:lstStyle/>
          <a:p>
            <a:r>
              <a:rPr lang="en-US" dirty="0">
                <a:hlinkClick r:id="rId3" action="ppaction://hlinksldjump"/>
              </a:rPr>
              <a:t>Back</a:t>
            </a:r>
            <a:endParaRPr lang="en-IN" dirty="0"/>
          </a:p>
        </p:txBody>
      </p:sp>
    </p:spTree>
    <p:extLst>
      <p:ext uri="{BB962C8B-B14F-4D97-AF65-F5344CB8AC3E}">
        <p14:creationId xmlns:p14="http://schemas.microsoft.com/office/powerpoint/2010/main" val="7303685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837593" y="143333"/>
            <a:ext cx="4516813" cy="707886"/>
          </a:xfrm>
          <a:prstGeom prst="rect">
            <a:avLst/>
          </a:prstGeom>
          <a:noFill/>
        </p:spPr>
        <p:txBody>
          <a:bodyPr wrap="none" rtlCol="0">
            <a:spAutoFit/>
          </a:bodyPr>
          <a:lstStyle/>
          <a:p>
            <a:pPr algn="ctr"/>
            <a:r>
              <a:rPr lang="en-IN" sz="2000" b="1" i="1" u="sng" dirty="0">
                <a:latin typeface="Times New Roman" panose="02020603050405020304" pitchFamily="18" charset="0"/>
                <a:cs typeface="Times New Roman" panose="02020603050405020304" pitchFamily="18" charset="0"/>
                <a:hlinkClick r:id="rId2" action="ppaction://hlinkfile"/>
              </a:rPr>
              <a:t>Tranche – 14 (Tariff: Rs. 3.18-3.24/kWh)</a:t>
            </a:r>
            <a:endParaRPr lang="en-IN" sz="2000" b="1" i="1" u="sng" dirty="0">
              <a:latin typeface="Times New Roman" panose="02020603050405020304" pitchFamily="18" charset="0"/>
              <a:cs typeface="Times New Roman" panose="02020603050405020304" pitchFamily="18" charset="0"/>
            </a:endParaRPr>
          </a:p>
          <a:p>
            <a:pPr algn="ctr"/>
            <a:r>
              <a:rPr lang="en-IN" sz="2000" b="1" i="1" u="sng" dirty="0">
                <a:latin typeface="Times New Roman" panose="02020603050405020304" pitchFamily="18" charset="0"/>
                <a:cs typeface="Times New Roman" panose="02020603050405020304" pitchFamily="18" charset="0"/>
              </a:rPr>
              <a:t>Effective date of PPA: 16.11.2023</a:t>
            </a:r>
          </a:p>
        </p:txBody>
      </p:sp>
      <p:graphicFrame>
        <p:nvGraphicFramePr>
          <p:cNvPr id="4" name="Table 3">
            <a:extLst>
              <a:ext uri="{FF2B5EF4-FFF2-40B4-BE49-F238E27FC236}">
                <a16:creationId xmlns:a16="http://schemas.microsoft.com/office/drawing/2014/main" id="{CFC20487-A702-4B5E-F913-B8396FA03084}"/>
              </a:ext>
            </a:extLst>
          </p:cNvPr>
          <p:cNvGraphicFramePr>
            <a:graphicFrameLocks noGrp="1"/>
          </p:cNvGraphicFramePr>
          <p:nvPr>
            <p:extLst>
              <p:ext uri="{D42A27DB-BD31-4B8C-83A1-F6EECF244321}">
                <p14:modId xmlns:p14="http://schemas.microsoft.com/office/powerpoint/2010/main" val="1858995787"/>
              </p:ext>
            </p:extLst>
          </p:nvPr>
        </p:nvGraphicFramePr>
        <p:xfrm>
          <a:off x="355600" y="1063625"/>
          <a:ext cx="11544300" cy="4023360"/>
        </p:xfrm>
        <a:graphic>
          <a:graphicData uri="http://schemas.openxmlformats.org/drawingml/2006/table">
            <a:tbl>
              <a:tblPr firstRow="1" bandRow="1">
                <a:tableStyleId>{5C22544A-7EE6-4342-B048-85BDC9FD1C3A}</a:tableStyleId>
              </a:tblPr>
              <a:tblGrid>
                <a:gridCol w="929965">
                  <a:extLst>
                    <a:ext uri="{9D8B030D-6E8A-4147-A177-3AD203B41FA5}">
                      <a16:colId xmlns:a16="http://schemas.microsoft.com/office/drawing/2014/main" val="4064482732"/>
                    </a:ext>
                  </a:extLst>
                </a:gridCol>
                <a:gridCol w="3672934">
                  <a:extLst>
                    <a:ext uri="{9D8B030D-6E8A-4147-A177-3AD203B41FA5}">
                      <a16:colId xmlns:a16="http://schemas.microsoft.com/office/drawing/2014/main" val="320820394"/>
                    </a:ext>
                  </a:extLst>
                </a:gridCol>
                <a:gridCol w="1159497">
                  <a:extLst>
                    <a:ext uri="{9D8B030D-6E8A-4147-A177-3AD203B41FA5}">
                      <a16:colId xmlns:a16="http://schemas.microsoft.com/office/drawing/2014/main" val="1105387179"/>
                    </a:ext>
                  </a:extLst>
                </a:gridCol>
                <a:gridCol w="1659117">
                  <a:extLst>
                    <a:ext uri="{9D8B030D-6E8A-4147-A177-3AD203B41FA5}">
                      <a16:colId xmlns:a16="http://schemas.microsoft.com/office/drawing/2014/main" val="1761692143"/>
                    </a:ext>
                  </a:extLst>
                </a:gridCol>
                <a:gridCol w="4122787">
                  <a:extLst>
                    <a:ext uri="{9D8B030D-6E8A-4147-A177-3AD203B41FA5}">
                      <a16:colId xmlns:a16="http://schemas.microsoft.com/office/drawing/2014/main" val="1177015039"/>
                    </a:ext>
                  </a:extLst>
                </a:gridCol>
              </a:tblGrid>
              <a:tr h="415574">
                <a:tc>
                  <a:txBody>
                    <a:bodyPr/>
                    <a:lstStyle/>
                    <a:p>
                      <a:pPr algn="ctr"/>
                      <a:r>
                        <a:rPr lang="en-IN" sz="1800" dirty="0">
                          <a:latin typeface="Times New Roman" panose="02020603050405020304" pitchFamily="18" charset="0"/>
                          <a:cs typeface="Times New Roman" panose="02020603050405020304" pitchFamily="18" charset="0"/>
                        </a:rPr>
                        <a:t>Sr. No.</a:t>
                      </a:r>
                    </a:p>
                  </a:txBody>
                  <a:tcPr/>
                </a:tc>
                <a:tc>
                  <a:txBody>
                    <a:bodyPr/>
                    <a:lstStyle/>
                    <a:p>
                      <a:pPr algn="ctr"/>
                      <a:r>
                        <a:rPr lang="en-IN" sz="1800" dirty="0">
                          <a:latin typeface="Times New Roman" panose="02020603050405020304" pitchFamily="18" charset="0"/>
                          <a:cs typeface="Times New Roman" panose="02020603050405020304" pitchFamily="18" charset="0"/>
                        </a:rPr>
                        <a:t>WPD</a:t>
                      </a:r>
                    </a:p>
                  </a:txBody>
                  <a:tcPr/>
                </a:tc>
                <a:tc>
                  <a:txBody>
                    <a:bodyPr/>
                    <a:lstStyle/>
                    <a:p>
                      <a:pPr algn="ctr"/>
                      <a:r>
                        <a:rPr lang="en-IN" sz="1800" dirty="0">
                          <a:latin typeface="Times New Roman" panose="02020603050405020304" pitchFamily="18" charset="0"/>
                          <a:cs typeface="Times New Roman" panose="02020603050405020304" pitchFamily="18" charset="0"/>
                        </a:rPr>
                        <a:t>PPA Capacity </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Commissioned Capacity</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2851679557"/>
                  </a:ext>
                </a:extLst>
              </a:tr>
              <a:tr h="24934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nchor="ctr"/>
                </a:tc>
                <a:tc>
                  <a:txBody>
                    <a:bodyPr/>
                    <a:lstStyle/>
                    <a:p>
                      <a:r>
                        <a:rPr lang="en-IN" sz="1800" dirty="0">
                          <a:solidFill>
                            <a:schemeClr val="tx1"/>
                          </a:solidFill>
                          <a:latin typeface="Times New Roman" panose="02020603050405020304" pitchFamily="18" charset="0"/>
                          <a:cs typeface="Times New Roman" panose="02020603050405020304" pitchFamily="18" charset="0"/>
                        </a:rPr>
                        <a:t>Green Prairie Energy Private 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190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marL="0" indent="0">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WPD failed to execute PPA.</a:t>
                      </a:r>
                    </a:p>
                  </a:txBody>
                  <a:tcPr anchor="ctr"/>
                </a:tc>
                <a:extLst>
                  <a:ext uri="{0D108BD9-81ED-4DB2-BD59-A6C34878D82A}">
                    <a16:rowId xmlns:a16="http://schemas.microsoft.com/office/drawing/2014/main" val="41473822"/>
                  </a:ext>
                </a:extLst>
              </a:tr>
              <a:tr h="24934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nchor="ctr"/>
                </a:tc>
                <a:tc>
                  <a:txBody>
                    <a:bodyPr/>
                    <a:lstStyle/>
                    <a:p>
                      <a:r>
                        <a:rPr lang="en-IN" sz="1800" dirty="0">
                          <a:solidFill>
                            <a:schemeClr val="tx1"/>
                          </a:solidFill>
                          <a:latin typeface="Times New Roman" panose="02020603050405020304" pitchFamily="18" charset="0"/>
                          <a:cs typeface="Times New Roman" panose="02020603050405020304" pitchFamily="18" charset="0"/>
                        </a:rPr>
                        <a:t>Apraava Energy Private 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300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800" dirty="0">
                          <a:solidFill>
                            <a:schemeClr val="tx1"/>
                          </a:solidFill>
                          <a:latin typeface="Times New Roman" panose="02020603050405020304" pitchFamily="18" charset="0"/>
                          <a:cs typeface="Times New Roman" panose="02020603050405020304" pitchFamily="18" charset="0"/>
                        </a:rPr>
                        <a:t>FC not achieved (Due Date 16.06.2024)</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800" dirty="0">
                          <a:solidFill>
                            <a:schemeClr val="tx1"/>
                          </a:solidFill>
                          <a:latin typeface="Times New Roman" panose="02020603050405020304" pitchFamily="18" charset="0"/>
                          <a:cs typeface="Times New Roman" panose="02020603050405020304" pitchFamily="18" charset="0"/>
                        </a:rPr>
                        <a:t>Revised SCD is 27.12.2025</a:t>
                      </a:r>
                    </a:p>
                    <a:p>
                      <a:pPr marL="171450" indent="-171450">
                        <a:buFont typeface="Arial" panose="020B0604020202020204" pitchFamily="34" charset="0"/>
                        <a:buChar char="•"/>
                      </a:pPr>
                      <a:r>
                        <a:rPr lang="en-IN" sz="1800" dirty="0">
                          <a:solidFill>
                            <a:schemeClr val="tx1"/>
                          </a:solidFill>
                          <a:latin typeface="Times New Roman" panose="02020603050405020304" pitchFamily="18" charset="0"/>
                          <a:cs typeface="Times New Roman" panose="02020603050405020304" pitchFamily="18" charset="0"/>
                        </a:rPr>
                        <a:t>WPD’s request for extension in FC and SCD is under review (referred to MNRE)</a:t>
                      </a:r>
                    </a:p>
                  </a:txBody>
                  <a:tcPr anchor="ctr"/>
                </a:tc>
                <a:extLst>
                  <a:ext uri="{0D108BD9-81ED-4DB2-BD59-A6C34878D82A}">
                    <a16:rowId xmlns:a16="http://schemas.microsoft.com/office/drawing/2014/main" val="2987842036"/>
                  </a:ext>
                </a:extLst>
              </a:tr>
              <a:tr h="24934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p>
                  </a:txBody>
                  <a:tcPr anchor="ctr"/>
                </a:tc>
                <a:tc>
                  <a:txBody>
                    <a:bodyPr/>
                    <a:lstStyle/>
                    <a:p>
                      <a:pPr algn="l" fontAlgn="ctr"/>
                      <a:r>
                        <a:rPr lang="en-US" sz="1800" b="0" i="0" u="none" strike="noStrike" dirty="0">
                          <a:solidFill>
                            <a:schemeClr val="tx1"/>
                          </a:solidFill>
                          <a:effectLst/>
                          <a:latin typeface="Times New Roman" panose="02020603050405020304" pitchFamily="18" charset="0"/>
                          <a:cs typeface="Times New Roman" panose="02020603050405020304" pitchFamily="18" charset="0"/>
                        </a:rPr>
                        <a:t>SJVN Green Energy Limited</a:t>
                      </a:r>
                    </a:p>
                  </a:txBody>
                  <a:tcPr marL="6350" marR="6350" marT="6350" marB="0"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200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marL="171450" indent="-171450">
                        <a:buFont typeface="Arial" panose="020B0604020202020204" pitchFamily="34" charset="0"/>
                        <a:buChar char="•"/>
                      </a:pPr>
                      <a:r>
                        <a:rPr lang="en-IN" sz="1800" dirty="0">
                          <a:solidFill>
                            <a:schemeClr val="tx1"/>
                          </a:solidFill>
                          <a:latin typeface="Times New Roman" panose="02020603050405020304" pitchFamily="18" charset="0"/>
                          <a:cs typeface="Times New Roman" panose="02020603050405020304" pitchFamily="18" charset="0"/>
                        </a:rPr>
                        <a:t>No progress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800" dirty="0">
                          <a:solidFill>
                            <a:schemeClr val="tx1"/>
                          </a:solidFill>
                          <a:latin typeface="Times New Roman" panose="02020603050405020304" pitchFamily="18" charset="0"/>
                          <a:cs typeface="Times New Roman" panose="02020603050405020304" pitchFamily="18" charset="0"/>
                        </a:rPr>
                        <a:t>FC not achieved (Due Date 16.06.2024)</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800" dirty="0">
                          <a:solidFill>
                            <a:schemeClr val="tx1"/>
                          </a:solidFill>
                          <a:latin typeface="Times New Roman" panose="02020603050405020304" pitchFamily="18" charset="0"/>
                          <a:cs typeface="Times New Roman" panose="02020603050405020304" pitchFamily="18" charset="0"/>
                        </a:rPr>
                        <a:t>Revised SCD is 27.12.2025</a:t>
                      </a:r>
                    </a:p>
                  </a:txBody>
                  <a:tcPr anchor="ctr"/>
                </a:tc>
                <a:extLst>
                  <a:ext uri="{0D108BD9-81ED-4DB2-BD59-A6C34878D82A}">
                    <a16:rowId xmlns:a16="http://schemas.microsoft.com/office/drawing/2014/main" val="2848025075"/>
                  </a:ext>
                </a:extLst>
              </a:tr>
              <a:tr h="308083">
                <a:tc>
                  <a:txBody>
                    <a:bodyPr/>
                    <a:lstStyle/>
                    <a:p>
                      <a:endParaRPr lang="en-IN" sz="1800" b="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r>
                        <a:rPr lang="en-IN" sz="1800" b="1" dirty="0">
                          <a:solidFill>
                            <a:schemeClr val="tx1"/>
                          </a:solidFill>
                          <a:latin typeface="Times New Roman" panose="02020603050405020304" pitchFamily="18" charset="0"/>
                          <a:cs typeface="Times New Roman" panose="02020603050405020304" pitchFamily="18" charset="0"/>
                        </a:rPr>
                        <a:t>Total</a:t>
                      </a:r>
                    </a:p>
                  </a:txBody>
                  <a:tcPr anchor="ct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690</a:t>
                      </a:r>
                    </a:p>
                  </a:txBody>
                  <a:tcPr anchor="ct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42266177"/>
                  </a:ext>
                </a:extLst>
              </a:tr>
            </a:tbl>
          </a:graphicData>
        </a:graphic>
      </p:graphicFrame>
      <p:sp>
        <p:nvSpPr>
          <p:cNvPr id="3" name="TextBox 2">
            <a:extLst>
              <a:ext uri="{FF2B5EF4-FFF2-40B4-BE49-F238E27FC236}">
                <a16:creationId xmlns:a16="http://schemas.microsoft.com/office/drawing/2014/main" id="{1CFDBB37-1B75-4306-DB38-36E20A7390FC}"/>
              </a:ext>
            </a:extLst>
          </p:cNvPr>
          <p:cNvSpPr txBox="1"/>
          <p:nvPr/>
        </p:nvSpPr>
        <p:spPr>
          <a:xfrm>
            <a:off x="8602133" y="6172200"/>
            <a:ext cx="1261534" cy="369332"/>
          </a:xfrm>
          <a:prstGeom prst="rect">
            <a:avLst/>
          </a:prstGeom>
          <a:noFill/>
        </p:spPr>
        <p:txBody>
          <a:bodyPr wrap="square" rtlCol="0">
            <a:spAutoFit/>
          </a:bodyPr>
          <a:lstStyle/>
          <a:p>
            <a:r>
              <a:rPr lang="en-US" dirty="0">
                <a:hlinkClick r:id="rId3" action="ppaction://hlinksldjump"/>
              </a:rPr>
              <a:t>Back</a:t>
            </a:r>
            <a:endParaRPr lang="en-IN" dirty="0"/>
          </a:p>
        </p:txBody>
      </p:sp>
    </p:spTree>
    <p:extLst>
      <p:ext uri="{BB962C8B-B14F-4D97-AF65-F5344CB8AC3E}">
        <p14:creationId xmlns:p14="http://schemas.microsoft.com/office/powerpoint/2010/main" val="32866360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4CE1E-09C3-3A6B-4292-189A9D38C21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D194F22-DE34-7672-3019-D082CD250F3B}"/>
              </a:ext>
            </a:extLst>
          </p:cNvPr>
          <p:cNvSpPr txBox="1"/>
          <p:nvPr/>
        </p:nvSpPr>
        <p:spPr>
          <a:xfrm>
            <a:off x="3965833" y="143333"/>
            <a:ext cx="4260333" cy="707886"/>
          </a:xfrm>
          <a:prstGeom prst="rect">
            <a:avLst/>
          </a:prstGeom>
          <a:noFill/>
        </p:spPr>
        <p:txBody>
          <a:bodyPr wrap="none" rtlCol="0">
            <a:spAutoFit/>
          </a:bodyPr>
          <a:lstStyle/>
          <a:p>
            <a:pPr algn="ctr"/>
            <a:r>
              <a:rPr lang="en-IN" sz="2000" b="1" i="1" u="sng" dirty="0">
                <a:latin typeface="Times New Roman" panose="02020603050405020304" pitchFamily="18" charset="0"/>
                <a:cs typeface="Times New Roman" panose="02020603050405020304" pitchFamily="18" charset="0"/>
                <a:hlinkClick r:id="rId2" action="ppaction://hlinkfile"/>
              </a:rPr>
              <a:t>Tranche – 16 (Tariff: Rs. 3.6-3.7/kWh)</a:t>
            </a:r>
            <a:endParaRPr lang="en-IN" sz="2000" b="1" i="1" u="sng" dirty="0">
              <a:latin typeface="Times New Roman" panose="02020603050405020304" pitchFamily="18" charset="0"/>
              <a:cs typeface="Times New Roman" panose="02020603050405020304" pitchFamily="18" charset="0"/>
            </a:endParaRPr>
          </a:p>
          <a:p>
            <a:pPr algn="ctr"/>
            <a:r>
              <a:rPr lang="en-IN" sz="2000" b="1" i="1" u="sng" dirty="0">
                <a:latin typeface="Times New Roman" panose="02020603050405020304" pitchFamily="18" charset="0"/>
                <a:cs typeface="Times New Roman" panose="02020603050405020304" pitchFamily="18" charset="0"/>
              </a:rPr>
              <a:t>Effective date of PPA: 13.06.2024</a:t>
            </a:r>
          </a:p>
        </p:txBody>
      </p:sp>
      <p:graphicFrame>
        <p:nvGraphicFramePr>
          <p:cNvPr id="4" name="Table 3">
            <a:extLst>
              <a:ext uri="{FF2B5EF4-FFF2-40B4-BE49-F238E27FC236}">
                <a16:creationId xmlns:a16="http://schemas.microsoft.com/office/drawing/2014/main" id="{180568B9-04BC-5602-BA7B-DC5E346C667B}"/>
              </a:ext>
            </a:extLst>
          </p:cNvPr>
          <p:cNvGraphicFramePr>
            <a:graphicFrameLocks noGrp="1"/>
          </p:cNvGraphicFramePr>
          <p:nvPr>
            <p:extLst>
              <p:ext uri="{D42A27DB-BD31-4B8C-83A1-F6EECF244321}">
                <p14:modId xmlns:p14="http://schemas.microsoft.com/office/powerpoint/2010/main" val="4265195406"/>
              </p:ext>
            </p:extLst>
          </p:nvPr>
        </p:nvGraphicFramePr>
        <p:xfrm>
          <a:off x="355600" y="1063625"/>
          <a:ext cx="11544300" cy="3108960"/>
        </p:xfrm>
        <a:graphic>
          <a:graphicData uri="http://schemas.openxmlformats.org/drawingml/2006/table">
            <a:tbl>
              <a:tblPr firstRow="1" bandRow="1">
                <a:tableStyleId>{5C22544A-7EE6-4342-B048-85BDC9FD1C3A}</a:tableStyleId>
              </a:tblPr>
              <a:tblGrid>
                <a:gridCol w="929965">
                  <a:extLst>
                    <a:ext uri="{9D8B030D-6E8A-4147-A177-3AD203B41FA5}">
                      <a16:colId xmlns:a16="http://schemas.microsoft.com/office/drawing/2014/main" val="4064482732"/>
                    </a:ext>
                  </a:extLst>
                </a:gridCol>
                <a:gridCol w="3896035">
                  <a:extLst>
                    <a:ext uri="{9D8B030D-6E8A-4147-A177-3AD203B41FA5}">
                      <a16:colId xmlns:a16="http://schemas.microsoft.com/office/drawing/2014/main" val="320820394"/>
                    </a:ext>
                  </a:extLst>
                </a:gridCol>
                <a:gridCol w="1346200">
                  <a:extLst>
                    <a:ext uri="{9D8B030D-6E8A-4147-A177-3AD203B41FA5}">
                      <a16:colId xmlns:a16="http://schemas.microsoft.com/office/drawing/2014/main" val="1105387179"/>
                    </a:ext>
                  </a:extLst>
                </a:gridCol>
                <a:gridCol w="1739900">
                  <a:extLst>
                    <a:ext uri="{9D8B030D-6E8A-4147-A177-3AD203B41FA5}">
                      <a16:colId xmlns:a16="http://schemas.microsoft.com/office/drawing/2014/main" val="1761692143"/>
                    </a:ext>
                  </a:extLst>
                </a:gridCol>
                <a:gridCol w="3632200">
                  <a:extLst>
                    <a:ext uri="{9D8B030D-6E8A-4147-A177-3AD203B41FA5}">
                      <a16:colId xmlns:a16="http://schemas.microsoft.com/office/drawing/2014/main" val="1177015039"/>
                    </a:ext>
                  </a:extLst>
                </a:gridCol>
              </a:tblGrid>
              <a:tr h="415574">
                <a:tc>
                  <a:txBody>
                    <a:bodyPr/>
                    <a:lstStyle/>
                    <a:p>
                      <a:pPr algn="ctr"/>
                      <a:r>
                        <a:rPr lang="en-IN" sz="1800" dirty="0">
                          <a:latin typeface="Times New Roman" panose="02020603050405020304" pitchFamily="18" charset="0"/>
                          <a:cs typeface="Times New Roman" panose="02020603050405020304" pitchFamily="18" charset="0"/>
                        </a:rPr>
                        <a:t>Sr. No.</a:t>
                      </a:r>
                    </a:p>
                  </a:txBody>
                  <a:tcPr/>
                </a:tc>
                <a:tc>
                  <a:txBody>
                    <a:bodyPr/>
                    <a:lstStyle/>
                    <a:p>
                      <a:pPr algn="ctr"/>
                      <a:r>
                        <a:rPr lang="en-IN" sz="1800" dirty="0">
                          <a:latin typeface="Times New Roman" panose="02020603050405020304" pitchFamily="18" charset="0"/>
                          <a:cs typeface="Times New Roman" panose="02020603050405020304" pitchFamily="18" charset="0"/>
                        </a:rPr>
                        <a:t>WPD</a:t>
                      </a:r>
                    </a:p>
                  </a:txBody>
                  <a:tcPr/>
                </a:tc>
                <a:tc>
                  <a:txBody>
                    <a:bodyPr/>
                    <a:lstStyle/>
                    <a:p>
                      <a:pPr algn="ctr"/>
                      <a:r>
                        <a:rPr lang="en-IN" sz="1800" dirty="0">
                          <a:latin typeface="Times New Roman" panose="02020603050405020304" pitchFamily="18" charset="0"/>
                          <a:cs typeface="Times New Roman" panose="02020603050405020304" pitchFamily="18" charset="0"/>
                        </a:rPr>
                        <a:t>PPA Capacity </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Commissioned Capacity</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2851679557"/>
                  </a:ext>
                </a:extLst>
              </a:tr>
              <a:tr h="24934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nchor="ctr"/>
                </a:tc>
                <a:tc>
                  <a:txBody>
                    <a:bodyPr/>
                    <a:lstStyle/>
                    <a:p>
                      <a:r>
                        <a:rPr lang="en-IN" sz="1800" dirty="0">
                          <a:solidFill>
                            <a:schemeClr val="tx1"/>
                          </a:solidFill>
                          <a:latin typeface="Times New Roman" panose="02020603050405020304" pitchFamily="18" charset="0"/>
                          <a:cs typeface="Times New Roman" panose="02020603050405020304" pitchFamily="18" charset="0"/>
                        </a:rPr>
                        <a:t>Torrent Solar Power Private 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100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rowSpan="5">
                  <a:txBody>
                    <a:bodyPr/>
                    <a:lstStyle/>
                    <a:p>
                      <a:pPr marL="0" indent="0">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Under execution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800" dirty="0">
                          <a:solidFill>
                            <a:schemeClr val="tx1"/>
                          </a:solidFill>
                          <a:latin typeface="Times New Roman" panose="02020603050405020304" pitchFamily="18" charset="0"/>
                          <a:cs typeface="Times New Roman" panose="02020603050405020304" pitchFamily="18" charset="0"/>
                        </a:rPr>
                        <a:t>(Revised SCD is 19.06.2026)</a:t>
                      </a:r>
                    </a:p>
                  </a:txBody>
                  <a:tcPr anchor="ctr"/>
                </a:tc>
                <a:extLst>
                  <a:ext uri="{0D108BD9-81ED-4DB2-BD59-A6C34878D82A}">
                    <a16:rowId xmlns:a16="http://schemas.microsoft.com/office/drawing/2014/main" val="41473822"/>
                  </a:ext>
                </a:extLst>
              </a:tr>
              <a:tr h="24934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nchor="ctr"/>
                </a:tc>
                <a:tc>
                  <a:txBody>
                    <a:bodyPr/>
                    <a:lstStyle/>
                    <a:p>
                      <a:r>
                        <a:rPr lang="en-US" sz="1800" dirty="0">
                          <a:solidFill>
                            <a:schemeClr val="tx1"/>
                          </a:solidFill>
                          <a:latin typeface="Times New Roman" panose="02020603050405020304" pitchFamily="18" charset="0"/>
                          <a:cs typeface="Times New Roman" panose="02020603050405020304" pitchFamily="18" charset="0"/>
                        </a:rPr>
                        <a:t>JSW Renew Energy Eight </a:t>
                      </a:r>
                      <a:r>
                        <a:rPr lang="en-IN" sz="1800" dirty="0">
                          <a:solidFill>
                            <a:schemeClr val="tx1"/>
                          </a:solidFill>
                          <a:latin typeface="Times New Roman" panose="02020603050405020304" pitchFamily="18" charset="0"/>
                          <a:cs typeface="Times New Roman" panose="02020603050405020304" pitchFamily="18" charset="0"/>
                        </a:rPr>
                        <a:t>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700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vMerge="1">
                  <a:txBody>
                    <a:bodyPr/>
                    <a:lstStyle/>
                    <a:p>
                      <a:endParaRPr/>
                    </a:p>
                  </a:txBody>
                  <a:tcPr anchor="ctr"/>
                </a:tc>
                <a:extLst>
                  <a:ext uri="{0D108BD9-81ED-4DB2-BD59-A6C34878D82A}">
                    <a16:rowId xmlns:a16="http://schemas.microsoft.com/office/drawing/2014/main" val="2987842036"/>
                  </a:ext>
                </a:extLst>
              </a:tr>
              <a:tr h="24934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p>
                  </a:txBody>
                  <a:tcPr anchor="ctr"/>
                </a:tc>
                <a:tc>
                  <a:txBody>
                    <a:bodyPr/>
                    <a:lstStyle/>
                    <a:p>
                      <a:r>
                        <a:rPr lang="en-US" sz="1800" dirty="0">
                          <a:solidFill>
                            <a:schemeClr val="tx1"/>
                          </a:solidFill>
                          <a:latin typeface="Times New Roman" panose="02020603050405020304" pitchFamily="18" charset="0"/>
                          <a:cs typeface="Times New Roman" panose="02020603050405020304" pitchFamily="18" charset="0"/>
                        </a:rPr>
                        <a:t>JSW Renew Energy Four </a:t>
                      </a:r>
                      <a:r>
                        <a:rPr lang="en-IN" sz="1800" dirty="0">
                          <a:solidFill>
                            <a:schemeClr val="tx1"/>
                          </a:solidFill>
                          <a:latin typeface="Times New Roman" panose="02020603050405020304" pitchFamily="18" charset="0"/>
                          <a:cs typeface="Times New Roman" panose="02020603050405020304" pitchFamily="18" charset="0"/>
                        </a:rPr>
                        <a:t>Limited</a:t>
                      </a:r>
                    </a:p>
                  </a:txBody>
                  <a:tcPr marL="6350" marR="6350" marT="6350" marB="0"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150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vMerge="1">
                  <a:txBody>
                    <a:bodyPr/>
                    <a:lstStyle/>
                    <a:p>
                      <a:endParaRPr/>
                    </a:p>
                  </a:txBody>
                  <a:tcPr anchor="ctr"/>
                </a:tc>
                <a:extLst>
                  <a:ext uri="{0D108BD9-81ED-4DB2-BD59-A6C34878D82A}">
                    <a16:rowId xmlns:a16="http://schemas.microsoft.com/office/drawing/2014/main" val="2848025075"/>
                  </a:ext>
                </a:extLst>
              </a:tr>
              <a:tr h="24934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Times New Roman" panose="02020603050405020304" pitchFamily="18" charset="0"/>
                          <a:cs typeface="Times New Roman" panose="02020603050405020304" pitchFamily="18" charset="0"/>
                        </a:rPr>
                        <a:t>JSW Renew Energy Four </a:t>
                      </a:r>
                      <a:r>
                        <a:rPr lang="en-IN" sz="1800" dirty="0">
                          <a:solidFill>
                            <a:schemeClr val="tx1"/>
                          </a:solidFill>
                          <a:latin typeface="Times New Roman" panose="02020603050405020304" pitchFamily="18" charset="0"/>
                          <a:cs typeface="Times New Roman" panose="02020603050405020304" pitchFamily="18" charset="0"/>
                        </a:rPr>
                        <a:t>Limited</a:t>
                      </a:r>
                    </a:p>
                  </a:txBody>
                  <a:tcPr marL="6350" marR="6350" marT="6350" marB="0"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175</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180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33081323"/>
                  </a:ext>
                </a:extLst>
              </a:tr>
              <a:tr h="24934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a:t>
                      </a:r>
                    </a:p>
                  </a:txBody>
                  <a:tcPr anchor="ctr"/>
                </a:tc>
                <a:tc>
                  <a:txBody>
                    <a:bodyPr/>
                    <a:lstStyle/>
                    <a:p>
                      <a:r>
                        <a:rPr lang="en-IN" sz="1800" dirty="0">
                          <a:solidFill>
                            <a:schemeClr val="tx1"/>
                          </a:solidFill>
                          <a:latin typeface="Times New Roman" panose="02020603050405020304" pitchFamily="18" charset="0"/>
                          <a:cs typeface="Times New Roman" panose="02020603050405020304" pitchFamily="18" charset="0"/>
                        </a:rPr>
                        <a:t>Powerica Limited</a:t>
                      </a:r>
                    </a:p>
                  </a:txBody>
                  <a:tcPr marL="6350" marR="6350" marT="6350" marB="0"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180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58228651"/>
                  </a:ext>
                </a:extLst>
              </a:tr>
              <a:tr h="308083">
                <a:tc>
                  <a:txBody>
                    <a:bodyPr/>
                    <a:lstStyle/>
                    <a:p>
                      <a:endParaRPr lang="en-IN" sz="1800" b="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r>
                        <a:rPr lang="en-IN" sz="1800" b="1" dirty="0">
                          <a:solidFill>
                            <a:schemeClr val="tx1"/>
                          </a:solidFill>
                          <a:latin typeface="Times New Roman" panose="02020603050405020304" pitchFamily="18" charset="0"/>
                          <a:cs typeface="Times New Roman" panose="02020603050405020304" pitchFamily="18" charset="0"/>
                        </a:rPr>
                        <a:t>Total</a:t>
                      </a:r>
                    </a:p>
                  </a:txBody>
                  <a:tcPr anchor="ct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1175</a:t>
                      </a:r>
                    </a:p>
                  </a:txBody>
                  <a:tcPr anchor="ct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42266177"/>
                  </a:ext>
                </a:extLst>
              </a:tr>
            </a:tbl>
          </a:graphicData>
        </a:graphic>
      </p:graphicFrame>
      <p:sp>
        <p:nvSpPr>
          <p:cNvPr id="3" name="TextBox 2">
            <a:extLst>
              <a:ext uri="{FF2B5EF4-FFF2-40B4-BE49-F238E27FC236}">
                <a16:creationId xmlns:a16="http://schemas.microsoft.com/office/drawing/2014/main" id="{566AB5CF-EEFE-10B4-8F95-93D55DFDD534}"/>
              </a:ext>
            </a:extLst>
          </p:cNvPr>
          <p:cNvSpPr txBox="1"/>
          <p:nvPr/>
        </p:nvSpPr>
        <p:spPr>
          <a:xfrm>
            <a:off x="8602133" y="6172200"/>
            <a:ext cx="1261534" cy="369332"/>
          </a:xfrm>
          <a:prstGeom prst="rect">
            <a:avLst/>
          </a:prstGeom>
          <a:noFill/>
        </p:spPr>
        <p:txBody>
          <a:bodyPr wrap="square" rtlCol="0">
            <a:spAutoFit/>
          </a:bodyPr>
          <a:lstStyle/>
          <a:p>
            <a:r>
              <a:rPr lang="en-US" dirty="0">
                <a:hlinkClick r:id="rId3" action="ppaction://hlinksldjump"/>
              </a:rPr>
              <a:t>Back</a:t>
            </a:r>
            <a:endParaRPr lang="en-IN" dirty="0"/>
          </a:p>
        </p:txBody>
      </p:sp>
    </p:spTree>
    <p:extLst>
      <p:ext uri="{BB962C8B-B14F-4D97-AF65-F5344CB8AC3E}">
        <p14:creationId xmlns:p14="http://schemas.microsoft.com/office/powerpoint/2010/main" val="41779262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EBE63-4473-E95E-2C1D-CB2D8EDBCB3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6EA24C8-A500-637F-F9F5-5A12502EF4F3}"/>
              </a:ext>
            </a:extLst>
          </p:cNvPr>
          <p:cNvSpPr txBox="1"/>
          <p:nvPr/>
        </p:nvSpPr>
        <p:spPr>
          <a:xfrm>
            <a:off x="3837593" y="143333"/>
            <a:ext cx="4516814" cy="707886"/>
          </a:xfrm>
          <a:prstGeom prst="rect">
            <a:avLst/>
          </a:prstGeom>
          <a:noFill/>
        </p:spPr>
        <p:txBody>
          <a:bodyPr wrap="none" rtlCol="0">
            <a:spAutoFit/>
          </a:bodyPr>
          <a:lstStyle/>
          <a:p>
            <a:pPr algn="ctr"/>
            <a:r>
              <a:rPr lang="en-IN" sz="2000" b="1" i="1" u="sng" dirty="0">
                <a:latin typeface="Times New Roman" panose="02020603050405020304" pitchFamily="18" charset="0"/>
                <a:cs typeface="Times New Roman" panose="02020603050405020304" pitchFamily="18" charset="0"/>
                <a:hlinkClick r:id="rId2" action="ppaction://hlinkfile"/>
              </a:rPr>
              <a:t>Tranche – 17 (Tariff: Rs. 3.81-3.82/kWh)</a:t>
            </a:r>
            <a:endParaRPr lang="en-IN" sz="2000" b="1" i="1" u="sng" dirty="0">
              <a:latin typeface="Times New Roman" panose="02020603050405020304" pitchFamily="18" charset="0"/>
              <a:cs typeface="Times New Roman" panose="02020603050405020304" pitchFamily="18" charset="0"/>
            </a:endParaRPr>
          </a:p>
          <a:p>
            <a:pPr algn="ctr"/>
            <a:r>
              <a:rPr lang="en-IN" sz="2000" b="1" i="1" u="sng" dirty="0">
                <a:latin typeface="Times New Roman" panose="02020603050405020304" pitchFamily="18" charset="0"/>
                <a:cs typeface="Times New Roman" panose="02020603050405020304" pitchFamily="18" charset="0"/>
              </a:rPr>
              <a:t>Effective date of PPA: 01.03.2025</a:t>
            </a:r>
          </a:p>
        </p:txBody>
      </p:sp>
      <p:graphicFrame>
        <p:nvGraphicFramePr>
          <p:cNvPr id="4" name="Table 3">
            <a:extLst>
              <a:ext uri="{FF2B5EF4-FFF2-40B4-BE49-F238E27FC236}">
                <a16:creationId xmlns:a16="http://schemas.microsoft.com/office/drawing/2014/main" id="{06955273-3DC1-5EA3-9D51-922ED772FD13}"/>
              </a:ext>
            </a:extLst>
          </p:cNvPr>
          <p:cNvGraphicFramePr>
            <a:graphicFrameLocks noGrp="1"/>
          </p:cNvGraphicFramePr>
          <p:nvPr>
            <p:extLst>
              <p:ext uri="{D42A27DB-BD31-4B8C-83A1-F6EECF244321}">
                <p14:modId xmlns:p14="http://schemas.microsoft.com/office/powerpoint/2010/main" val="4246995802"/>
              </p:ext>
            </p:extLst>
          </p:nvPr>
        </p:nvGraphicFramePr>
        <p:xfrm>
          <a:off x="355600" y="1063625"/>
          <a:ext cx="11544300" cy="2286000"/>
        </p:xfrm>
        <a:graphic>
          <a:graphicData uri="http://schemas.openxmlformats.org/drawingml/2006/table">
            <a:tbl>
              <a:tblPr firstRow="1" bandRow="1">
                <a:tableStyleId>{5C22544A-7EE6-4342-B048-85BDC9FD1C3A}</a:tableStyleId>
              </a:tblPr>
              <a:tblGrid>
                <a:gridCol w="929965">
                  <a:extLst>
                    <a:ext uri="{9D8B030D-6E8A-4147-A177-3AD203B41FA5}">
                      <a16:colId xmlns:a16="http://schemas.microsoft.com/office/drawing/2014/main" val="4064482732"/>
                    </a:ext>
                  </a:extLst>
                </a:gridCol>
                <a:gridCol w="3896035">
                  <a:extLst>
                    <a:ext uri="{9D8B030D-6E8A-4147-A177-3AD203B41FA5}">
                      <a16:colId xmlns:a16="http://schemas.microsoft.com/office/drawing/2014/main" val="320820394"/>
                    </a:ext>
                  </a:extLst>
                </a:gridCol>
                <a:gridCol w="1346200">
                  <a:extLst>
                    <a:ext uri="{9D8B030D-6E8A-4147-A177-3AD203B41FA5}">
                      <a16:colId xmlns:a16="http://schemas.microsoft.com/office/drawing/2014/main" val="1105387179"/>
                    </a:ext>
                  </a:extLst>
                </a:gridCol>
                <a:gridCol w="1739900">
                  <a:extLst>
                    <a:ext uri="{9D8B030D-6E8A-4147-A177-3AD203B41FA5}">
                      <a16:colId xmlns:a16="http://schemas.microsoft.com/office/drawing/2014/main" val="1761692143"/>
                    </a:ext>
                  </a:extLst>
                </a:gridCol>
                <a:gridCol w="3632200">
                  <a:extLst>
                    <a:ext uri="{9D8B030D-6E8A-4147-A177-3AD203B41FA5}">
                      <a16:colId xmlns:a16="http://schemas.microsoft.com/office/drawing/2014/main" val="1177015039"/>
                    </a:ext>
                  </a:extLst>
                </a:gridCol>
              </a:tblGrid>
              <a:tr h="415574">
                <a:tc>
                  <a:txBody>
                    <a:bodyPr/>
                    <a:lstStyle/>
                    <a:p>
                      <a:pPr algn="ctr"/>
                      <a:r>
                        <a:rPr lang="en-IN" sz="1800" dirty="0">
                          <a:latin typeface="Times New Roman" panose="02020603050405020304" pitchFamily="18" charset="0"/>
                          <a:cs typeface="Times New Roman" panose="02020603050405020304" pitchFamily="18" charset="0"/>
                        </a:rPr>
                        <a:t>Sr. No.</a:t>
                      </a:r>
                    </a:p>
                  </a:txBody>
                  <a:tcPr/>
                </a:tc>
                <a:tc>
                  <a:txBody>
                    <a:bodyPr/>
                    <a:lstStyle/>
                    <a:p>
                      <a:pPr algn="ctr"/>
                      <a:r>
                        <a:rPr lang="en-IN" sz="1800" dirty="0">
                          <a:latin typeface="Times New Roman" panose="02020603050405020304" pitchFamily="18" charset="0"/>
                          <a:cs typeface="Times New Roman" panose="02020603050405020304" pitchFamily="18" charset="0"/>
                        </a:rPr>
                        <a:t>WPD</a:t>
                      </a:r>
                    </a:p>
                  </a:txBody>
                  <a:tcPr/>
                </a:tc>
                <a:tc>
                  <a:txBody>
                    <a:bodyPr/>
                    <a:lstStyle/>
                    <a:p>
                      <a:pPr algn="ctr"/>
                      <a:r>
                        <a:rPr lang="en-IN" sz="1800" dirty="0">
                          <a:latin typeface="Times New Roman" panose="02020603050405020304" pitchFamily="18" charset="0"/>
                          <a:cs typeface="Times New Roman" panose="02020603050405020304" pitchFamily="18" charset="0"/>
                        </a:rPr>
                        <a:t>PPA Capacity </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Commissioned Capacity</a:t>
                      </a:r>
                    </a:p>
                    <a:p>
                      <a:pPr algn="ctr"/>
                      <a:r>
                        <a:rPr lang="en-IN" sz="1800" dirty="0">
                          <a:latin typeface="Times New Roman" panose="02020603050405020304" pitchFamily="18" charset="0"/>
                          <a:cs typeface="Times New Roman" panose="02020603050405020304" pitchFamily="18" charset="0"/>
                        </a:rPr>
                        <a:t>(MW)</a:t>
                      </a:r>
                    </a:p>
                  </a:txBody>
                  <a:tcPr/>
                </a:tc>
                <a:tc>
                  <a:txBody>
                    <a:bodyPr/>
                    <a:lstStyle/>
                    <a:p>
                      <a:pPr algn="ctr"/>
                      <a:r>
                        <a:rPr lang="en-IN" sz="1800" dirty="0">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2851679557"/>
                  </a:ext>
                </a:extLst>
              </a:tr>
              <a:tr h="24934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nchor="ctr"/>
                </a:tc>
                <a:tc>
                  <a:txBody>
                    <a:bodyPr/>
                    <a:lstStyle/>
                    <a:p>
                      <a:r>
                        <a:rPr lang="en-IN" sz="1800" dirty="0">
                          <a:solidFill>
                            <a:schemeClr val="tx1"/>
                          </a:solidFill>
                          <a:latin typeface="Times New Roman" panose="02020603050405020304" pitchFamily="18" charset="0"/>
                          <a:cs typeface="Times New Roman" panose="02020603050405020304" pitchFamily="18" charset="0"/>
                        </a:rPr>
                        <a:t>Powerica 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marL="0" indent="0">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Under execution.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800" dirty="0">
                          <a:solidFill>
                            <a:schemeClr val="tx1"/>
                          </a:solidFill>
                          <a:latin typeface="Times New Roman" panose="02020603050405020304" pitchFamily="18" charset="0"/>
                          <a:cs typeface="Times New Roman" panose="02020603050405020304" pitchFamily="18" charset="0"/>
                        </a:rPr>
                        <a:t>(Revised SCD is 01.09.2027)</a:t>
                      </a:r>
                    </a:p>
                  </a:txBody>
                  <a:tcPr anchor="ctr"/>
                </a:tc>
                <a:extLst>
                  <a:ext uri="{0D108BD9-81ED-4DB2-BD59-A6C34878D82A}">
                    <a16:rowId xmlns:a16="http://schemas.microsoft.com/office/drawing/2014/main" val="41473822"/>
                  </a:ext>
                </a:extLst>
              </a:tr>
              <a:tr h="249344">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nchor="ctr"/>
                </a:tc>
                <a:tc>
                  <a:txBody>
                    <a:bodyPr/>
                    <a:lstStyle/>
                    <a:p>
                      <a:r>
                        <a:rPr lang="en-US" sz="1800" dirty="0">
                          <a:solidFill>
                            <a:schemeClr val="tx1"/>
                          </a:solidFill>
                          <a:latin typeface="Times New Roman" panose="02020603050405020304" pitchFamily="18" charset="0"/>
                          <a:cs typeface="Times New Roman" panose="02020603050405020304" pitchFamily="18" charset="0"/>
                        </a:rPr>
                        <a:t>Adyant Renewables Private </a:t>
                      </a:r>
                      <a:r>
                        <a:rPr lang="en-IN" sz="1800" dirty="0">
                          <a:solidFill>
                            <a:schemeClr val="tx1"/>
                          </a:solidFill>
                          <a:latin typeface="Times New Roman" panose="02020603050405020304" pitchFamily="18" charset="0"/>
                          <a:cs typeface="Times New Roman" panose="02020603050405020304" pitchFamily="18" charset="0"/>
                        </a:rPr>
                        <a:t>Limited</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50</a:t>
                      </a:r>
                    </a:p>
                  </a:txBody>
                  <a:tcPr anchor="ct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pPr marL="0" indent="0">
                        <a:buFont typeface="Arial" panose="020B0604020202020204" pitchFamily="34" charset="0"/>
                        <a:buNone/>
                      </a:pPr>
                      <a:r>
                        <a:rPr lang="en-IN" sz="1800" dirty="0">
                          <a:solidFill>
                            <a:schemeClr val="tx1"/>
                          </a:solidFill>
                          <a:latin typeface="Times New Roman" panose="02020603050405020304" pitchFamily="18" charset="0"/>
                          <a:cs typeface="Times New Roman" panose="02020603050405020304" pitchFamily="18" charset="0"/>
                        </a:rPr>
                        <a:t>Tariff not adopted by CERC.</a:t>
                      </a:r>
                    </a:p>
                  </a:txBody>
                  <a:tcPr anchor="ctr"/>
                </a:tc>
                <a:extLst>
                  <a:ext uri="{0D108BD9-81ED-4DB2-BD59-A6C34878D82A}">
                    <a16:rowId xmlns:a16="http://schemas.microsoft.com/office/drawing/2014/main" val="2987842036"/>
                  </a:ext>
                </a:extLst>
              </a:tr>
              <a:tr h="308083">
                <a:tc>
                  <a:txBody>
                    <a:bodyPr/>
                    <a:lstStyle/>
                    <a:p>
                      <a:endParaRPr lang="en-IN" sz="1800" b="1"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r>
                        <a:rPr lang="en-IN" sz="1800" b="1" dirty="0">
                          <a:solidFill>
                            <a:schemeClr val="tx1"/>
                          </a:solidFill>
                          <a:latin typeface="Times New Roman" panose="02020603050405020304" pitchFamily="18" charset="0"/>
                          <a:cs typeface="Times New Roman" panose="02020603050405020304" pitchFamily="18" charset="0"/>
                        </a:rPr>
                        <a:t>Total</a:t>
                      </a:r>
                    </a:p>
                  </a:txBody>
                  <a:tcPr anchor="ct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100</a:t>
                      </a:r>
                    </a:p>
                  </a:txBody>
                  <a:tcPr anchor="ctr"/>
                </a:tc>
                <a:tc>
                  <a:txBody>
                    <a:bodyPr/>
                    <a:lstStyle/>
                    <a:p>
                      <a:pPr algn="ctr"/>
                      <a:r>
                        <a:rPr lang="en-IN" sz="1800" b="1" dirty="0">
                          <a:solidFill>
                            <a:schemeClr val="tx1"/>
                          </a:solidFill>
                          <a:latin typeface="Times New Roman" panose="02020603050405020304" pitchFamily="18" charset="0"/>
                          <a:cs typeface="Times New Roman" panose="02020603050405020304" pitchFamily="18" charset="0"/>
                        </a:rPr>
                        <a:t>0</a:t>
                      </a:r>
                    </a:p>
                  </a:txBody>
                  <a:tcPr anchor="ctr"/>
                </a:tc>
                <a:tc>
                  <a:txBody>
                    <a:bodyPr/>
                    <a:lstStyle/>
                    <a:p>
                      <a:endParaRPr lang="en-IN" sz="180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42266177"/>
                  </a:ext>
                </a:extLst>
              </a:tr>
            </a:tbl>
          </a:graphicData>
        </a:graphic>
      </p:graphicFrame>
      <p:sp>
        <p:nvSpPr>
          <p:cNvPr id="3" name="TextBox 2">
            <a:extLst>
              <a:ext uri="{FF2B5EF4-FFF2-40B4-BE49-F238E27FC236}">
                <a16:creationId xmlns:a16="http://schemas.microsoft.com/office/drawing/2014/main" id="{04075DAF-33C1-9A4C-E22C-71E7B958CB31}"/>
              </a:ext>
            </a:extLst>
          </p:cNvPr>
          <p:cNvSpPr txBox="1"/>
          <p:nvPr/>
        </p:nvSpPr>
        <p:spPr>
          <a:xfrm>
            <a:off x="8602133" y="6172200"/>
            <a:ext cx="1261534" cy="369332"/>
          </a:xfrm>
          <a:prstGeom prst="rect">
            <a:avLst/>
          </a:prstGeom>
          <a:noFill/>
        </p:spPr>
        <p:txBody>
          <a:bodyPr wrap="square" rtlCol="0">
            <a:spAutoFit/>
          </a:bodyPr>
          <a:lstStyle/>
          <a:p>
            <a:r>
              <a:rPr lang="en-US" dirty="0">
                <a:hlinkClick r:id="rId3" action="ppaction://hlinksldjump"/>
              </a:rPr>
              <a:t>Back</a:t>
            </a:r>
            <a:endParaRPr lang="en-IN" dirty="0"/>
          </a:p>
        </p:txBody>
      </p:sp>
    </p:spTree>
    <p:extLst>
      <p:ext uri="{BB962C8B-B14F-4D97-AF65-F5344CB8AC3E}">
        <p14:creationId xmlns:p14="http://schemas.microsoft.com/office/powerpoint/2010/main" val="39881201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AB10C-E080-6D7A-4220-AD79AD0ED15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0D1727-61AF-E2AD-B01B-A9B5FD6E4254}"/>
              </a:ext>
            </a:extLst>
          </p:cNvPr>
          <p:cNvSpPr>
            <a:spLocks noGrp="1"/>
          </p:cNvSpPr>
          <p:nvPr>
            <p:ph idx="1"/>
          </p:nvPr>
        </p:nvSpPr>
        <p:spPr>
          <a:xfrm>
            <a:off x="159434" y="877987"/>
            <a:ext cx="11873132" cy="5853399"/>
          </a:xfrm>
        </p:spPr>
        <p:txBody>
          <a:bodyPr>
            <a:normAutofit/>
          </a:bodyPr>
          <a:lstStyle/>
          <a:p>
            <a:pPr marL="0" indent="0">
              <a:buNone/>
            </a:pPr>
            <a:endParaRPr lang="en-US" sz="2400" i="1" u="sng" dirty="0">
              <a:solidFill>
                <a:schemeClr val="accent1">
                  <a:lumMod val="75000"/>
                </a:schemeClr>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400" i="1" u="sng" dirty="0">
              <a:solidFill>
                <a:schemeClr val="accent1">
                  <a:lumMod val="75000"/>
                </a:schemeClr>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buNone/>
            </a:pPr>
            <a:endParaRPr lang="en-US" dirty="0">
              <a:solidFill>
                <a:srgbClr val="000000"/>
              </a:solidFill>
              <a:latin typeface="Arial" panose="020B0604020202020204" pitchFamily="34" charset="0"/>
            </a:endParaRPr>
          </a:p>
        </p:txBody>
      </p:sp>
      <p:sp>
        <p:nvSpPr>
          <p:cNvPr id="4" name="TextBox 3">
            <a:extLst>
              <a:ext uri="{FF2B5EF4-FFF2-40B4-BE49-F238E27FC236}">
                <a16:creationId xmlns:a16="http://schemas.microsoft.com/office/drawing/2014/main" id="{E54F640F-31D7-E9FC-9F23-A0EA9578D59C}"/>
              </a:ext>
            </a:extLst>
          </p:cNvPr>
          <p:cNvSpPr txBox="1"/>
          <p:nvPr/>
        </p:nvSpPr>
        <p:spPr>
          <a:xfrm>
            <a:off x="159434" y="262155"/>
            <a:ext cx="12192000" cy="523220"/>
          </a:xfrm>
          <a:prstGeom prst="rect">
            <a:avLst/>
          </a:prstGeom>
          <a:noFill/>
        </p:spPr>
        <p:txBody>
          <a:bodyPr wrap="square" rtlCol="0">
            <a:spAutoFit/>
          </a:bodyPr>
          <a:lstStyle/>
          <a:p>
            <a:r>
              <a:rPr lang="en-US" sz="2800" dirty="0">
                <a:ln w="0"/>
                <a:solidFill>
                  <a:schemeClr val="accent1"/>
                </a:solidFill>
                <a:effectLst>
                  <a:outerShdw blurRad="38100" dist="25400" dir="5400000" algn="ctr" rotWithShape="0">
                    <a:srgbClr val="6E747A">
                      <a:alpha val="43000"/>
                    </a:srgbClr>
                  </a:outerShdw>
                </a:effectLst>
              </a:rPr>
              <a:t>I</a:t>
            </a:r>
            <a:r>
              <a:rPr lang="en-IN" sz="2800" dirty="0">
                <a:ln w="0"/>
                <a:solidFill>
                  <a:schemeClr val="accent1"/>
                </a:solidFill>
                <a:effectLst>
                  <a:outerShdw blurRad="38100" dist="25400" dir="5400000" algn="ctr" rotWithShape="0">
                    <a:srgbClr val="6E747A">
                      <a:alpha val="43000"/>
                    </a:srgbClr>
                  </a:outerShdw>
                </a:effectLst>
              </a:rPr>
              <a:t>STS WIND POWER PROJECTS – </a:t>
            </a:r>
            <a:r>
              <a:rPr lang="en-US" sz="2800" dirty="0">
                <a:ln w="0"/>
                <a:solidFill>
                  <a:schemeClr val="accent1"/>
                </a:solidFill>
                <a:effectLst>
                  <a:outerShdw blurRad="38100" dist="25400" dir="5400000" algn="ctr" rotWithShape="0">
                    <a:srgbClr val="6E747A">
                      <a:alpha val="43000"/>
                    </a:srgbClr>
                  </a:outerShdw>
                </a:effectLst>
              </a:rPr>
              <a:t>Terminated Capacity</a:t>
            </a:r>
            <a:endParaRPr lang="en-GB" sz="2800" dirty="0">
              <a:ln w="0"/>
              <a:solidFill>
                <a:schemeClr val="accent1"/>
              </a:solidFill>
              <a:effectLst>
                <a:outerShdw blurRad="38100" dist="25400" dir="5400000" algn="ctr" rotWithShape="0">
                  <a:srgbClr val="6E747A">
                    <a:alpha val="43000"/>
                  </a:srgbClr>
                </a:outerShdw>
              </a:effectLst>
            </a:endParaRPr>
          </a:p>
        </p:txBody>
      </p:sp>
      <p:cxnSp>
        <p:nvCxnSpPr>
          <p:cNvPr id="6" name="Straight Connector 5">
            <a:extLst>
              <a:ext uri="{FF2B5EF4-FFF2-40B4-BE49-F238E27FC236}">
                <a16:creationId xmlns:a16="http://schemas.microsoft.com/office/drawing/2014/main" id="{F3B084E7-E4D1-9E2E-8D8E-7E2B50C0D6DF}"/>
              </a:ext>
            </a:extLst>
          </p:cNvPr>
          <p:cNvCxnSpPr/>
          <p:nvPr/>
        </p:nvCxnSpPr>
        <p:spPr>
          <a:xfrm>
            <a:off x="0" y="844062"/>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7" name="Table 6">
            <a:extLst>
              <a:ext uri="{FF2B5EF4-FFF2-40B4-BE49-F238E27FC236}">
                <a16:creationId xmlns:a16="http://schemas.microsoft.com/office/drawing/2014/main" id="{1D7D2E28-5359-7522-E6B1-06F84F0BCAF5}"/>
              </a:ext>
            </a:extLst>
          </p:cNvPr>
          <p:cNvGraphicFramePr>
            <a:graphicFrameLocks noGrp="1"/>
          </p:cNvGraphicFramePr>
          <p:nvPr>
            <p:extLst>
              <p:ext uri="{D42A27DB-BD31-4B8C-83A1-F6EECF244321}">
                <p14:modId xmlns:p14="http://schemas.microsoft.com/office/powerpoint/2010/main" val="1624786278"/>
              </p:ext>
            </p:extLst>
          </p:nvPr>
        </p:nvGraphicFramePr>
        <p:xfrm>
          <a:off x="159434" y="902749"/>
          <a:ext cx="11873132" cy="5550411"/>
        </p:xfrm>
        <a:graphic>
          <a:graphicData uri="http://schemas.openxmlformats.org/drawingml/2006/table">
            <a:tbl>
              <a:tblPr firstRow="1" firstCol="1" bandRow="1">
                <a:tableStyleId>{5C22544A-7EE6-4342-B048-85BDC9FD1C3A}</a:tableStyleId>
              </a:tblPr>
              <a:tblGrid>
                <a:gridCol w="1452800">
                  <a:extLst>
                    <a:ext uri="{9D8B030D-6E8A-4147-A177-3AD203B41FA5}">
                      <a16:colId xmlns:a16="http://schemas.microsoft.com/office/drawing/2014/main" val="1250168329"/>
                    </a:ext>
                  </a:extLst>
                </a:gridCol>
                <a:gridCol w="806115">
                  <a:extLst>
                    <a:ext uri="{9D8B030D-6E8A-4147-A177-3AD203B41FA5}">
                      <a16:colId xmlns:a16="http://schemas.microsoft.com/office/drawing/2014/main" val="1001609873"/>
                    </a:ext>
                  </a:extLst>
                </a:gridCol>
                <a:gridCol w="4020551">
                  <a:extLst>
                    <a:ext uri="{9D8B030D-6E8A-4147-A177-3AD203B41FA5}">
                      <a16:colId xmlns:a16="http://schemas.microsoft.com/office/drawing/2014/main" val="4106092788"/>
                    </a:ext>
                  </a:extLst>
                </a:gridCol>
                <a:gridCol w="1524000">
                  <a:extLst>
                    <a:ext uri="{9D8B030D-6E8A-4147-A177-3AD203B41FA5}">
                      <a16:colId xmlns:a16="http://schemas.microsoft.com/office/drawing/2014/main" val="666863305"/>
                    </a:ext>
                  </a:extLst>
                </a:gridCol>
                <a:gridCol w="1181100">
                  <a:extLst>
                    <a:ext uri="{9D8B030D-6E8A-4147-A177-3AD203B41FA5}">
                      <a16:colId xmlns:a16="http://schemas.microsoft.com/office/drawing/2014/main" val="4229572982"/>
                    </a:ext>
                  </a:extLst>
                </a:gridCol>
                <a:gridCol w="1765300">
                  <a:extLst>
                    <a:ext uri="{9D8B030D-6E8A-4147-A177-3AD203B41FA5}">
                      <a16:colId xmlns:a16="http://schemas.microsoft.com/office/drawing/2014/main" val="3477274156"/>
                    </a:ext>
                  </a:extLst>
                </a:gridCol>
                <a:gridCol w="1123266">
                  <a:extLst>
                    <a:ext uri="{9D8B030D-6E8A-4147-A177-3AD203B41FA5}">
                      <a16:colId xmlns:a16="http://schemas.microsoft.com/office/drawing/2014/main" val="2409257564"/>
                    </a:ext>
                  </a:extLst>
                </a:gridCol>
              </a:tblGrid>
              <a:tr h="419935">
                <a:tc>
                  <a:txBody>
                    <a:bodyPr/>
                    <a:lstStyle/>
                    <a:p>
                      <a:pPr algn="ctr" fontAlgn="ctr"/>
                      <a:r>
                        <a:rPr lang="en-IN" sz="1200" u="none" strike="noStrike" dirty="0">
                          <a:effectLst/>
                        </a:rPr>
                        <a:t>Status</a:t>
                      </a:r>
                      <a:endParaRPr lang="en-IN" sz="1200" b="1"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Tranche</a:t>
                      </a:r>
                      <a:endParaRPr lang="en-IN" sz="1200" b="1"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US" sz="1200" u="none" strike="noStrike" dirty="0">
                          <a:effectLst/>
                        </a:rPr>
                        <a:t>WPD</a:t>
                      </a:r>
                      <a:endParaRPr lang="en-US" sz="1200" b="1"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State</a:t>
                      </a:r>
                      <a:endParaRPr lang="en-IN" sz="1200" b="1"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PPA Capacity</a:t>
                      </a:r>
                      <a:br>
                        <a:rPr lang="en-IN" sz="1200" u="none" strike="noStrike" dirty="0">
                          <a:effectLst/>
                        </a:rPr>
                      </a:br>
                      <a:r>
                        <a:rPr lang="en-IN" sz="1200" u="none" strike="noStrike" dirty="0">
                          <a:effectLst/>
                        </a:rPr>
                        <a:t>(MW)</a:t>
                      </a:r>
                      <a:endParaRPr lang="en-IN" sz="1200" b="1"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Commissioned Capacity</a:t>
                      </a:r>
                      <a:br>
                        <a:rPr lang="en-IN" sz="1200" u="none" strike="noStrike" dirty="0">
                          <a:effectLst/>
                        </a:rPr>
                      </a:br>
                      <a:r>
                        <a:rPr lang="en-IN" sz="1200" u="none" strike="noStrike" dirty="0">
                          <a:effectLst/>
                        </a:rPr>
                        <a:t>(MW)</a:t>
                      </a:r>
                      <a:endParaRPr lang="en-IN" sz="1200" b="1"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Terminated</a:t>
                      </a:r>
                      <a:br>
                        <a:rPr lang="en-IN" sz="1200" u="none" strike="noStrike" dirty="0">
                          <a:effectLst/>
                        </a:rPr>
                      </a:br>
                      <a:r>
                        <a:rPr lang="en-IN" sz="1200" u="none" strike="noStrike" dirty="0">
                          <a:effectLst/>
                        </a:rPr>
                        <a:t>(MW)</a:t>
                      </a:r>
                      <a:endParaRPr lang="en-IN" sz="1200" b="1" i="0" u="none" strike="noStrike" dirty="0">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4123478905"/>
                  </a:ext>
                </a:extLst>
              </a:tr>
              <a:tr h="413719">
                <a:tc rowSpan="3">
                  <a:txBody>
                    <a:bodyPr/>
                    <a:lstStyle/>
                    <a:p>
                      <a:pPr algn="ctr" fontAlgn="ctr"/>
                      <a:r>
                        <a:rPr lang="en-US" sz="1200" u="none" strike="noStrike" dirty="0">
                          <a:effectLst/>
                        </a:rPr>
                        <a:t>CAPACITY NOT INSTALLED BY WPD</a:t>
                      </a:r>
                    </a:p>
                  </a:txBody>
                  <a:tcPr marL="2290" marR="2290" marT="2290" marB="0" anchor="ctr"/>
                </a:tc>
                <a:tc>
                  <a:txBody>
                    <a:bodyPr/>
                    <a:lstStyle/>
                    <a:p>
                      <a:pPr algn="ctr" fontAlgn="ctr"/>
                      <a:r>
                        <a:rPr lang="en-IN" sz="1200" u="none" strike="noStrike" dirty="0">
                          <a:effectLst/>
                        </a:rPr>
                        <a:t>I</a:t>
                      </a:r>
                      <a:endParaRPr lang="en-IN"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US" sz="1200" u="none" strike="noStrike" dirty="0">
                          <a:effectLst/>
                        </a:rPr>
                        <a:t>Wind Four Renergy </a:t>
                      </a:r>
                      <a:r>
                        <a:rPr lang="en-IN" sz="1200" u="none" strike="noStrike" dirty="0">
                          <a:effectLst/>
                        </a:rPr>
                        <a:t>Pvt Ltd </a:t>
                      </a:r>
                    </a:p>
                    <a:p>
                      <a:pPr algn="ctr" fontAlgn="ctr"/>
                      <a:r>
                        <a:rPr lang="en-US" sz="1200" b="0" i="0" u="none" strike="noStrike" dirty="0">
                          <a:solidFill>
                            <a:srgbClr val="000000"/>
                          </a:solidFill>
                          <a:effectLst/>
                          <a:latin typeface="Aptos Narrow" panose="020B0004020202020204" pitchFamily="34" charset="0"/>
                        </a:rPr>
                        <a:t>(SPV of M/s Inox)</a:t>
                      </a:r>
                    </a:p>
                  </a:txBody>
                  <a:tcPr marL="2290" marR="2290" marT="2290" marB="0" anchor="ctr"/>
                </a:tc>
                <a:tc>
                  <a:txBody>
                    <a:bodyPr/>
                    <a:lstStyle/>
                    <a:p>
                      <a:pPr algn="ctr" fontAlgn="ctr"/>
                      <a:r>
                        <a:rPr lang="en-IN" sz="1200" u="none" strike="noStrike">
                          <a:effectLst/>
                        </a:rPr>
                        <a:t>Gujarat</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50</a:t>
                      </a:r>
                      <a:endParaRPr lang="en-IN"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50</a:t>
                      </a:r>
                      <a:endParaRPr lang="en-IN" sz="1200" b="0" i="0" u="none" strike="noStrike">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666345626"/>
                  </a:ext>
                </a:extLst>
              </a:tr>
              <a:tr h="208263">
                <a:tc vMerge="1">
                  <a:txBody>
                    <a:bodyPr/>
                    <a:lstStyle/>
                    <a:p>
                      <a:endParaRPr/>
                    </a:p>
                  </a:txBody>
                  <a:tcPr marL="2290" marR="2290" marT="2290" marB="0" anchor="ctr"/>
                </a:tc>
                <a:tc>
                  <a:txBody>
                    <a:bodyPr/>
                    <a:lstStyle/>
                    <a:p>
                      <a:pPr algn="ctr" fontAlgn="ctr"/>
                      <a:r>
                        <a:rPr lang="en-IN" sz="1200" u="none" strike="noStrike">
                          <a:effectLst/>
                        </a:rPr>
                        <a:t>II</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ReNew Power Pvt Ltd</a:t>
                      </a:r>
                      <a:endParaRPr lang="en-IN"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Gujarat</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250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230.1</a:t>
                      </a:r>
                      <a:endParaRPr lang="en-IN"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19.9</a:t>
                      </a:r>
                      <a:endParaRPr lang="en-IN" sz="1200" b="0" i="0" u="none" strike="noStrike">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3365238231"/>
                  </a:ext>
                </a:extLst>
              </a:tr>
              <a:tr h="413719">
                <a:tc vMerge="1">
                  <a:txBody>
                    <a:bodyPr/>
                    <a:lstStyle/>
                    <a:p>
                      <a:endParaRPr dirty="0"/>
                    </a:p>
                  </a:txBody>
                  <a:tcPr marL="2290" marR="2290" marT="2290" marB="0" anchor="ctr"/>
                </a:tc>
                <a:tc>
                  <a:txBody>
                    <a:bodyPr/>
                    <a:lstStyle/>
                    <a:p>
                      <a:pPr algn="ctr" fontAlgn="ctr"/>
                      <a:r>
                        <a:rPr lang="en-IN" sz="1200" u="none" strike="noStrike">
                          <a:effectLst/>
                        </a:rPr>
                        <a:t>II</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Inox Clean Energy Ltd </a:t>
                      </a:r>
                    </a:p>
                    <a:p>
                      <a:pPr algn="ctr" fontAlgn="ctr"/>
                      <a:r>
                        <a:rPr lang="en-US" sz="1200" b="0" i="0" u="none" strike="noStrike" dirty="0">
                          <a:solidFill>
                            <a:srgbClr val="000000"/>
                          </a:solidFill>
                          <a:effectLst/>
                          <a:latin typeface="Aptos Narrow" panose="020B0004020202020204" pitchFamily="34" charset="0"/>
                        </a:rPr>
                        <a:t>(SPV of M/s Inox)</a:t>
                      </a:r>
                    </a:p>
                  </a:txBody>
                  <a:tcPr marL="2290" marR="2290" marT="2290" marB="0" anchor="ctr"/>
                </a:tc>
                <a:tc>
                  <a:txBody>
                    <a:bodyPr/>
                    <a:lstStyle/>
                    <a:p>
                      <a:pPr algn="ctr" fontAlgn="ctr"/>
                      <a:r>
                        <a:rPr lang="en-IN" sz="1200" u="none" strike="noStrike">
                          <a:effectLst/>
                        </a:rPr>
                        <a:t>Gujarat</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50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30</a:t>
                      </a:r>
                      <a:endParaRPr lang="en-IN"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20</a:t>
                      </a:r>
                      <a:endParaRPr lang="en-IN" sz="1200" b="0" i="0" u="none" strike="noStrike">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3657626678"/>
                  </a:ext>
                </a:extLst>
              </a:tr>
              <a:tr h="413719">
                <a:tc rowSpan="4">
                  <a:txBody>
                    <a:bodyPr/>
                    <a:lstStyle/>
                    <a:p>
                      <a:pPr algn="ctr" fontAlgn="ctr"/>
                      <a:r>
                        <a:rPr lang="en-IN" sz="1200" u="none" strike="noStrike" dirty="0">
                          <a:effectLst/>
                        </a:rPr>
                        <a:t>UNILATERALLY TERMINATED</a:t>
                      </a:r>
                    </a:p>
                  </a:txBody>
                  <a:tcPr marL="2290" marR="2290" marT="2290" marB="0" anchor="ctr"/>
                </a:tc>
                <a:tc>
                  <a:txBody>
                    <a:bodyPr/>
                    <a:lstStyle/>
                    <a:p>
                      <a:pPr algn="ctr" fontAlgn="ctr"/>
                      <a:r>
                        <a:rPr lang="en-IN" sz="1200" u="none" strike="noStrike">
                          <a:effectLst/>
                        </a:rPr>
                        <a:t>II</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Haroda Wind Energy Pvt Ltd </a:t>
                      </a:r>
                    </a:p>
                    <a:p>
                      <a:pPr algn="ctr" fontAlgn="ctr"/>
                      <a:r>
                        <a:rPr lang="en-US" sz="1200" b="0" i="0" u="none" strike="noStrike" dirty="0">
                          <a:solidFill>
                            <a:srgbClr val="000000"/>
                          </a:solidFill>
                          <a:effectLst/>
                          <a:latin typeface="Aptos Narrow" panose="020B0004020202020204" pitchFamily="34" charset="0"/>
                        </a:rPr>
                        <a:t>(SPV of M/s Inox)</a:t>
                      </a:r>
                    </a:p>
                  </a:txBody>
                  <a:tcPr marL="2290" marR="2290" marT="2290" marB="0" anchor="ctr"/>
                </a:tc>
                <a:tc>
                  <a:txBody>
                    <a:bodyPr/>
                    <a:lstStyle/>
                    <a:p>
                      <a:pPr algn="ctr" fontAlgn="ctr"/>
                      <a:r>
                        <a:rPr lang="en-IN" sz="1200" u="none" strike="noStrike">
                          <a:effectLst/>
                        </a:rPr>
                        <a:t>Gujarat</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50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50</a:t>
                      </a:r>
                      <a:endParaRPr lang="en-IN" sz="1200" b="0" i="0" u="none" strike="noStrike" dirty="0">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2776974059"/>
                  </a:ext>
                </a:extLst>
              </a:tr>
              <a:tr h="413719">
                <a:tc vMerge="1">
                  <a:txBody>
                    <a:bodyPr/>
                    <a:lstStyle/>
                    <a:p>
                      <a:endParaRPr/>
                    </a:p>
                  </a:txBody>
                  <a:tcPr marL="2290" marR="2290" marT="2290" marB="0" anchor="ctr"/>
                </a:tc>
                <a:tc>
                  <a:txBody>
                    <a:bodyPr/>
                    <a:lstStyle/>
                    <a:p>
                      <a:pPr algn="ctr" fontAlgn="ctr"/>
                      <a:r>
                        <a:rPr lang="en-IN" sz="1200" u="none" strike="noStrike">
                          <a:effectLst/>
                        </a:rPr>
                        <a:t>II</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US" sz="1200" u="none" strike="noStrike" dirty="0">
                          <a:effectLst/>
                        </a:rPr>
                        <a:t>Khatiyu Wind Energy </a:t>
                      </a:r>
                      <a:r>
                        <a:rPr lang="en-IN" sz="1200" u="none" strike="noStrike" dirty="0">
                          <a:effectLst/>
                        </a:rPr>
                        <a:t>Pvt Ltd </a:t>
                      </a:r>
                    </a:p>
                    <a:p>
                      <a:pPr algn="ctr" fontAlgn="ctr"/>
                      <a:r>
                        <a:rPr lang="en-US" sz="1200" b="0" i="0" u="none" strike="noStrike" dirty="0">
                          <a:solidFill>
                            <a:srgbClr val="000000"/>
                          </a:solidFill>
                          <a:effectLst/>
                          <a:latin typeface="Aptos Narrow" panose="020B0004020202020204" pitchFamily="34" charset="0"/>
                        </a:rPr>
                        <a:t>(SPV of M/s Inox)</a:t>
                      </a:r>
                    </a:p>
                  </a:txBody>
                  <a:tcPr marL="2290" marR="2290" marT="2290" marB="0" anchor="ctr"/>
                </a:tc>
                <a:tc>
                  <a:txBody>
                    <a:bodyPr/>
                    <a:lstStyle/>
                    <a:p>
                      <a:pPr algn="ctr" fontAlgn="ctr"/>
                      <a:r>
                        <a:rPr lang="en-IN" sz="1200" u="none" strike="noStrike">
                          <a:effectLst/>
                        </a:rPr>
                        <a:t>Gujarat</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50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50</a:t>
                      </a:r>
                      <a:endParaRPr lang="en-IN" sz="1200" b="0" i="0" u="none" strike="noStrike" dirty="0">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2149051079"/>
                  </a:ext>
                </a:extLst>
              </a:tr>
              <a:tr h="413719">
                <a:tc vMerge="1">
                  <a:txBody>
                    <a:bodyPr/>
                    <a:lstStyle/>
                    <a:p>
                      <a:endParaRPr/>
                    </a:p>
                  </a:txBody>
                  <a:tcPr marL="2290" marR="2290" marT="2290" marB="0" anchor="ctr"/>
                </a:tc>
                <a:tc>
                  <a:txBody>
                    <a:bodyPr/>
                    <a:lstStyle/>
                    <a:p>
                      <a:pPr algn="ctr" fontAlgn="ctr"/>
                      <a:r>
                        <a:rPr lang="en-IN" sz="1200" u="none" strike="noStrike">
                          <a:effectLst/>
                        </a:rPr>
                        <a:t>II</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US" sz="1200" u="none" strike="noStrike" dirty="0">
                          <a:effectLst/>
                        </a:rPr>
                        <a:t>Vigodi Wind Energy </a:t>
                      </a:r>
                      <a:r>
                        <a:rPr lang="en-IN" sz="1200" u="none" strike="noStrike" dirty="0">
                          <a:effectLst/>
                        </a:rPr>
                        <a:t>Pvt Ltd </a:t>
                      </a:r>
                    </a:p>
                    <a:p>
                      <a:pPr algn="ctr" fontAlgn="ctr"/>
                      <a:r>
                        <a:rPr lang="en-US" sz="1200" b="0" i="0" u="none" strike="noStrike" dirty="0">
                          <a:solidFill>
                            <a:srgbClr val="000000"/>
                          </a:solidFill>
                          <a:effectLst/>
                          <a:latin typeface="Aptos Narrow" panose="020B0004020202020204" pitchFamily="34" charset="0"/>
                        </a:rPr>
                        <a:t>(SPV of M/s Inox)</a:t>
                      </a:r>
                    </a:p>
                  </a:txBody>
                  <a:tcPr marL="2290" marR="2290" marT="2290" marB="0" anchor="ctr"/>
                </a:tc>
                <a:tc>
                  <a:txBody>
                    <a:bodyPr/>
                    <a:lstStyle/>
                    <a:p>
                      <a:pPr algn="ctr" fontAlgn="ctr"/>
                      <a:r>
                        <a:rPr lang="en-IN" sz="1200" u="none" strike="noStrike">
                          <a:effectLst/>
                        </a:rPr>
                        <a:t>Gujarat</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50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50</a:t>
                      </a:r>
                      <a:endParaRPr lang="en-IN" sz="1200" b="0" i="0" u="none" strike="noStrike" dirty="0">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571083683"/>
                  </a:ext>
                </a:extLst>
              </a:tr>
              <a:tr h="70758">
                <a:tc vMerge="1">
                  <a:txBody>
                    <a:bodyPr/>
                    <a:lstStyle/>
                    <a:p>
                      <a:endParaRPr dirty="0"/>
                    </a:p>
                  </a:txBody>
                  <a:tcPr marL="2290" marR="2290" marT="2290" marB="0" anchor="ctr"/>
                </a:tc>
                <a:tc>
                  <a:txBody>
                    <a:bodyPr/>
                    <a:lstStyle/>
                    <a:p>
                      <a:pPr algn="ctr" fontAlgn="ctr"/>
                      <a:r>
                        <a:rPr lang="en-IN" sz="1200" u="none" strike="noStrike">
                          <a:effectLst/>
                        </a:rPr>
                        <a:t>II</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US" sz="1200" u="none" strike="noStrike" dirty="0">
                          <a:effectLst/>
                        </a:rPr>
                        <a:t>Ravapar Wind Energy </a:t>
                      </a:r>
                      <a:r>
                        <a:rPr lang="en-IN" sz="1200" u="none" strike="noStrike" dirty="0">
                          <a:effectLst/>
                        </a:rPr>
                        <a:t>Pvt Ltd </a:t>
                      </a:r>
                    </a:p>
                    <a:p>
                      <a:pPr algn="ctr" fontAlgn="ctr"/>
                      <a:r>
                        <a:rPr lang="en-US" sz="1200" b="0" i="0" u="none" strike="noStrike" dirty="0">
                          <a:solidFill>
                            <a:srgbClr val="000000"/>
                          </a:solidFill>
                          <a:effectLst/>
                          <a:latin typeface="Aptos Narrow" panose="020B0004020202020204" pitchFamily="34" charset="0"/>
                        </a:rPr>
                        <a:t>(SPV of M/s Inox)</a:t>
                      </a:r>
                    </a:p>
                  </a:txBody>
                  <a:tcPr marL="2290" marR="2290" marT="2290" marB="0" anchor="ctr"/>
                </a:tc>
                <a:tc>
                  <a:txBody>
                    <a:bodyPr/>
                    <a:lstStyle/>
                    <a:p>
                      <a:pPr algn="ctr" fontAlgn="ctr"/>
                      <a:r>
                        <a:rPr lang="en-IN" sz="1200" u="none" strike="noStrike">
                          <a:effectLst/>
                        </a:rPr>
                        <a:t>Gujarat</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50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50</a:t>
                      </a:r>
                      <a:endParaRPr lang="en-IN" sz="1200" b="0" i="0" u="none" strike="noStrike" dirty="0">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3251793755"/>
                  </a:ext>
                </a:extLst>
              </a:tr>
              <a:tr h="126939">
                <a:tc rowSpan="8">
                  <a:txBody>
                    <a:bodyPr/>
                    <a:lstStyle/>
                    <a:p>
                      <a:pPr algn="ctr" fontAlgn="ctr"/>
                      <a:r>
                        <a:rPr lang="en-US" sz="1200" u="none" strike="noStrike" dirty="0">
                          <a:effectLst/>
                        </a:rPr>
                        <a:t>CAPACITY NOT INSTALLED BY WPD</a:t>
                      </a:r>
                    </a:p>
                  </a:txBody>
                  <a:tcPr marL="2290" marR="2290" marT="2290" marB="0" anchor="ctr"/>
                </a:tc>
                <a:tc>
                  <a:txBody>
                    <a:bodyPr/>
                    <a:lstStyle/>
                    <a:p>
                      <a:pPr algn="ctr" fontAlgn="ctr"/>
                      <a:r>
                        <a:rPr lang="en-IN" sz="1200" u="none" strike="noStrike">
                          <a:effectLst/>
                        </a:rPr>
                        <a:t>IV</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US" sz="1200" u="none" strike="noStrike" dirty="0">
                          <a:effectLst/>
                        </a:rPr>
                        <a:t>Adani Wind Energy Kutchh Two Ltd</a:t>
                      </a:r>
                      <a:endParaRPr lang="en-US"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Gujarat</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300</a:t>
                      </a:r>
                      <a:endParaRPr lang="en-IN"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300</a:t>
                      </a:r>
                      <a:endParaRPr lang="en-IN" sz="1200" b="0" i="0" u="none" strike="noStrike">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750619798"/>
                  </a:ext>
                </a:extLst>
              </a:tr>
              <a:tr h="208263">
                <a:tc vMerge="1">
                  <a:txBody>
                    <a:bodyPr/>
                    <a:lstStyle/>
                    <a:p>
                      <a:endParaRPr/>
                    </a:p>
                  </a:txBody>
                  <a:tcPr marL="2290" marR="2290" marT="2290" marB="0" anchor="ctr"/>
                </a:tc>
                <a:tc>
                  <a:txBody>
                    <a:bodyPr/>
                    <a:lstStyle/>
                    <a:p>
                      <a:pPr algn="ctr" fontAlgn="ctr"/>
                      <a:r>
                        <a:rPr lang="en-IN" sz="1200" u="none" strike="noStrike">
                          <a:effectLst/>
                        </a:rPr>
                        <a:t>IV</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err="1">
                          <a:effectLst/>
                        </a:rPr>
                        <a:t>Avikiran</a:t>
                      </a:r>
                      <a:r>
                        <a:rPr lang="en-IN" sz="1200" u="none" strike="noStrike" dirty="0">
                          <a:effectLst/>
                        </a:rPr>
                        <a:t> Solar India Pvt Ltd</a:t>
                      </a:r>
                      <a:endParaRPr lang="en-IN"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Gujarat</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285</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165.9</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117</a:t>
                      </a:r>
                      <a:endParaRPr lang="en-IN" sz="1200" b="0" i="0" u="none" strike="noStrike" dirty="0">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3554401251"/>
                  </a:ext>
                </a:extLst>
              </a:tr>
              <a:tr h="0">
                <a:tc vMerge="1">
                  <a:txBody>
                    <a:bodyPr/>
                    <a:lstStyle/>
                    <a:p>
                      <a:endParaRPr/>
                    </a:p>
                  </a:txBody>
                  <a:tcPr marL="2290" marR="2290" marT="2290" marB="0" anchor="ctr"/>
                </a:tc>
                <a:tc>
                  <a:txBody>
                    <a:bodyPr/>
                    <a:lstStyle/>
                    <a:p>
                      <a:pPr algn="ctr" fontAlgn="ctr"/>
                      <a:r>
                        <a:rPr lang="en-IN" sz="1200" u="none" strike="noStrike">
                          <a:effectLst/>
                        </a:rPr>
                        <a:t>IV</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Vivid Solaire Energy Pvt Ltd</a:t>
                      </a:r>
                      <a:endParaRPr lang="en-IN"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Tamil Nadu</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200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168</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32</a:t>
                      </a:r>
                      <a:endParaRPr lang="en-IN" sz="1200" b="0" i="0" u="none" strike="noStrike" dirty="0">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2327029765"/>
                  </a:ext>
                </a:extLst>
              </a:tr>
              <a:tr h="0">
                <a:tc vMerge="1">
                  <a:txBody>
                    <a:bodyPr/>
                    <a:lstStyle/>
                    <a:p>
                      <a:endParaRPr/>
                    </a:p>
                  </a:txBody>
                  <a:tcPr marL="2290" marR="2290" marT="2290" marB="0" anchor="ctr"/>
                </a:tc>
                <a:tc>
                  <a:txBody>
                    <a:bodyPr/>
                    <a:lstStyle/>
                    <a:p>
                      <a:pPr algn="ctr" fontAlgn="ctr"/>
                      <a:r>
                        <a:rPr lang="en-IN" sz="1200" u="none" strike="noStrike">
                          <a:effectLst/>
                        </a:rPr>
                        <a:t>IV</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US" sz="1200" u="none" strike="noStrike" dirty="0">
                          <a:effectLst/>
                        </a:rPr>
                        <a:t>Continuum Power Trading (TN) Pvt Ltd</a:t>
                      </a:r>
                      <a:endParaRPr lang="en-US"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Gujarat</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250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88</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124</a:t>
                      </a:r>
                      <a:endParaRPr lang="en-IN" sz="1200" b="0" i="0" u="none" strike="noStrike">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4235177584"/>
                  </a:ext>
                </a:extLst>
              </a:tr>
              <a:tr h="96058">
                <a:tc vMerge="1">
                  <a:txBody>
                    <a:bodyPr/>
                    <a:lstStyle/>
                    <a:p>
                      <a:endParaRPr/>
                    </a:p>
                  </a:txBody>
                  <a:tcPr marL="2290" marR="2290" marT="2290" marB="0" anchor="ctr"/>
                </a:tc>
                <a:tc>
                  <a:txBody>
                    <a:bodyPr/>
                    <a:lstStyle/>
                    <a:p>
                      <a:pPr algn="ctr" fontAlgn="ctr"/>
                      <a:r>
                        <a:rPr lang="en-IN" sz="1200" u="none" strike="noStrike">
                          <a:effectLst/>
                        </a:rPr>
                        <a:t>V</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US" sz="1200" u="none" strike="noStrike" dirty="0">
                          <a:effectLst/>
                        </a:rPr>
                        <a:t>Adani Wind Energy Kutchh Four Ltd</a:t>
                      </a:r>
                      <a:endParaRPr lang="en-US"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Gujarat</a:t>
                      </a:r>
                      <a:endParaRPr lang="en-IN"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300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300</a:t>
                      </a:r>
                      <a:endParaRPr lang="en-IN" sz="1200" b="0" i="0" u="none" strike="noStrike" dirty="0">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3466968"/>
                  </a:ext>
                </a:extLst>
              </a:tr>
              <a:tr h="90995">
                <a:tc vMerge="1">
                  <a:txBody>
                    <a:bodyPr/>
                    <a:lstStyle/>
                    <a:p>
                      <a:endParaRPr/>
                    </a:p>
                  </a:txBody>
                  <a:tcPr marL="2290" marR="2290" marT="2290" marB="0" anchor="ctr"/>
                </a:tc>
                <a:tc>
                  <a:txBody>
                    <a:bodyPr/>
                    <a:lstStyle/>
                    <a:p>
                      <a:pPr algn="ctr" fontAlgn="ctr"/>
                      <a:r>
                        <a:rPr lang="en-IN" sz="1200" u="none" strike="noStrike">
                          <a:effectLst/>
                        </a:rPr>
                        <a:t>V</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Netra Wind Private Limited </a:t>
                      </a:r>
                      <a:endParaRPr lang="en-IN"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Gujarat</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300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206.5</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93.5</a:t>
                      </a:r>
                      <a:endParaRPr lang="en-IN" sz="1200" b="0" i="0" u="none" strike="noStrike">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1867053962"/>
                  </a:ext>
                </a:extLst>
              </a:tr>
              <a:tr h="218793">
                <a:tc vMerge="1">
                  <a:txBody>
                    <a:bodyPr/>
                    <a:lstStyle/>
                    <a:p>
                      <a:endParaRPr/>
                    </a:p>
                  </a:txBody>
                  <a:tcPr marL="2290" marR="2290" marT="2290" marB="0" anchor="ctr"/>
                </a:tc>
                <a:tc>
                  <a:txBody>
                    <a:bodyPr/>
                    <a:lstStyle/>
                    <a:p>
                      <a:pPr algn="ctr" fontAlgn="ctr"/>
                      <a:r>
                        <a:rPr lang="en-IN" sz="1200" u="none" strike="noStrike">
                          <a:effectLst/>
                        </a:rPr>
                        <a:t>VI</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US" sz="1200" u="none" strike="noStrike" dirty="0">
                          <a:effectLst/>
                        </a:rPr>
                        <a:t>Morjar Windfarm Development Pvt Ltd</a:t>
                      </a:r>
                      <a:endParaRPr lang="en-US"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Gujarat</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150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148.5</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1.5</a:t>
                      </a:r>
                      <a:endParaRPr lang="en-IN" sz="1200" b="0" i="0" u="none" strike="noStrike" dirty="0">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1951832725"/>
                  </a:ext>
                </a:extLst>
              </a:tr>
              <a:tr h="0">
                <a:tc vMerge="1">
                  <a:txBody>
                    <a:bodyPr/>
                    <a:lstStyle/>
                    <a:p>
                      <a:endParaRPr dirty="0"/>
                    </a:p>
                  </a:txBody>
                  <a:tcPr marL="2290" marR="2290" marT="2290" marB="0" anchor="ctr"/>
                </a:tc>
                <a:tc>
                  <a:txBody>
                    <a:bodyPr/>
                    <a:lstStyle/>
                    <a:p>
                      <a:pPr algn="ctr" fontAlgn="ctr"/>
                      <a:r>
                        <a:rPr lang="en-IN" sz="1200" u="none" strike="noStrike">
                          <a:effectLst/>
                        </a:rPr>
                        <a:t>VI</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Ostro Kannada Power Pvt Ltd</a:t>
                      </a:r>
                      <a:endParaRPr lang="en-IN"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Karnataka</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300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199.5</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100.5</a:t>
                      </a:r>
                      <a:endParaRPr lang="en-IN" sz="1200" b="0" i="0" u="none" strike="noStrike" dirty="0">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3917340268"/>
                  </a:ext>
                </a:extLst>
              </a:tr>
              <a:tr h="0">
                <a:tc>
                  <a:txBody>
                    <a:bodyPr/>
                    <a:lstStyle/>
                    <a:p>
                      <a:pPr algn="ctr" fontAlgn="ctr"/>
                      <a:r>
                        <a:rPr lang="en-IN" sz="1200" u="none" strike="noStrike" dirty="0">
                          <a:effectLst/>
                        </a:rPr>
                        <a:t>UNILATERALLY TERMINATED</a:t>
                      </a:r>
                      <a:endParaRPr lang="en-IN"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VII</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de-DE" sz="1200" u="none" strike="noStrike" dirty="0">
                          <a:effectLst/>
                        </a:rPr>
                        <a:t>Sprng Wind Energy Pvt Ltd</a:t>
                      </a:r>
                      <a:endParaRPr lang="de-DE" sz="1200" b="0"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Madhya Pradesh</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100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a:effectLst/>
                        </a:rPr>
                        <a:t>0</a:t>
                      </a:r>
                      <a:endParaRPr lang="en-IN" sz="1200" b="0" i="0" u="none" strike="noStrike">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u="none" strike="noStrike" dirty="0">
                          <a:effectLst/>
                        </a:rPr>
                        <a:t>100</a:t>
                      </a:r>
                      <a:endParaRPr lang="en-IN" sz="1200" b="0" i="0" u="none" strike="noStrike" dirty="0">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327394449"/>
                  </a:ext>
                </a:extLst>
              </a:tr>
              <a:tr h="0">
                <a:tc>
                  <a:txBody>
                    <a:bodyPr/>
                    <a:lstStyle/>
                    <a:p>
                      <a:pPr algn="ctr" fontAlgn="ctr"/>
                      <a:r>
                        <a:rPr lang="en-IN" sz="1200" b="1" u="none" strike="noStrike" kern="1200" dirty="0">
                          <a:solidFill>
                            <a:schemeClr val="lt1"/>
                          </a:solidFill>
                          <a:effectLst/>
                          <a:latin typeface="+mn-lt"/>
                          <a:ea typeface="+mn-ea"/>
                          <a:cs typeface="+mn-cs"/>
                        </a:rPr>
                        <a:t>TARIFF NOT ADOPTED BY CERC</a:t>
                      </a:r>
                    </a:p>
                  </a:txBody>
                  <a:tcPr marL="2290" marR="2290" marT="2290" marB="0" anchor="ctr"/>
                </a:tc>
                <a:tc>
                  <a:txBody>
                    <a:bodyPr/>
                    <a:lstStyle/>
                    <a:p>
                      <a:pPr algn="ctr" fontAlgn="ctr"/>
                      <a:r>
                        <a:rPr lang="en-IN" sz="1200" b="0" i="0" u="none" strike="noStrike" dirty="0">
                          <a:solidFill>
                            <a:srgbClr val="000000"/>
                          </a:solidFill>
                          <a:effectLst/>
                          <a:latin typeface="Aptos Narrow" panose="020B0004020202020204" pitchFamily="34" charset="0"/>
                        </a:rPr>
                        <a:t>XVII</a:t>
                      </a:r>
                    </a:p>
                  </a:txBody>
                  <a:tcPr marL="2290" marR="2290" marT="2290" marB="0" anchor="ctr"/>
                </a:tc>
                <a:tc>
                  <a:txBody>
                    <a:bodyPr/>
                    <a:lstStyle/>
                    <a:p>
                      <a:pPr algn="ctr" fontAlgn="ctr"/>
                      <a:r>
                        <a:rPr lang="de-DE" sz="1200" b="0" i="0" u="none" strike="noStrike" dirty="0">
                          <a:solidFill>
                            <a:srgbClr val="000000"/>
                          </a:solidFill>
                          <a:effectLst/>
                          <a:latin typeface="Aptos Narrow" panose="020B0004020202020204" pitchFamily="34" charset="0"/>
                        </a:rPr>
                        <a:t>Adytant Renewables Pvt Ltd</a:t>
                      </a:r>
                    </a:p>
                  </a:txBody>
                  <a:tcPr marL="2290" marR="2290" marT="2290" marB="0" anchor="ctr"/>
                </a:tc>
                <a:tc>
                  <a:txBody>
                    <a:bodyPr/>
                    <a:lstStyle/>
                    <a:p>
                      <a:pPr algn="ctr" fontAlgn="ctr"/>
                      <a:r>
                        <a:rPr lang="en-IN" sz="1200" b="0" i="0" u="none" strike="noStrike" dirty="0">
                          <a:solidFill>
                            <a:srgbClr val="000000"/>
                          </a:solidFill>
                          <a:effectLst/>
                          <a:latin typeface="Aptos Narrow" panose="020B0004020202020204" pitchFamily="34" charset="0"/>
                        </a:rPr>
                        <a:t>Maharashtra</a:t>
                      </a:r>
                    </a:p>
                  </a:txBody>
                  <a:tcPr marL="2290" marR="2290" marT="2290" marB="0" anchor="ctr"/>
                </a:tc>
                <a:tc>
                  <a:txBody>
                    <a:bodyPr/>
                    <a:lstStyle/>
                    <a:p>
                      <a:pPr algn="ctr" fontAlgn="ctr"/>
                      <a:r>
                        <a:rPr lang="en-IN" sz="1200" b="0" i="0" u="none" strike="noStrike" dirty="0">
                          <a:solidFill>
                            <a:srgbClr val="000000"/>
                          </a:solidFill>
                          <a:effectLst/>
                          <a:latin typeface="Aptos Narrow" panose="020B0004020202020204" pitchFamily="34" charset="0"/>
                        </a:rPr>
                        <a:t>50</a:t>
                      </a:r>
                    </a:p>
                  </a:txBody>
                  <a:tcPr marL="2290" marR="2290" marT="2290" marB="0" anchor="ctr"/>
                </a:tc>
                <a:tc>
                  <a:txBody>
                    <a:bodyPr/>
                    <a:lstStyle/>
                    <a:p>
                      <a:pPr algn="ctr" fontAlgn="ctr"/>
                      <a:r>
                        <a:rPr lang="en-IN" sz="1200" b="0" i="0" u="none" strike="noStrike" dirty="0">
                          <a:solidFill>
                            <a:srgbClr val="000000"/>
                          </a:solidFill>
                          <a:effectLst/>
                          <a:latin typeface="Aptos Narrow" panose="020B0004020202020204" pitchFamily="34" charset="0"/>
                        </a:rPr>
                        <a:t>0</a:t>
                      </a:r>
                    </a:p>
                  </a:txBody>
                  <a:tcPr marL="2290" marR="2290" marT="2290" marB="0" anchor="ctr"/>
                </a:tc>
                <a:tc>
                  <a:txBody>
                    <a:bodyPr/>
                    <a:lstStyle/>
                    <a:p>
                      <a:pPr algn="ctr" fontAlgn="ctr"/>
                      <a:r>
                        <a:rPr lang="en-IN" sz="1200" b="0" i="0" u="none" strike="noStrike" dirty="0">
                          <a:solidFill>
                            <a:srgbClr val="000000"/>
                          </a:solidFill>
                          <a:effectLst/>
                          <a:latin typeface="Aptos Narrow" panose="020B0004020202020204" pitchFamily="34" charset="0"/>
                        </a:rPr>
                        <a:t>50</a:t>
                      </a:r>
                    </a:p>
                  </a:txBody>
                  <a:tcPr marL="2290" marR="2290" marT="2290" marB="0" anchor="ctr"/>
                </a:tc>
                <a:extLst>
                  <a:ext uri="{0D108BD9-81ED-4DB2-BD59-A6C34878D82A}">
                    <a16:rowId xmlns:a16="http://schemas.microsoft.com/office/drawing/2014/main" val="1819136560"/>
                  </a:ext>
                </a:extLst>
              </a:tr>
              <a:tr h="211392">
                <a:tc gridSpan="4">
                  <a:txBody>
                    <a:bodyPr/>
                    <a:lstStyle/>
                    <a:p>
                      <a:pPr algn="ctr" fontAlgn="ctr"/>
                      <a:r>
                        <a:rPr lang="en-IN" sz="1200" u="none" strike="noStrike" dirty="0">
                          <a:effectLst/>
                        </a:rPr>
                        <a:t>TOTAL</a:t>
                      </a:r>
                      <a:endParaRPr lang="en-IN" sz="1200" b="1" i="0" u="none" strike="noStrike" dirty="0">
                        <a:solidFill>
                          <a:srgbClr val="000000"/>
                        </a:solidFill>
                        <a:effectLst/>
                        <a:latin typeface="Aptos Narrow" panose="020B0004020202020204" pitchFamily="34" charset="0"/>
                      </a:endParaRPr>
                    </a:p>
                  </a:txBody>
                  <a:tcPr marL="2290" marR="2290" marT="2290" marB="0" anchor="ct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algn="ctr" fontAlgn="ctr"/>
                      <a:r>
                        <a:rPr lang="en-IN" sz="1200" b="1" u="none" strike="noStrike" dirty="0">
                          <a:effectLst/>
                        </a:rPr>
                        <a:t>2785</a:t>
                      </a:r>
                      <a:endParaRPr lang="en-IN" sz="1200" b="1"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b="1" u="none" strike="noStrike" dirty="0">
                          <a:effectLst/>
                        </a:rPr>
                        <a:t>1236.5</a:t>
                      </a:r>
                      <a:endParaRPr lang="en-IN" sz="1200" b="1" i="0" u="none" strike="noStrike" dirty="0">
                        <a:solidFill>
                          <a:srgbClr val="000000"/>
                        </a:solidFill>
                        <a:effectLst/>
                        <a:latin typeface="Aptos Narrow" panose="020B0004020202020204" pitchFamily="34" charset="0"/>
                      </a:endParaRPr>
                    </a:p>
                  </a:txBody>
                  <a:tcPr marL="2290" marR="2290" marT="2290" marB="0" anchor="ctr"/>
                </a:tc>
                <a:tc>
                  <a:txBody>
                    <a:bodyPr/>
                    <a:lstStyle/>
                    <a:p>
                      <a:pPr algn="ctr" fontAlgn="ctr"/>
                      <a:r>
                        <a:rPr lang="en-IN" sz="1200" b="1" u="none" strike="noStrike" dirty="0">
                          <a:effectLst/>
                        </a:rPr>
                        <a:t>1508.4</a:t>
                      </a:r>
                      <a:endParaRPr lang="en-IN" sz="1200" b="1" i="0" u="none" strike="noStrike" dirty="0">
                        <a:solidFill>
                          <a:srgbClr val="000000"/>
                        </a:solidFill>
                        <a:effectLst/>
                        <a:latin typeface="Aptos Narrow" panose="020B0004020202020204" pitchFamily="34" charset="0"/>
                      </a:endParaRPr>
                    </a:p>
                  </a:txBody>
                  <a:tcPr marL="2290" marR="2290" marT="2290" marB="0" anchor="ctr"/>
                </a:tc>
                <a:extLst>
                  <a:ext uri="{0D108BD9-81ED-4DB2-BD59-A6C34878D82A}">
                    <a16:rowId xmlns:a16="http://schemas.microsoft.com/office/drawing/2014/main" val="1322518358"/>
                  </a:ext>
                </a:extLst>
              </a:tr>
            </a:tbl>
          </a:graphicData>
        </a:graphic>
      </p:graphicFrame>
      <p:sp>
        <p:nvSpPr>
          <p:cNvPr id="2" name="TextBox 1">
            <a:extLst>
              <a:ext uri="{FF2B5EF4-FFF2-40B4-BE49-F238E27FC236}">
                <a16:creationId xmlns:a16="http://schemas.microsoft.com/office/drawing/2014/main" id="{A2185FDC-E6C3-3130-78C8-2D3749B1312F}"/>
              </a:ext>
            </a:extLst>
          </p:cNvPr>
          <p:cNvSpPr txBox="1"/>
          <p:nvPr/>
        </p:nvSpPr>
        <p:spPr>
          <a:xfrm>
            <a:off x="8790392" y="6453160"/>
            <a:ext cx="1261534" cy="369332"/>
          </a:xfrm>
          <a:prstGeom prst="rect">
            <a:avLst/>
          </a:prstGeom>
          <a:noFill/>
        </p:spPr>
        <p:txBody>
          <a:bodyPr wrap="square" rtlCol="0">
            <a:spAutoFit/>
          </a:bodyPr>
          <a:lstStyle/>
          <a:p>
            <a:r>
              <a:rPr lang="en-US" dirty="0">
                <a:hlinkClick r:id="rId2" action="ppaction://hlinksldjump"/>
              </a:rPr>
              <a:t>Back</a:t>
            </a:r>
            <a:endParaRPr lang="en-IN" dirty="0"/>
          </a:p>
        </p:txBody>
      </p:sp>
    </p:spTree>
    <p:extLst>
      <p:ext uri="{BB962C8B-B14F-4D97-AF65-F5344CB8AC3E}">
        <p14:creationId xmlns:p14="http://schemas.microsoft.com/office/powerpoint/2010/main" val="5798877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42A87-D22F-80A3-6D35-422DB40BAFF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56189A-319A-9EB9-898B-F04AA8A2E4DA}"/>
              </a:ext>
            </a:extLst>
          </p:cNvPr>
          <p:cNvSpPr>
            <a:spLocks noGrp="1"/>
          </p:cNvSpPr>
          <p:nvPr>
            <p:ph idx="1"/>
          </p:nvPr>
        </p:nvSpPr>
        <p:spPr>
          <a:xfrm>
            <a:off x="159434" y="877987"/>
            <a:ext cx="11873132" cy="5853399"/>
          </a:xfrm>
        </p:spPr>
        <p:txBody>
          <a:bodyPr>
            <a:normAutofit/>
          </a:bodyPr>
          <a:lstStyle/>
          <a:p>
            <a:pPr marL="0" indent="0">
              <a:buNone/>
            </a:pPr>
            <a:endParaRPr lang="en-US" sz="2400" i="1" u="sng" dirty="0">
              <a:solidFill>
                <a:schemeClr val="accent1">
                  <a:lumMod val="75000"/>
                </a:schemeClr>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400" i="1" u="sng" dirty="0">
              <a:solidFill>
                <a:schemeClr val="accent1">
                  <a:lumMod val="75000"/>
                </a:schemeClr>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buNone/>
            </a:pPr>
            <a:endParaRPr lang="en-US" dirty="0">
              <a:solidFill>
                <a:srgbClr val="000000"/>
              </a:solidFill>
              <a:latin typeface="Arial" panose="020B0604020202020204" pitchFamily="34" charset="0"/>
            </a:endParaRPr>
          </a:p>
        </p:txBody>
      </p:sp>
      <p:sp>
        <p:nvSpPr>
          <p:cNvPr id="4" name="TextBox 3">
            <a:extLst>
              <a:ext uri="{FF2B5EF4-FFF2-40B4-BE49-F238E27FC236}">
                <a16:creationId xmlns:a16="http://schemas.microsoft.com/office/drawing/2014/main" id="{8500962E-7763-5344-D39B-5F14791EABC6}"/>
              </a:ext>
            </a:extLst>
          </p:cNvPr>
          <p:cNvSpPr txBox="1"/>
          <p:nvPr/>
        </p:nvSpPr>
        <p:spPr>
          <a:xfrm>
            <a:off x="159434" y="262155"/>
            <a:ext cx="12192000" cy="523220"/>
          </a:xfrm>
          <a:prstGeom prst="rect">
            <a:avLst/>
          </a:prstGeom>
          <a:noFill/>
        </p:spPr>
        <p:txBody>
          <a:bodyPr wrap="square" rtlCol="0">
            <a:spAutoFit/>
          </a:bodyPr>
          <a:lstStyle/>
          <a:p>
            <a:r>
              <a:rPr lang="en-US" sz="2800" dirty="0">
                <a:ln w="0"/>
                <a:solidFill>
                  <a:schemeClr val="accent1"/>
                </a:solidFill>
                <a:effectLst>
                  <a:outerShdw blurRad="38100" dist="25400" dir="5400000" algn="ctr" rotWithShape="0">
                    <a:srgbClr val="6E747A">
                      <a:alpha val="43000"/>
                    </a:srgbClr>
                  </a:outerShdw>
                </a:effectLst>
              </a:rPr>
              <a:t>I</a:t>
            </a:r>
            <a:r>
              <a:rPr lang="en-IN" sz="2800" dirty="0">
                <a:ln w="0"/>
                <a:solidFill>
                  <a:schemeClr val="accent1"/>
                </a:solidFill>
                <a:effectLst>
                  <a:outerShdw blurRad="38100" dist="25400" dir="5400000" algn="ctr" rotWithShape="0">
                    <a:srgbClr val="6E747A">
                      <a:alpha val="43000"/>
                    </a:srgbClr>
                  </a:outerShdw>
                </a:effectLst>
              </a:rPr>
              <a:t>STS WIND POWER PROJECTS – </a:t>
            </a:r>
            <a:r>
              <a:rPr lang="en-US" sz="2800" dirty="0">
                <a:ln w="0"/>
                <a:solidFill>
                  <a:schemeClr val="accent1"/>
                </a:solidFill>
                <a:effectLst>
                  <a:outerShdw blurRad="38100" dist="25400" dir="5400000" algn="ctr" rotWithShape="0">
                    <a:srgbClr val="6E747A">
                      <a:alpha val="43000"/>
                    </a:srgbClr>
                  </a:outerShdw>
                </a:effectLst>
              </a:rPr>
              <a:t>Disputed Capacity – Part 1 of 2</a:t>
            </a:r>
            <a:endParaRPr lang="en-GB" sz="2800" dirty="0">
              <a:ln w="0"/>
              <a:solidFill>
                <a:schemeClr val="accent1"/>
              </a:solidFill>
              <a:effectLst>
                <a:outerShdw blurRad="38100" dist="25400" dir="5400000" algn="ctr" rotWithShape="0">
                  <a:srgbClr val="6E747A">
                    <a:alpha val="43000"/>
                  </a:srgbClr>
                </a:outerShdw>
              </a:effectLst>
            </a:endParaRPr>
          </a:p>
        </p:txBody>
      </p:sp>
      <p:cxnSp>
        <p:nvCxnSpPr>
          <p:cNvPr id="6" name="Straight Connector 5">
            <a:extLst>
              <a:ext uri="{FF2B5EF4-FFF2-40B4-BE49-F238E27FC236}">
                <a16:creationId xmlns:a16="http://schemas.microsoft.com/office/drawing/2014/main" id="{30938BF2-D3F5-509B-FEB3-BF5AB30D19C6}"/>
              </a:ext>
            </a:extLst>
          </p:cNvPr>
          <p:cNvCxnSpPr/>
          <p:nvPr/>
        </p:nvCxnSpPr>
        <p:spPr>
          <a:xfrm>
            <a:off x="0" y="844062"/>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2" name="Table 1">
            <a:extLst>
              <a:ext uri="{FF2B5EF4-FFF2-40B4-BE49-F238E27FC236}">
                <a16:creationId xmlns:a16="http://schemas.microsoft.com/office/drawing/2014/main" id="{0BECF754-E221-1EF6-DF74-F2D4AD1CE121}"/>
              </a:ext>
            </a:extLst>
          </p:cNvPr>
          <p:cNvGraphicFramePr>
            <a:graphicFrameLocks noGrp="1"/>
          </p:cNvGraphicFramePr>
          <p:nvPr>
            <p:extLst>
              <p:ext uri="{D42A27DB-BD31-4B8C-83A1-F6EECF244321}">
                <p14:modId xmlns:p14="http://schemas.microsoft.com/office/powerpoint/2010/main" val="1192677830"/>
              </p:ext>
            </p:extLst>
          </p:nvPr>
        </p:nvGraphicFramePr>
        <p:xfrm>
          <a:off x="159434" y="1014481"/>
          <a:ext cx="11873132" cy="5569982"/>
        </p:xfrm>
        <a:graphic>
          <a:graphicData uri="http://schemas.openxmlformats.org/drawingml/2006/table">
            <a:tbl>
              <a:tblPr firstRow="1" lastRow="1" bandRow="1">
                <a:tableStyleId>{5C22544A-7EE6-4342-B048-85BDC9FD1C3A}</a:tableStyleId>
              </a:tblPr>
              <a:tblGrid>
                <a:gridCol w="431116">
                  <a:extLst>
                    <a:ext uri="{9D8B030D-6E8A-4147-A177-3AD203B41FA5}">
                      <a16:colId xmlns:a16="http://schemas.microsoft.com/office/drawing/2014/main" val="3839638492"/>
                    </a:ext>
                  </a:extLst>
                </a:gridCol>
                <a:gridCol w="1206558">
                  <a:extLst>
                    <a:ext uri="{9D8B030D-6E8A-4147-A177-3AD203B41FA5}">
                      <a16:colId xmlns:a16="http://schemas.microsoft.com/office/drawing/2014/main" val="600081952"/>
                    </a:ext>
                  </a:extLst>
                </a:gridCol>
                <a:gridCol w="555567">
                  <a:extLst>
                    <a:ext uri="{9D8B030D-6E8A-4147-A177-3AD203B41FA5}">
                      <a16:colId xmlns:a16="http://schemas.microsoft.com/office/drawing/2014/main" val="3790209724"/>
                    </a:ext>
                  </a:extLst>
                </a:gridCol>
                <a:gridCol w="2295525">
                  <a:extLst>
                    <a:ext uri="{9D8B030D-6E8A-4147-A177-3AD203B41FA5}">
                      <a16:colId xmlns:a16="http://schemas.microsoft.com/office/drawing/2014/main" val="1183445894"/>
                    </a:ext>
                  </a:extLst>
                </a:gridCol>
                <a:gridCol w="1019175">
                  <a:extLst>
                    <a:ext uri="{9D8B030D-6E8A-4147-A177-3AD203B41FA5}">
                      <a16:colId xmlns:a16="http://schemas.microsoft.com/office/drawing/2014/main" val="2553156167"/>
                    </a:ext>
                  </a:extLst>
                </a:gridCol>
                <a:gridCol w="1762125">
                  <a:extLst>
                    <a:ext uri="{9D8B030D-6E8A-4147-A177-3AD203B41FA5}">
                      <a16:colId xmlns:a16="http://schemas.microsoft.com/office/drawing/2014/main" val="2422142169"/>
                    </a:ext>
                  </a:extLst>
                </a:gridCol>
                <a:gridCol w="1162050">
                  <a:extLst>
                    <a:ext uri="{9D8B030D-6E8A-4147-A177-3AD203B41FA5}">
                      <a16:colId xmlns:a16="http://schemas.microsoft.com/office/drawing/2014/main" val="2144348705"/>
                    </a:ext>
                  </a:extLst>
                </a:gridCol>
                <a:gridCol w="3441016">
                  <a:extLst>
                    <a:ext uri="{9D8B030D-6E8A-4147-A177-3AD203B41FA5}">
                      <a16:colId xmlns:a16="http://schemas.microsoft.com/office/drawing/2014/main" val="3010996357"/>
                    </a:ext>
                  </a:extLst>
                </a:gridCol>
              </a:tblGrid>
              <a:tr h="413975">
                <a:tc>
                  <a:txBody>
                    <a:bodyPr/>
                    <a:lstStyle/>
                    <a:p>
                      <a:pPr algn="ctr">
                        <a:lnSpc>
                          <a:spcPct val="115000"/>
                        </a:lnSpc>
                        <a:spcAft>
                          <a:spcPts val="800"/>
                        </a:spcAft>
                      </a:pPr>
                      <a:r>
                        <a:rPr lang="en-GB" sz="1100" kern="100" dirty="0" err="1">
                          <a:effectLst/>
                        </a:rPr>
                        <a:t>Sl</a:t>
                      </a:r>
                      <a:r>
                        <a:rPr lang="en-GB" sz="1100" kern="100" dirty="0">
                          <a:effectLst/>
                        </a:rPr>
                        <a:t> No.</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Status</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Tranche</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PPA-signing Entity</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PPA Capacity</a:t>
                      </a:r>
                      <a:br>
                        <a:rPr lang="en-GB" sz="1100" kern="100">
                          <a:effectLst/>
                        </a:rPr>
                      </a:br>
                      <a:r>
                        <a:rPr lang="en-GB" sz="1100" kern="100">
                          <a:effectLst/>
                        </a:rPr>
                        <a:t>(MW)</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Original/ Last Revised SCD</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Status of LD</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Petition/ Appeal No. and Date of filing and stage</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3952490575"/>
                  </a:ext>
                </a:extLst>
              </a:tr>
              <a:tr h="413975">
                <a:tc>
                  <a:txBody>
                    <a:bodyPr/>
                    <a:lstStyle/>
                    <a:p>
                      <a:pPr algn="ctr">
                        <a:lnSpc>
                          <a:spcPct val="115000"/>
                        </a:lnSpc>
                        <a:spcAft>
                          <a:spcPts val="800"/>
                        </a:spcAft>
                      </a:pPr>
                      <a:r>
                        <a:rPr lang="en-GB" sz="1100" kern="100">
                          <a:effectLst/>
                        </a:rPr>
                        <a:t>1</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rowSpan="8">
                  <a:txBody>
                    <a:bodyPr/>
                    <a:lstStyle/>
                    <a:p>
                      <a:pPr marL="0" marR="0" lvl="0" indent="0" algn="ctr" defTabSz="914400" rtl="0" eaLnBrk="1" fontAlgn="auto" latinLnBrk="0" hangingPunct="1">
                        <a:lnSpc>
                          <a:spcPct val="115000"/>
                        </a:lnSpc>
                        <a:spcBef>
                          <a:spcPts val="0"/>
                        </a:spcBef>
                        <a:spcAft>
                          <a:spcPts val="800"/>
                        </a:spcAft>
                        <a:buClrTx/>
                        <a:buSzTx/>
                        <a:buFontTx/>
                        <a:buNone/>
                        <a:tabLst/>
                        <a:defRPr/>
                      </a:pPr>
                      <a:r>
                        <a:rPr lang="en-IN" sz="1100" u="none" strike="noStrike" dirty="0">
                          <a:effectLst/>
                        </a:rPr>
                        <a:t>UNILATERALLY TERMINATED AND UNDER LITIGATION WITH EXPIRED PROJECT TIMELINES</a:t>
                      </a:r>
                    </a:p>
                  </a:txBody>
                  <a:tcPr marL="32096" marR="32096" marT="0" marB="0" anchor="ctr"/>
                </a:tc>
                <a:tc>
                  <a:txBody>
                    <a:bodyPr/>
                    <a:lstStyle/>
                    <a:p>
                      <a:pPr algn="ctr">
                        <a:lnSpc>
                          <a:spcPct val="115000"/>
                        </a:lnSpc>
                        <a:spcAft>
                          <a:spcPts val="800"/>
                        </a:spcAft>
                      </a:pPr>
                      <a:r>
                        <a:rPr lang="en-GB" sz="1100" kern="100">
                          <a:effectLst/>
                        </a:rPr>
                        <a:t>III</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Adani Green Energy (MP) Ltd</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250</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24.11.2019/ Nil</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Recovered</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Appeal No. 299/ 2024 in APTEL/ 26.06.2024/ Hearing ongoing</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3245184826"/>
                  </a:ext>
                </a:extLst>
              </a:tr>
              <a:tr h="413975">
                <a:tc>
                  <a:txBody>
                    <a:bodyPr/>
                    <a:lstStyle/>
                    <a:p>
                      <a:pPr algn="ctr">
                        <a:lnSpc>
                          <a:spcPct val="115000"/>
                        </a:lnSpc>
                        <a:spcAft>
                          <a:spcPts val="800"/>
                        </a:spcAft>
                      </a:pPr>
                      <a:r>
                        <a:rPr lang="en-GB" sz="1100" kern="100">
                          <a:effectLst/>
                        </a:rPr>
                        <a:t>2</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vMerge="1">
                  <a:txBody>
                    <a:bodyPr/>
                    <a:lstStyle/>
                    <a:p>
                      <a:endParaRPr/>
                    </a:p>
                  </a:txBody>
                  <a:tcPr marL="32096" marR="32096" marT="0" marB="0" anchor="ctr"/>
                </a:tc>
                <a:tc>
                  <a:txBody>
                    <a:bodyPr/>
                    <a:lstStyle/>
                    <a:p>
                      <a:pPr algn="ctr">
                        <a:lnSpc>
                          <a:spcPct val="115000"/>
                        </a:lnSpc>
                        <a:spcAft>
                          <a:spcPts val="800"/>
                        </a:spcAft>
                      </a:pPr>
                      <a:r>
                        <a:rPr lang="en-GB" sz="1100" kern="100">
                          <a:effectLst/>
                        </a:rPr>
                        <a:t>III</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ReNew Wind Energy (AP2) Pvt Ltd</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100</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24.11.2019/ 31.08.2021</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Stayed by CERC</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Petition No. 56/MP/2022 in CERC / 06.02.2022/ Hearing ongoing</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2785726980"/>
                  </a:ext>
                </a:extLst>
              </a:tr>
              <a:tr h="413975">
                <a:tc>
                  <a:txBody>
                    <a:bodyPr/>
                    <a:lstStyle/>
                    <a:p>
                      <a:pPr algn="ctr">
                        <a:lnSpc>
                          <a:spcPct val="115000"/>
                        </a:lnSpc>
                        <a:spcAft>
                          <a:spcPts val="800"/>
                        </a:spcAft>
                      </a:pPr>
                      <a:r>
                        <a:rPr lang="en-GB" sz="1100" kern="100">
                          <a:effectLst/>
                        </a:rPr>
                        <a:t>3</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vMerge="1">
                  <a:txBody>
                    <a:bodyPr/>
                    <a:lstStyle/>
                    <a:p>
                      <a:endParaRPr/>
                    </a:p>
                  </a:txBody>
                  <a:tcPr marL="32096" marR="32096" marT="0" marB="0" anchor="ctr"/>
                </a:tc>
                <a:tc>
                  <a:txBody>
                    <a:bodyPr/>
                    <a:lstStyle/>
                    <a:p>
                      <a:pPr algn="ctr">
                        <a:lnSpc>
                          <a:spcPct val="115000"/>
                        </a:lnSpc>
                        <a:spcAft>
                          <a:spcPts val="800"/>
                        </a:spcAft>
                      </a:pPr>
                      <a:r>
                        <a:rPr lang="en-GB" sz="1100" kern="100">
                          <a:effectLst/>
                        </a:rPr>
                        <a:t>III</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Torrent Power Ltd</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499.8</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24.11.2019/ Nil</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Recovered</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Appeal No. 152/2024 in APTEL / 01.04.2024/ Hearing ongoing</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1283580390"/>
                  </a:ext>
                </a:extLst>
              </a:tr>
              <a:tr h="413975">
                <a:tc>
                  <a:txBody>
                    <a:bodyPr/>
                    <a:lstStyle/>
                    <a:p>
                      <a:pPr algn="ctr">
                        <a:lnSpc>
                          <a:spcPct val="115000"/>
                        </a:lnSpc>
                        <a:spcAft>
                          <a:spcPts val="800"/>
                        </a:spcAft>
                      </a:pPr>
                      <a:r>
                        <a:rPr lang="en-GB" sz="1100" kern="100">
                          <a:effectLst/>
                        </a:rPr>
                        <a:t>4</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vMerge="1">
                  <a:txBody>
                    <a:bodyPr/>
                    <a:lstStyle/>
                    <a:p>
                      <a:endParaRPr/>
                    </a:p>
                  </a:txBody>
                  <a:tcPr marL="32096" marR="32096" marT="0" marB="0" anchor="ctr"/>
                </a:tc>
                <a:tc>
                  <a:txBody>
                    <a:bodyPr/>
                    <a:lstStyle/>
                    <a:p>
                      <a:pPr algn="ctr">
                        <a:lnSpc>
                          <a:spcPct val="115000"/>
                        </a:lnSpc>
                        <a:spcAft>
                          <a:spcPts val="800"/>
                        </a:spcAft>
                      </a:pPr>
                      <a:r>
                        <a:rPr lang="en-GB" sz="1100" kern="100">
                          <a:effectLst/>
                        </a:rPr>
                        <a:t>IV</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Mytrah Vayu (Brahmaputra) Pvt Ltd</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300</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29.02.2020/ 28.08.2020</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Recovered</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Appeal No. 29/2024 in APTEL / 16.01.2024/ Hearing ongoing</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1753171002"/>
                  </a:ext>
                </a:extLst>
              </a:tr>
              <a:tr h="413975">
                <a:tc>
                  <a:txBody>
                    <a:bodyPr/>
                    <a:lstStyle/>
                    <a:p>
                      <a:pPr algn="ctr">
                        <a:lnSpc>
                          <a:spcPct val="115000"/>
                        </a:lnSpc>
                        <a:spcAft>
                          <a:spcPts val="800"/>
                        </a:spcAft>
                      </a:pPr>
                      <a:r>
                        <a:rPr lang="en-GB" sz="1100" kern="100">
                          <a:effectLst/>
                        </a:rPr>
                        <a:t>5</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vMerge="1">
                  <a:txBody>
                    <a:bodyPr/>
                    <a:lstStyle/>
                    <a:p>
                      <a:endParaRPr/>
                    </a:p>
                  </a:txBody>
                  <a:tcPr marL="32096" marR="32096" marT="0" marB="0" anchor="ctr"/>
                </a:tc>
                <a:tc>
                  <a:txBody>
                    <a:bodyPr/>
                    <a:lstStyle/>
                    <a:p>
                      <a:pPr algn="ctr">
                        <a:lnSpc>
                          <a:spcPct val="115000"/>
                        </a:lnSpc>
                        <a:spcAft>
                          <a:spcPts val="800"/>
                        </a:spcAft>
                      </a:pPr>
                      <a:r>
                        <a:rPr lang="en-GB" sz="1100" kern="100">
                          <a:effectLst/>
                        </a:rPr>
                        <a:t>IV</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ReNew Wind Energy (TN) Pvt Ltd</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265</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29.02.2020/ Nil</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Recovered</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Appeal No. 691/2023 in APTEL / 19.06.2023/ Hearing ongoing</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4091213373"/>
                  </a:ext>
                </a:extLst>
              </a:tr>
              <a:tr h="413975">
                <a:tc>
                  <a:txBody>
                    <a:bodyPr/>
                    <a:lstStyle/>
                    <a:p>
                      <a:pPr algn="ctr">
                        <a:lnSpc>
                          <a:spcPct val="115000"/>
                        </a:lnSpc>
                        <a:spcAft>
                          <a:spcPts val="800"/>
                        </a:spcAft>
                      </a:pPr>
                      <a:r>
                        <a:rPr lang="en-GB" sz="1100" kern="100">
                          <a:effectLst/>
                        </a:rPr>
                        <a:t>6</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vMerge="1">
                  <a:txBody>
                    <a:bodyPr/>
                    <a:lstStyle/>
                    <a:p>
                      <a:endParaRPr/>
                    </a:p>
                  </a:txBody>
                  <a:tcPr marL="32096" marR="32096" marT="0" marB="0" anchor="ctr"/>
                </a:tc>
                <a:tc>
                  <a:txBody>
                    <a:bodyPr/>
                    <a:lstStyle/>
                    <a:p>
                      <a:pPr algn="ctr">
                        <a:lnSpc>
                          <a:spcPct val="115000"/>
                        </a:lnSpc>
                        <a:spcAft>
                          <a:spcPts val="800"/>
                        </a:spcAft>
                      </a:pPr>
                      <a:r>
                        <a:rPr lang="en-GB" sz="1100" kern="100">
                          <a:effectLst/>
                        </a:rPr>
                        <a:t>V</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Boreas Renewable Energy Pvt Ltd</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175</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22.07.2020/ 22.12.2020</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Recovered</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Appeal No. 109/2025 in APTEL / 19.03.2025/ Hearing ongoing</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3290179479"/>
                  </a:ext>
                </a:extLst>
              </a:tr>
              <a:tr h="413975">
                <a:tc>
                  <a:txBody>
                    <a:bodyPr/>
                    <a:lstStyle/>
                    <a:p>
                      <a:pPr algn="ctr">
                        <a:lnSpc>
                          <a:spcPct val="115000"/>
                        </a:lnSpc>
                        <a:spcAft>
                          <a:spcPts val="800"/>
                        </a:spcAft>
                      </a:pPr>
                      <a:r>
                        <a:rPr lang="en-IN" sz="1100" kern="100" dirty="0">
                          <a:effectLst/>
                          <a:latin typeface="Aptos" panose="020B0004020202020204" pitchFamily="34" charset="0"/>
                          <a:ea typeface="Aptos" panose="020B0004020202020204" pitchFamily="34" charset="0"/>
                          <a:cs typeface="Mangal" panose="02040503050203030202" pitchFamily="18" charset="0"/>
                        </a:rPr>
                        <a:t>7</a:t>
                      </a:r>
                    </a:p>
                  </a:txBody>
                  <a:tcPr marL="32096" marR="32096" marT="0" marB="0" anchor="ctr"/>
                </a:tc>
                <a:tc vMerge="1">
                  <a:txBody>
                    <a:bodyPr/>
                    <a:lstStyle/>
                    <a:p>
                      <a:endParaRPr lang="en-IN"/>
                    </a:p>
                  </a:txBody>
                  <a:tcPr/>
                </a:tc>
                <a:tc>
                  <a:txBody>
                    <a:bodyPr/>
                    <a:lstStyle/>
                    <a:p>
                      <a:pPr algn="ctr">
                        <a:lnSpc>
                          <a:spcPct val="115000"/>
                        </a:lnSpc>
                        <a:spcAft>
                          <a:spcPts val="800"/>
                        </a:spcAft>
                      </a:pPr>
                      <a:r>
                        <a:rPr lang="en-GB" sz="1100" kern="100" dirty="0">
                          <a:effectLst/>
                        </a:rPr>
                        <a:t>X</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Adani Renewable Energy Seven Ltd</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300</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10.03.2023/ 11.06.2023</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Recovered</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Petition No. 4/MP/2024 in CERC / 13.11.2023/ Hearing ongoing</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3032167429"/>
                  </a:ext>
                </a:extLst>
              </a:tr>
              <a:tr h="413975">
                <a:tc>
                  <a:txBody>
                    <a:bodyPr/>
                    <a:lstStyle/>
                    <a:p>
                      <a:pPr algn="ctr">
                        <a:lnSpc>
                          <a:spcPct val="115000"/>
                        </a:lnSpc>
                        <a:spcAft>
                          <a:spcPts val="800"/>
                        </a:spcAft>
                      </a:pPr>
                      <a:r>
                        <a:rPr lang="en-GB" sz="1100" kern="100" dirty="0">
                          <a:effectLst/>
                          <a:latin typeface="Aptos" panose="020B0004020202020204" pitchFamily="34" charset="0"/>
                          <a:ea typeface="Aptos" panose="020B0004020202020204" pitchFamily="34" charset="0"/>
                          <a:cs typeface="Mangal" panose="02040503050203030202" pitchFamily="18" charset="0"/>
                        </a:rPr>
                        <a:t>8</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vMerge="1">
                  <a:txBody>
                    <a:bodyPr/>
                    <a:lstStyle/>
                    <a:p>
                      <a:endParaRPr dirty="0"/>
                    </a:p>
                  </a:txBody>
                  <a:tcPr marL="32096" marR="32096" marT="0" marB="0" anchor="ctr"/>
                </a:tc>
                <a:tc>
                  <a:txBody>
                    <a:bodyPr/>
                    <a:lstStyle/>
                    <a:p>
                      <a:pPr algn="ctr">
                        <a:lnSpc>
                          <a:spcPct val="115000"/>
                        </a:lnSpc>
                        <a:spcAft>
                          <a:spcPts val="800"/>
                        </a:spcAft>
                      </a:pPr>
                      <a:r>
                        <a:rPr lang="en-GB" sz="1100" kern="100" dirty="0">
                          <a:effectLst/>
                        </a:rPr>
                        <a:t>X</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Viento Renewables Pvt Ltd</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150</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10.03.2023/ 09.10.2024</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In process of recovering LD</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Petition No. 356/MP/2024 in CERC / 11.07.2025/ Hearing ongoing</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2153983742"/>
                  </a:ext>
                </a:extLst>
              </a:tr>
              <a:tr h="413975">
                <a:tc>
                  <a:txBody>
                    <a:bodyPr/>
                    <a:lstStyle/>
                    <a:p>
                      <a:pPr algn="ctr">
                        <a:lnSpc>
                          <a:spcPct val="115000"/>
                        </a:lnSpc>
                        <a:spcAft>
                          <a:spcPts val="800"/>
                        </a:spcAft>
                      </a:pPr>
                      <a:r>
                        <a:rPr lang="en-GB" sz="1100" kern="100" dirty="0">
                          <a:effectLst/>
                          <a:latin typeface="Aptos" panose="020B0004020202020204" pitchFamily="34" charset="0"/>
                          <a:ea typeface="Aptos" panose="020B0004020202020204" pitchFamily="34" charset="0"/>
                          <a:cs typeface="Mangal" panose="02040503050203030202" pitchFamily="18" charset="0"/>
                        </a:rPr>
                        <a:t>9</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rowSpan="4">
                  <a:txBody>
                    <a:bodyPr/>
                    <a:lstStyle/>
                    <a:p>
                      <a:pPr algn="ctr">
                        <a:lnSpc>
                          <a:spcPct val="115000"/>
                        </a:lnSpc>
                        <a:spcAft>
                          <a:spcPts val="800"/>
                        </a:spcAft>
                      </a:pPr>
                      <a:r>
                        <a:rPr lang="en-IN" sz="1100" u="none" strike="noStrike" dirty="0">
                          <a:effectLst/>
                        </a:rPr>
                        <a:t>UNILATERALLY TERMINATED AND UNDER LITIGATION BUT PROJECT TIMELINES NOT LAPSED</a:t>
                      </a:r>
                      <a:endParaRPr lang="en-IN" sz="1100" kern="100" dirty="0">
                        <a:effectLst/>
                        <a:latin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XI</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Adani Renewable Energy Four Ltd</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450</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30.12.2023/ 26.07.2025</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rowSpan="4">
                  <a:txBody>
                    <a:bodyPr/>
                    <a:lstStyle/>
                    <a:p>
                      <a:pPr algn="ctr">
                        <a:lnSpc>
                          <a:spcPct val="115000"/>
                        </a:lnSpc>
                        <a:spcAft>
                          <a:spcPts val="800"/>
                        </a:spcAft>
                      </a:pPr>
                      <a:r>
                        <a:rPr lang="en-GB" sz="1100" kern="100" dirty="0">
                          <a:effectLst/>
                        </a:rPr>
                        <a:t>Not recovered</a:t>
                      </a:r>
                    </a:p>
                  </a:txBody>
                  <a:tcPr marL="32096" marR="32096" marT="0" marB="0" anchor="ctr"/>
                </a:tc>
                <a:tc>
                  <a:txBody>
                    <a:bodyPr/>
                    <a:lstStyle/>
                    <a:p>
                      <a:pPr algn="ctr">
                        <a:lnSpc>
                          <a:spcPct val="115000"/>
                        </a:lnSpc>
                        <a:spcAft>
                          <a:spcPts val="800"/>
                        </a:spcAft>
                      </a:pPr>
                      <a:r>
                        <a:rPr lang="en-GB" sz="1100" kern="100" dirty="0">
                          <a:effectLst/>
                        </a:rPr>
                        <a:t>Petition No. 348/MP/2023 in CERC / 19.10.2023/ Hearing ongoing</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3174292729"/>
                  </a:ext>
                </a:extLst>
              </a:tr>
              <a:tr h="413975">
                <a:tc>
                  <a:txBody>
                    <a:bodyPr/>
                    <a:lstStyle/>
                    <a:p>
                      <a:pPr algn="ctr">
                        <a:lnSpc>
                          <a:spcPct val="115000"/>
                        </a:lnSpc>
                        <a:spcAft>
                          <a:spcPts val="800"/>
                        </a:spcAft>
                      </a:pPr>
                      <a:r>
                        <a:rPr lang="en-GB" sz="1100" kern="100" dirty="0">
                          <a:effectLst/>
                          <a:latin typeface="Aptos" panose="020B0004020202020204" pitchFamily="34" charset="0"/>
                          <a:ea typeface="Aptos" panose="020B0004020202020204" pitchFamily="34" charset="0"/>
                          <a:cs typeface="Mangal" panose="02040503050203030202" pitchFamily="18" charset="0"/>
                        </a:rPr>
                        <a:t>10</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vMerge="1">
                  <a:txBody>
                    <a:bodyPr/>
                    <a:lstStyle/>
                    <a:p>
                      <a:endParaRPr/>
                    </a:p>
                  </a:txBody>
                  <a:tcPr marL="32096" marR="32096" marT="0" marB="0" anchor="ctr"/>
                </a:tc>
                <a:tc>
                  <a:txBody>
                    <a:bodyPr/>
                    <a:lstStyle/>
                    <a:p>
                      <a:pPr algn="ctr">
                        <a:lnSpc>
                          <a:spcPct val="115000"/>
                        </a:lnSpc>
                        <a:spcAft>
                          <a:spcPts val="800"/>
                        </a:spcAft>
                      </a:pPr>
                      <a:r>
                        <a:rPr lang="en-GB" sz="1100" kern="100">
                          <a:effectLst/>
                        </a:rPr>
                        <a:t>XI</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ReNew Naveen Urja Pvt Ltd</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300</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30.12.2023/ 26.07.2025</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vMerge="1">
                  <a:txBody>
                    <a:bodyPr/>
                    <a:lstStyle/>
                    <a:p>
                      <a:endParaRPr lang="en-IN"/>
                    </a:p>
                  </a:txBody>
                  <a:tcPr/>
                </a:tc>
                <a:tc>
                  <a:txBody>
                    <a:bodyPr/>
                    <a:lstStyle/>
                    <a:p>
                      <a:pPr algn="ctr">
                        <a:lnSpc>
                          <a:spcPct val="115000"/>
                        </a:lnSpc>
                        <a:spcAft>
                          <a:spcPts val="800"/>
                        </a:spcAft>
                      </a:pPr>
                      <a:r>
                        <a:rPr lang="en-GB" sz="1100" kern="100" dirty="0">
                          <a:effectLst/>
                        </a:rPr>
                        <a:t>Petition No. 169/MP/2024 in CERC / 17.04.2024/ Hearing ongoing</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2974635879"/>
                  </a:ext>
                </a:extLst>
              </a:tr>
              <a:tr h="413975">
                <a:tc>
                  <a:txBody>
                    <a:bodyPr/>
                    <a:lstStyle/>
                    <a:p>
                      <a:pPr algn="ctr">
                        <a:lnSpc>
                          <a:spcPct val="115000"/>
                        </a:lnSpc>
                        <a:spcAft>
                          <a:spcPts val="800"/>
                        </a:spcAft>
                      </a:pPr>
                      <a:r>
                        <a:rPr lang="en-GB" sz="1100" kern="100" dirty="0">
                          <a:effectLst/>
                        </a:rPr>
                        <a:t>11</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vMerge="1">
                  <a:txBody>
                    <a:bodyPr/>
                    <a:lstStyle/>
                    <a:p>
                      <a:endParaRPr/>
                    </a:p>
                  </a:txBody>
                  <a:tcPr marL="32096" marR="32096" marT="0" marB="0" anchor="ctr"/>
                </a:tc>
                <a:tc>
                  <a:txBody>
                    <a:bodyPr/>
                    <a:lstStyle/>
                    <a:p>
                      <a:pPr algn="ctr">
                        <a:lnSpc>
                          <a:spcPct val="115000"/>
                        </a:lnSpc>
                        <a:spcAft>
                          <a:spcPts val="800"/>
                        </a:spcAft>
                      </a:pPr>
                      <a:r>
                        <a:rPr lang="en-GB" sz="1100" kern="100">
                          <a:effectLst/>
                        </a:rPr>
                        <a:t>XI</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Anupavan Renewables Pvt Ltd</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150</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30.12.2023/ 26.07.2025</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vMerge="1">
                  <a:txBody>
                    <a:bodyPr/>
                    <a:lstStyle/>
                    <a:p>
                      <a:endParaRPr lang="en-IN"/>
                    </a:p>
                  </a:txBody>
                  <a:tcPr/>
                </a:tc>
                <a:tc>
                  <a:txBody>
                    <a:bodyPr/>
                    <a:lstStyle/>
                    <a:p>
                      <a:pPr marL="0" marR="0" lvl="0" indent="0" algn="ctr" defTabSz="914400" rtl="0" eaLnBrk="1" fontAlgn="auto" latinLnBrk="0" hangingPunct="1">
                        <a:lnSpc>
                          <a:spcPct val="115000"/>
                        </a:lnSpc>
                        <a:spcBef>
                          <a:spcPts val="0"/>
                        </a:spcBef>
                        <a:spcAft>
                          <a:spcPts val="800"/>
                        </a:spcAft>
                        <a:buClrTx/>
                        <a:buSzTx/>
                        <a:buFontTx/>
                        <a:buNone/>
                        <a:tabLst/>
                        <a:defRPr/>
                      </a:pPr>
                      <a:r>
                        <a:rPr lang="en-GB" sz="1100" kern="100" dirty="0">
                          <a:effectLst/>
                        </a:rPr>
                        <a:t>Petition No. 178/MP/2025 in CERC / 29.11.2024/ Hearing ongoing</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1237255437"/>
                  </a:ext>
                </a:extLst>
              </a:tr>
              <a:tr h="123233">
                <a:tc>
                  <a:txBody>
                    <a:bodyPr/>
                    <a:lstStyle/>
                    <a:p>
                      <a:pPr algn="ctr">
                        <a:lnSpc>
                          <a:spcPct val="115000"/>
                        </a:lnSpc>
                        <a:spcAft>
                          <a:spcPts val="800"/>
                        </a:spcAft>
                      </a:pPr>
                      <a:r>
                        <a:rPr lang="en-GB" sz="1100" kern="100" dirty="0">
                          <a:effectLst/>
                        </a:rPr>
                        <a:t>12</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vMerge="1">
                  <a:txBody>
                    <a:bodyPr/>
                    <a:lstStyle/>
                    <a:p>
                      <a:endParaRPr dirty="0"/>
                    </a:p>
                  </a:txBody>
                  <a:tcPr marL="32096" marR="32096" marT="0" marB="0" anchor="ctr"/>
                </a:tc>
                <a:tc>
                  <a:txBody>
                    <a:bodyPr/>
                    <a:lstStyle/>
                    <a:p>
                      <a:pPr algn="ctr">
                        <a:lnSpc>
                          <a:spcPct val="115000"/>
                        </a:lnSpc>
                        <a:spcAft>
                          <a:spcPts val="800"/>
                        </a:spcAft>
                      </a:pPr>
                      <a:r>
                        <a:rPr lang="en-GB" sz="1100" kern="100">
                          <a:effectLst/>
                        </a:rPr>
                        <a:t>XIII</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Scatec India Renewables One Pvt Ltd</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300</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26.06.2025/ 02.12.2025</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vMerge="1">
                  <a:txBody>
                    <a:bodyPr/>
                    <a:lstStyle/>
                    <a:p>
                      <a:endParaRPr dirty="0"/>
                    </a:p>
                  </a:txBody>
                  <a:tcPr marL="32096" marR="32096" marT="0" marB="0" anchor="ctr"/>
                </a:tc>
                <a:tc>
                  <a:txBody>
                    <a:bodyPr/>
                    <a:lstStyle/>
                    <a:p>
                      <a:pPr algn="ctr">
                        <a:lnSpc>
                          <a:spcPct val="115000"/>
                        </a:lnSpc>
                        <a:spcAft>
                          <a:spcPts val="800"/>
                        </a:spcAft>
                      </a:pPr>
                      <a:r>
                        <a:rPr lang="en-GB" sz="1100" kern="100" dirty="0">
                          <a:effectLst/>
                        </a:rPr>
                        <a:t>Petition No. 26/MP/2024 in CERC / 24.01.2024/ Order reserved</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4112677674"/>
                  </a:ext>
                </a:extLst>
              </a:tr>
              <a:tr h="226616">
                <a:tc>
                  <a:txBody>
                    <a:bodyPr/>
                    <a:lstStyle/>
                    <a:p>
                      <a:pPr algn="ctr">
                        <a:lnSpc>
                          <a:spcPct val="115000"/>
                        </a:lnSpc>
                        <a:spcAft>
                          <a:spcPts val="800"/>
                        </a:spcAft>
                      </a:pPr>
                      <a:r>
                        <a:rPr lang="en-GB" sz="1100" kern="100">
                          <a:effectLst/>
                        </a:rPr>
                        <a:t> </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 </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endParaRPr lang="en-IN" sz="1100" kern="100">
                        <a:effectLst/>
                        <a:latin typeface="Aptos" panose="020B0004020202020204" pitchFamily="34" charset="0"/>
                      </a:endParaRPr>
                    </a:p>
                  </a:txBody>
                  <a:tcPr marL="32096" marR="32096" marT="0" marB="0" anchor="ctr"/>
                </a:tc>
                <a:tc>
                  <a:txBody>
                    <a:bodyPr/>
                    <a:lstStyle/>
                    <a:p>
                      <a:pPr algn="ctr">
                        <a:lnSpc>
                          <a:spcPct val="115000"/>
                        </a:lnSpc>
                        <a:spcAft>
                          <a:spcPts val="800"/>
                        </a:spcAft>
                      </a:pPr>
                      <a:r>
                        <a:rPr lang="en-GB" sz="1100" kern="100">
                          <a:effectLst/>
                        </a:rPr>
                        <a:t>TOTAL</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dirty="0">
                          <a:effectLst/>
                        </a:rPr>
                        <a:t>3239.8</a:t>
                      </a:r>
                      <a:endParaRPr lang="en-IN" sz="11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100" kern="100">
                          <a:effectLst/>
                        </a:rPr>
                        <a:t> </a:t>
                      </a:r>
                      <a:endParaRPr lang="en-IN" sz="11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tc>
                <a:tc>
                  <a:txBody>
                    <a:bodyPr/>
                    <a:lstStyle/>
                    <a:p>
                      <a:endParaRPr lang="en-IN" sz="1100" kern="100">
                        <a:effectLst/>
                        <a:latin typeface="Aptos" panose="020B0004020202020204" pitchFamily="34" charset="0"/>
                      </a:endParaRPr>
                    </a:p>
                  </a:txBody>
                  <a:tcPr marL="32096" marR="32096" marT="0" marB="0" anchor="ctr"/>
                </a:tc>
                <a:tc>
                  <a:txBody>
                    <a:bodyPr/>
                    <a:lstStyle/>
                    <a:p>
                      <a:endParaRPr lang="en-IN" sz="1100" kern="100" dirty="0">
                        <a:effectLst/>
                        <a:latin typeface="Aptos" panose="020B0004020202020204" pitchFamily="34" charset="0"/>
                      </a:endParaRPr>
                    </a:p>
                  </a:txBody>
                  <a:tcPr marL="32096" marR="32096" marT="0" marB="0" anchor="ctr"/>
                </a:tc>
                <a:extLst>
                  <a:ext uri="{0D108BD9-81ED-4DB2-BD59-A6C34878D82A}">
                    <a16:rowId xmlns:a16="http://schemas.microsoft.com/office/drawing/2014/main" val="1501235089"/>
                  </a:ext>
                </a:extLst>
              </a:tr>
            </a:tbl>
          </a:graphicData>
        </a:graphic>
      </p:graphicFrame>
    </p:spTree>
    <p:extLst>
      <p:ext uri="{BB962C8B-B14F-4D97-AF65-F5344CB8AC3E}">
        <p14:creationId xmlns:p14="http://schemas.microsoft.com/office/powerpoint/2010/main" val="33812507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408BA-9F94-B81F-63D8-43C1EA0FDE9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6CADD7-B1BE-5AD3-0959-63E52606CEFE}"/>
              </a:ext>
            </a:extLst>
          </p:cNvPr>
          <p:cNvSpPr>
            <a:spLocks noGrp="1"/>
          </p:cNvSpPr>
          <p:nvPr>
            <p:ph idx="1"/>
          </p:nvPr>
        </p:nvSpPr>
        <p:spPr>
          <a:xfrm>
            <a:off x="159434" y="877987"/>
            <a:ext cx="11873132" cy="5853399"/>
          </a:xfrm>
        </p:spPr>
        <p:txBody>
          <a:bodyPr>
            <a:normAutofit/>
          </a:bodyPr>
          <a:lstStyle/>
          <a:p>
            <a:pPr marL="0" indent="0">
              <a:buNone/>
            </a:pPr>
            <a:endParaRPr lang="en-US" sz="2400" i="1" u="sng" dirty="0">
              <a:solidFill>
                <a:schemeClr val="accent1">
                  <a:lumMod val="75000"/>
                </a:schemeClr>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400" i="1" u="sng" dirty="0">
              <a:solidFill>
                <a:schemeClr val="accent1">
                  <a:lumMod val="75000"/>
                </a:schemeClr>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buNone/>
            </a:pPr>
            <a:endParaRPr lang="en-US" dirty="0">
              <a:solidFill>
                <a:srgbClr val="000000"/>
              </a:solidFill>
              <a:latin typeface="Arial" panose="020B0604020202020204" pitchFamily="34" charset="0"/>
            </a:endParaRPr>
          </a:p>
        </p:txBody>
      </p:sp>
      <p:sp>
        <p:nvSpPr>
          <p:cNvPr id="4" name="TextBox 3">
            <a:extLst>
              <a:ext uri="{FF2B5EF4-FFF2-40B4-BE49-F238E27FC236}">
                <a16:creationId xmlns:a16="http://schemas.microsoft.com/office/drawing/2014/main" id="{14A08D4D-996B-CA18-4CED-9EB412EAFB65}"/>
              </a:ext>
            </a:extLst>
          </p:cNvPr>
          <p:cNvSpPr txBox="1"/>
          <p:nvPr/>
        </p:nvSpPr>
        <p:spPr>
          <a:xfrm>
            <a:off x="159434" y="262155"/>
            <a:ext cx="12192000" cy="523220"/>
          </a:xfrm>
          <a:prstGeom prst="rect">
            <a:avLst/>
          </a:prstGeom>
          <a:noFill/>
        </p:spPr>
        <p:txBody>
          <a:bodyPr wrap="square" rtlCol="0">
            <a:spAutoFit/>
          </a:bodyPr>
          <a:lstStyle/>
          <a:p>
            <a:r>
              <a:rPr lang="en-US" sz="2800" dirty="0">
                <a:ln w="0"/>
                <a:solidFill>
                  <a:schemeClr val="accent1"/>
                </a:solidFill>
                <a:effectLst>
                  <a:outerShdw blurRad="38100" dist="25400" dir="5400000" algn="ctr" rotWithShape="0">
                    <a:srgbClr val="6E747A">
                      <a:alpha val="43000"/>
                    </a:srgbClr>
                  </a:outerShdw>
                </a:effectLst>
              </a:rPr>
              <a:t>I</a:t>
            </a:r>
            <a:r>
              <a:rPr lang="en-IN" sz="2800" dirty="0">
                <a:ln w="0"/>
                <a:solidFill>
                  <a:schemeClr val="accent1"/>
                </a:solidFill>
                <a:effectLst>
                  <a:outerShdw blurRad="38100" dist="25400" dir="5400000" algn="ctr" rotWithShape="0">
                    <a:srgbClr val="6E747A">
                      <a:alpha val="43000"/>
                    </a:srgbClr>
                  </a:outerShdw>
                </a:effectLst>
              </a:rPr>
              <a:t>STS WIND POWER PROJECTS – </a:t>
            </a:r>
            <a:r>
              <a:rPr lang="en-US" sz="2800" dirty="0">
                <a:ln w="0"/>
                <a:solidFill>
                  <a:schemeClr val="accent1"/>
                </a:solidFill>
                <a:effectLst>
                  <a:outerShdw blurRad="38100" dist="25400" dir="5400000" algn="ctr" rotWithShape="0">
                    <a:srgbClr val="6E747A">
                      <a:alpha val="43000"/>
                    </a:srgbClr>
                  </a:outerShdw>
                </a:effectLst>
              </a:rPr>
              <a:t>Disputed Capacity – Part 2 of 2</a:t>
            </a:r>
            <a:endParaRPr lang="en-GB" sz="2800" dirty="0">
              <a:ln w="0"/>
              <a:solidFill>
                <a:schemeClr val="accent1"/>
              </a:solidFill>
              <a:effectLst>
                <a:outerShdw blurRad="38100" dist="25400" dir="5400000" algn="ctr" rotWithShape="0">
                  <a:srgbClr val="6E747A">
                    <a:alpha val="43000"/>
                  </a:srgbClr>
                </a:outerShdw>
              </a:effectLst>
            </a:endParaRPr>
          </a:p>
        </p:txBody>
      </p:sp>
      <p:cxnSp>
        <p:nvCxnSpPr>
          <p:cNvPr id="6" name="Straight Connector 5">
            <a:extLst>
              <a:ext uri="{FF2B5EF4-FFF2-40B4-BE49-F238E27FC236}">
                <a16:creationId xmlns:a16="http://schemas.microsoft.com/office/drawing/2014/main" id="{7BC1A391-86CC-284F-50CE-342E0333376D}"/>
              </a:ext>
            </a:extLst>
          </p:cNvPr>
          <p:cNvCxnSpPr/>
          <p:nvPr/>
        </p:nvCxnSpPr>
        <p:spPr>
          <a:xfrm>
            <a:off x="0" y="844062"/>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2" name="Table 1">
            <a:extLst>
              <a:ext uri="{FF2B5EF4-FFF2-40B4-BE49-F238E27FC236}">
                <a16:creationId xmlns:a16="http://schemas.microsoft.com/office/drawing/2014/main" id="{29BF5B9A-C2CF-351C-F512-6F8339FFCF02}"/>
              </a:ext>
            </a:extLst>
          </p:cNvPr>
          <p:cNvGraphicFramePr>
            <a:graphicFrameLocks noGrp="1"/>
          </p:cNvGraphicFramePr>
          <p:nvPr>
            <p:extLst>
              <p:ext uri="{D42A27DB-BD31-4B8C-83A1-F6EECF244321}">
                <p14:modId xmlns:p14="http://schemas.microsoft.com/office/powerpoint/2010/main" val="2713341990"/>
              </p:ext>
            </p:extLst>
          </p:nvPr>
        </p:nvGraphicFramePr>
        <p:xfrm>
          <a:off x="159434" y="886503"/>
          <a:ext cx="11873132" cy="5376545"/>
        </p:xfrm>
        <a:graphic>
          <a:graphicData uri="http://schemas.openxmlformats.org/drawingml/2006/table">
            <a:tbl>
              <a:tblPr firstRow="1" lastRow="1" bandRow="1">
                <a:tableStyleId>{5C22544A-7EE6-4342-B048-85BDC9FD1C3A}</a:tableStyleId>
              </a:tblPr>
              <a:tblGrid>
                <a:gridCol w="578348">
                  <a:extLst>
                    <a:ext uri="{9D8B030D-6E8A-4147-A177-3AD203B41FA5}">
                      <a16:colId xmlns:a16="http://schemas.microsoft.com/office/drawing/2014/main" val="3839638492"/>
                    </a:ext>
                  </a:extLst>
                </a:gridCol>
                <a:gridCol w="918552">
                  <a:extLst>
                    <a:ext uri="{9D8B030D-6E8A-4147-A177-3AD203B41FA5}">
                      <a16:colId xmlns:a16="http://schemas.microsoft.com/office/drawing/2014/main" val="600081952"/>
                    </a:ext>
                  </a:extLst>
                </a:gridCol>
                <a:gridCol w="774045">
                  <a:extLst>
                    <a:ext uri="{9D8B030D-6E8A-4147-A177-3AD203B41FA5}">
                      <a16:colId xmlns:a16="http://schemas.microsoft.com/office/drawing/2014/main" val="3790209724"/>
                    </a:ext>
                  </a:extLst>
                </a:gridCol>
                <a:gridCol w="1491916">
                  <a:extLst>
                    <a:ext uri="{9D8B030D-6E8A-4147-A177-3AD203B41FA5}">
                      <a16:colId xmlns:a16="http://schemas.microsoft.com/office/drawing/2014/main" val="1183445894"/>
                    </a:ext>
                  </a:extLst>
                </a:gridCol>
                <a:gridCol w="1287379">
                  <a:extLst>
                    <a:ext uri="{9D8B030D-6E8A-4147-A177-3AD203B41FA5}">
                      <a16:colId xmlns:a16="http://schemas.microsoft.com/office/drawing/2014/main" val="2553156167"/>
                    </a:ext>
                  </a:extLst>
                </a:gridCol>
                <a:gridCol w="1467852">
                  <a:extLst>
                    <a:ext uri="{9D8B030D-6E8A-4147-A177-3AD203B41FA5}">
                      <a16:colId xmlns:a16="http://schemas.microsoft.com/office/drawing/2014/main" val="3055579403"/>
                    </a:ext>
                  </a:extLst>
                </a:gridCol>
                <a:gridCol w="1147846">
                  <a:extLst>
                    <a:ext uri="{9D8B030D-6E8A-4147-A177-3AD203B41FA5}">
                      <a16:colId xmlns:a16="http://schemas.microsoft.com/office/drawing/2014/main" val="2422142169"/>
                    </a:ext>
                  </a:extLst>
                </a:gridCol>
                <a:gridCol w="1134014">
                  <a:extLst>
                    <a:ext uri="{9D8B030D-6E8A-4147-A177-3AD203B41FA5}">
                      <a16:colId xmlns:a16="http://schemas.microsoft.com/office/drawing/2014/main" val="2144348705"/>
                    </a:ext>
                  </a:extLst>
                </a:gridCol>
                <a:gridCol w="3073180">
                  <a:extLst>
                    <a:ext uri="{9D8B030D-6E8A-4147-A177-3AD203B41FA5}">
                      <a16:colId xmlns:a16="http://schemas.microsoft.com/office/drawing/2014/main" val="3010996357"/>
                    </a:ext>
                  </a:extLst>
                </a:gridCol>
              </a:tblGrid>
              <a:tr h="413975">
                <a:tc>
                  <a:txBody>
                    <a:bodyPr/>
                    <a:lstStyle/>
                    <a:p>
                      <a:pPr algn="ctr">
                        <a:lnSpc>
                          <a:spcPct val="115000"/>
                        </a:lnSpc>
                        <a:spcAft>
                          <a:spcPts val="800"/>
                        </a:spcAft>
                      </a:pPr>
                      <a:r>
                        <a:rPr lang="en-GB" sz="1400" kern="100" dirty="0" err="1">
                          <a:effectLst/>
                        </a:rPr>
                        <a:t>Sl</a:t>
                      </a:r>
                      <a:r>
                        <a:rPr lang="en-GB" sz="1400" kern="100" dirty="0">
                          <a:effectLst/>
                        </a:rPr>
                        <a:t> No.</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Status</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a:effectLst/>
                        </a:rPr>
                        <a:t>Tranche</a:t>
                      </a:r>
                      <a:endParaRPr lang="en-IN" sz="14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PPA-signing Entity</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a:effectLst/>
                        </a:rPr>
                        <a:t>PPA Capacity</a:t>
                      </a:r>
                      <a:br>
                        <a:rPr lang="en-GB" sz="1400" kern="100">
                          <a:effectLst/>
                        </a:rPr>
                      </a:br>
                      <a:r>
                        <a:rPr lang="en-GB" sz="1400" kern="100">
                          <a:effectLst/>
                        </a:rPr>
                        <a:t>(MW)</a:t>
                      </a:r>
                      <a:endParaRPr lang="en-IN" sz="14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IN" sz="1400" kern="100" dirty="0">
                          <a:effectLst/>
                          <a:latin typeface="Aptos" panose="020B0004020202020204" pitchFamily="34" charset="0"/>
                          <a:ea typeface="Aptos" panose="020B0004020202020204" pitchFamily="34" charset="0"/>
                          <a:cs typeface="Mangal" panose="02040503050203030202" pitchFamily="18" charset="0"/>
                        </a:rPr>
                        <a:t>Disputed Capacity (MW)</a:t>
                      </a:r>
                    </a:p>
                  </a:txBody>
                  <a:tcPr marL="32096" marR="32096" marT="0" marB="0" anchor="ctr"/>
                </a:tc>
                <a:tc>
                  <a:txBody>
                    <a:bodyPr/>
                    <a:lstStyle/>
                    <a:p>
                      <a:pPr algn="ctr">
                        <a:lnSpc>
                          <a:spcPct val="115000"/>
                        </a:lnSpc>
                        <a:spcAft>
                          <a:spcPts val="800"/>
                        </a:spcAft>
                      </a:pPr>
                      <a:r>
                        <a:rPr lang="en-GB" sz="1400" kern="100" dirty="0">
                          <a:effectLst/>
                        </a:rPr>
                        <a:t>Original/ Last Revised SCD</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a:effectLst/>
                        </a:rPr>
                        <a:t>Status of LD</a:t>
                      </a:r>
                      <a:endParaRPr lang="en-IN" sz="14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Petition/ Appeal No. and Date of filing and stage</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3952490575"/>
                  </a:ext>
                </a:extLst>
              </a:tr>
              <a:tr h="1363599">
                <a:tc>
                  <a:txBody>
                    <a:bodyPr/>
                    <a:lstStyle/>
                    <a:p>
                      <a:pPr algn="ctr">
                        <a:lnSpc>
                          <a:spcPct val="115000"/>
                        </a:lnSpc>
                        <a:spcAft>
                          <a:spcPts val="800"/>
                        </a:spcAft>
                      </a:pPr>
                      <a:r>
                        <a:rPr lang="en-GB" sz="1400" kern="100" dirty="0">
                          <a:effectLst/>
                        </a:rPr>
                        <a:t>13</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rowSpan="5">
                  <a:txBody>
                    <a:bodyPr/>
                    <a:lstStyle/>
                    <a:p>
                      <a:pPr marL="0" marR="0" lvl="0" indent="0" algn="ctr" defTabSz="914400" rtl="0" eaLnBrk="1" fontAlgn="auto" latinLnBrk="0" hangingPunct="1">
                        <a:lnSpc>
                          <a:spcPct val="115000"/>
                        </a:lnSpc>
                        <a:spcBef>
                          <a:spcPts val="0"/>
                        </a:spcBef>
                        <a:spcAft>
                          <a:spcPts val="800"/>
                        </a:spcAft>
                        <a:buClrTx/>
                        <a:buSzTx/>
                        <a:buFontTx/>
                        <a:buNone/>
                        <a:tabLst/>
                        <a:defRPr/>
                      </a:pPr>
                      <a:r>
                        <a:rPr lang="en-IN" sz="1400" u="none" strike="noStrike" dirty="0">
                          <a:effectLst/>
                        </a:rPr>
                        <a:t>SEEKING EXTENSION IN PROJECT TIMELINES</a:t>
                      </a:r>
                    </a:p>
                  </a:txBody>
                  <a:tcPr marL="32096" marR="32096" marT="0" marB="0" anchor="ctr"/>
                </a:tc>
                <a:tc>
                  <a:txBody>
                    <a:bodyPr/>
                    <a:lstStyle/>
                    <a:p>
                      <a:pPr algn="ctr">
                        <a:lnSpc>
                          <a:spcPct val="115000"/>
                        </a:lnSpc>
                        <a:spcAft>
                          <a:spcPts val="800"/>
                        </a:spcAft>
                      </a:pPr>
                      <a:r>
                        <a:rPr lang="en-GB" sz="1400" kern="100">
                          <a:effectLst/>
                        </a:rPr>
                        <a:t>III</a:t>
                      </a:r>
                      <a:endParaRPr lang="en-IN" sz="14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Inox Green Energy Services Ltd</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200</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IN" sz="1400" kern="100" dirty="0">
                          <a:effectLst/>
                          <a:latin typeface="Aptos" panose="020B0004020202020204" pitchFamily="34" charset="0"/>
                          <a:ea typeface="Aptos" panose="020B0004020202020204" pitchFamily="34" charset="0"/>
                          <a:cs typeface="Mangal" panose="02040503050203030202" pitchFamily="18" charset="0"/>
                        </a:rPr>
                        <a:t>200</a:t>
                      </a:r>
                    </a:p>
                  </a:txBody>
                  <a:tcPr marL="32096" marR="32096" marT="0" marB="0" anchor="ctr"/>
                </a:tc>
                <a:tc>
                  <a:txBody>
                    <a:bodyPr/>
                    <a:lstStyle/>
                    <a:p>
                      <a:pPr algn="ctr">
                        <a:lnSpc>
                          <a:spcPct val="115000"/>
                        </a:lnSpc>
                        <a:spcAft>
                          <a:spcPts val="800"/>
                        </a:spcAft>
                      </a:pPr>
                      <a:r>
                        <a:rPr lang="en-GB" sz="1400" kern="100" dirty="0">
                          <a:effectLst/>
                        </a:rPr>
                        <a:t>24.11.2019/ </a:t>
                      </a:r>
                      <a:endParaRPr lang="en-IN" sz="1400" kern="100" dirty="0">
                        <a:effectLst/>
                      </a:endParaRPr>
                    </a:p>
                    <a:p>
                      <a:pPr algn="ctr">
                        <a:lnSpc>
                          <a:spcPct val="115000"/>
                        </a:lnSpc>
                        <a:spcAft>
                          <a:spcPts val="800"/>
                        </a:spcAft>
                      </a:pPr>
                      <a:r>
                        <a:rPr lang="en-GB" sz="1400" kern="100" dirty="0">
                          <a:effectLst/>
                        </a:rPr>
                        <a:t>31.08.2022</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Recovered</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Petition No. 307/MP/2024/ CERC/ 03.09.2024/</a:t>
                      </a:r>
                      <a:endParaRPr lang="en-IN" sz="1400" kern="100" dirty="0">
                        <a:effectLst/>
                      </a:endParaRPr>
                    </a:p>
                    <a:p>
                      <a:pPr algn="ctr">
                        <a:lnSpc>
                          <a:spcPct val="115000"/>
                        </a:lnSpc>
                        <a:spcAft>
                          <a:spcPts val="800"/>
                        </a:spcAft>
                      </a:pPr>
                      <a:r>
                        <a:rPr lang="en-GB" sz="1400" kern="100" dirty="0">
                          <a:effectLst/>
                        </a:rPr>
                        <a:t>Hearing ongoing</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3245184826"/>
                  </a:ext>
                </a:extLst>
              </a:tr>
              <a:tr h="484583">
                <a:tc>
                  <a:txBody>
                    <a:bodyPr/>
                    <a:lstStyle/>
                    <a:p>
                      <a:pPr algn="ctr">
                        <a:lnSpc>
                          <a:spcPct val="115000"/>
                        </a:lnSpc>
                        <a:spcAft>
                          <a:spcPts val="800"/>
                        </a:spcAft>
                      </a:pPr>
                      <a:r>
                        <a:rPr lang="en-GB" sz="1400" kern="100" dirty="0">
                          <a:effectLst/>
                          <a:latin typeface="Aptos" panose="020B0004020202020204" pitchFamily="34" charset="0"/>
                          <a:ea typeface="Aptos" panose="020B0004020202020204" pitchFamily="34" charset="0"/>
                          <a:cs typeface="Mangal" panose="02040503050203030202" pitchFamily="18" charset="0"/>
                        </a:rPr>
                        <a:t>14</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vMerge="1">
                  <a:txBody>
                    <a:bodyPr/>
                    <a:lstStyle/>
                    <a:p>
                      <a:endParaRPr dirty="0"/>
                    </a:p>
                  </a:txBody>
                  <a:tcPr marL="32096" marR="32096" marT="0" marB="0" anchor="ctr"/>
                </a:tc>
                <a:tc>
                  <a:txBody>
                    <a:bodyPr/>
                    <a:lstStyle/>
                    <a:p>
                      <a:pPr algn="ctr">
                        <a:lnSpc>
                          <a:spcPct val="115000"/>
                        </a:lnSpc>
                        <a:spcAft>
                          <a:spcPts val="800"/>
                        </a:spcAft>
                      </a:pPr>
                      <a:r>
                        <a:rPr lang="en-GB" sz="1400" kern="100" dirty="0">
                          <a:effectLst/>
                        </a:rPr>
                        <a:t>IV</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Inox Green Energy Services Ltd</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100</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IN" sz="1400" kern="100" dirty="0">
                          <a:effectLst/>
                          <a:latin typeface="Aptos" panose="020B0004020202020204" pitchFamily="34" charset="0"/>
                          <a:ea typeface="Aptos" panose="020B0004020202020204" pitchFamily="34" charset="0"/>
                          <a:cs typeface="Mangal" panose="02040503050203030202" pitchFamily="18" charset="0"/>
                        </a:rPr>
                        <a:t>100</a:t>
                      </a:r>
                    </a:p>
                  </a:txBody>
                  <a:tcPr marL="32096" marR="32096" marT="0" marB="0" anchor="ctr"/>
                </a:tc>
                <a:tc>
                  <a:txBody>
                    <a:bodyPr/>
                    <a:lstStyle/>
                    <a:p>
                      <a:pPr algn="ctr">
                        <a:lnSpc>
                          <a:spcPct val="115000"/>
                        </a:lnSpc>
                        <a:spcAft>
                          <a:spcPts val="800"/>
                        </a:spcAft>
                      </a:pPr>
                      <a:r>
                        <a:rPr lang="en-GB" sz="1400" kern="100" dirty="0">
                          <a:effectLst/>
                        </a:rPr>
                        <a:t>29.02.2020/ 31.08.2022</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Recovered</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Petition No. 308/MP/2024/ CERC/ 03.09.2024/</a:t>
                      </a:r>
                      <a:endParaRPr lang="en-IN" sz="1400" kern="100" dirty="0">
                        <a:effectLst/>
                      </a:endParaRPr>
                    </a:p>
                    <a:p>
                      <a:pPr algn="ctr">
                        <a:lnSpc>
                          <a:spcPct val="115000"/>
                        </a:lnSpc>
                        <a:spcAft>
                          <a:spcPts val="800"/>
                        </a:spcAft>
                      </a:pPr>
                      <a:r>
                        <a:rPr lang="en-GB" sz="1400" kern="100" dirty="0">
                          <a:effectLst/>
                        </a:rPr>
                        <a:t>Hearing ongoing</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2785726980"/>
                  </a:ext>
                </a:extLst>
              </a:tr>
              <a:tr h="477266">
                <a:tc>
                  <a:txBody>
                    <a:bodyPr/>
                    <a:lstStyle/>
                    <a:p>
                      <a:pPr algn="ctr">
                        <a:lnSpc>
                          <a:spcPct val="115000"/>
                        </a:lnSpc>
                        <a:spcAft>
                          <a:spcPts val="800"/>
                        </a:spcAft>
                      </a:pPr>
                      <a:r>
                        <a:rPr lang="en-GB" sz="1400" kern="100" dirty="0">
                          <a:effectLst/>
                          <a:latin typeface="Aptos" panose="020B0004020202020204" pitchFamily="34" charset="0"/>
                          <a:ea typeface="Aptos" panose="020B0004020202020204" pitchFamily="34" charset="0"/>
                          <a:cs typeface="Mangal" panose="02040503050203030202" pitchFamily="18" charset="0"/>
                        </a:rPr>
                        <a:t>15</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vMerge="1">
                  <a:txBody>
                    <a:bodyPr/>
                    <a:lstStyle/>
                    <a:p>
                      <a:endParaRPr dirty="0"/>
                    </a:p>
                  </a:txBody>
                  <a:tcPr marL="32096" marR="32096" marT="0" marB="0" anchor="ctr"/>
                </a:tc>
                <a:tc>
                  <a:txBody>
                    <a:bodyPr/>
                    <a:lstStyle/>
                    <a:p>
                      <a:pPr algn="ctr">
                        <a:lnSpc>
                          <a:spcPct val="115000"/>
                        </a:lnSpc>
                        <a:spcAft>
                          <a:spcPts val="800"/>
                        </a:spcAft>
                      </a:pPr>
                      <a:r>
                        <a:rPr lang="en-GB" sz="1400" kern="100" dirty="0">
                          <a:effectLst/>
                        </a:rPr>
                        <a:t>IV</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err="1">
                          <a:effectLst/>
                        </a:rPr>
                        <a:t>Avikiran</a:t>
                      </a:r>
                      <a:r>
                        <a:rPr lang="en-GB" sz="1400" kern="100" dirty="0">
                          <a:effectLst/>
                        </a:rPr>
                        <a:t> Solar India Pvt Ltd</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285</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IN" sz="1400" kern="100" dirty="0">
                          <a:effectLst/>
                          <a:latin typeface="Aptos" panose="020B0004020202020204" pitchFamily="34" charset="0"/>
                          <a:ea typeface="Aptos" panose="020B0004020202020204" pitchFamily="34" charset="0"/>
                          <a:cs typeface="Mangal" panose="02040503050203030202" pitchFamily="18" charset="0"/>
                        </a:rPr>
                        <a:t>2.1</a:t>
                      </a:r>
                    </a:p>
                  </a:txBody>
                  <a:tcPr marL="32096" marR="32096" marT="0" marB="0" anchor="ctr"/>
                </a:tc>
                <a:tc>
                  <a:txBody>
                    <a:bodyPr/>
                    <a:lstStyle/>
                    <a:p>
                      <a:pPr algn="ctr">
                        <a:lnSpc>
                          <a:spcPct val="115000"/>
                        </a:lnSpc>
                        <a:spcAft>
                          <a:spcPts val="800"/>
                        </a:spcAft>
                      </a:pPr>
                      <a:r>
                        <a:rPr lang="en-GB" sz="1400" kern="100" dirty="0">
                          <a:effectLst/>
                        </a:rPr>
                        <a:t>29.02.2020/ 17.03.2022</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Recovered</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Petition No. 180/MP/2024/ CERC/ 30.04.2024/</a:t>
                      </a:r>
                      <a:endParaRPr lang="en-IN" sz="1400" kern="100" dirty="0">
                        <a:effectLst/>
                      </a:endParaRPr>
                    </a:p>
                    <a:p>
                      <a:pPr algn="ctr">
                        <a:lnSpc>
                          <a:spcPct val="115000"/>
                        </a:lnSpc>
                        <a:spcAft>
                          <a:spcPts val="800"/>
                        </a:spcAft>
                      </a:pPr>
                      <a:r>
                        <a:rPr lang="en-GB" sz="1400" kern="100" dirty="0">
                          <a:effectLst/>
                        </a:rPr>
                        <a:t>Hearing ongoing</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1283580390"/>
                  </a:ext>
                </a:extLst>
              </a:tr>
              <a:tr h="477266">
                <a:tc>
                  <a:txBody>
                    <a:bodyPr/>
                    <a:lstStyle/>
                    <a:p>
                      <a:pPr algn="ctr">
                        <a:lnSpc>
                          <a:spcPct val="115000"/>
                        </a:lnSpc>
                        <a:spcAft>
                          <a:spcPts val="800"/>
                        </a:spcAft>
                      </a:pPr>
                      <a:r>
                        <a:rPr lang="en-GB" sz="1400" kern="100" dirty="0">
                          <a:effectLst/>
                          <a:latin typeface="Aptos" panose="020B0004020202020204" pitchFamily="34" charset="0"/>
                          <a:ea typeface="Aptos" panose="020B0004020202020204" pitchFamily="34" charset="0"/>
                          <a:cs typeface="Mangal" panose="02040503050203030202" pitchFamily="18" charset="0"/>
                        </a:rPr>
                        <a:t>16</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vMerge="1">
                  <a:txBody>
                    <a:bodyPr/>
                    <a:lstStyle/>
                    <a:p>
                      <a:endParaRPr dirty="0"/>
                    </a:p>
                  </a:txBody>
                  <a:tcPr marL="32096" marR="32096" marT="0" marB="0" anchor="ctr"/>
                </a:tc>
                <a:tc>
                  <a:txBody>
                    <a:bodyPr/>
                    <a:lstStyle/>
                    <a:p>
                      <a:pPr algn="ctr">
                        <a:lnSpc>
                          <a:spcPct val="115000"/>
                        </a:lnSpc>
                        <a:spcAft>
                          <a:spcPts val="800"/>
                        </a:spcAft>
                      </a:pPr>
                      <a:r>
                        <a:rPr lang="en-GB" sz="1400" kern="100" dirty="0">
                          <a:effectLst/>
                        </a:rPr>
                        <a:t>IV</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US" sz="1400" kern="100" dirty="0">
                          <a:effectLst/>
                        </a:rPr>
                        <a:t>Continuum Power Trading (TN) Pvt Ltd</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250</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IN" sz="1400" kern="100" dirty="0">
                          <a:effectLst/>
                          <a:latin typeface="Aptos" panose="020B0004020202020204" pitchFamily="34" charset="0"/>
                          <a:ea typeface="Aptos" panose="020B0004020202020204" pitchFamily="34" charset="0"/>
                          <a:cs typeface="Mangal" panose="02040503050203030202" pitchFamily="18" charset="0"/>
                        </a:rPr>
                        <a:t>38</a:t>
                      </a:r>
                    </a:p>
                  </a:txBody>
                  <a:tcPr marL="32096" marR="32096" marT="0" marB="0" anchor="ctr"/>
                </a:tc>
                <a:tc>
                  <a:txBody>
                    <a:bodyPr/>
                    <a:lstStyle/>
                    <a:p>
                      <a:pPr algn="ctr">
                        <a:lnSpc>
                          <a:spcPct val="115000"/>
                        </a:lnSpc>
                        <a:spcAft>
                          <a:spcPts val="800"/>
                        </a:spcAft>
                      </a:pPr>
                      <a:r>
                        <a:rPr lang="en-GB" sz="1400" kern="100" dirty="0">
                          <a:effectLst/>
                        </a:rPr>
                        <a:t>29.02.2020/ 21.12.2022</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Recovered</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IN" sz="1400" kern="100" dirty="0">
                          <a:effectLst/>
                        </a:rPr>
                        <a:t>SLP No. 15096-15097/2024/ SCI/ 10.07.2024</a:t>
                      </a:r>
                    </a:p>
                    <a:p>
                      <a:pPr algn="ctr">
                        <a:lnSpc>
                          <a:spcPct val="115000"/>
                        </a:lnSpc>
                        <a:spcAft>
                          <a:spcPts val="800"/>
                        </a:spcAft>
                      </a:pPr>
                      <a:r>
                        <a:rPr lang="en-IN" sz="1400" kern="100" dirty="0">
                          <a:effectLst/>
                          <a:latin typeface="Aptos" panose="020B0004020202020204" pitchFamily="34" charset="0"/>
                          <a:ea typeface="Aptos" panose="020B0004020202020204" pitchFamily="34" charset="0"/>
                          <a:cs typeface="Mangal" panose="02040503050203030202" pitchFamily="18" charset="0"/>
                        </a:rPr>
                        <a:t>Hearing Ongoing.</a:t>
                      </a:r>
                    </a:p>
                  </a:txBody>
                  <a:tcPr marL="32096" marR="32096" marT="0" marB="0" anchor="ctr"/>
                </a:tc>
                <a:extLst>
                  <a:ext uri="{0D108BD9-81ED-4DB2-BD59-A6C34878D82A}">
                    <a16:rowId xmlns:a16="http://schemas.microsoft.com/office/drawing/2014/main" val="1753171002"/>
                  </a:ext>
                </a:extLst>
              </a:tr>
              <a:tr h="477266">
                <a:tc>
                  <a:txBody>
                    <a:bodyPr/>
                    <a:lstStyle/>
                    <a:p>
                      <a:pPr algn="ctr">
                        <a:lnSpc>
                          <a:spcPct val="115000"/>
                        </a:lnSpc>
                        <a:spcAft>
                          <a:spcPts val="800"/>
                        </a:spcAft>
                      </a:pPr>
                      <a:r>
                        <a:rPr lang="en-GB" sz="1400" kern="100" dirty="0">
                          <a:effectLst/>
                          <a:latin typeface="Aptos" panose="020B0004020202020204" pitchFamily="34" charset="0"/>
                          <a:ea typeface="Aptos" panose="020B0004020202020204" pitchFamily="34" charset="0"/>
                          <a:cs typeface="Mangal" panose="02040503050203030202" pitchFamily="18" charset="0"/>
                        </a:rPr>
                        <a:t>17</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vMerge="1">
                  <a:txBody>
                    <a:bodyPr/>
                    <a:lstStyle/>
                    <a:p>
                      <a:endParaRPr dirty="0"/>
                    </a:p>
                  </a:txBody>
                  <a:tcPr marL="32096" marR="32096" marT="0" marB="0" anchor="ctr"/>
                </a:tc>
                <a:tc>
                  <a:txBody>
                    <a:bodyPr/>
                    <a:lstStyle/>
                    <a:p>
                      <a:pPr algn="ctr">
                        <a:lnSpc>
                          <a:spcPct val="115000"/>
                        </a:lnSpc>
                        <a:spcAft>
                          <a:spcPts val="800"/>
                        </a:spcAft>
                      </a:pPr>
                      <a:r>
                        <a:rPr lang="en-GB" sz="1400" kern="100" dirty="0">
                          <a:effectLst/>
                        </a:rPr>
                        <a:t>VIII</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sv-SE" sz="1400" kern="100" dirty="0">
                          <a:effectLst/>
                        </a:rPr>
                        <a:t>Tunga Renewable Energy Pvt Ltd</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latin typeface="Aptos" panose="020B0004020202020204" pitchFamily="34" charset="0"/>
                          <a:ea typeface="Aptos" panose="020B0004020202020204" pitchFamily="34" charset="0"/>
                          <a:cs typeface="Mangal" panose="02040503050203030202" pitchFamily="18" charset="0"/>
                        </a:rPr>
                        <a:t>189.93</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IN" sz="1400" kern="100" dirty="0">
                          <a:effectLst/>
                          <a:latin typeface="Aptos" panose="020B0004020202020204" pitchFamily="34" charset="0"/>
                          <a:ea typeface="Aptos" panose="020B0004020202020204" pitchFamily="34" charset="0"/>
                          <a:cs typeface="Mangal" panose="02040503050203030202" pitchFamily="18" charset="0"/>
                        </a:rPr>
                        <a:t>189.93</a:t>
                      </a:r>
                    </a:p>
                  </a:txBody>
                  <a:tcPr marL="32096" marR="32096" marT="0" marB="0" anchor="ctr"/>
                </a:tc>
                <a:tc>
                  <a:txBody>
                    <a:bodyPr/>
                    <a:lstStyle/>
                    <a:p>
                      <a:pPr algn="ctr">
                        <a:lnSpc>
                          <a:spcPct val="115000"/>
                        </a:lnSpc>
                        <a:spcAft>
                          <a:spcPts val="800"/>
                        </a:spcAft>
                      </a:pPr>
                      <a:r>
                        <a:rPr lang="en-GB" sz="1400" kern="100" dirty="0">
                          <a:effectLst/>
                        </a:rPr>
                        <a:t>21.11.2021/ </a:t>
                      </a:r>
                      <a:r>
                        <a:rPr lang="en-IN" sz="1400" kern="100" dirty="0">
                          <a:effectLst/>
                          <a:latin typeface="Aptos" panose="020B0004020202020204" pitchFamily="34" charset="0"/>
                          <a:cs typeface="Mangal" panose="02040503050203030202" pitchFamily="18" charset="0"/>
                        </a:rPr>
                        <a:t>05.09.2022</a:t>
                      </a:r>
                      <a:endParaRPr lang="en-IN" sz="1400" kern="100" dirty="0">
                        <a:effectLst/>
                      </a:endParaRPr>
                    </a:p>
                  </a:txBody>
                  <a:tcPr marL="32096" marR="32096" marT="0" marB="0" anchor="ctr"/>
                </a:tc>
                <a:tc>
                  <a:txBody>
                    <a:bodyPr/>
                    <a:lstStyle/>
                    <a:p>
                      <a:pPr algn="ctr">
                        <a:lnSpc>
                          <a:spcPct val="115000"/>
                        </a:lnSpc>
                        <a:spcAft>
                          <a:spcPts val="800"/>
                        </a:spcAft>
                      </a:pPr>
                      <a:r>
                        <a:rPr lang="en-GB" sz="1400" kern="100" dirty="0">
                          <a:effectLst/>
                        </a:rPr>
                        <a:t>Not Recovered</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Petition No. 339/MP/2024/ CERC/ 14.11.2022/</a:t>
                      </a:r>
                      <a:endParaRPr lang="en-IN" sz="1400" kern="100" dirty="0">
                        <a:effectLst/>
                      </a:endParaRPr>
                    </a:p>
                    <a:p>
                      <a:pPr algn="ctr">
                        <a:lnSpc>
                          <a:spcPct val="115000"/>
                        </a:lnSpc>
                        <a:spcAft>
                          <a:spcPts val="800"/>
                        </a:spcAft>
                      </a:pPr>
                      <a:r>
                        <a:rPr lang="en-GB" sz="1400" kern="100" dirty="0">
                          <a:effectLst/>
                        </a:rPr>
                        <a:t>Hearing ongoing</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4091213373"/>
                  </a:ext>
                </a:extLst>
              </a:tr>
              <a:tr h="226616">
                <a:tc>
                  <a:txBody>
                    <a:bodyPr/>
                    <a:lstStyle/>
                    <a:p>
                      <a:pPr algn="ctr">
                        <a:lnSpc>
                          <a:spcPct val="115000"/>
                        </a:lnSpc>
                        <a:spcAft>
                          <a:spcPts val="800"/>
                        </a:spcAft>
                      </a:pPr>
                      <a:r>
                        <a:rPr lang="en-GB" sz="1400" kern="100">
                          <a:effectLst/>
                        </a:rPr>
                        <a:t> </a:t>
                      </a:r>
                      <a:endParaRPr lang="en-IN" sz="14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 </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endParaRPr lang="en-IN" sz="1400" kern="100">
                        <a:effectLst/>
                        <a:latin typeface="Aptos" panose="020B0004020202020204" pitchFamily="34" charset="0"/>
                      </a:endParaRPr>
                    </a:p>
                  </a:txBody>
                  <a:tcPr marL="32096" marR="32096" marT="0" marB="0" anchor="ctr"/>
                </a:tc>
                <a:tc>
                  <a:txBody>
                    <a:bodyPr/>
                    <a:lstStyle/>
                    <a:p>
                      <a:pPr algn="ctr">
                        <a:lnSpc>
                          <a:spcPct val="115000"/>
                        </a:lnSpc>
                        <a:spcAft>
                          <a:spcPts val="800"/>
                        </a:spcAft>
                      </a:pPr>
                      <a:r>
                        <a:rPr lang="en-GB" sz="1400" kern="100">
                          <a:effectLst/>
                        </a:rPr>
                        <a:t>TOTAL</a:t>
                      </a:r>
                      <a:endParaRPr lang="en-IN" sz="14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1024.93</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IN" sz="1400" kern="100" dirty="0">
                          <a:effectLst/>
                          <a:latin typeface="Aptos" panose="020B0004020202020204" pitchFamily="34" charset="0"/>
                          <a:ea typeface="Aptos" panose="020B0004020202020204" pitchFamily="34" charset="0"/>
                          <a:cs typeface="Mangal" panose="02040503050203030202" pitchFamily="18" charset="0"/>
                        </a:rPr>
                        <a:t>530.03</a:t>
                      </a:r>
                    </a:p>
                  </a:txBody>
                  <a:tcPr marL="32096" marR="32096" marT="0" marB="0"/>
                </a:tc>
                <a:tc>
                  <a:txBody>
                    <a:bodyPr/>
                    <a:lstStyle/>
                    <a:p>
                      <a:pPr algn="ctr">
                        <a:lnSpc>
                          <a:spcPct val="115000"/>
                        </a:lnSpc>
                        <a:spcAft>
                          <a:spcPts val="800"/>
                        </a:spcAft>
                      </a:pPr>
                      <a:r>
                        <a:rPr lang="en-GB" sz="1400" kern="100" dirty="0">
                          <a:effectLst/>
                        </a:rPr>
                        <a:t> </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tc>
                <a:tc>
                  <a:txBody>
                    <a:bodyPr/>
                    <a:lstStyle/>
                    <a:p>
                      <a:endParaRPr lang="en-IN" sz="1400" kern="100">
                        <a:effectLst/>
                        <a:latin typeface="Aptos" panose="020B0004020202020204" pitchFamily="34" charset="0"/>
                      </a:endParaRPr>
                    </a:p>
                  </a:txBody>
                  <a:tcPr marL="32096" marR="32096" marT="0" marB="0" anchor="ctr"/>
                </a:tc>
                <a:tc>
                  <a:txBody>
                    <a:bodyPr/>
                    <a:lstStyle/>
                    <a:p>
                      <a:endParaRPr lang="en-IN" sz="1400" kern="100" dirty="0">
                        <a:effectLst/>
                        <a:latin typeface="Aptos" panose="020B0004020202020204" pitchFamily="34" charset="0"/>
                      </a:endParaRPr>
                    </a:p>
                  </a:txBody>
                  <a:tcPr marL="32096" marR="32096" marT="0" marB="0" anchor="ctr"/>
                </a:tc>
                <a:extLst>
                  <a:ext uri="{0D108BD9-81ED-4DB2-BD59-A6C34878D82A}">
                    <a16:rowId xmlns:a16="http://schemas.microsoft.com/office/drawing/2014/main" val="1501235089"/>
                  </a:ext>
                </a:extLst>
              </a:tr>
            </a:tbl>
          </a:graphicData>
        </a:graphic>
      </p:graphicFrame>
      <p:sp>
        <p:nvSpPr>
          <p:cNvPr id="13" name="Rectangle 12">
            <a:extLst>
              <a:ext uri="{FF2B5EF4-FFF2-40B4-BE49-F238E27FC236}">
                <a16:creationId xmlns:a16="http://schemas.microsoft.com/office/drawing/2014/main" id="{AFCEC6DE-1780-E720-018D-43BE39495BA8}"/>
              </a:ext>
            </a:extLst>
          </p:cNvPr>
          <p:cNvSpPr/>
          <p:nvPr/>
        </p:nvSpPr>
        <p:spPr>
          <a:xfrm>
            <a:off x="2642098" y="6372363"/>
            <a:ext cx="6907803" cy="446964"/>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b="1" dirty="0">
                <a:solidFill>
                  <a:schemeClr val="tx1"/>
                </a:solidFill>
              </a:rPr>
              <a:t>Disputed Capacity =&gt; 3239.8 MW + 530.03 MW = 3769.83 MW</a:t>
            </a:r>
            <a:endParaRPr lang="en-IN" sz="1600" b="1" dirty="0">
              <a:solidFill>
                <a:schemeClr val="tx1"/>
              </a:solidFill>
            </a:endParaRPr>
          </a:p>
        </p:txBody>
      </p:sp>
      <p:sp>
        <p:nvSpPr>
          <p:cNvPr id="5" name="TextBox 4">
            <a:extLst>
              <a:ext uri="{FF2B5EF4-FFF2-40B4-BE49-F238E27FC236}">
                <a16:creationId xmlns:a16="http://schemas.microsoft.com/office/drawing/2014/main" id="{9F21F01F-FADC-E25C-4A0B-618F2433DFA8}"/>
              </a:ext>
            </a:extLst>
          </p:cNvPr>
          <p:cNvSpPr txBox="1"/>
          <p:nvPr/>
        </p:nvSpPr>
        <p:spPr>
          <a:xfrm>
            <a:off x="10256121" y="6315654"/>
            <a:ext cx="1261534" cy="369332"/>
          </a:xfrm>
          <a:prstGeom prst="rect">
            <a:avLst/>
          </a:prstGeom>
          <a:noFill/>
        </p:spPr>
        <p:txBody>
          <a:bodyPr wrap="square" rtlCol="0">
            <a:spAutoFit/>
          </a:bodyPr>
          <a:lstStyle/>
          <a:p>
            <a:r>
              <a:rPr lang="en-US" dirty="0">
                <a:hlinkClick r:id="rId2" action="ppaction://hlinksldjump"/>
              </a:rPr>
              <a:t>Back</a:t>
            </a:r>
            <a:endParaRPr lang="en-IN" dirty="0"/>
          </a:p>
        </p:txBody>
      </p:sp>
    </p:spTree>
    <p:extLst>
      <p:ext uri="{BB962C8B-B14F-4D97-AF65-F5344CB8AC3E}">
        <p14:creationId xmlns:p14="http://schemas.microsoft.com/office/powerpoint/2010/main" val="1495032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ADF5F-A19F-C5B3-61DB-A7EB2AC8346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547D60-81FA-6F51-1D89-3230E482D3A1}"/>
              </a:ext>
            </a:extLst>
          </p:cNvPr>
          <p:cNvSpPr>
            <a:spLocks noGrp="1"/>
          </p:cNvSpPr>
          <p:nvPr>
            <p:ph idx="1"/>
          </p:nvPr>
        </p:nvSpPr>
        <p:spPr>
          <a:xfrm>
            <a:off x="159434" y="877987"/>
            <a:ext cx="11873132" cy="5853399"/>
          </a:xfrm>
        </p:spPr>
        <p:txBody>
          <a:bodyPr>
            <a:normAutofit/>
          </a:bodyPr>
          <a:lstStyle/>
          <a:p>
            <a:pPr marL="0" indent="0">
              <a:buNone/>
            </a:pPr>
            <a:endParaRPr lang="en-US" sz="2400" i="1" u="sng" dirty="0">
              <a:solidFill>
                <a:schemeClr val="accent1">
                  <a:lumMod val="75000"/>
                </a:schemeClr>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400" i="1" u="sng" dirty="0">
              <a:solidFill>
                <a:schemeClr val="accent1">
                  <a:lumMod val="75000"/>
                </a:schemeClr>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lnSpc>
                <a:spcPct val="150000"/>
              </a:lnSpc>
              <a:spcBef>
                <a:spcPts val="600"/>
              </a:spcBef>
              <a:spcAft>
                <a:spcPts val="600"/>
              </a:spcAft>
              <a:buNone/>
            </a:pPr>
            <a:endParaRPr lang="en-US" sz="2000" dirty="0">
              <a:solidFill>
                <a:srgbClr val="000000"/>
              </a:solidFill>
              <a:latin typeface="Arial" panose="020B0604020202020204" pitchFamily="34" charset="0"/>
            </a:endParaRPr>
          </a:p>
          <a:p>
            <a:pPr marL="0" indent="0" algn="just">
              <a:buNone/>
            </a:pPr>
            <a:endParaRPr lang="en-US" dirty="0">
              <a:solidFill>
                <a:srgbClr val="000000"/>
              </a:solidFill>
              <a:latin typeface="Arial" panose="020B0604020202020204" pitchFamily="34" charset="0"/>
            </a:endParaRPr>
          </a:p>
        </p:txBody>
      </p:sp>
      <p:sp>
        <p:nvSpPr>
          <p:cNvPr id="4" name="TextBox 3">
            <a:extLst>
              <a:ext uri="{FF2B5EF4-FFF2-40B4-BE49-F238E27FC236}">
                <a16:creationId xmlns:a16="http://schemas.microsoft.com/office/drawing/2014/main" id="{CC620395-4167-A2FC-7507-563EDF09D8CA}"/>
              </a:ext>
            </a:extLst>
          </p:cNvPr>
          <p:cNvSpPr txBox="1"/>
          <p:nvPr/>
        </p:nvSpPr>
        <p:spPr>
          <a:xfrm>
            <a:off x="159434" y="262155"/>
            <a:ext cx="12192000" cy="523220"/>
          </a:xfrm>
          <a:prstGeom prst="rect">
            <a:avLst/>
          </a:prstGeom>
          <a:noFill/>
        </p:spPr>
        <p:txBody>
          <a:bodyPr wrap="square" rtlCol="0">
            <a:spAutoFit/>
          </a:bodyPr>
          <a:lstStyle/>
          <a:p>
            <a:r>
              <a:rPr lang="en-US" sz="2800" dirty="0">
                <a:ln w="0"/>
                <a:solidFill>
                  <a:schemeClr val="accent1"/>
                </a:solidFill>
                <a:effectLst>
                  <a:outerShdw blurRad="38100" dist="25400" dir="5400000" algn="ctr" rotWithShape="0">
                    <a:srgbClr val="6E747A">
                      <a:alpha val="43000"/>
                    </a:srgbClr>
                  </a:outerShdw>
                </a:effectLst>
              </a:rPr>
              <a:t>I</a:t>
            </a:r>
            <a:r>
              <a:rPr lang="en-IN" sz="2800" dirty="0">
                <a:ln w="0"/>
                <a:solidFill>
                  <a:schemeClr val="accent1"/>
                </a:solidFill>
                <a:effectLst>
                  <a:outerShdw blurRad="38100" dist="25400" dir="5400000" algn="ctr" rotWithShape="0">
                    <a:srgbClr val="6E747A">
                      <a:alpha val="43000"/>
                    </a:srgbClr>
                  </a:outerShdw>
                </a:effectLst>
              </a:rPr>
              <a:t>STS WIND POWER PROJECTS – </a:t>
            </a:r>
            <a:r>
              <a:rPr lang="en-US" sz="2800" dirty="0">
                <a:ln w="0"/>
                <a:solidFill>
                  <a:schemeClr val="accent1"/>
                </a:solidFill>
                <a:effectLst>
                  <a:outerShdw blurRad="38100" dist="25400" dir="5400000" algn="ctr" rotWithShape="0">
                    <a:srgbClr val="6E747A">
                      <a:alpha val="43000"/>
                    </a:srgbClr>
                  </a:outerShdw>
                </a:effectLst>
              </a:rPr>
              <a:t>Not coming up/ Not likely to come up</a:t>
            </a:r>
            <a:endParaRPr lang="en-GB" sz="2800" dirty="0">
              <a:ln w="0"/>
              <a:solidFill>
                <a:schemeClr val="accent1"/>
              </a:solidFill>
              <a:effectLst>
                <a:outerShdw blurRad="38100" dist="25400" dir="5400000" algn="ctr" rotWithShape="0">
                  <a:srgbClr val="6E747A">
                    <a:alpha val="43000"/>
                  </a:srgbClr>
                </a:outerShdw>
              </a:effectLst>
            </a:endParaRPr>
          </a:p>
        </p:txBody>
      </p:sp>
      <p:cxnSp>
        <p:nvCxnSpPr>
          <p:cNvPr id="6" name="Straight Connector 5">
            <a:extLst>
              <a:ext uri="{FF2B5EF4-FFF2-40B4-BE49-F238E27FC236}">
                <a16:creationId xmlns:a16="http://schemas.microsoft.com/office/drawing/2014/main" id="{1BAD3313-5C87-2F7B-8D00-18808F97F72F}"/>
              </a:ext>
            </a:extLst>
          </p:cNvPr>
          <p:cNvCxnSpPr/>
          <p:nvPr/>
        </p:nvCxnSpPr>
        <p:spPr>
          <a:xfrm>
            <a:off x="0" y="844062"/>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3CE5117D-9747-5CEA-9123-86589BCDF406}"/>
              </a:ext>
            </a:extLst>
          </p:cNvPr>
          <p:cNvSpPr/>
          <p:nvPr/>
        </p:nvSpPr>
        <p:spPr>
          <a:xfrm>
            <a:off x="2985796" y="4227022"/>
            <a:ext cx="5576189" cy="446964"/>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b="1" dirty="0">
                <a:solidFill>
                  <a:schemeClr val="tx1"/>
                </a:solidFill>
              </a:rPr>
              <a:t>Terminated + Disputed + Capacity not coming up=&gt; 5898 MW </a:t>
            </a:r>
            <a:endParaRPr lang="en-IN" sz="1600" b="1" dirty="0">
              <a:solidFill>
                <a:schemeClr val="tx1"/>
              </a:solidFill>
            </a:endParaRPr>
          </a:p>
        </p:txBody>
      </p:sp>
      <p:graphicFrame>
        <p:nvGraphicFramePr>
          <p:cNvPr id="2" name="Table 1">
            <a:extLst>
              <a:ext uri="{FF2B5EF4-FFF2-40B4-BE49-F238E27FC236}">
                <a16:creationId xmlns:a16="http://schemas.microsoft.com/office/drawing/2014/main" id="{6A492479-F3C9-7E41-6227-769925A5AB21}"/>
              </a:ext>
            </a:extLst>
          </p:cNvPr>
          <p:cNvGraphicFramePr>
            <a:graphicFrameLocks noGrp="1"/>
          </p:cNvGraphicFramePr>
          <p:nvPr>
            <p:extLst>
              <p:ext uri="{D42A27DB-BD31-4B8C-83A1-F6EECF244321}">
                <p14:modId xmlns:p14="http://schemas.microsoft.com/office/powerpoint/2010/main" val="145181478"/>
              </p:ext>
            </p:extLst>
          </p:nvPr>
        </p:nvGraphicFramePr>
        <p:xfrm>
          <a:off x="1275591" y="1088131"/>
          <a:ext cx="8253420" cy="2247540"/>
        </p:xfrm>
        <a:graphic>
          <a:graphicData uri="http://schemas.openxmlformats.org/drawingml/2006/table">
            <a:tbl>
              <a:tblPr firstRow="1" lastRow="1" bandRow="1">
                <a:tableStyleId>{5C22544A-7EE6-4342-B048-85BDC9FD1C3A}</a:tableStyleId>
              </a:tblPr>
              <a:tblGrid>
                <a:gridCol w="908569">
                  <a:extLst>
                    <a:ext uri="{9D8B030D-6E8A-4147-A177-3AD203B41FA5}">
                      <a16:colId xmlns:a16="http://schemas.microsoft.com/office/drawing/2014/main" val="3839638492"/>
                    </a:ext>
                  </a:extLst>
                </a:gridCol>
                <a:gridCol w="944198">
                  <a:extLst>
                    <a:ext uri="{9D8B030D-6E8A-4147-A177-3AD203B41FA5}">
                      <a16:colId xmlns:a16="http://schemas.microsoft.com/office/drawing/2014/main" val="3790209724"/>
                    </a:ext>
                  </a:extLst>
                </a:gridCol>
                <a:gridCol w="2490389">
                  <a:extLst>
                    <a:ext uri="{9D8B030D-6E8A-4147-A177-3AD203B41FA5}">
                      <a16:colId xmlns:a16="http://schemas.microsoft.com/office/drawing/2014/main" val="1183445894"/>
                    </a:ext>
                  </a:extLst>
                </a:gridCol>
                <a:gridCol w="1576137">
                  <a:extLst>
                    <a:ext uri="{9D8B030D-6E8A-4147-A177-3AD203B41FA5}">
                      <a16:colId xmlns:a16="http://schemas.microsoft.com/office/drawing/2014/main" val="2553156167"/>
                    </a:ext>
                  </a:extLst>
                </a:gridCol>
                <a:gridCol w="2334127">
                  <a:extLst>
                    <a:ext uri="{9D8B030D-6E8A-4147-A177-3AD203B41FA5}">
                      <a16:colId xmlns:a16="http://schemas.microsoft.com/office/drawing/2014/main" val="2422142169"/>
                    </a:ext>
                  </a:extLst>
                </a:gridCol>
              </a:tblGrid>
              <a:tr h="356868">
                <a:tc>
                  <a:txBody>
                    <a:bodyPr/>
                    <a:lstStyle/>
                    <a:p>
                      <a:pPr algn="ctr">
                        <a:lnSpc>
                          <a:spcPct val="115000"/>
                        </a:lnSpc>
                        <a:spcAft>
                          <a:spcPts val="800"/>
                        </a:spcAft>
                      </a:pPr>
                      <a:r>
                        <a:rPr lang="en-GB" sz="1400" kern="100" dirty="0" err="1">
                          <a:effectLst/>
                        </a:rPr>
                        <a:t>Sl</a:t>
                      </a:r>
                      <a:r>
                        <a:rPr lang="en-GB" sz="1400" kern="100" dirty="0">
                          <a:effectLst/>
                        </a:rPr>
                        <a:t> No.</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Tranche</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PPA-signing Entity</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a:effectLst/>
                        </a:rPr>
                        <a:t>PPA Capacity</a:t>
                      </a:r>
                      <a:br>
                        <a:rPr lang="en-GB" sz="1400" kern="100">
                          <a:effectLst/>
                        </a:rPr>
                      </a:br>
                      <a:r>
                        <a:rPr lang="en-GB" sz="1400" kern="100">
                          <a:effectLst/>
                        </a:rPr>
                        <a:t>(MW)</a:t>
                      </a:r>
                      <a:endParaRPr lang="en-IN" sz="14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Original/ Last Revised SCD</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3952490575"/>
                  </a:ext>
                </a:extLst>
              </a:tr>
              <a:tr h="356868">
                <a:tc>
                  <a:txBody>
                    <a:bodyPr/>
                    <a:lstStyle/>
                    <a:p>
                      <a:pPr algn="ctr">
                        <a:lnSpc>
                          <a:spcPct val="115000"/>
                        </a:lnSpc>
                        <a:spcAft>
                          <a:spcPts val="800"/>
                        </a:spcAft>
                      </a:pPr>
                      <a:r>
                        <a:rPr lang="en-GB" sz="1400" kern="100" dirty="0">
                          <a:effectLst/>
                          <a:latin typeface="Aptos" panose="020B0004020202020204" pitchFamily="34" charset="0"/>
                          <a:ea typeface="Aptos" panose="020B0004020202020204" pitchFamily="34" charset="0"/>
                          <a:cs typeface="Mangal" panose="02040503050203030202" pitchFamily="18" charset="0"/>
                        </a:rPr>
                        <a:t>1</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fontAlgn="ctr"/>
                      <a:r>
                        <a:rPr lang="en-IN" sz="1400" b="0" i="0" u="none" strike="noStrike">
                          <a:solidFill>
                            <a:srgbClr val="000000"/>
                          </a:solidFill>
                          <a:effectLst/>
                          <a:latin typeface="Aptos Narrow" panose="020B0004020202020204" pitchFamily="34" charset="0"/>
                        </a:rPr>
                        <a:t>XI</a:t>
                      </a:r>
                    </a:p>
                  </a:txBody>
                  <a:tcPr marL="9525" marR="9525" marT="9525" marB="0" anchor="ctr"/>
                </a:tc>
                <a:tc>
                  <a:txBody>
                    <a:bodyPr/>
                    <a:lstStyle/>
                    <a:p>
                      <a:pPr algn="ctr" fontAlgn="ctr"/>
                      <a:r>
                        <a:rPr lang="en-US" sz="1400" b="0" i="0" u="none" strike="noStrike" dirty="0">
                          <a:solidFill>
                            <a:srgbClr val="000000"/>
                          </a:solidFill>
                          <a:effectLst/>
                          <a:latin typeface="Aptos Narrow" panose="020B0004020202020204" pitchFamily="34" charset="0"/>
                        </a:rPr>
                        <a:t>Two Wind Energy Private Limited</a:t>
                      </a:r>
                    </a:p>
                  </a:txBody>
                  <a:tcPr marL="9525" marR="9525" marT="9525" marB="0" anchor="ctr"/>
                </a:tc>
                <a:tc>
                  <a:txBody>
                    <a:bodyPr/>
                    <a:lstStyle/>
                    <a:p>
                      <a:pPr algn="ctr" fontAlgn="ctr"/>
                      <a:r>
                        <a:rPr lang="en-IN" sz="1400" b="0" i="0" u="none" strike="noStrike" dirty="0">
                          <a:solidFill>
                            <a:srgbClr val="000000"/>
                          </a:solidFill>
                          <a:effectLst/>
                          <a:latin typeface="Aptos Narrow" panose="020B0004020202020204" pitchFamily="34" charset="0"/>
                        </a:rPr>
                        <a:t>120</a:t>
                      </a:r>
                    </a:p>
                  </a:txBody>
                  <a:tcPr marL="9525" marR="9525" marT="9525" marB="0" anchor="ctr"/>
                </a:tc>
                <a:tc>
                  <a:txBody>
                    <a:bodyPr/>
                    <a:lstStyle/>
                    <a:p>
                      <a:pPr algn="ctr">
                        <a:lnSpc>
                          <a:spcPct val="115000"/>
                        </a:lnSpc>
                        <a:spcAft>
                          <a:spcPts val="800"/>
                        </a:spcAft>
                      </a:pPr>
                      <a:r>
                        <a:rPr lang="en-GB" sz="1400" kern="100" dirty="0">
                          <a:effectLst/>
                        </a:rPr>
                        <a:t>30.12.2023/ 26.07.2025</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2785726980"/>
                  </a:ext>
                </a:extLst>
              </a:tr>
              <a:tr h="411429">
                <a:tc>
                  <a:txBody>
                    <a:bodyPr/>
                    <a:lstStyle/>
                    <a:p>
                      <a:pPr algn="ctr">
                        <a:lnSpc>
                          <a:spcPct val="115000"/>
                        </a:lnSpc>
                        <a:spcAft>
                          <a:spcPts val="800"/>
                        </a:spcAft>
                      </a:pPr>
                      <a:r>
                        <a:rPr lang="en-GB" sz="1400" kern="100" dirty="0">
                          <a:effectLst/>
                          <a:latin typeface="Aptos" panose="020B0004020202020204" pitchFamily="34" charset="0"/>
                          <a:ea typeface="Aptos" panose="020B0004020202020204" pitchFamily="34" charset="0"/>
                          <a:cs typeface="Mangal" panose="02040503050203030202" pitchFamily="18" charset="0"/>
                        </a:rPr>
                        <a:t>2</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fontAlgn="ctr"/>
                      <a:r>
                        <a:rPr lang="en-IN" sz="1400" b="0" i="0" u="none" strike="noStrike">
                          <a:solidFill>
                            <a:srgbClr val="000000"/>
                          </a:solidFill>
                          <a:effectLst/>
                          <a:latin typeface="Aptos Narrow" panose="020B0004020202020204" pitchFamily="34" charset="0"/>
                        </a:rPr>
                        <a:t>XIII</a:t>
                      </a:r>
                    </a:p>
                  </a:txBody>
                  <a:tcPr marL="9525" marR="9525" marT="9525" marB="0" anchor="ctr"/>
                </a:tc>
                <a:tc>
                  <a:txBody>
                    <a:bodyPr/>
                    <a:lstStyle/>
                    <a:p>
                      <a:pPr algn="ctr" fontAlgn="ctr"/>
                      <a:r>
                        <a:rPr lang="en-US" sz="1400" b="0" i="0" u="none" strike="noStrike">
                          <a:solidFill>
                            <a:srgbClr val="000000"/>
                          </a:solidFill>
                          <a:effectLst/>
                          <a:latin typeface="Aptos Narrow" panose="020B0004020202020204" pitchFamily="34" charset="0"/>
                        </a:rPr>
                        <a:t>Teq Green Power XI Pvt Ltd</a:t>
                      </a:r>
                    </a:p>
                  </a:txBody>
                  <a:tcPr marL="9525" marR="9525" marT="9525" marB="0" anchor="ctr"/>
                </a:tc>
                <a:tc>
                  <a:txBody>
                    <a:bodyPr/>
                    <a:lstStyle/>
                    <a:p>
                      <a:pPr algn="ctr" fontAlgn="ctr"/>
                      <a:r>
                        <a:rPr lang="en-IN" sz="1400" b="0" i="0" u="none" strike="noStrike" dirty="0">
                          <a:solidFill>
                            <a:srgbClr val="000000"/>
                          </a:solidFill>
                          <a:effectLst/>
                          <a:latin typeface="Aptos Narrow" panose="020B0004020202020204" pitchFamily="34" charset="0"/>
                        </a:rPr>
                        <a:t>200</a:t>
                      </a:r>
                    </a:p>
                  </a:txBody>
                  <a:tcPr marL="9525" marR="9525" marT="9525" marB="0" anchor="ctr"/>
                </a:tc>
                <a:tc>
                  <a:txBody>
                    <a:bodyPr/>
                    <a:lstStyle/>
                    <a:p>
                      <a:pPr algn="ctr">
                        <a:lnSpc>
                          <a:spcPct val="115000"/>
                        </a:lnSpc>
                        <a:spcAft>
                          <a:spcPts val="800"/>
                        </a:spcAft>
                      </a:pPr>
                      <a:r>
                        <a:rPr lang="en-GB" sz="1400" kern="100" dirty="0">
                          <a:effectLst/>
                        </a:rPr>
                        <a:t>26.06.2025/ 02.12.2025</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1283580390"/>
                  </a:ext>
                </a:extLst>
              </a:tr>
              <a:tr h="356868">
                <a:tc>
                  <a:txBody>
                    <a:bodyPr/>
                    <a:lstStyle/>
                    <a:p>
                      <a:pPr algn="ctr">
                        <a:lnSpc>
                          <a:spcPct val="115000"/>
                        </a:lnSpc>
                        <a:spcAft>
                          <a:spcPts val="800"/>
                        </a:spcAft>
                      </a:pPr>
                      <a:r>
                        <a:rPr lang="en-GB" sz="1400" kern="100" dirty="0">
                          <a:effectLst/>
                          <a:latin typeface="Aptos" panose="020B0004020202020204" pitchFamily="34" charset="0"/>
                          <a:ea typeface="Aptos" panose="020B0004020202020204" pitchFamily="34" charset="0"/>
                          <a:cs typeface="Mangal" panose="02040503050203030202" pitchFamily="18" charset="0"/>
                        </a:rPr>
                        <a:t>3</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fontAlgn="ctr"/>
                      <a:r>
                        <a:rPr lang="en-IN" sz="1400" b="0" i="0" u="none" strike="noStrike">
                          <a:solidFill>
                            <a:srgbClr val="000000"/>
                          </a:solidFill>
                          <a:effectLst/>
                          <a:latin typeface="Aptos Narrow" panose="020B0004020202020204" pitchFamily="34" charset="0"/>
                        </a:rPr>
                        <a:t>XIII</a:t>
                      </a:r>
                    </a:p>
                  </a:txBody>
                  <a:tcPr marL="9525" marR="9525" marT="9525" marB="0" anchor="ctr"/>
                </a:tc>
                <a:tc>
                  <a:txBody>
                    <a:bodyPr/>
                    <a:lstStyle/>
                    <a:p>
                      <a:pPr algn="ctr" fontAlgn="ctr"/>
                      <a:r>
                        <a:rPr lang="en-IN" sz="1400" b="0" i="0" u="none" strike="noStrike">
                          <a:solidFill>
                            <a:srgbClr val="000000"/>
                          </a:solidFill>
                          <a:effectLst/>
                          <a:latin typeface="Aptos Narrow" panose="020B0004020202020204" pitchFamily="34" charset="0"/>
                        </a:rPr>
                        <a:t>SJVN Green Energy Ltd</a:t>
                      </a:r>
                    </a:p>
                  </a:txBody>
                  <a:tcPr marL="9525" marR="9525" marT="9525" marB="0" anchor="ctr"/>
                </a:tc>
                <a:tc>
                  <a:txBody>
                    <a:bodyPr/>
                    <a:lstStyle/>
                    <a:p>
                      <a:pPr algn="ctr" fontAlgn="ctr"/>
                      <a:r>
                        <a:rPr lang="en-IN" sz="1400" b="0" i="0" u="none" strike="noStrike" dirty="0">
                          <a:solidFill>
                            <a:srgbClr val="000000"/>
                          </a:solidFill>
                          <a:effectLst/>
                          <a:latin typeface="Aptos Narrow" panose="020B0004020202020204" pitchFamily="34" charset="0"/>
                        </a:rPr>
                        <a:t>100</a:t>
                      </a:r>
                    </a:p>
                  </a:txBody>
                  <a:tcPr marL="9525" marR="9525" marT="9525" marB="0" anchor="ctr"/>
                </a:tc>
                <a:tc>
                  <a:txBody>
                    <a:bodyPr/>
                    <a:lstStyle/>
                    <a:p>
                      <a:pPr algn="ctr">
                        <a:lnSpc>
                          <a:spcPct val="115000"/>
                        </a:lnSpc>
                        <a:spcAft>
                          <a:spcPts val="800"/>
                        </a:spcAft>
                      </a:pPr>
                      <a:r>
                        <a:rPr lang="en-GB" sz="1400" kern="100" dirty="0">
                          <a:effectLst/>
                        </a:rPr>
                        <a:t>26.06.2025/ 02.12.2025</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1753171002"/>
                  </a:ext>
                </a:extLst>
              </a:tr>
              <a:tr h="411429">
                <a:tc>
                  <a:txBody>
                    <a:bodyPr/>
                    <a:lstStyle/>
                    <a:p>
                      <a:pPr algn="ctr">
                        <a:lnSpc>
                          <a:spcPct val="115000"/>
                        </a:lnSpc>
                        <a:spcAft>
                          <a:spcPts val="800"/>
                        </a:spcAft>
                      </a:pPr>
                      <a:r>
                        <a:rPr lang="en-GB" sz="1400" kern="100" dirty="0">
                          <a:effectLst/>
                          <a:latin typeface="Aptos" panose="020B0004020202020204" pitchFamily="34" charset="0"/>
                          <a:ea typeface="Aptos" panose="020B0004020202020204" pitchFamily="34" charset="0"/>
                          <a:cs typeface="Mangal" panose="02040503050203030202" pitchFamily="18" charset="0"/>
                        </a:rPr>
                        <a:t>4</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fontAlgn="ctr"/>
                      <a:r>
                        <a:rPr lang="en-IN" sz="1400" b="0" i="0" u="none" strike="noStrike" dirty="0">
                          <a:solidFill>
                            <a:srgbClr val="000000"/>
                          </a:solidFill>
                          <a:effectLst/>
                          <a:latin typeface="Aptos Narrow" panose="020B0004020202020204" pitchFamily="34" charset="0"/>
                        </a:rPr>
                        <a:t>XIV</a:t>
                      </a:r>
                    </a:p>
                  </a:txBody>
                  <a:tcPr marL="9525" marR="9525" marT="9525" marB="0" anchor="ctr"/>
                </a:tc>
                <a:tc>
                  <a:txBody>
                    <a:bodyPr/>
                    <a:lstStyle/>
                    <a:p>
                      <a:pPr algn="ctr" fontAlgn="ctr"/>
                      <a:r>
                        <a:rPr lang="en-IN" sz="1400" b="0" i="0" u="none" strike="noStrike" dirty="0">
                          <a:solidFill>
                            <a:srgbClr val="000000"/>
                          </a:solidFill>
                          <a:effectLst/>
                          <a:latin typeface="Aptos Narrow" panose="020B0004020202020204" pitchFamily="34" charset="0"/>
                        </a:rPr>
                        <a:t>SJVN Green Energy Ltd</a:t>
                      </a:r>
                    </a:p>
                  </a:txBody>
                  <a:tcPr marL="9525" marR="9525" marT="9525" marB="0" anchor="ctr"/>
                </a:tc>
                <a:tc>
                  <a:txBody>
                    <a:bodyPr/>
                    <a:lstStyle/>
                    <a:p>
                      <a:pPr algn="ctr" fontAlgn="ctr"/>
                      <a:r>
                        <a:rPr lang="en-IN" sz="1400" b="0" i="0" u="none" strike="noStrike" dirty="0">
                          <a:solidFill>
                            <a:srgbClr val="000000"/>
                          </a:solidFill>
                          <a:effectLst/>
                          <a:latin typeface="Aptos Narrow" panose="020B0004020202020204" pitchFamily="34" charset="0"/>
                        </a:rPr>
                        <a:t>200</a:t>
                      </a:r>
                    </a:p>
                  </a:txBody>
                  <a:tcPr marL="9525" marR="9525" marT="9525" marB="0" anchor="ctr"/>
                </a:tc>
                <a:tc>
                  <a:txBody>
                    <a:bodyPr/>
                    <a:lstStyle/>
                    <a:p>
                      <a:pPr algn="ctr">
                        <a:lnSpc>
                          <a:spcPct val="115000"/>
                        </a:lnSpc>
                        <a:spcAft>
                          <a:spcPts val="800"/>
                        </a:spcAft>
                      </a:pPr>
                      <a:r>
                        <a:rPr lang="en-IN" sz="1400" kern="100" dirty="0">
                          <a:effectLst/>
                        </a:rPr>
                        <a:t>16.11.2025/ 27.12.2025</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extLst>
                  <a:ext uri="{0D108BD9-81ED-4DB2-BD59-A6C34878D82A}">
                    <a16:rowId xmlns:a16="http://schemas.microsoft.com/office/drawing/2014/main" val="4091213373"/>
                  </a:ext>
                </a:extLst>
              </a:tr>
              <a:tr h="195355">
                <a:tc>
                  <a:txBody>
                    <a:bodyPr/>
                    <a:lstStyle/>
                    <a:p>
                      <a:pPr algn="ctr">
                        <a:lnSpc>
                          <a:spcPct val="115000"/>
                        </a:lnSpc>
                        <a:spcAft>
                          <a:spcPts val="800"/>
                        </a:spcAft>
                      </a:pPr>
                      <a:r>
                        <a:rPr lang="en-GB" sz="1400" kern="100">
                          <a:effectLst/>
                        </a:rPr>
                        <a:t> </a:t>
                      </a:r>
                      <a:endParaRPr lang="en-IN" sz="14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endParaRPr lang="en-IN" sz="1400" kern="100" dirty="0">
                        <a:effectLst/>
                        <a:latin typeface="Aptos" panose="020B0004020202020204" pitchFamily="34" charset="0"/>
                      </a:endParaRPr>
                    </a:p>
                  </a:txBody>
                  <a:tcPr marL="32096" marR="32096" marT="0" marB="0" anchor="ctr"/>
                </a:tc>
                <a:tc>
                  <a:txBody>
                    <a:bodyPr/>
                    <a:lstStyle/>
                    <a:p>
                      <a:pPr algn="ctr">
                        <a:lnSpc>
                          <a:spcPct val="115000"/>
                        </a:lnSpc>
                        <a:spcAft>
                          <a:spcPts val="800"/>
                        </a:spcAft>
                      </a:pPr>
                      <a:r>
                        <a:rPr lang="en-GB" sz="1400" kern="100">
                          <a:effectLst/>
                        </a:rPr>
                        <a:t>TOTAL</a:t>
                      </a:r>
                      <a:endParaRPr lang="en-IN" sz="1400" kern="10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620</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nchor="ctr"/>
                </a:tc>
                <a:tc>
                  <a:txBody>
                    <a:bodyPr/>
                    <a:lstStyle/>
                    <a:p>
                      <a:pPr algn="ctr">
                        <a:lnSpc>
                          <a:spcPct val="115000"/>
                        </a:lnSpc>
                        <a:spcAft>
                          <a:spcPts val="800"/>
                        </a:spcAft>
                      </a:pPr>
                      <a:r>
                        <a:rPr lang="en-GB" sz="1400" kern="100" dirty="0">
                          <a:effectLst/>
                        </a:rPr>
                        <a:t> </a:t>
                      </a:r>
                      <a:endParaRPr lang="en-IN" sz="1400" kern="100" dirty="0">
                        <a:effectLst/>
                        <a:latin typeface="Aptos" panose="020B0004020202020204" pitchFamily="34" charset="0"/>
                        <a:ea typeface="Aptos" panose="020B0004020202020204" pitchFamily="34" charset="0"/>
                        <a:cs typeface="Mangal" panose="02040503050203030202" pitchFamily="18" charset="0"/>
                      </a:endParaRPr>
                    </a:p>
                  </a:txBody>
                  <a:tcPr marL="32096" marR="32096" marT="0" marB="0"/>
                </a:tc>
                <a:extLst>
                  <a:ext uri="{0D108BD9-81ED-4DB2-BD59-A6C34878D82A}">
                    <a16:rowId xmlns:a16="http://schemas.microsoft.com/office/drawing/2014/main" val="1501235089"/>
                  </a:ext>
                </a:extLst>
              </a:tr>
            </a:tbl>
          </a:graphicData>
        </a:graphic>
      </p:graphicFrame>
      <p:sp>
        <p:nvSpPr>
          <p:cNvPr id="5" name="TextBox 4">
            <a:extLst>
              <a:ext uri="{FF2B5EF4-FFF2-40B4-BE49-F238E27FC236}">
                <a16:creationId xmlns:a16="http://schemas.microsoft.com/office/drawing/2014/main" id="{E46BC374-050D-C366-BABD-2435739FD781}"/>
              </a:ext>
            </a:extLst>
          </p:cNvPr>
          <p:cNvSpPr txBox="1"/>
          <p:nvPr/>
        </p:nvSpPr>
        <p:spPr>
          <a:xfrm>
            <a:off x="9318812" y="5323541"/>
            <a:ext cx="1261534" cy="369332"/>
          </a:xfrm>
          <a:prstGeom prst="rect">
            <a:avLst/>
          </a:prstGeom>
          <a:noFill/>
        </p:spPr>
        <p:txBody>
          <a:bodyPr wrap="square" rtlCol="0">
            <a:spAutoFit/>
          </a:bodyPr>
          <a:lstStyle/>
          <a:p>
            <a:r>
              <a:rPr lang="en-US" dirty="0">
                <a:hlinkClick r:id="rId2" action="ppaction://hlinksldjump"/>
              </a:rPr>
              <a:t>Back</a:t>
            </a:r>
            <a:endParaRPr lang="en-IN" dirty="0"/>
          </a:p>
        </p:txBody>
      </p:sp>
    </p:spTree>
    <p:extLst>
      <p:ext uri="{BB962C8B-B14F-4D97-AF65-F5344CB8AC3E}">
        <p14:creationId xmlns:p14="http://schemas.microsoft.com/office/powerpoint/2010/main" val="29430653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2FCCAF-4B18-5E08-DE54-5822201CC214}"/>
              </a:ext>
            </a:extLst>
          </p:cNvPr>
          <p:cNvSpPr txBox="1"/>
          <p:nvPr/>
        </p:nvSpPr>
        <p:spPr>
          <a:xfrm>
            <a:off x="1123949" y="2782669"/>
            <a:ext cx="10298793" cy="646331"/>
          </a:xfrm>
          <a:prstGeom prst="rect">
            <a:avLst/>
          </a:prstGeom>
          <a:noFill/>
        </p:spPr>
        <p:txBody>
          <a:bodyPr wrap="square" rtlCol="0">
            <a:spAutoFit/>
          </a:bodyPr>
          <a:lstStyle/>
          <a:p>
            <a:r>
              <a:rPr lang="en-IN" sz="3600" u="sng" dirty="0">
                <a:solidFill>
                  <a:srgbClr val="0070C0"/>
                </a:solidFill>
                <a:ea typeface="+mj-ea"/>
                <a:cs typeface="+mj-cs"/>
              </a:rPr>
              <a:t>Typical Project Progress Format Submitted by WPDs</a:t>
            </a:r>
          </a:p>
        </p:txBody>
      </p:sp>
    </p:spTree>
    <p:extLst>
      <p:ext uri="{BB962C8B-B14F-4D97-AF65-F5344CB8AC3E}">
        <p14:creationId xmlns:p14="http://schemas.microsoft.com/office/powerpoint/2010/main" val="24611790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01CAA-11F1-4E28-8225-520844D96E55}"/>
              </a:ext>
            </a:extLst>
          </p:cNvPr>
          <p:cNvSpPr>
            <a:spLocks noGrp="1"/>
          </p:cNvSpPr>
          <p:nvPr>
            <p:ph type="title"/>
          </p:nvPr>
        </p:nvSpPr>
        <p:spPr>
          <a:xfrm>
            <a:off x="0" y="249155"/>
            <a:ext cx="10076848" cy="481896"/>
          </a:xfrm>
        </p:spPr>
        <p:txBody>
          <a:bodyPr>
            <a:normAutofit fontScale="90000"/>
          </a:bodyPr>
          <a:lstStyle/>
          <a:p>
            <a:r>
              <a:rPr lang="en-US" sz="28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PROJECT BRIEF – TORRENT POWER LIMITED- TRANCHE-XII </a:t>
            </a:r>
          </a:p>
        </p:txBody>
      </p:sp>
      <p:graphicFrame>
        <p:nvGraphicFramePr>
          <p:cNvPr id="15" name="Table 15">
            <a:extLst>
              <a:ext uri="{FF2B5EF4-FFF2-40B4-BE49-F238E27FC236}">
                <a16:creationId xmlns:a16="http://schemas.microsoft.com/office/drawing/2014/main" id="{C4C18FA6-BAAA-4A04-B72A-1350ECE2D589}"/>
              </a:ext>
            </a:extLst>
          </p:cNvPr>
          <p:cNvGraphicFramePr>
            <a:graphicFrameLocks noGrp="1"/>
          </p:cNvGraphicFramePr>
          <p:nvPr/>
        </p:nvGraphicFramePr>
        <p:xfrm>
          <a:off x="145143" y="1139317"/>
          <a:ext cx="8320619" cy="5469528"/>
        </p:xfrm>
        <a:graphic>
          <a:graphicData uri="http://schemas.openxmlformats.org/drawingml/2006/table">
            <a:tbl>
              <a:tblPr firstRow="1">
                <a:tableStyleId>{F5AB1C69-6EDB-4FF4-983F-18BD219EF322}</a:tableStyleId>
              </a:tblPr>
              <a:tblGrid>
                <a:gridCol w="3131502">
                  <a:extLst>
                    <a:ext uri="{9D8B030D-6E8A-4147-A177-3AD203B41FA5}">
                      <a16:colId xmlns:a16="http://schemas.microsoft.com/office/drawing/2014/main" val="3568977301"/>
                    </a:ext>
                  </a:extLst>
                </a:gridCol>
                <a:gridCol w="5189117">
                  <a:extLst>
                    <a:ext uri="{9D8B030D-6E8A-4147-A177-3AD203B41FA5}">
                      <a16:colId xmlns:a16="http://schemas.microsoft.com/office/drawing/2014/main" val="3947747402"/>
                    </a:ext>
                  </a:extLst>
                </a:gridCol>
              </a:tblGrid>
              <a:tr h="776796">
                <a:tc>
                  <a:txBody>
                    <a:bodyPr/>
                    <a:lstStyle/>
                    <a:p>
                      <a:pPr algn="ctr"/>
                      <a:r>
                        <a:rPr lang="en-US" sz="2000" dirty="0">
                          <a:solidFill>
                            <a:schemeClr val="tx1"/>
                          </a:solidFill>
                        </a:rPr>
                        <a:t>Project Name</a:t>
                      </a: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2000" dirty="0">
                          <a:solidFill>
                            <a:schemeClr val="tx1"/>
                          </a:solidFill>
                        </a:rPr>
                        <a:t>Details</a:t>
                      </a: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466510752"/>
                  </a:ext>
                </a:extLst>
              </a:tr>
              <a:tr h="776796">
                <a:tc>
                  <a:txBody>
                    <a:bodyPr/>
                    <a:lstStyle/>
                    <a:p>
                      <a:pPr algn="ctr"/>
                      <a:r>
                        <a:rPr lang="en-US" sz="2000" dirty="0">
                          <a:solidFill>
                            <a:schemeClr val="tx1"/>
                          </a:solidFill>
                        </a:rPr>
                        <a:t>Site Location</a:t>
                      </a: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1" dirty="0">
                          <a:solidFill>
                            <a:schemeClr val="tx1"/>
                          </a:solidFill>
                        </a:rPr>
                        <a:t>300 MW SECI Xll, Todkibad, Karnataka</a:t>
                      </a: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2993350"/>
                  </a:ext>
                </a:extLst>
              </a:tr>
              <a:tr h="776796">
                <a:tc>
                  <a:txBody>
                    <a:bodyPr/>
                    <a:lstStyle/>
                    <a:p>
                      <a:pPr algn="ctr"/>
                      <a:r>
                        <a:rPr lang="en-US" sz="2000" dirty="0">
                          <a:solidFill>
                            <a:schemeClr val="tx1"/>
                          </a:solidFill>
                        </a:rPr>
                        <a:t>WTG Configuration</a:t>
                      </a: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chemeClr val="tx1"/>
                          </a:solidFill>
                        </a:rPr>
                        <a:t>S114_140M HLT_3.0</a:t>
                      </a: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3502817"/>
                  </a:ext>
                </a:extLst>
              </a:tr>
              <a:tr h="776796">
                <a:tc>
                  <a:txBody>
                    <a:bodyPr/>
                    <a:lstStyle/>
                    <a:p>
                      <a:pPr algn="ctr"/>
                      <a:r>
                        <a:rPr lang="en-US" sz="2000" dirty="0">
                          <a:solidFill>
                            <a:schemeClr val="tx1"/>
                          </a:solidFill>
                        </a:rPr>
                        <a:t>Capacity</a:t>
                      </a: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chemeClr val="tx1"/>
                          </a:solidFill>
                        </a:rPr>
                        <a:t>3MW</a:t>
                      </a: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0941692"/>
                  </a:ext>
                </a:extLst>
              </a:tr>
              <a:tr h="808752">
                <a:tc>
                  <a:txBody>
                    <a:bodyPr/>
                    <a:lstStyle/>
                    <a:p>
                      <a:pPr algn="ctr"/>
                      <a:r>
                        <a:rPr lang="en-US" sz="2000" dirty="0">
                          <a:solidFill>
                            <a:schemeClr val="tx1"/>
                          </a:solidFill>
                        </a:rPr>
                        <a:t>Machines (Nos)</a:t>
                      </a: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chemeClr val="tx1"/>
                          </a:solidFill>
                        </a:rPr>
                        <a:t>100</a:t>
                      </a: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2566803"/>
                  </a:ext>
                </a:extLst>
              </a:tr>
              <a:tr h="776796">
                <a:tc>
                  <a:txBody>
                    <a:bodyPr/>
                    <a:lstStyle/>
                    <a:p>
                      <a:pPr algn="ctr"/>
                      <a:r>
                        <a:rPr lang="en-US" sz="2000" dirty="0">
                          <a:solidFill>
                            <a:schemeClr val="tx1"/>
                          </a:solidFill>
                        </a:rPr>
                        <a:t>WTG Supplier/OEM</a:t>
                      </a: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chemeClr val="tx1"/>
                          </a:solidFill>
                        </a:rPr>
                        <a:t>Suzlon Energy Ltd</a:t>
                      </a: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48508004"/>
                  </a:ext>
                </a:extLst>
              </a:tr>
              <a:tr h="776796">
                <a:tc>
                  <a:txBody>
                    <a:bodyPr/>
                    <a:lstStyle/>
                    <a:p>
                      <a:pPr algn="ctr"/>
                      <a:r>
                        <a:rPr lang="en-US" sz="2000" dirty="0">
                          <a:solidFill>
                            <a:schemeClr val="tx1"/>
                          </a:solidFill>
                        </a:rPr>
                        <a:t>Details of EPC including Land Aggregator</a:t>
                      </a: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chemeClr val="tx1"/>
                          </a:solidFill>
                        </a:rPr>
                        <a:t>Suzlon Gujarat Wind Park Ltd</a:t>
                      </a: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5538371"/>
                  </a:ext>
                </a:extLst>
              </a:tr>
            </a:tbl>
          </a:graphicData>
        </a:graphic>
      </p:graphicFrame>
      <p:pic>
        <p:nvPicPr>
          <p:cNvPr id="3074" name="Picture 2" descr="Single Wind Turbine Images – Browse 4,623 Stock Photos, Vectors, and ...">
            <a:extLst>
              <a:ext uri="{FF2B5EF4-FFF2-40B4-BE49-F238E27FC236}">
                <a16:creationId xmlns:a16="http://schemas.microsoft.com/office/drawing/2014/main" id="{24641991-A3D6-2FFE-F644-419A8E25F5A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668"/>
          <a:stretch>
            <a:fillRect/>
          </a:stretch>
        </p:blipFill>
        <p:spPr bwMode="auto">
          <a:xfrm>
            <a:off x="8694057" y="994174"/>
            <a:ext cx="3497942" cy="5863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56985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C6BA6D64-CC4B-ECE8-64F1-BF42D5FD892F}"/>
              </a:ext>
            </a:extLst>
          </p:cNvPr>
          <p:cNvSpPr txBox="1"/>
          <p:nvPr/>
        </p:nvSpPr>
        <p:spPr>
          <a:xfrm>
            <a:off x="130627" y="203201"/>
            <a:ext cx="8251233" cy="523220"/>
          </a:xfrm>
          <a:prstGeom prst="rect">
            <a:avLst/>
          </a:prstGeom>
          <a:noFill/>
        </p:spPr>
        <p:txBody>
          <a:bodyPr wrap="none" rtlCol="0">
            <a:spAutoFit/>
          </a:bodyPr>
          <a:lstStyle/>
          <a:p>
            <a:r>
              <a:rPr lang="en-IN" sz="28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PRESENT STATUS FOR PROJECT DEVELOPMENT</a:t>
            </a:r>
          </a:p>
        </p:txBody>
      </p:sp>
      <p:graphicFrame>
        <p:nvGraphicFramePr>
          <p:cNvPr id="11" name="Table 8">
            <a:extLst>
              <a:ext uri="{FF2B5EF4-FFF2-40B4-BE49-F238E27FC236}">
                <a16:creationId xmlns:a16="http://schemas.microsoft.com/office/drawing/2014/main" id="{330C7FFB-EAE2-CE76-9866-6F6645A308A9}"/>
              </a:ext>
            </a:extLst>
          </p:cNvPr>
          <p:cNvGraphicFramePr>
            <a:graphicFrameLocks noGrp="1"/>
          </p:cNvGraphicFramePr>
          <p:nvPr/>
        </p:nvGraphicFramePr>
        <p:xfrm>
          <a:off x="130627" y="1006653"/>
          <a:ext cx="5254171" cy="5839446"/>
        </p:xfrm>
        <a:graphic>
          <a:graphicData uri="http://schemas.openxmlformats.org/drawingml/2006/table">
            <a:tbl>
              <a:tblPr firstRow="1" bandRow="1"/>
              <a:tblGrid>
                <a:gridCol w="3328251">
                  <a:extLst>
                    <a:ext uri="{9D8B030D-6E8A-4147-A177-3AD203B41FA5}">
                      <a16:colId xmlns:a16="http://schemas.microsoft.com/office/drawing/2014/main" val="592813031"/>
                    </a:ext>
                  </a:extLst>
                </a:gridCol>
                <a:gridCol w="1925920">
                  <a:extLst>
                    <a:ext uri="{9D8B030D-6E8A-4147-A177-3AD203B41FA5}">
                      <a16:colId xmlns:a16="http://schemas.microsoft.com/office/drawing/2014/main" val="1637057023"/>
                    </a:ext>
                  </a:extLst>
                </a:gridCol>
              </a:tblGrid>
              <a:tr h="317659">
                <a:tc>
                  <a:txBody>
                    <a:bodyPr/>
                    <a:lstStyle/>
                    <a:p>
                      <a:pPr algn="ctr"/>
                      <a:r>
                        <a:rPr lang="en-IN" sz="1800" b="1" dirty="0">
                          <a:solidFill>
                            <a:schemeClr val="tx1"/>
                          </a:solidFill>
                          <a:latin typeface="+mn-lt"/>
                        </a:rPr>
                        <a:t>APPROVAL &amp; CLEARANCES</a:t>
                      </a:r>
                    </a:p>
                  </a:txBody>
                  <a:tcPr marL="45720" marR="45720" marT="22860" marB="22860">
                    <a:solidFill>
                      <a:schemeClr val="bg2"/>
                    </a:solidFill>
                  </a:tcPr>
                </a:tc>
                <a:tc>
                  <a:txBody>
                    <a:bodyPr/>
                    <a:lstStyle/>
                    <a:p>
                      <a:pPr algn="ctr"/>
                      <a:r>
                        <a:rPr lang="en-IN" b="1" dirty="0"/>
                        <a:t>STATUS</a:t>
                      </a:r>
                    </a:p>
                  </a:txBody>
                  <a:tcPr marL="45720" marR="45720" marT="22860" marB="22860">
                    <a:solidFill>
                      <a:schemeClr val="bg2"/>
                    </a:solidFill>
                  </a:tcPr>
                </a:tc>
                <a:extLst>
                  <a:ext uri="{0D108BD9-81ED-4DB2-BD59-A6C34878D82A}">
                    <a16:rowId xmlns:a16="http://schemas.microsoft.com/office/drawing/2014/main" val="2277557924"/>
                  </a:ext>
                </a:extLst>
              </a:tr>
              <a:tr h="317659">
                <a:tc>
                  <a:txBody>
                    <a:bodyPr/>
                    <a:lstStyle/>
                    <a:p>
                      <a:pPr algn="ctr"/>
                      <a:r>
                        <a:rPr lang="en-US" sz="1800" dirty="0">
                          <a:latin typeface="+mn-lt"/>
                        </a:rPr>
                        <a:t>Land Required / Acquired</a:t>
                      </a:r>
                    </a:p>
                  </a:txBody>
                  <a:tcPr marL="45720" marR="45720" marT="22860" marB="22860" anchor="ctr"/>
                </a:tc>
                <a:tc>
                  <a:txBody>
                    <a:bodyPr/>
                    <a:lstStyle/>
                    <a:p>
                      <a:pPr algn="ctr"/>
                      <a:r>
                        <a:rPr lang="en-IN" sz="1800" dirty="0">
                          <a:latin typeface="+mn-lt"/>
                        </a:rPr>
                        <a:t>100/37</a:t>
                      </a:r>
                    </a:p>
                  </a:txBody>
                  <a:tcPr marL="45720" marR="45720" marT="22860" marB="22860" anchor="ctr">
                    <a:solidFill>
                      <a:schemeClr val="bg1"/>
                    </a:solidFill>
                  </a:tcPr>
                </a:tc>
                <a:extLst>
                  <a:ext uri="{0D108BD9-81ED-4DB2-BD59-A6C34878D82A}">
                    <a16:rowId xmlns:a16="http://schemas.microsoft.com/office/drawing/2014/main" val="2238768399"/>
                  </a:ext>
                </a:extLst>
              </a:tr>
              <a:tr h="317659">
                <a:tc>
                  <a:txBody>
                    <a:bodyPr/>
                    <a:lstStyle/>
                    <a:p>
                      <a:pPr algn="ctr"/>
                      <a:r>
                        <a:rPr lang="en-US" sz="1800" dirty="0">
                          <a:latin typeface="+mn-lt"/>
                        </a:rPr>
                        <a:t>MOD Application Date</a:t>
                      </a:r>
                    </a:p>
                  </a:txBody>
                  <a:tcPr marL="45720" marR="45720" marT="22860" marB="22860" anchor="ctr"/>
                </a:tc>
                <a:tc>
                  <a:txBody>
                    <a:bodyPr/>
                    <a:lstStyle/>
                    <a:p>
                      <a:pPr algn="ctr"/>
                      <a:r>
                        <a:rPr lang="en-IN" sz="1800" dirty="0">
                          <a:latin typeface="+mn-lt"/>
                        </a:rPr>
                        <a:t>NA</a:t>
                      </a:r>
                    </a:p>
                  </a:txBody>
                  <a:tcPr marL="45720" marR="45720" marT="22860" marB="22860" anchor="ctr">
                    <a:solidFill>
                      <a:schemeClr val="bg1"/>
                    </a:solidFill>
                  </a:tcPr>
                </a:tc>
                <a:extLst>
                  <a:ext uri="{0D108BD9-81ED-4DB2-BD59-A6C34878D82A}">
                    <a16:rowId xmlns:a16="http://schemas.microsoft.com/office/drawing/2014/main" val="4164160908"/>
                  </a:ext>
                </a:extLst>
              </a:tr>
              <a:tr h="317659">
                <a:tc>
                  <a:txBody>
                    <a:bodyPr/>
                    <a:lstStyle/>
                    <a:p>
                      <a:pPr algn="ctr"/>
                      <a:r>
                        <a:rPr lang="en-US" sz="1800" dirty="0">
                          <a:latin typeface="+mn-lt"/>
                        </a:rPr>
                        <a:t>MOD Approval Status</a:t>
                      </a:r>
                    </a:p>
                  </a:txBody>
                  <a:tcPr marL="45720" marR="45720" marT="22860" marB="22860" anchor="ctr"/>
                </a:tc>
                <a:tc>
                  <a:txBody>
                    <a:bodyPr/>
                    <a:lstStyle/>
                    <a:p>
                      <a:pPr algn="ctr"/>
                      <a:r>
                        <a:rPr lang="en-IN" sz="1800" dirty="0">
                          <a:latin typeface="+mn-lt"/>
                        </a:rPr>
                        <a:t>NA</a:t>
                      </a:r>
                    </a:p>
                  </a:txBody>
                  <a:tcPr marL="45720" marR="45720" marT="22860" marB="22860" anchor="ctr">
                    <a:solidFill>
                      <a:schemeClr val="bg1"/>
                    </a:solidFill>
                  </a:tcPr>
                </a:tc>
                <a:extLst>
                  <a:ext uri="{0D108BD9-81ED-4DB2-BD59-A6C34878D82A}">
                    <a16:rowId xmlns:a16="http://schemas.microsoft.com/office/drawing/2014/main" val="963450870"/>
                  </a:ext>
                </a:extLst>
              </a:tr>
              <a:tr h="317659">
                <a:tc>
                  <a:txBody>
                    <a:bodyPr/>
                    <a:lstStyle/>
                    <a:p>
                      <a:pPr algn="ctr"/>
                      <a:r>
                        <a:rPr lang="en-US" sz="1800" dirty="0">
                          <a:latin typeface="+mn-lt"/>
                        </a:rPr>
                        <a:t>SNA Application Date</a:t>
                      </a:r>
                    </a:p>
                  </a:txBody>
                  <a:tcPr marL="45720" marR="45720" marT="22860" marB="22860" anchor="ctr"/>
                </a:tc>
                <a:tc>
                  <a:txBody>
                    <a:bodyPr/>
                    <a:lstStyle/>
                    <a:p>
                      <a:pPr algn="ctr"/>
                      <a:r>
                        <a:rPr lang="en-IN" sz="1800" dirty="0">
                          <a:latin typeface="+mn-lt"/>
                        </a:rPr>
                        <a:t>28-03-2023</a:t>
                      </a:r>
                    </a:p>
                  </a:txBody>
                  <a:tcPr marL="45720" marR="45720" marT="22860" marB="22860" anchor="ctr">
                    <a:solidFill>
                      <a:schemeClr val="bg1"/>
                    </a:solidFill>
                  </a:tcPr>
                </a:tc>
                <a:extLst>
                  <a:ext uri="{0D108BD9-81ED-4DB2-BD59-A6C34878D82A}">
                    <a16:rowId xmlns:a16="http://schemas.microsoft.com/office/drawing/2014/main" val="830714644"/>
                  </a:ext>
                </a:extLst>
              </a:tr>
              <a:tr h="1134495">
                <a:tc>
                  <a:txBody>
                    <a:bodyPr/>
                    <a:lstStyle/>
                    <a:p>
                      <a:pPr algn="ctr"/>
                      <a:r>
                        <a:rPr lang="en-US" sz="1800" dirty="0">
                          <a:latin typeface="+mn-lt"/>
                        </a:rPr>
                        <a:t>SNA Approval Status</a:t>
                      </a:r>
                    </a:p>
                  </a:txBody>
                  <a:tcPr marL="45720" marR="45720" marT="22860" marB="22860" anchor="ctr"/>
                </a:tc>
                <a:tc>
                  <a:txBody>
                    <a:bodyPr/>
                    <a:lstStyle/>
                    <a:p>
                      <a:pPr algn="ctr"/>
                      <a:r>
                        <a:rPr lang="en-US" dirty="0"/>
                        <a:t>GO enhancement from 2.1 MW to 3 MW for 200 MW needs to be done </a:t>
                      </a:r>
                      <a:endParaRPr lang="en-IN" sz="1800" dirty="0">
                        <a:latin typeface="+mn-lt"/>
                      </a:endParaRPr>
                    </a:p>
                  </a:txBody>
                  <a:tcPr marL="45720" marR="45720" marT="22860" marB="22860" anchor="ctr">
                    <a:solidFill>
                      <a:schemeClr val="bg1"/>
                    </a:solidFill>
                  </a:tcPr>
                </a:tc>
                <a:extLst>
                  <a:ext uri="{0D108BD9-81ED-4DB2-BD59-A6C34878D82A}">
                    <a16:rowId xmlns:a16="http://schemas.microsoft.com/office/drawing/2014/main" val="389824226"/>
                  </a:ext>
                </a:extLst>
              </a:tr>
              <a:tr h="317659">
                <a:tc>
                  <a:txBody>
                    <a:bodyPr/>
                    <a:lstStyle/>
                    <a:p>
                      <a:pPr algn="ctr"/>
                      <a:r>
                        <a:rPr lang="en-IN" sz="1800" dirty="0">
                          <a:latin typeface="+mn-lt"/>
                        </a:rPr>
                        <a:t>Order of Supply of WTG</a:t>
                      </a:r>
                    </a:p>
                  </a:txBody>
                  <a:tcPr marL="45720" marR="45720" marT="22860" marB="22860" anchor="ctr"/>
                </a:tc>
                <a:tc>
                  <a:txBody>
                    <a:bodyPr/>
                    <a:lstStyle/>
                    <a:p>
                      <a:pPr algn="ctr"/>
                      <a:r>
                        <a:rPr lang="en-IN" sz="1800" dirty="0">
                          <a:latin typeface="+mn-lt"/>
                        </a:rPr>
                        <a:t>YES</a:t>
                      </a:r>
                    </a:p>
                  </a:txBody>
                  <a:tcPr marL="45720" marR="45720" marT="22860" marB="22860" anchor="ctr">
                    <a:solidFill>
                      <a:schemeClr val="bg1"/>
                    </a:solidFill>
                  </a:tcPr>
                </a:tc>
                <a:extLst>
                  <a:ext uri="{0D108BD9-81ED-4DB2-BD59-A6C34878D82A}">
                    <a16:rowId xmlns:a16="http://schemas.microsoft.com/office/drawing/2014/main" val="3596510258"/>
                  </a:ext>
                </a:extLst>
              </a:tr>
              <a:tr h="589937">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IN" sz="1800" dirty="0"/>
                        <a:t>WTGs fully received at site / in transit</a:t>
                      </a:r>
                    </a:p>
                  </a:txBody>
                  <a:tcPr marL="45720" marR="45720" marT="22860" marB="22860" anchor="ctr"/>
                </a:tc>
                <a:tc>
                  <a:txBody>
                    <a:bodyPr/>
                    <a:lstStyle/>
                    <a:p>
                      <a:pPr algn="ctr"/>
                      <a:r>
                        <a:rPr lang="en-IN" sz="1800" dirty="0">
                          <a:latin typeface="+mn-lt"/>
                        </a:rPr>
                        <a:t>Not yet dispatch</a:t>
                      </a:r>
                    </a:p>
                  </a:txBody>
                  <a:tcPr marL="45720" marR="45720" marT="22860" marB="22860" anchor="ctr">
                    <a:solidFill>
                      <a:schemeClr val="bg1"/>
                    </a:solidFill>
                  </a:tcPr>
                </a:tc>
                <a:extLst>
                  <a:ext uri="{0D108BD9-81ED-4DB2-BD59-A6C34878D82A}">
                    <a16:rowId xmlns:a16="http://schemas.microsoft.com/office/drawing/2014/main" val="976581163"/>
                  </a:ext>
                </a:extLst>
              </a:tr>
              <a:tr h="1587486">
                <a:tc>
                  <a:txBody>
                    <a:bodyPr/>
                    <a:lstStyle/>
                    <a:p>
                      <a:pPr algn="ctr"/>
                      <a:r>
                        <a:rPr lang="en-IN" sz="1800" dirty="0">
                          <a:latin typeface="+mn-lt"/>
                        </a:rPr>
                        <a:t>WTG Foundation completed / In Progress</a:t>
                      </a:r>
                    </a:p>
                  </a:txBody>
                  <a:tcPr marL="45720" marR="45720" marT="22860" marB="22860" anchor="ctr"/>
                </a:tc>
                <a:tc>
                  <a:txBody>
                    <a:bodyPr/>
                    <a:lstStyle/>
                    <a:p>
                      <a:pPr algn="ctr"/>
                      <a:r>
                        <a:rPr lang="en-IN" sz="1800" dirty="0">
                          <a:latin typeface="+mn-lt"/>
                        </a:rPr>
                        <a:t>Soil test work in progress. Foundation casting to start from the month of Dec 2024 </a:t>
                      </a:r>
                    </a:p>
                  </a:txBody>
                  <a:tcPr marL="45720" marR="45720" marT="22860" marB="22860" anchor="ctr">
                    <a:solidFill>
                      <a:schemeClr val="bg1"/>
                    </a:solidFill>
                  </a:tcPr>
                </a:tc>
                <a:extLst>
                  <a:ext uri="{0D108BD9-81ED-4DB2-BD59-A6C34878D82A}">
                    <a16:rowId xmlns:a16="http://schemas.microsoft.com/office/drawing/2014/main" val="53831340"/>
                  </a:ext>
                </a:extLst>
              </a:tr>
              <a:tr h="589937">
                <a:tc>
                  <a:txBody>
                    <a:bodyPr/>
                    <a:lstStyle/>
                    <a:p>
                      <a:pPr algn="ctr"/>
                      <a:r>
                        <a:rPr lang="en-IN" sz="1800" dirty="0">
                          <a:latin typeface="+mn-lt"/>
                        </a:rPr>
                        <a:t>WTG Erection completed / In Progress</a:t>
                      </a:r>
                    </a:p>
                  </a:txBody>
                  <a:tcPr marL="45720" marR="45720" marT="22860" marB="22860" anchor="ctr"/>
                </a:tc>
                <a:tc>
                  <a:txBody>
                    <a:bodyPr/>
                    <a:lstStyle/>
                    <a:p>
                      <a:pPr algn="ctr"/>
                      <a:r>
                        <a:rPr lang="en-IN" sz="1800" dirty="0">
                          <a:latin typeface="+mn-lt"/>
                        </a:rPr>
                        <a:t>Not Yet</a:t>
                      </a:r>
                    </a:p>
                  </a:txBody>
                  <a:tcPr marL="45720" marR="45720" marT="22860" marB="22860" anchor="ctr">
                    <a:solidFill>
                      <a:schemeClr val="bg1"/>
                    </a:solidFill>
                  </a:tcPr>
                </a:tc>
                <a:extLst>
                  <a:ext uri="{0D108BD9-81ED-4DB2-BD59-A6C34878D82A}">
                    <a16:rowId xmlns:a16="http://schemas.microsoft.com/office/drawing/2014/main" val="1604993818"/>
                  </a:ext>
                </a:extLst>
              </a:tr>
            </a:tbl>
          </a:graphicData>
        </a:graphic>
      </p:graphicFrame>
      <p:graphicFrame>
        <p:nvGraphicFramePr>
          <p:cNvPr id="12" name="Table 8">
            <a:extLst>
              <a:ext uri="{FF2B5EF4-FFF2-40B4-BE49-F238E27FC236}">
                <a16:creationId xmlns:a16="http://schemas.microsoft.com/office/drawing/2014/main" id="{A7919451-EA3E-C7F1-FABD-518493C78FBD}"/>
              </a:ext>
            </a:extLst>
          </p:cNvPr>
          <p:cNvGraphicFramePr>
            <a:graphicFrameLocks noGrp="1"/>
          </p:cNvGraphicFramePr>
          <p:nvPr/>
        </p:nvGraphicFramePr>
        <p:xfrm>
          <a:off x="5965373" y="1006650"/>
          <a:ext cx="6096000" cy="5807808"/>
        </p:xfrm>
        <a:graphic>
          <a:graphicData uri="http://schemas.openxmlformats.org/drawingml/2006/table">
            <a:tbl>
              <a:tblPr firstRow="1" bandRow="1"/>
              <a:tblGrid>
                <a:gridCol w="3480179">
                  <a:extLst>
                    <a:ext uri="{9D8B030D-6E8A-4147-A177-3AD203B41FA5}">
                      <a16:colId xmlns:a16="http://schemas.microsoft.com/office/drawing/2014/main" val="592813031"/>
                    </a:ext>
                  </a:extLst>
                </a:gridCol>
                <a:gridCol w="2615821">
                  <a:extLst>
                    <a:ext uri="{9D8B030D-6E8A-4147-A177-3AD203B41FA5}">
                      <a16:colId xmlns:a16="http://schemas.microsoft.com/office/drawing/2014/main" val="1637057023"/>
                    </a:ext>
                  </a:extLst>
                </a:gridCol>
              </a:tblGrid>
              <a:tr h="383535">
                <a:tc>
                  <a:txBody>
                    <a:bodyPr/>
                    <a:lstStyle/>
                    <a:p>
                      <a:pPr algn="ctr"/>
                      <a:r>
                        <a:rPr lang="en-IN" sz="1800" b="1" dirty="0">
                          <a:solidFill>
                            <a:schemeClr val="tx1"/>
                          </a:solidFill>
                          <a:latin typeface="+mn-lt"/>
                        </a:rPr>
                        <a:t>GRID</a:t>
                      </a:r>
                    </a:p>
                  </a:txBody>
                  <a:tcPr marL="45720" marR="45720" marT="22860" marB="22860">
                    <a:solidFill>
                      <a:schemeClr val="bg2"/>
                    </a:solidFill>
                  </a:tcPr>
                </a:tc>
                <a:tc>
                  <a:txBody>
                    <a:bodyPr/>
                    <a:lstStyle/>
                    <a:p>
                      <a:pPr algn="ctr"/>
                      <a:r>
                        <a:rPr lang="en-IN" b="1" dirty="0"/>
                        <a:t>STATUS</a:t>
                      </a:r>
                    </a:p>
                  </a:txBody>
                  <a:tcPr marL="45720" marR="45720" marT="22860" marB="22860">
                    <a:solidFill>
                      <a:schemeClr val="bg2"/>
                    </a:solidFill>
                  </a:tcPr>
                </a:tc>
                <a:extLst>
                  <a:ext uri="{0D108BD9-81ED-4DB2-BD59-A6C34878D82A}">
                    <a16:rowId xmlns:a16="http://schemas.microsoft.com/office/drawing/2014/main" val="2277557924"/>
                  </a:ext>
                </a:extLst>
              </a:tr>
              <a:tr h="383535">
                <a:tc>
                  <a:txBody>
                    <a:bodyPr/>
                    <a:lstStyle/>
                    <a:p>
                      <a:pPr algn="ctr" defTabSz="1828800" hangingPunct="1">
                        <a:buClr>
                          <a:prstClr val="white">
                            <a:lumMod val="50000"/>
                          </a:prstClr>
                        </a:buClr>
                        <a:buSzPct val="150000"/>
                      </a:pPr>
                      <a:r>
                        <a:rPr lang="en-US" sz="1800" kern="1200" dirty="0">
                          <a:solidFill>
                            <a:prstClr val="black"/>
                          </a:solidFill>
                          <a:latin typeface="+mn-lt"/>
                        </a:rPr>
                        <a:t>Connectivity Application Date</a:t>
                      </a:r>
                      <a:endParaRPr lang="en-IN" sz="1800" dirty="0">
                        <a:latin typeface="+mn-lt"/>
                      </a:endParaRPr>
                    </a:p>
                  </a:txBody>
                  <a:tcPr marL="45720" marR="45720" marT="22860" marB="22860" anchor="ctr"/>
                </a:tc>
                <a:tc>
                  <a:txBody>
                    <a:bodyPr/>
                    <a:lstStyle/>
                    <a:p>
                      <a:pPr algn="ctr"/>
                      <a:r>
                        <a:rPr lang="en-IN" sz="1800" dirty="0">
                          <a:latin typeface="+mn-lt"/>
                        </a:rPr>
                        <a:t>18-05-2023</a:t>
                      </a:r>
                    </a:p>
                  </a:txBody>
                  <a:tcPr marL="45720" marR="45720" marT="22860" marB="22860" anchor="ctr">
                    <a:solidFill>
                      <a:schemeClr val="bg1"/>
                    </a:solidFill>
                  </a:tcPr>
                </a:tc>
                <a:extLst>
                  <a:ext uri="{0D108BD9-81ED-4DB2-BD59-A6C34878D82A}">
                    <a16:rowId xmlns:a16="http://schemas.microsoft.com/office/drawing/2014/main" val="4164160908"/>
                  </a:ext>
                </a:extLst>
              </a:tr>
              <a:tr h="383535">
                <a:tc>
                  <a:txBody>
                    <a:bodyPr/>
                    <a:lstStyle/>
                    <a:p>
                      <a:pPr algn="ctr"/>
                      <a:r>
                        <a:rPr lang="en-US" sz="1800" dirty="0">
                          <a:latin typeface="+mn-lt"/>
                        </a:rPr>
                        <a:t>As per CTU connectivity start date</a:t>
                      </a:r>
                      <a:endParaRPr lang="en-IN" sz="1800" dirty="0">
                        <a:latin typeface="+mn-lt"/>
                      </a:endParaRPr>
                    </a:p>
                  </a:txBody>
                  <a:tcPr marL="45720" marR="45720" marT="22860" marB="22860" anchor="ctr"/>
                </a:tc>
                <a:tc>
                  <a:txBody>
                    <a:bodyPr/>
                    <a:lstStyle/>
                    <a:p>
                      <a:pPr algn="ctr"/>
                      <a:r>
                        <a:rPr lang="en-IN" sz="1800" dirty="0">
                          <a:latin typeface="+mn-lt"/>
                        </a:rPr>
                        <a:t>23-01-2026</a:t>
                      </a:r>
                    </a:p>
                  </a:txBody>
                  <a:tcPr marL="45720" marR="45720" marT="22860" marB="22860" anchor="ctr">
                    <a:solidFill>
                      <a:schemeClr val="bg1"/>
                    </a:solidFill>
                  </a:tcPr>
                </a:tc>
                <a:extLst>
                  <a:ext uri="{0D108BD9-81ED-4DB2-BD59-A6C34878D82A}">
                    <a16:rowId xmlns:a16="http://schemas.microsoft.com/office/drawing/2014/main" val="830714644"/>
                  </a:ext>
                </a:extLst>
              </a:tr>
              <a:tr h="712278">
                <a:tc>
                  <a:txBody>
                    <a:bodyPr/>
                    <a:lstStyle/>
                    <a:p>
                      <a:pPr algn="ctr"/>
                      <a:r>
                        <a:rPr lang="en-IN" sz="1800" dirty="0">
                          <a:latin typeface="+mn-lt"/>
                        </a:rPr>
                        <a:t>GNA Status</a:t>
                      </a:r>
                    </a:p>
                  </a:txBody>
                  <a:tcPr marL="45720" marR="45720" marT="22860" marB="22860" anchor="ctr"/>
                </a:tc>
                <a:tc>
                  <a:txBody>
                    <a:bodyPr/>
                    <a:lstStyle/>
                    <a:p>
                      <a:pPr algn="ctr"/>
                      <a:r>
                        <a:rPr lang="en-IN" sz="1800" dirty="0">
                          <a:latin typeface="+mn-lt"/>
                        </a:rPr>
                        <a:t>Final Grant of connectivity Received</a:t>
                      </a:r>
                    </a:p>
                  </a:txBody>
                  <a:tcPr marL="45720" marR="45720" marT="22860" marB="22860" anchor="ctr">
                    <a:solidFill>
                      <a:schemeClr val="bg1"/>
                    </a:solidFill>
                  </a:tcPr>
                </a:tc>
                <a:extLst>
                  <a:ext uri="{0D108BD9-81ED-4DB2-BD59-A6C34878D82A}">
                    <a16:rowId xmlns:a16="http://schemas.microsoft.com/office/drawing/2014/main" val="310814554"/>
                  </a:ext>
                </a:extLst>
              </a:tr>
              <a:tr h="712278">
                <a:tc>
                  <a:txBody>
                    <a:bodyPr/>
                    <a:lstStyle/>
                    <a:p>
                      <a:pPr algn="ctr"/>
                      <a:r>
                        <a:rPr lang="en-IN" sz="1800" dirty="0">
                          <a:latin typeface="+mn-lt"/>
                        </a:rPr>
                        <a:t>Con-4 Application Date &amp; status</a:t>
                      </a:r>
                    </a:p>
                  </a:txBody>
                  <a:tcPr marL="45720" marR="45720" marT="22860" marB="22860" anchor="ctr"/>
                </a:tc>
                <a:tc>
                  <a:txBody>
                    <a:bodyPr/>
                    <a:lstStyle/>
                    <a:p>
                      <a:pPr algn="ctr"/>
                      <a:r>
                        <a:rPr lang="en-IN" sz="1800" dirty="0">
                          <a:latin typeface="+mn-lt"/>
                        </a:rPr>
                        <a:t>Tentative CON-TD data submitted on NSWS portal</a:t>
                      </a:r>
                    </a:p>
                  </a:txBody>
                  <a:tcPr marL="45720" marR="45720" marT="22860" marB="22860" anchor="ctr">
                    <a:solidFill>
                      <a:schemeClr val="bg1"/>
                    </a:solidFill>
                  </a:tcPr>
                </a:tc>
                <a:extLst>
                  <a:ext uri="{0D108BD9-81ED-4DB2-BD59-A6C34878D82A}">
                    <a16:rowId xmlns:a16="http://schemas.microsoft.com/office/drawing/2014/main" val="3435598461"/>
                  </a:ext>
                </a:extLst>
              </a:tr>
              <a:tr h="383535">
                <a:tc>
                  <a:txBody>
                    <a:bodyPr/>
                    <a:lstStyle/>
                    <a:p>
                      <a:pPr algn="ctr"/>
                      <a:r>
                        <a:rPr lang="en-IN" sz="1800" dirty="0">
                          <a:latin typeface="+mn-lt"/>
                        </a:rPr>
                        <a:t>Dynamic VAR Compensation status</a:t>
                      </a:r>
                    </a:p>
                  </a:txBody>
                  <a:tcPr marL="45720" marR="45720" marT="22860" marB="22860" anchor="ctr"/>
                </a:tc>
                <a:tc>
                  <a:txBody>
                    <a:bodyPr/>
                    <a:lstStyle/>
                    <a:p>
                      <a:pPr algn="ctr"/>
                      <a:r>
                        <a:rPr lang="en-IN" sz="1800" dirty="0">
                          <a:latin typeface="+mn-lt"/>
                        </a:rPr>
                        <a:t>Order Placed </a:t>
                      </a:r>
                    </a:p>
                  </a:txBody>
                  <a:tcPr marL="45720" marR="45720" marT="22860" marB="22860" anchor="ctr">
                    <a:solidFill>
                      <a:schemeClr val="bg1"/>
                    </a:solidFill>
                  </a:tcPr>
                </a:tc>
                <a:extLst>
                  <a:ext uri="{0D108BD9-81ED-4DB2-BD59-A6C34878D82A}">
                    <a16:rowId xmlns:a16="http://schemas.microsoft.com/office/drawing/2014/main" val="3669470271"/>
                  </a:ext>
                </a:extLst>
              </a:tr>
              <a:tr h="712278">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IN" sz="1800" dirty="0">
                          <a:latin typeface="+mn-lt"/>
                        </a:rPr>
                        <a:t>Trial Run Status (In process/Completed)</a:t>
                      </a:r>
                    </a:p>
                  </a:txBody>
                  <a:tcPr marL="45720" marR="45720" marT="22860" marB="22860" anchor="ctr"/>
                </a:tc>
                <a:tc>
                  <a:txBody>
                    <a:bodyPr/>
                    <a:lstStyle/>
                    <a:p>
                      <a:pPr lvl="0" algn="ctr"/>
                      <a:r>
                        <a:rPr lang="en-IN" sz="1800" dirty="0">
                          <a:latin typeface="+mn-lt"/>
                        </a:rPr>
                        <a:t>0%</a:t>
                      </a:r>
                    </a:p>
                  </a:txBody>
                  <a:tcPr marL="45720" marR="45720" marT="22860" marB="22860" anchor="ctr">
                    <a:solidFill>
                      <a:schemeClr val="bg1"/>
                    </a:solidFill>
                  </a:tcPr>
                </a:tc>
                <a:extLst>
                  <a:ext uri="{0D108BD9-81ED-4DB2-BD59-A6C34878D82A}">
                    <a16:rowId xmlns:a16="http://schemas.microsoft.com/office/drawing/2014/main" val="4051067899"/>
                  </a:ext>
                </a:extLst>
              </a:tr>
              <a:tr h="1041021">
                <a:tc>
                  <a:txBody>
                    <a:bodyPr/>
                    <a:lstStyle/>
                    <a:p>
                      <a:pPr marL="457189" marR="0" lvl="1" indent="0" algn="ctr" defTabSz="1828754" rtl="0" eaLnBrk="1" fontAlgn="auto" latinLnBrk="0" hangingPunct="1">
                        <a:lnSpc>
                          <a:spcPct val="100000"/>
                        </a:lnSpc>
                        <a:spcBef>
                          <a:spcPts val="0"/>
                        </a:spcBef>
                        <a:spcAft>
                          <a:spcPts val="0"/>
                        </a:spcAft>
                        <a:buClrTx/>
                        <a:buSzTx/>
                        <a:buFontTx/>
                        <a:buNone/>
                        <a:tabLst/>
                        <a:defRPr/>
                      </a:pPr>
                      <a:r>
                        <a:rPr lang="en-IN" sz="1800" dirty="0">
                          <a:latin typeface="+mn-lt"/>
                        </a:rPr>
                        <a:t>PSS status</a:t>
                      </a:r>
                    </a:p>
                  </a:txBody>
                  <a:tcPr marL="45720" marR="45720" marT="22860" marB="22860" anchor="ctr"/>
                </a:tc>
                <a:tc>
                  <a:txBody>
                    <a:bodyPr/>
                    <a:lstStyle/>
                    <a:p>
                      <a:pPr algn="ctr"/>
                      <a:r>
                        <a:rPr lang="en-IN" sz="1800" dirty="0">
                          <a:latin typeface="+mn-lt"/>
                        </a:rPr>
                        <a:t>PSS land &amp; EPC Vendor  finalised</a:t>
                      </a:r>
                    </a:p>
                  </a:txBody>
                  <a:tcPr marL="45720" marR="45720" marT="22860" marB="22860" anchor="ctr">
                    <a:solidFill>
                      <a:schemeClr val="bg1"/>
                    </a:solidFill>
                  </a:tcPr>
                </a:tc>
                <a:extLst>
                  <a:ext uri="{0D108BD9-81ED-4DB2-BD59-A6C34878D82A}">
                    <a16:rowId xmlns:a16="http://schemas.microsoft.com/office/drawing/2014/main" val="166113789"/>
                  </a:ext>
                </a:extLst>
              </a:tr>
              <a:tr h="712278">
                <a:tc>
                  <a:txBody>
                    <a:bodyPr/>
                    <a:lstStyle/>
                    <a:p>
                      <a:pPr marL="0" marR="0" lvl="0" indent="0" algn="ctr" defTabSz="1828754" rtl="0" eaLnBrk="1" fontAlgn="auto" latinLnBrk="0" hangingPunct="1">
                        <a:lnSpc>
                          <a:spcPct val="100000"/>
                        </a:lnSpc>
                        <a:spcBef>
                          <a:spcPts val="0"/>
                        </a:spcBef>
                        <a:spcAft>
                          <a:spcPts val="0"/>
                        </a:spcAft>
                        <a:buClrTx/>
                        <a:buSzTx/>
                        <a:buFontTx/>
                        <a:buNone/>
                        <a:tabLst/>
                        <a:defRPr/>
                      </a:pPr>
                      <a:r>
                        <a:rPr lang="en-IN" sz="1800" dirty="0">
                          <a:latin typeface="+mn-lt"/>
                        </a:rPr>
                        <a:t>As per CTU evacuation system planning</a:t>
                      </a:r>
                    </a:p>
                  </a:txBody>
                  <a:tcPr marL="45720" marR="45720" marT="22860" marB="22860" anchor="ctr"/>
                </a:tc>
                <a:tc>
                  <a:txBody>
                    <a:bodyPr/>
                    <a:lstStyle/>
                    <a:p>
                      <a:pPr algn="ctr"/>
                      <a:r>
                        <a:rPr lang="en-IN" sz="1800" dirty="0">
                          <a:latin typeface="+mn-lt"/>
                        </a:rPr>
                        <a:t>Land work in Progress</a:t>
                      </a:r>
                    </a:p>
                  </a:txBody>
                  <a:tcPr marL="45720" marR="45720" marT="22860" marB="22860" anchor="ctr">
                    <a:solidFill>
                      <a:schemeClr val="bg1"/>
                    </a:solidFill>
                  </a:tcPr>
                </a:tc>
                <a:extLst>
                  <a:ext uri="{0D108BD9-81ED-4DB2-BD59-A6C34878D82A}">
                    <a16:rowId xmlns:a16="http://schemas.microsoft.com/office/drawing/2014/main" val="2056404937"/>
                  </a:ext>
                </a:extLst>
              </a:tr>
              <a:tr h="383535">
                <a:tc>
                  <a:txBody>
                    <a:bodyPr/>
                    <a:lstStyle/>
                    <a:p>
                      <a:pPr algn="ctr"/>
                      <a:r>
                        <a:rPr lang="en-IN" sz="1800" dirty="0">
                          <a:latin typeface="+mn-lt"/>
                        </a:rPr>
                        <a:t>Commissioning  plan</a:t>
                      </a:r>
                    </a:p>
                  </a:txBody>
                  <a:tcPr marL="45720" marR="45720" marT="22860" marB="22860" anchor="ctr"/>
                </a:tc>
                <a:tc>
                  <a:txBody>
                    <a:bodyPr/>
                    <a:lstStyle/>
                    <a:p>
                      <a:pPr algn="ctr"/>
                      <a:r>
                        <a:rPr lang="en-IN" sz="1800" dirty="0">
                          <a:latin typeface="+mn-lt"/>
                        </a:rPr>
                        <a:t>23-01-2026</a:t>
                      </a:r>
                    </a:p>
                  </a:txBody>
                  <a:tcPr marL="45720" marR="45720" marT="22860" marB="22860" anchor="ctr">
                    <a:solidFill>
                      <a:schemeClr val="bg1"/>
                    </a:solidFill>
                  </a:tcPr>
                </a:tc>
                <a:extLst>
                  <a:ext uri="{0D108BD9-81ED-4DB2-BD59-A6C34878D82A}">
                    <a16:rowId xmlns:a16="http://schemas.microsoft.com/office/drawing/2014/main" val="3360088382"/>
                  </a:ext>
                </a:extLst>
              </a:tr>
            </a:tbl>
          </a:graphicData>
        </a:graphic>
      </p:graphicFrame>
      <p:cxnSp>
        <p:nvCxnSpPr>
          <p:cNvPr id="3" name="Straight Connector 2">
            <a:extLst>
              <a:ext uri="{FF2B5EF4-FFF2-40B4-BE49-F238E27FC236}">
                <a16:creationId xmlns:a16="http://schemas.microsoft.com/office/drawing/2014/main" id="{0BA35EDB-9A22-6410-7177-6D9C9AAEB94B}"/>
              </a:ext>
            </a:extLst>
          </p:cNvPr>
          <p:cNvCxnSpPr>
            <a:cxnSpLocks/>
          </p:cNvCxnSpPr>
          <p:nvPr/>
        </p:nvCxnSpPr>
        <p:spPr>
          <a:xfrm>
            <a:off x="5718629" y="963109"/>
            <a:ext cx="0" cy="5851349"/>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14763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D5F804E-E5DF-429C-9CCF-448AAAA7C9E2}"/>
              </a:ext>
            </a:extLst>
          </p:cNvPr>
          <p:cNvSpPr txBox="1"/>
          <p:nvPr/>
        </p:nvSpPr>
        <p:spPr>
          <a:xfrm>
            <a:off x="58921" y="205255"/>
            <a:ext cx="8251233" cy="954107"/>
          </a:xfrm>
          <a:prstGeom prst="rect">
            <a:avLst/>
          </a:prstGeom>
          <a:noFill/>
        </p:spPr>
        <p:txBody>
          <a:bodyPr wrap="none" rtlCol="0">
            <a:spAutoFit/>
          </a:bodyPr>
          <a:lstStyle/>
          <a:p>
            <a:r>
              <a:rPr lang="en-IN" sz="28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PRESENT STATUS FOR PROJECT DEVELOPMENT</a:t>
            </a:r>
          </a:p>
          <a:p>
            <a:endParaRPr lang="en-IN" sz="2800" b="1" u="sng" dirty="0"/>
          </a:p>
        </p:txBody>
      </p:sp>
      <p:graphicFrame>
        <p:nvGraphicFramePr>
          <p:cNvPr id="8" name="Table 7">
            <a:extLst>
              <a:ext uri="{FF2B5EF4-FFF2-40B4-BE49-F238E27FC236}">
                <a16:creationId xmlns:a16="http://schemas.microsoft.com/office/drawing/2014/main" id="{EED956E8-CA80-45AF-9DFD-02FAFC450706}"/>
              </a:ext>
            </a:extLst>
          </p:cNvPr>
          <p:cNvGraphicFramePr>
            <a:graphicFrameLocks/>
          </p:cNvGraphicFramePr>
          <p:nvPr/>
        </p:nvGraphicFramePr>
        <p:xfrm>
          <a:off x="144862" y="4479579"/>
          <a:ext cx="6517196" cy="2216709"/>
        </p:xfrm>
        <a:graphic>
          <a:graphicData uri="http://schemas.openxmlformats.org/drawingml/2006/table">
            <a:tbl>
              <a:tblPr firstRow="1" bandRow="1">
                <a:tableStyleId>{5940675A-B579-460E-94D1-54222C63F5DA}</a:tableStyleId>
              </a:tblPr>
              <a:tblGrid>
                <a:gridCol w="4036391">
                  <a:extLst>
                    <a:ext uri="{9D8B030D-6E8A-4147-A177-3AD203B41FA5}">
                      <a16:colId xmlns:a16="http://schemas.microsoft.com/office/drawing/2014/main" val="2653901849"/>
                    </a:ext>
                  </a:extLst>
                </a:gridCol>
                <a:gridCol w="2480805">
                  <a:extLst>
                    <a:ext uri="{9D8B030D-6E8A-4147-A177-3AD203B41FA5}">
                      <a16:colId xmlns:a16="http://schemas.microsoft.com/office/drawing/2014/main" val="2144740993"/>
                    </a:ext>
                  </a:extLst>
                </a:gridCol>
              </a:tblGrid>
              <a:tr h="258029">
                <a:tc>
                  <a:txBody>
                    <a:bodyPr/>
                    <a:lstStyle/>
                    <a:p>
                      <a:r>
                        <a:rPr lang="en-IN" sz="1400" b="1" dirty="0"/>
                        <a:t>ELECTRCAL  BoP (PSS)</a:t>
                      </a:r>
                    </a:p>
                  </a:txBody>
                  <a:tcPr>
                    <a:solidFill>
                      <a:schemeClr val="bg2"/>
                    </a:solidFill>
                  </a:tcPr>
                </a:tc>
                <a:tc>
                  <a:txBody>
                    <a:bodyPr/>
                    <a:lstStyle/>
                    <a:p>
                      <a:pPr algn="ctr"/>
                      <a:r>
                        <a:rPr lang="en-IN" sz="1400" b="1" kern="1200" dirty="0">
                          <a:solidFill>
                            <a:schemeClr val="tx1"/>
                          </a:solidFill>
                          <a:latin typeface="+mn-lt"/>
                          <a:ea typeface="+mn-ea"/>
                          <a:cs typeface="+mn-cs"/>
                        </a:rPr>
                        <a:t>STATUS</a:t>
                      </a:r>
                    </a:p>
                  </a:txBody>
                  <a:tcPr>
                    <a:solidFill>
                      <a:schemeClr val="bg2"/>
                    </a:solidFill>
                  </a:tcPr>
                </a:tc>
                <a:extLst>
                  <a:ext uri="{0D108BD9-81ED-4DB2-BD59-A6C34878D82A}">
                    <a16:rowId xmlns:a16="http://schemas.microsoft.com/office/drawing/2014/main" val="2638545312"/>
                  </a:ext>
                </a:extLst>
              </a:tr>
              <a:tr h="212078">
                <a:tc>
                  <a:txBody>
                    <a:bodyPr/>
                    <a:lstStyle/>
                    <a:p>
                      <a:r>
                        <a:rPr lang="en-IN" sz="1400" dirty="0"/>
                        <a:t>Land Acquisition</a:t>
                      </a:r>
                    </a:p>
                  </a:txBody>
                  <a:tcPr/>
                </a:tc>
                <a:tc>
                  <a:txBody>
                    <a:bodyPr/>
                    <a:lstStyle/>
                    <a:p>
                      <a:pPr algn="ctr"/>
                      <a:r>
                        <a:rPr lang="en-IN" sz="1400" dirty="0"/>
                        <a:t>Done </a:t>
                      </a:r>
                    </a:p>
                  </a:txBody>
                  <a:tcPr>
                    <a:solidFill>
                      <a:schemeClr val="bg1"/>
                    </a:solidFill>
                  </a:tcPr>
                </a:tc>
                <a:extLst>
                  <a:ext uri="{0D108BD9-81ED-4DB2-BD59-A6C34878D82A}">
                    <a16:rowId xmlns:a16="http://schemas.microsoft.com/office/drawing/2014/main" val="4130613968"/>
                  </a:ext>
                </a:extLst>
              </a:tr>
              <a:tr h="258029">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Execution</a:t>
                      </a:r>
                      <a:endParaRPr lang="en-IN" sz="1400" dirty="0"/>
                    </a:p>
                  </a:txBody>
                  <a:tcPr/>
                </a:tc>
                <a:tc>
                  <a:txBody>
                    <a:bodyPr/>
                    <a:lstStyle/>
                    <a:p>
                      <a:pPr algn="ctr"/>
                      <a:r>
                        <a:rPr lang="en-IN" sz="1400" dirty="0"/>
                        <a:t>0%</a:t>
                      </a:r>
                    </a:p>
                  </a:txBody>
                  <a:tcPr>
                    <a:solidFill>
                      <a:schemeClr val="bg1"/>
                    </a:solidFill>
                  </a:tcPr>
                </a:tc>
                <a:extLst>
                  <a:ext uri="{0D108BD9-81ED-4DB2-BD59-A6C34878D82A}">
                    <a16:rowId xmlns:a16="http://schemas.microsoft.com/office/drawing/2014/main" val="2305876917"/>
                  </a:ext>
                </a:extLst>
              </a:tr>
              <a:tr h="212078">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Control room Construction</a:t>
                      </a:r>
                      <a:endParaRPr lang="en-IN" sz="1400" dirty="0"/>
                    </a:p>
                  </a:txBody>
                  <a:tcPr/>
                </a:tc>
                <a:tc>
                  <a:txBody>
                    <a:bodyPr/>
                    <a:lstStyle/>
                    <a:p>
                      <a:pPr algn="ctr"/>
                      <a:r>
                        <a:rPr lang="en-IN" sz="1400" dirty="0"/>
                        <a:t>0%</a:t>
                      </a:r>
                    </a:p>
                  </a:txBody>
                  <a:tcPr>
                    <a:solidFill>
                      <a:schemeClr val="bg1"/>
                    </a:solidFill>
                  </a:tcPr>
                </a:tc>
                <a:extLst>
                  <a:ext uri="{0D108BD9-81ED-4DB2-BD59-A6C34878D82A}">
                    <a16:rowId xmlns:a16="http://schemas.microsoft.com/office/drawing/2014/main" val="3032477853"/>
                  </a:ext>
                </a:extLst>
              </a:tr>
              <a:tr h="258029">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220KV &amp; 33KV Gantry &amp; Structures  </a:t>
                      </a:r>
                      <a:endParaRPr lang="en-IN" sz="1400" dirty="0"/>
                    </a:p>
                  </a:txBody>
                  <a:tcPr/>
                </a:tc>
                <a:tc>
                  <a:txBody>
                    <a:bodyPr/>
                    <a:lstStyle/>
                    <a:p>
                      <a:pPr algn="ctr"/>
                      <a:r>
                        <a:rPr lang="en-IN" sz="1400" dirty="0"/>
                        <a:t>0%</a:t>
                      </a:r>
                    </a:p>
                  </a:txBody>
                  <a:tcPr>
                    <a:solidFill>
                      <a:schemeClr val="bg1"/>
                    </a:solidFill>
                  </a:tcPr>
                </a:tc>
                <a:extLst>
                  <a:ext uri="{0D108BD9-81ED-4DB2-BD59-A6C34878D82A}">
                    <a16:rowId xmlns:a16="http://schemas.microsoft.com/office/drawing/2014/main" val="3077274966"/>
                  </a:ext>
                </a:extLst>
              </a:tr>
              <a:tr h="387909">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IN" sz="1400" dirty="0"/>
                        <a:t>220KV Equipment foundation </a:t>
                      </a:r>
                    </a:p>
                  </a:txBody>
                  <a:tcPr/>
                </a:tc>
                <a:tc>
                  <a:txBody>
                    <a:bodyPr/>
                    <a:lstStyle/>
                    <a:p>
                      <a:pPr algn="ctr"/>
                      <a:r>
                        <a:rPr lang="en-IN" sz="1400" dirty="0"/>
                        <a:t>0%</a:t>
                      </a:r>
                    </a:p>
                  </a:txBody>
                  <a:tcPr>
                    <a:solidFill>
                      <a:schemeClr val="bg1"/>
                    </a:solidFill>
                  </a:tcPr>
                </a:tc>
                <a:extLst>
                  <a:ext uri="{0D108BD9-81ED-4DB2-BD59-A6C34878D82A}">
                    <a16:rowId xmlns:a16="http://schemas.microsoft.com/office/drawing/2014/main" val="627419671"/>
                  </a:ext>
                </a:extLst>
              </a:tr>
              <a:tr h="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IN" sz="1400" dirty="0"/>
                        <a:t>Transformer Erection</a:t>
                      </a:r>
                    </a:p>
                  </a:txBody>
                  <a:tcPr/>
                </a:tc>
                <a:tc>
                  <a:txBody>
                    <a:bodyPr/>
                    <a:lstStyle/>
                    <a:p>
                      <a:pPr algn="ctr"/>
                      <a:r>
                        <a:rPr lang="en-IN" sz="1400" dirty="0"/>
                        <a:t>0%</a:t>
                      </a:r>
                    </a:p>
                  </a:txBody>
                  <a:tcPr>
                    <a:solidFill>
                      <a:schemeClr val="bg1"/>
                    </a:solidFill>
                  </a:tcPr>
                </a:tc>
                <a:extLst>
                  <a:ext uri="{0D108BD9-81ED-4DB2-BD59-A6C34878D82A}">
                    <a16:rowId xmlns:a16="http://schemas.microsoft.com/office/drawing/2014/main" val="657418618"/>
                  </a:ext>
                </a:extLst>
              </a:tr>
            </a:tbl>
          </a:graphicData>
        </a:graphic>
      </p:graphicFrame>
      <p:graphicFrame>
        <p:nvGraphicFramePr>
          <p:cNvPr id="11" name="Table 10">
            <a:extLst>
              <a:ext uri="{FF2B5EF4-FFF2-40B4-BE49-F238E27FC236}">
                <a16:creationId xmlns:a16="http://schemas.microsoft.com/office/drawing/2014/main" id="{26871416-78EC-4D53-841F-6C7BD9CE4077}"/>
              </a:ext>
            </a:extLst>
          </p:cNvPr>
          <p:cNvGraphicFramePr>
            <a:graphicFrameLocks/>
          </p:cNvGraphicFramePr>
          <p:nvPr/>
        </p:nvGraphicFramePr>
        <p:xfrm>
          <a:off x="127986" y="996107"/>
          <a:ext cx="6534071" cy="2042160"/>
        </p:xfrm>
        <a:graphic>
          <a:graphicData uri="http://schemas.openxmlformats.org/drawingml/2006/table">
            <a:tbl>
              <a:tblPr firstRow="1" bandRow="1">
                <a:tableStyleId>{5940675A-B579-460E-94D1-54222C63F5DA}</a:tableStyleId>
              </a:tblPr>
              <a:tblGrid>
                <a:gridCol w="4063995">
                  <a:extLst>
                    <a:ext uri="{9D8B030D-6E8A-4147-A177-3AD203B41FA5}">
                      <a16:colId xmlns:a16="http://schemas.microsoft.com/office/drawing/2014/main" val="2653901849"/>
                    </a:ext>
                  </a:extLst>
                </a:gridCol>
                <a:gridCol w="2470076">
                  <a:extLst>
                    <a:ext uri="{9D8B030D-6E8A-4147-A177-3AD203B41FA5}">
                      <a16:colId xmlns:a16="http://schemas.microsoft.com/office/drawing/2014/main" val="653098352"/>
                    </a:ext>
                  </a:extLst>
                </a:gridCol>
              </a:tblGrid>
              <a:tr h="258029">
                <a:tc>
                  <a:txBody>
                    <a:bodyPr/>
                    <a:lstStyle/>
                    <a:p>
                      <a:r>
                        <a:rPr lang="en-IN" sz="1400" b="1" dirty="0"/>
                        <a:t>ELECTRICAL BoP(EHV)</a:t>
                      </a:r>
                    </a:p>
                  </a:txBody>
                  <a:tcPr>
                    <a:solidFill>
                      <a:schemeClr val="bg2"/>
                    </a:solidFill>
                  </a:tcPr>
                </a:tc>
                <a:tc>
                  <a:txBody>
                    <a:bodyPr/>
                    <a:lstStyle/>
                    <a:p>
                      <a:pPr algn="ctr"/>
                      <a:r>
                        <a:rPr lang="en-IN" sz="1400" b="1" kern="1200" dirty="0">
                          <a:solidFill>
                            <a:schemeClr val="tx1"/>
                          </a:solidFill>
                          <a:latin typeface="+mn-lt"/>
                          <a:ea typeface="+mn-ea"/>
                          <a:cs typeface="+mn-cs"/>
                        </a:rPr>
                        <a:t>STATUS</a:t>
                      </a:r>
                    </a:p>
                  </a:txBody>
                  <a:tcPr>
                    <a:solidFill>
                      <a:schemeClr val="bg2"/>
                    </a:solidFill>
                  </a:tcPr>
                </a:tc>
                <a:extLst>
                  <a:ext uri="{0D108BD9-81ED-4DB2-BD59-A6C34878D82A}">
                    <a16:rowId xmlns:a16="http://schemas.microsoft.com/office/drawing/2014/main" val="2638545312"/>
                  </a:ext>
                </a:extLst>
              </a:tr>
              <a:tr h="212078">
                <a:tc>
                  <a:txBody>
                    <a:bodyPr/>
                    <a:lstStyle/>
                    <a:p>
                      <a:r>
                        <a:rPr lang="en-US" sz="1400" dirty="0"/>
                        <a:t>RoW Agreement (Required / Acquired)</a:t>
                      </a:r>
                      <a:endParaRPr lang="en-IN" sz="1400" dirty="0"/>
                    </a:p>
                  </a:txBody>
                  <a:tcPr/>
                </a:tc>
                <a:tc>
                  <a:txBody>
                    <a:bodyPr/>
                    <a:lstStyle/>
                    <a:p>
                      <a:pPr algn="ctr"/>
                      <a:r>
                        <a:rPr lang="en-IN" sz="1400" dirty="0"/>
                        <a:t>0%</a:t>
                      </a:r>
                    </a:p>
                  </a:txBody>
                  <a:tcPr>
                    <a:solidFill>
                      <a:schemeClr val="bg1"/>
                    </a:solidFill>
                  </a:tcPr>
                </a:tc>
                <a:extLst>
                  <a:ext uri="{0D108BD9-81ED-4DB2-BD59-A6C34878D82A}">
                    <a16:rowId xmlns:a16="http://schemas.microsoft.com/office/drawing/2014/main" val="4130613968"/>
                  </a:ext>
                </a:extLst>
              </a:tr>
              <a:tr h="258029">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Excavation (Completed  / In process)</a:t>
                      </a:r>
                      <a:endParaRPr lang="en-IN" sz="1400" dirty="0"/>
                    </a:p>
                  </a:txBody>
                  <a:tcPr/>
                </a:tc>
                <a:tc>
                  <a:txBody>
                    <a:bodyPr/>
                    <a:lstStyle/>
                    <a:p>
                      <a:pPr algn="ctr"/>
                      <a:r>
                        <a:rPr lang="en-IN" sz="1400" dirty="0"/>
                        <a:t>6%</a:t>
                      </a:r>
                    </a:p>
                  </a:txBody>
                  <a:tcPr>
                    <a:solidFill>
                      <a:schemeClr val="bg1"/>
                    </a:solidFill>
                  </a:tcPr>
                </a:tc>
                <a:extLst>
                  <a:ext uri="{0D108BD9-81ED-4DB2-BD59-A6C34878D82A}">
                    <a16:rowId xmlns:a16="http://schemas.microsoft.com/office/drawing/2014/main" val="2305876917"/>
                  </a:ext>
                </a:extLst>
              </a:tr>
              <a:tr h="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EHV  Foundation (Completed / In process)</a:t>
                      </a:r>
                      <a:endParaRPr lang="en-IN" sz="1400" dirty="0"/>
                    </a:p>
                  </a:txBody>
                  <a:tcPr/>
                </a:tc>
                <a:tc>
                  <a:txBody>
                    <a:bodyPr/>
                    <a:lstStyle/>
                    <a:p>
                      <a:pPr algn="ctr"/>
                      <a:r>
                        <a:rPr lang="en-IN" sz="1400" dirty="0"/>
                        <a:t>7.36%</a:t>
                      </a:r>
                    </a:p>
                  </a:txBody>
                  <a:tcPr>
                    <a:solidFill>
                      <a:schemeClr val="bg1"/>
                    </a:solidFill>
                  </a:tcPr>
                </a:tc>
                <a:extLst>
                  <a:ext uri="{0D108BD9-81ED-4DB2-BD59-A6C34878D82A}">
                    <a16:rowId xmlns:a16="http://schemas.microsoft.com/office/drawing/2014/main" val="3032477853"/>
                  </a:ext>
                </a:extLst>
              </a:tr>
              <a:tr h="258029">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EHV Erection completed</a:t>
                      </a:r>
                      <a:endParaRPr lang="en-IN" sz="1400" dirty="0"/>
                    </a:p>
                  </a:txBody>
                  <a:tcPr/>
                </a:tc>
                <a:tc>
                  <a:txBody>
                    <a:bodyPr/>
                    <a:lstStyle/>
                    <a:p>
                      <a:pPr algn="ctr"/>
                      <a:r>
                        <a:rPr lang="en-IN" sz="1400" dirty="0"/>
                        <a:t>0%</a:t>
                      </a:r>
                    </a:p>
                  </a:txBody>
                  <a:tcPr>
                    <a:solidFill>
                      <a:schemeClr val="bg1"/>
                    </a:solidFill>
                  </a:tcPr>
                </a:tc>
                <a:extLst>
                  <a:ext uri="{0D108BD9-81ED-4DB2-BD59-A6C34878D82A}">
                    <a16:rowId xmlns:a16="http://schemas.microsoft.com/office/drawing/2014/main" val="3077274966"/>
                  </a:ext>
                </a:extLst>
              </a:tr>
              <a:tr h="258029">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IN" sz="1400" dirty="0"/>
                        <a:t>Stringing (Required / Completed/ In process)</a:t>
                      </a:r>
                    </a:p>
                    <a:p>
                      <a:pPr marL="0" marR="0" lvl="0" indent="0" algn="l" defTabSz="914377" rtl="0" eaLnBrk="1" fontAlgn="auto" latinLnBrk="0" hangingPunct="1">
                        <a:lnSpc>
                          <a:spcPct val="100000"/>
                        </a:lnSpc>
                        <a:spcBef>
                          <a:spcPts val="0"/>
                        </a:spcBef>
                        <a:spcAft>
                          <a:spcPts val="0"/>
                        </a:spcAft>
                        <a:buClrTx/>
                        <a:buSzTx/>
                        <a:buFontTx/>
                        <a:buNone/>
                        <a:tabLst/>
                        <a:defRPr/>
                      </a:pPr>
                      <a:endParaRPr lang="en-IN" sz="1400" dirty="0"/>
                    </a:p>
                  </a:txBody>
                  <a:tcPr/>
                </a:tc>
                <a:tc>
                  <a:txBody>
                    <a:bodyPr/>
                    <a:lstStyle/>
                    <a:p>
                      <a:pPr algn="ctr"/>
                      <a:r>
                        <a:rPr lang="en-IN" sz="1400" dirty="0"/>
                        <a:t>0%</a:t>
                      </a:r>
                    </a:p>
                  </a:txBody>
                  <a:tcPr>
                    <a:solidFill>
                      <a:schemeClr val="bg1"/>
                    </a:solidFill>
                  </a:tcPr>
                </a:tc>
                <a:extLst>
                  <a:ext uri="{0D108BD9-81ED-4DB2-BD59-A6C34878D82A}">
                    <a16:rowId xmlns:a16="http://schemas.microsoft.com/office/drawing/2014/main" val="627419671"/>
                  </a:ext>
                </a:extLst>
              </a:tr>
            </a:tbl>
          </a:graphicData>
        </a:graphic>
      </p:graphicFrame>
      <p:graphicFrame>
        <p:nvGraphicFramePr>
          <p:cNvPr id="12" name="Table 11">
            <a:extLst>
              <a:ext uri="{FF2B5EF4-FFF2-40B4-BE49-F238E27FC236}">
                <a16:creationId xmlns:a16="http://schemas.microsoft.com/office/drawing/2014/main" id="{49D920CC-67C6-4C4D-9168-9D8AA3171349}"/>
              </a:ext>
            </a:extLst>
          </p:cNvPr>
          <p:cNvGraphicFramePr>
            <a:graphicFrameLocks/>
          </p:cNvGraphicFramePr>
          <p:nvPr/>
        </p:nvGraphicFramePr>
        <p:xfrm>
          <a:off x="6824874" y="996107"/>
          <a:ext cx="4914823" cy="1880988"/>
        </p:xfrm>
        <a:graphic>
          <a:graphicData uri="http://schemas.openxmlformats.org/drawingml/2006/table">
            <a:tbl>
              <a:tblPr firstRow="1" bandRow="1">
                <a:tableStyleId>{5940675A-B579-460E-94D1-54222C63F5DA}</a:tableStyleId>
              </a:tblPr>
              <a:tblGrid>
                <a:gridCol w="2823216">
                  <a:extLst>
                    <a:ext uri="{9D8B030D-6E8A-4147-A177-3AD203B41FA5}">
                      <a16:colId xmlns:a16="http://schemas.microsoft.com/office/drawing/2014/main" val="2653901849"/>
                    </a:ext>
                  </a:extLst>
                </a:gridCol>
                <a:gridCol w="2091607">
                  <a:extLst>
                    <a:ext uri="{9D8B030D-6E8A-4147-A177-3AD203B41FA5}">
                      <a16:colId xmlns:a16="http://schemas.microsoft.com/office/drawing/2014/main" val="653098352"/>
                    </a:ext>
                  </a:extLst>
                </a:gridCol>
              </a:tblGrid>
              <a:tr h="0">
                <a:tc>
                  <a:txBody>
                    <a:bodyPr/>
                    <a:lstStyle/>
                    <a:p>
                      <a:r>
                        <a:rPr lang="en-IN" sz="1400" b="1" kern="1200" dirty="0">
                          <a:solidFill>
                            <a:schemeClr val="tx1"/>
                          </a:solidFill>
                          <a:latin typeface="+mn-lt"/>
                          <a:ea typeface="+mn-ea"/>
                          <a:cs typeface="+mn-cs"/>
                        </a:rPr>
                        <a:t>EQUIPMENT SUPPLY </a:t>
                      </a:r>
                    </a:p>
                  </a:txBody>
                  <a:tcPr>
                    <a:solidFill>
                      <a:schemeClr val="bg2"/>
                    </a:solidFill>
                  </a:tcPr>
                </a:tc>
                <a:tc>
                  <a:txBody>
                    <a:bodyPr/>
                    <a:lstStyle/>
                    <a:p>
                      <a:pPr algn="ctr"/>
                      <a:r>
                        <a:rPr lang="en-IN" sz="1400" b="1" kern="1200" dirty="0">
                          <a:solidFill>
                            <a:schemeClr val="tx1"/>
                          </a:solidFill>
                          <a:latin typeface="+mn-lt"/>
                          <a:ea typeface="+mn-ea"/>
                          <a:cs typeface="+mn-cs"/>
                        </a:rPr>
                        <a:t>STATUS</a:t>
                      </a:r>
                    </a:p>
                  </a:txBody>
                  <a:tcPr>
                    <a:solidFill>
                      <a:schemeClr val="bg2"/>
                    </a:solidFill>
                  </a:tcPr>
                </a:tc>
                <a:extLst>
                  <a:ext uri="{0D108BD9-81ED-4DB2-BD59-A6C34878D82A}">
                    <a16:rowId xmlns:a16="http://schemas.microsoft.com/office/drawing/2014/main" val="2638545312"/>
                  </a:ext>
                </a:extLst>
              </a:tr>
              <a:tr h="355018">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EHV tower Material</a:t>
                      </a:r>
                      <a:endParaRPr lang="en-IN" sz="1400" dirty="0"/>
                    </a:p>
                  </a:txBody>
                  <a:tcPr/>
                </a:tc>
                <a:tc>
                  <a:txBody>
                    <a:bodyPr/>
                    <a:lstStyle/>
                    <a:p>
                      <a:pPr algn="ctr"/>
                      <a:r>
                        <a:rPr lang="en-IN" sz="1400" dirty="0"/>
                        <a:t>0%</a:t>
                      </a:r>
                    </a:p>
                  </a:txBody>
                  <a:tcPr>
                    <a:solidFill>
                      <a:schemeClr val="bg1"/>
                    </a:solidFill>
                  </a:tcPr>
                </a:tc>
                <a:extLst>
                  <a:ext uri="{0D108BD9-81ED-4DB2-BD59-A6C34878D82A}">
                    <a16:rowId xmlns:a16="http://schemas.microsoft.com/office/drawing/2014/main" val="3032477853"/>
                  </a:ext>
                </a:extLst>
              </a:tr>
              <a:tr h="30383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Anchor Cages / Stub</a:t>
                      </a:r>
                      <a:endParaRPr lang="en-IN" sz="1400" dirty="0"/>
                    </a:p>
                  </a:txBody>
                  <a:tcPr/>
                </a:tc>
                <a:tc>
                  <a:txBody>
                    <a:bodyPr/>
                    <a:lstStyle/>
                    <a:p>
                      <a:pPr algn="ctr"/>
                      <a:r>
                        <a:rPr lang="en-IN" sz="1400" b="1" dirty="0"/>
                        <a:t>12%</a:t>
                      </a:r>
                    </a:p>
                  </a:txBody>
                  <a:tcPr>
                    <a:solidFill>
                      <a:schemeClr val="bg1"/>
                    </a:solidFill>
                  </a:tcPr>
                </a:tc>
                <a:extLst>
                  <a:ext uri="{0D108BD9-81ED-4DB2-BD59-A6C34878D82A}">
                    <a16:rowId xmlns:a16="http://schemas.microsoft.com/office/drawing/2014/main" val="3077274966"/>
                  </a:ext>
                </a:extLst>
              </a:tr>
              <a:tr h="30383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IN" sz="1400" dirty="0"/>
                        <a:t>PSS –Power Transformer</a:t>
                      </a:r>
                    </a:p>
                  </a:txBody>
                  <a:tcPr/>
                </a:tc>
                <a:tc>
                  <a:txBody>
                    <a:bodyPr/>
                    <a:lstStyle/>
                    <a:p>
                      <a:pPr algn="ctr"/>
                      <a:r>
                        <a:rPr lang="en-IN" sz="1400" dirty="0"/>
                        <a:t>0%</a:t>
                      </a:r>
                    </a:p>
                  </a:txBody>
                  <a:tcPr>
                    <a:solidFill>
                      <a:schemeClr val="bg1"/>
                    </a:solidFill>
                  </a:tcPr>
                </a:tc>
                <a:extLst>
                  <a:ext uri="{0D108BD9-81ED-4DB2-BD59-A6C34878D82A}">
                    <a16:rowId xmlns:a16="http://schemas.microsoft.com/office/drawing/2014/main" val="627419671"/>
                  </a:ext>
                </a:extLst>
              </a:tr>
              <a:tr h="30677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IN" sz="1400" dirty="0"/>
                        <a:t>EHV-Al-59 Moose Conductor</a:t>
                      </a:r>
                    </a:p>
                  </a:txBody>
                  <a:tcPr/>
                </a:tc>
                <a:tc>
                  <a:txBody>
                    <a:bodyPr/>
                    <a:lstStyle/>
                    <a:p>
                      <a:pPr algn="ctr"/>
                      <a:r>
                        <a:rPr lang="en-IN" sz="1400" dirty="0"/>
                        <a:t>0%</a:t>
                      </a:r>
                    </a:p>
                  </a:txBody>
                  <a:tcPr>
                    <a:solidFill>
                      <a:schemeClr val="bg1"/>
                    </a:solidFill>
                  </a:tcPr>
                </a:tc>
                <a:extLst>
                  <a:ext uri="{0D108BD9-81ED-4DB2-BD59-A6C34878D82A}">
                    <a16:rowId xmlns:a16="http://schemas.microsoft.com/office/drawing/2014/main" val="43419113"/>
                  </a:ext>
                </a:extLst>
              </a:tr>
              <a:tr h="30383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IN" sz="1400" dirty="0"/>
                        <a:t>EHV Hardware and Insulator</a:t>
                      </a:r>
                    </a:p>
                  </a:txBody>
                  <a:tcPr/>
                </a:tc>
                <a:tc>
                  <a:txBody>
                    <a:bodyPr/>
                    <a:lstStyle/>
                    <a:p>
                      <a:pPr algn="ctr"/>
                      <a:r>
                        <a:rPr lang="en-IN" sz="1400" dirty="0"/>
                        <a:t>0%</a:t>
                      </a:r>
                    </a:p>
                  </a:txBody>
                  <a:tcPr>
                    <a:solidFill>
                      <a:schemeClr val="bg1"/>
                    </a:solidFill>
                  </a:tcPr>
                </a:tc>
                <a:extLst>
                  <a:ext uri="{0D108BD9-81ED-4DB2-BD59-A6C34878D82A}">
                    <a16:rowId xmlns:a16="http://schemas.microsoft.com/office/drawing/2014/main" val="1439082705"/>
                  </a:ext>
                </a:extLst>
              </a:tr>
            </a:tbl>
          </a:graphicData>
        </a:graphic>
      </p:graphicFrame>
      <p:graphicFrame>
        <p:nvGraphicFramePr>
          <p:cNvPr id="13" name="Table 12">
            <a:extLst>
              <a:ext uri="{FF2B5EF4-FFF2-40B4-BE49-F238E27FC236}">
                <a16:creationId xmlns:a16="http://schemas.microsoft.com/office/drawing/2014/main" id="{DDE0F795-CADC-4FF1-B24C-BFFAF0AB350C}"/>
              </a:ext>
            </a:extLst>
          </p:cNvPr>
          <p:cNvGraphicFramePr>
            <a:graphicFrameLocks/>
          </p:cNvGraphicFramePr>
          <p:nvPr/>
        </p:nvGraphicFramePr>
        <p:xfrm>
          <a:off x="6824874" y="2896931"/>
          <a:ext cx="4922634" cy="1950720"/>
        </p:xfrm>
        <a:graphic>
          <a:graphicData uri="http://schemas.openxmlformats.org/drawingml/2006/table">
            <a:tbl>
              <a:tblPr firstRow="1" bandRow="1">
                <a:tableStyleId>{5940675A-B579-460E-94D1-54222C63F5DA}</a:tableStyleId>
              </a:tblPr>
              <a:tblGrid>
                <a:gridCol w="2822060">
                  <a:extLst>
                    <a:ext uri="{9D8B030D-6E8A-4147-A177-3AD203B41FA5}">
                      <a16:colId xmlns:a16="http://schemas.microsoft.com/office/drawing/2014/main" val="2653901849"/>
                    </a:ext>
                  </a:extLst>
                </a:gridCol>
                <a:gridCol w="2100574">
                  <a:extLst>
                    <a:ext uri="{9D8B030D-6E8A-4147-A177-3AD203B41FA5}">
                      <a16:colId xmlns:a16="http://schemas.microsoft.com/office/drawing/2014/main" val="653098352"/>
                    </a:ext>
                  </a:extLst>
                </a:gridCol>
              </a:tblGrid>
              <a:tr h="290186">
                <a:tc>
                  <a:txBody>
                    <a:bodyPr/>
                    <a:lstStyle/>
                    <a:p>
                      <a:r>
                        <a:rPr lang="en-IN" sz="1400" b="1" dirty="0"/>
                        <a:t>RESOURCES</a:t>
                      </a:r>
                    </a:p>
                  </a:txBody>
                  <a:tcPr>
                    <a:solidFill>
                      <a:schemeClr val="bg2"/>
                    </a:solidFill>
                  </a:tcPr>
                </a:tc>
                <a:tc>
                  <a:txBody>
                    <a:bodyPr/>
                    <a:lstStyle/>
                    <a:p>
                      <a:pPr marL="0" algn="ctr" defTabSz="914377" rtl="0" eaLnBrk="1" latinLnBrk="0" hangingPunct="1"/>
                      <a:r>
                        <a:rPr lang="en-IN" sz="1400" b="1" kern="1200" dirty="0">
                          <a:solidFill>
                            <a:schemeClr val="tx1"/>
                          </a:solidFill>
                          <a:latin typeface="+mn-lt"/>
                          <a:ea typeface="+mn-ea"/>
                          <a:cs typeface="+mn-cs"/>
                        </a:rPr>
                        <a:t>STATUS</a:t>
                      </a:r>
                    </a:p>
                  </a:txBody>
                  <a:tcPr>
                    <a:solidFill>
                      <a:schemeClr val="bg2"/>
                    </a:solidFill>
                  </a:tcPr>
                </a:tc>
                <a:extLst>
                  <a:ext uri="{0D108BD9-81ED-4DB2-BD59-A6C34878D82A}">
                    <a16:rowId xmlns:a16="http://schemas.microsoft.com/office/drawing/2014/main" val="2638545312"/>
                  </a:ext>
                </a:extLst>
              </a:tr>
              <a:tr h="290186">
                <a:tc>
                  <a:txBody>
                    <a:bodyPr/>
                    <a:lstStyle/>
                    <a:p>
                      <a:r>
                        <a:rPr lang="en-US" sz="1400" dirty="0"/>
                        <a:t>WTG subcontractor's mobilization</a:t>
                      </a:r>
                    </a:p>
                  </a:txBody>
                  <a:tcPr/>
                </a:tc>
                <a:tc>
                  <a:txBody>
                    <a:bodyPr/>
                    <a:lstStyle/>
                    <a:p>
                      <a:pPr algn="ctr"/>
                      <a:r>
                        <a:rPr lang="en-IN" sz="1400" dirty="0"/>
                        <a:t>Yes</a:t>
                      </a:r>
                    </a:p>
                  </a:txBody>
                  <a:tcPr>
                    <a:solidFill>
                      <a:schemeClr val="bg1"/>
                    </a:solidFill>
                  </a:tcPr>
                </a:tc>
                <a:extLst>
                  <a:ext uri="{0D108BD9-81ED-4DB2-BD59-A6C34878D82A}">
                    <a16:rowId xmlns:a16="http://schemas.microsoft.com/office/drawing/2014/main" val="4130613968"/>
                  </a:ext>
                </a:extLst>
              </a:tr>
              <a:tr h="493316">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EHV Foundation subcontractors  mobilization</a:t>
                      </a:r>
                      <a:endParaRPr lang="en-IN" sz="1400" dirty="0"/>
                    </a:p>
                  </a:txBody>
                  <a:tcPr/>
                </a:tc>
                <a:tc>
                  <a:txBody>
                    <a:bodyPr/>
                    <a:lstStyle/>
                    <a:p>
                      <a:pPr algn="ctr"/>
                      <a:r>
                        <a:rPr lang="en-IN" sz="1400" dirty="0"/>
                        <a:t>0%</a:t>
                      </a:r>
                    </a:p>
                  </a:txBody>
                  <a:tcPr>
                    <a:solidFill>
                      <a:schemeClr val="bg1"/>
                    </a:solidFill>
                  </a:tcPr>
                </a:tc>
                <a:extLst>
                  <a:ext uri="{0D108BD9-81ED-4DB2-BD59-A6C34878D82A}">
                    <a16:rowId xmlns:a16="http://schemas.microsoft.com/office/drawing/2014/main" val="2305876917"/>
                  </a:ext>
                </a:extLst>
              </a:tr>
              <a:tr h="493316">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EHV Erection subcontractor's mobilization</a:t>
                      </a:r>
                      <a:endParaRPr lang="en-IN" sz="1400" dirty="0"/>
                    </a:p>
                  </a:txBody>
                  <a:tcPr/>
                </a:tc>
                <a:tc>
                  <a:txBody>
                    <a:bodyPr/>
                    <a:lstStyle/>
                    <a:p>
                      <a:pPr algn="ctr"/>
                      <a:r>
                        <a:rPr lang="en-IN" sz="1400" dirty="0"/>
                        <a:t>0%</a:t>
                      </a:r>
                    </a:p>
                  </a:txBody>
                  <a:tcPr>
                    <a:solidFill>
                      <a:schemeClr val="bg1"/>
                    </a:solidFill>
                  </a:tcPr>
                </a:tc>
                <a:extLst>
                  <a:ext uri="{0D108BD9-81ED-4DB2-BD59-A6C34878D82A}">
                    <a16:rowId xmlns:a16="http://schemas.microsoft.com/office/drawing/2014/main" val="3032477853"/>
                  </a:ext>
                </a:extLst>
              </a:tr>
              <a:tr h="290186">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PSS Civil </a:t>
                      </a:r>
                      <a:r>
                        <a:rPr lang="en-US" sz="1400"/>
                        <a:t>contractor mobilization</a:t>
                      </a:r>
                      <a:endParaRPr lang="en-IN" sz="1400" dirty="0"/>
                    </a:p>
                  </a:txBody>
                  <a:tcPr/>
                </a:tc>
                <a:tc>
                  <a:txBody>
                    <a:bodyPr/>
                    <a:lstStyle/>
                    <a:p>
                      <a:pPr algn="ctr"/>
                      <a:r>
                        <a:rPr lang="en-IN" sz="1400" dirty="0"/>
                        <a:t>0%</a:t>
                      </a:r>
                    </a:p>
                  </a:txBody>
                  <a:tcPr>
                    <a:solidFill>
                      <a:schemeClr val="bg1"/>
                    </a:solidFill>
                  </a:tcPr>
                </a:tc>
                <a:extLst>
                  <a:ext uri="{0D108BD9-81ED-4DB2-BD59-A6C34878D82A}">
                    <a16:rowId xmlns:a16="http://schemas.microsoft.com/office/drawing/2014/main" val="3077274966"/>
                  </a:ext>
                </a:extLst>
              </a:tr>
            </a:tbl>
          </a:graphicData>
        </a:graphic>
      </p:graphicFrame>
      <p:graphicFrame>
        <p:nvGraphicFramePr>
          <p:cNvPr id="14" name="Table 13">
            <a:extLst>
              <a:ext uri="{FF2B5EF4-FFF2-40B4-BE49-F238E27FC236}">
                <a16:creationId xmlns:a16="http://schemas.microsoft.com/office/drawing/2014/main" id="{A02A35D7-95F1-4742-BEDE-38BA2776D9EF}"/>
              </a:ext>
            </a:extLst>
          </p:cNvPr>
          <p:cNvGraphicFramePr>
            <a:graphicFrameLocks/>
          </p:cNvGraphicFramePr>
          <p:nvPr/>
        </p:nvGraphicFramePr>
        <p:xfrm>
          <a:off x="144861" y="3038267"/>
          <a:ext cx="6517196" cy="1441312"/>
        </p:xfrm>
        <a:graphic>
          <a:graphicData uri="http://schemas.openxmlformats.org/drawingml/2006/table">
            <a:tbl>
              <a:tblPr firstRow="1" bandRow="1">
                <a:tableStyleId>{5940675A-B579-460E-94D1-54222C63F5DA}</a:tableStyleId>
              </a:tblPr>
              <a:tblGrid>
                <a:gridCol w="4063993">
                  <a:extLst>
                    <a:ext uri="{9D8B030D-6E8A-4147-A177-3AD203B41FA5}">
                      <a16:colId xmlns:a16="http://schemas.microsoft.com/office/drawing/2014/main" val="2653901849"/>
                    </a:ext>
                  </a:extLst>
                </a:gridCol>
                <a:gridCol w="2453203">
                  <a:extLst>
                    <a:ext uri="{9D8B030D-6E8A-4147-A177-3AD203B41FA5}">
                      <a16:colId xmlns:a16="http://schemas.microsoft.com/office/drawing/2014/main" val="2144740993"/>
                    </a:ext>
                  </a:extLst>
                </a:gridCol>
              </a:tblGrid>
              <a:tr h="483816">
                <a:tc>
                  <a:txBody>
                    <a:bodyPr/>
                    <a:lstStyle/>
                    <a:p>
                      <a:r>
                        <a:rPr lang="en-IN" sz="1400" b="1" dirty="0"/>
                        <a:t>ELECTRICAL BoP(USS &amp; 33KV)</a:t>
                      </a:r>
                    </a:p>
                  </a:txBody>
                  <a:tcPr>
                    <a:solidFill>
                      <a:schemeClr val="bg2"/>
                    </a:solidFill>
                  </a:tcPr>
                </a:tc>
                <a:tc>
                  <a:txBody>
                    <a:bodyPr/>
                    <a:lstStyle/>
                    <a:p>
                      <a:pPr algn="ctr"/>
                      <a:r>
                        <a:rPr lang="en-IN" sz="1400" b="1" kern="1200" dirty="0">
                          <a:solidFill>
                            <a:schemeClr val="tx1"/>
                          </a:solidFill>
                          <a:latin typeface="+mn-lt"/>
                          <a:ea typeface="+mn-ea"/>
                          <a:cs typeface="+mn-cs"/>
                        </a:rPr>
                        <a:t>STATUS</a:t>
                      </a:r>
                    </a:p>
                  </a:txBody>
                  <a:tcPr>
                    <a:solidFill>
                      <a:schemeClr val="bg2"/>
                    </a:solidFill>
                  </a:tcPr>
                </a:tc>
                <a:extLst>
                  <a:ext uri="{0D108BD9-81ED-4DB2-BD59-A6C34878D82A}">
                    <a16:rowId xmlns:a16="http://schemas.microsoft.com/office/drawing/2014/main" val="2638545312"/>
                  </a:ext>
                </a:extLst>
              </a:tr>
              <a:tr h="478748">
                <a:tc>
                  <a:txBody>
                    <a:bodyPr/>
                    <a:lstStyle/>
                    <a:p>
                      <a:r>
                        <a:rPr lang="en-US" sz="1400" dirty="0"/>
                        <a:t>USS Readiness</a:t>
                      </a:r>
                      <a:endParaRPr lang="en-IN" sz="1400" dirty="0"/>
                    </a:p>
                  </a:txBody>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IN" sz="1400" dirty="0"/>
                        <a:t>0%</a:t>
                      </a:r>
                    </a:p>
                  </a:txBody>
                  <a:tcPr>
                    <a:solidFill>
                      <a:schemeClr val="bg1"/>
                    </a:solidFill>
                  </a:tcPr>
                </a:tc>
                <a:extLst>
                  <a:ext uri="{0D108BD9-81ED-4DB2-BD59-A6C34878D82A}">
                    <a16:rowId xmlns:a16="http://schemas.microsoft.com/office/drawing/2014/main" val="4130613968"/>
                  </a:ext>
                </a:extLst>
              </a:tr>
              <a:tr h="478748">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nb-NO" sz="1400" dirty="0"/>
                        <a:t>33kv line Work</a:t>
                      </a:r>
                      <a:endParaRPr lang="en-IN" sz="1400" dirty="0"/>
                    </a:p>
                  </a:txBody>
                  <a:tcPr/>
                </a:tc>
                <a:tc>
                  <a:txBody>
                    <a:bodyPr/>
                    <a:lstStyle/>
                    <a:p>
                      <a:pPr algn="ctr"/>
                      <a:r>
                        <a:rPr lang="en-IN" sz="1400" dirty="0"/>
                        <a:t>0%</a:t>
                      </a:r>
                    </a:p>
                  </a:txBody>
                  <a:tcPr>
                    <a:solidFill>
                      <a:schemeClr val="bg1"/>
                    </a:solidFill>
                  </a:tcPr>
                </a:tc>
                <a:extLst>
                  <a:ext uri="{0D108BD9-81ED-4DB2-BD59-A6C34878D82A}">
                    <a16:rowId xmlns:a16="http://schemas.microsoft.com/office/drawing/2014/main" val="2305876917"/>
                  </a:ext>
                </a:extLst>
              </a:tr>
            </a:tbl>
          </a:graphicData>
        </a:graphic>
      </p:graphicFrame>
      <p:graphicFrame>
        <p:nvGraphicFramePr>
          <p:cNvPr id="4" name="Table 3">
            <a:extLst>
              <a:ext uri="{FF2B5EF4-FFF2-40B4-BE49-F238E27FC236}">
                <a16:creationId xmlns:a16="http://schemas.microsoft.com/office/drawing/2014/main" id="{BE10E5DD-0FD2-E24C-9B2C-1784FAE3FD47}"/>
              </a:ext>
            </a:extLst>
          </p:cNvPr>
          <p:cNvGraphicFramePr>
            <a:graphicFrameLocks noGrp="1"/>
          </p:cNvGraphicFramePr>
          <p:nvPr/>
        </p:nvGraphicFramePr>
        <p:xfrm>
          <a:off x="6841747" y="4867488"/>
          <a:ext cx="4922634" cy="1867435"/>
        </p:xfrm>
        <a:graphic>
          <a:graphicData uri="http://schemas.openxmlformats.org/drawingml/2006/table">
            <a:tbl>
              <a:tblPr firstRow="1" bandRow="1">
                <a:tableStyleId>{5940675A-B579-460E-94D1-54222C63F5DA}</a:tableStyleId>
              </a:tblPr>
              <a:tblGrid>
                <a:gridCol w="3732681">
                  <a:extLst>
                    <a:ext uri="{9D8B030D-6E8A-4147-A177-3AD203B41FA5}">
                      <a16:colId xmlns:a16="http://schemas.microsoft.com/office/drawing/2014/main" val="2692381100"/>
                    </a:ext>
                  </a:extLst>
                </a:gridCol>
                <a:gridCol w="1189953">
                  <a:extLst>
                    <a:ext uri="{9D8B030D-6E8A-4147-A177-3AD203B41FA5}">
                      <a16:colId xmlns:a16="http://schemas.microsoft.com/office/drawing/2014/main" val="4248939802"/>
                    </a:ext>
                  </a:extLst>
                </a:gridCol>
              </a:tblGrid>
              <a:tr h="343435">
                <a:tc>
                  <a:txBody>
                    <a:bodyPr/>
                    <a:lstStyle/>
                    <a:p>
                      <a:r>
                        <a:rPr lang="en-IN" sz="1400" b="1" dirty="0"/>
                        <a:t>CIVIL BoP</a:t>
                      </a:r>
                    </a:p>
                  </a:txBody>
                  <a:tcPr>
                    <a:solidFill>
                      <a:schemeClr val="bg2"/>
                    </a:solidFill>
                  </a:tcPr>
                </a:tc>
                <a:tc>
                  <a:txBody>
                    <a:bodyPr/>
                    <a:lstStyle/>
                    <a:p>
                      <a:pPr marL="0" algn="l" defTabSz="914377" rtl="0" eaLnBrk="1" latinLnBrk="0" hangingPunct="1"/>
                      <a:r>
                        <a:rPr lang="en-IN" sz="1400" b="1" kern="1200" dirty="0">
                          <a:solidFill>
                            <a:schemeClr val="tx1"/>
                          </a:solidFill>
                          <a:latin typeface="+mn-lt"/>
                          <a:ea typeface="+mn-ea"/>
                          <a:cs typeface="+mn-cs"/>
                        </a:rPr>
                        <a:t>STATUS</a:t>
                      </a:r>
                      <a:endParaRPr lang="en-IN" dirty="0"/>
                    </a:p>
                  </a:txBody>
                  <a:tcPr>
                    <a:solidFill>
                      <a:schemeClr val="bg2"/>
                    </a:solidFill>
                  </a:tcPr>
                </a:tc>
                <a:extLst>
                  <a:ext uri="{0D108BD9-81ED-4DB2-BD59-A6C34878D82A}">
                    <a16:rowId xmlns:a16="http://schemas.microsoft.com/office/drawing/2014/main" val="1620151150"/>
                  </a:ext>
                </a:extLst>
              </a:tr>
              <a:tr h="263279">
                <a:tc>
                  <a:txBody>
                    <a:bodyPr/>
                    <a:lstStyle/>
                    <a:p>
                      <a:r>
                        <a:rPr lang="en-US" sz="1400" dirty="0"/>
                        <a:t>Soil Test</a:t>
                      </a:r>
                      <a:endParaRPr lang="en-IN" sz="1400" dirty="0"/>
                    </a:p>
                  </a:txBody>
                  <a:tcPr/>
                </a:tc>
                <a:tc>
                  <a:txBody>
                    <a:bodyPr/>
                    <a:lstStyle/>
                    <a:p>
                      <a:r>
                        <a:rPr lang="en-IN" sz="1400" dirty="0"/>
                        <a:t>100/38</a:t>
                      </a:r>
                    </a:p>
                  </a:txBody>
                  <a:tcPr anchor="ctr">
                    <a:solidFill>
                      <a:schemeClr val="bg1"/>
                    </a:solidFill>
                  </a:tcPr>
                </a:tc>
                <a:extLst>
                  <a:ext uri="{0D108BD9-81ED-4DB2-BD59-A6C34878D82A}">
                    <a16:rowId xmlns:a16="http://schemas.microsoft.com/office/drawing/2014/main" val="1127941403"/>
                  </a:ext>
                </a:extLst>
              </a:tr>
              <a:tr h="263279">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Excavation</a:t>
                      </a:r>
                      <a:endParaRPr lang="en-IN" sz="1400" dirty="0"/>
                    </a:p>
                  </a:txBody>
                  <a:tcPr/>
                </a:tc>
                <a:tc>
                  <a:txBody>
                    <a:bodyPr/>
                    <a:lstStyle/>
                    <a:p>
                      <a:r>
                        <a:rPr lang="en-IN" sz="1400" dirty="0"/>
                        <a:t>100/06</a:t>
                      </a:r>
                    </a:p>
                  </a:txBody>
                  <a:tcPr anchor="ctr">
                    <a:solidFill>
                      <a:schemeClr val="bg1"/>
                    </a:solidFill>
                  </a:tcPr>
                </a:tc>
                <a:extLst>
                  <a:ext uri="{0D108BD9-81ED-4DB2-BD59-A6C34878D82A}">
                    <a16:rowId xmlns:a16="http://schemas.microsoft.com/office/drawing/2014/main" val="2011328697"/>
                  </a:ext>
                </a:extLst>
              </a:tr>
              <a:tr h="263279">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WTG Foundation</a:t>
                      </a:r>
                      <a:endParaRPr lang="en-IN" sz="1400" dirty="0"/>
                    </a:p>
                  </a:txBody>
                  <a:tcPr/>
                </a:tc>
                <a:tc>
                  <a:txBody>
                    <a:bodyPr/>
                    <a:lstStyle/>
                    <a:p>
                      <a:r>
                        <a:rPr lang="en-IN" sz="1400" dirty="0"/>
                        <a:t>100/00</a:t>
                      </a:r>
                    </a:p>
                  </a:txBody>
                  <a:tcPr anchor="ctr">
                    <a:solidFill>
                      <a:schemeClr val="bg1"/>
                    </a:solidFill>
                  </a:tcPr>
                </a:tc>
                <a:extLst>
                  <a:ext uri="{0D108BD9-81ED-4DB2-BD59-A6C34878D82A}">
                    <a16:rowId xmlns:a16="http://schemas.microsoft.com/office/drawing/2014/main" val="1338898596"/>
                  </a:ext>
                </a:extLst>
              </a:tr>
              <a:tr h="263279">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400" dirty="0"/>
                        <a:t>WTG Erection completed</a:t>
                      </a:r>
                      <a:endParaRPr lang="en-IN" sz="1400" dirty="0"/>
                    </a:p>
                  </a:txBody>
                  <a:tcPr/>
                </a:tc>
                <a:tc>
                  <a:txBody>
                    <a:bodyPr/>
                    <a:lstStyle/>
                    <a:p>
                      <a:r>
                        <a:rPr lang="en-IN" sz="1400" dirty="0"/>
                        <a:t>100/00</a:t>
                      </a:r>
                    </a:p>
                  </a:txBody>
                  <a:tcPr anchor="ctr">
                    <a:solidFill>
                      <a:schemeClr val="bg1"/>
                    </a:solidFill>
                  </a:tcPr>
                </a:tc>
                <a:extLst>
                  <a:ext uri="{0D108BD9-81ED-4DB2-BD59-A6C34878D82A}">
                    <a16:rowId xmlns:a16="http://schemas.microsoft.com/office/drawing/2014/main" val="2266339268"/>
                  </a:ext>
                </a:extLst>
              </a:tr>
              <a:tr h="263279">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IN" sz="1400" dirty="0"/>
                        <a:t>WTG Pre commission</a:t>
                      </a:r>
                    </a:p>
                  </a:txBody>
                  <a:tcPr/>
                </a:tc>
                <a:tc>
                  <a:txBody>
                    <a:bodyPr/>
                    <a:lstStyle/>
                    <a:p>
                      <a:r>
                        <a:rPr lang="en-IN" sz="1400" dirty="0"/>
                        <a:t>100/00</a:t>
                      </a:r>
                    </a:p>
                  </a:txBody>
                  <a:tcPr anchor="ctr">
                    <a:solidFill>
                      <a:schemeClr val="bg1"/>
                    </a:solidFill>
                  </a:tcPr>
                </a:tc>
                <a:extLst>
                  <a:ext uri="{0D108BD9-81ED-4DB2-BD59-A6C34878D82A}">
                    <a16:rowId xmlns:a16="http://schemas.microsoft.com/office/drawing/2014/main" val="1616087308"/>
                  </a:ext>
                </a:extLst>
              </a:tr>
            </a:tbl>
          </a:graphicData>
        </a:graphic>
      </p:graphicFrame>
    </p:spTree>
    <p:extLst>
      <p:ext uri="{BB962C8B-B14F-4D97-AF65-F5344CB8AC3E}">
        <p14:creationId xmlns:p14="http://schemas.microsoft.com/office/powerpoint/2010/main" val="1318763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B2AD1-6CC7-3D25-F58B-2F81E24CE67F}"/>
              </a:ext>
            </a:extLst>
          </p:cNvPr>
          <p:cNvSpPr>
            <a:spLocks noGrp="1"/>
          </p:cNvSpPr>
          <p:nvPr>
            <p:ph type="title"/>
          </p:nvPr>
        </p:nvSpPr>
        <p:spPr>
          <a:xfrm>
            <a:off x="878542" y="0"/>
            <a:ext cx="10515600" cy="1325563"/>
          </a:xfrm>
        </p:spPr>
        <p:txBody>
          <a:bodyPr>
            <a:normAutofit/>
          </a:bodyPr>
          <a:lstStyle/>
          <a:p>
            <a:r>
              <a:rPr lang="en-IN" sz="28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COMMISSIONING PLAN: SUBMITTED BY WPD</a:t>
            </a:r>
            <a:endParaRPr lang="en-GB" sz="28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p:txBody>
      </p:sp>
      <p:graphicFrame>
        <p:nvGraphicFramePr>
          <p:cNvPr id="3" name="Table 2"/>
          <p:cNvGraphicFramePr>
            <a:graphicFrameLocks noGrp="1"/>
          </p:cNvGraphicFramePr>
          <p:nvPr/>
        </p:nvGraphicFramePr>
        <p:xfrm>
          <a:off x="548498" y="1221337"/>
          <a:ext cx="11175687" cy="2910840"/>
        </p:xfrm>
        <a:graphic>
          <a:graphicData uri="http://schemas.openxmlformats.org/drawingml/2006/table">
            <a:tbl>
              <a:tblPr firstRow="1" bandRow="1">
                <a:tableStyleId>{5C22544A-7EE6-4342-B048-85BDC9FD1C3A}</a:tableStyleId>
              </a:tblPr>
              <a:tblGrid>
                <a:gridCol w="1480899">
                  <a:extLst>
                    <a:ext uri="{9D8B030D-6E8A-4147-A177-3AD203B41FA5}">
                      <a16:colId xmlns:a16="http://schemas.microsoft.com/office/drawing/2014/main" val="20000"/>
                    </a:ext>
                  </a:extLst>
                </a:gridCol>
                <a:gridCol w="1480899">
                  <a:extLst>
                    <a:ext uri="{9D8B030D-6E8A-4147-A177-3AD203B41FA5}">
                      <a16:colId xmlns:a16="http://schemas.microsoft.com/office/drawing/2014/main" val="20001"/>
                    </a:ext>
                  </a:extLst>
                </a:gridCol>
                <a:gridCol w="979357">
                  <a:extLst>
                    <a:ext uri="{9D8B030D-6E8A-4147-A177-3AD203B41FA5}">
                      <a16:colId xmlns:a16="http://schemas.microsoft.com/office/drawing/2014/main" val="20002"/>
                    </a:ext>
                  </a:extLst>
                </a:gridCol>
                <a:gridCol w="1577744">
                  <a:extLst>
                    <a:ext uri="{9D8B030D-6E8A-4147-A177-3AD203B41FA5}">
                      <a16:colId xmlns:a16="http://schemas.microsoft.com/office/drawing/2014/main" val="20003"/>
                    </a:ext>
                  </a:extLst>
                </a:gridCol>
                <a:gridCol w="1885596">
                  <a:extLst>
                    <a:ext uri="{9D8B030D-6E8A-4147-A177-3AD203B41FA5}">
                      <a16:colId xmlns:a16="http://schemas.microsoft.com/office/drawing/2014/main" val="20004"/>
                    </a:ext>
                  </a:extLst>
                </a:gridCol>
                <a:gridCol w="1885596">
                  <a:extLst>
                    <a:ext uri="{9D8B030D-6E8A-4147-A177-3AD203B41FA5}">
                      <a16:colId xmlns:a16="http://schemas.microsoft.com/office/drawing/2014/main" val="20005"/>
                    </a:ext>
                  </a:extLst>
                </a:gridCol>
                <a:gridCol w="1885596">
                  <a:extLst>
                    <a:ext uri="{9D8B030D-6E8A-4147-A177-3AD203B41FA5}">
                      <a16:colId xmlns:a16="http://schemas.microsoft.com/office/drawing/2014/main" val="1436412059"/>
                    </a:ext>
                  </a:extLst>
                </a:gridCol>
              </a:tblGrid>
              <a:tr h="1450589">
                <a:tc>
                  <a:txBody>
                    <a:bodyPr/>
                    <a:lstStyle/>
                    <a:p>
                      <a:pPr algn="ctr"/>
                      <a:r>
                        <a:rPr lang="en-US" sz="1600" dirty="0">
                          <a:latin typeface="Times New Roman" panose="02020603050405020304" pitchFamily="18" charset="0"/>
                          <a:cs typeface="Times New Roman" panose="02020603050405020304" pitchFamily="18" charset="0"/>
                        </a:rPr>
                        <a:t>WTGs already erected and ready for commissioning</a:t>
                      </a:r>
                    </a:p>
                  </a:txBody>
                  <a:tcPr/>
                </a:tc>
                <a:tc>
                  <a:txBody>
                    <a:bodyPr/>
                    <a:lstStyle/>
                    <a:p>
                      <a:pPr algn="ctr"/>
                      <a:r>
                        <a:rPr lang="en-US" sz="1600" dirty="0">
                          <a:latin typeface="Times New Roman" panose="02020603050405020304" pitchFamily="18" charset="0"/>
                          <a:cs typeface="Times New Roman" panose="02020603050405020304" pitchFamily="18" charset="0"/>
                        </a:rPr>
                        <a:t>WTGs erected however not ready for commissioning or under process of pre-commissioning</a:t>
                      </a:r>
                    </a:p>
                  </a:txBody>
                  <a:tcPr/>
                </a:tc>
                <a:tc>
                  <a:txBody>
                    <a:bodyPr/>
                    <a:lstStyle/>
                    <a:p>
                      <a:pPr algn="ctr"/>
                      <a:r>
                        <a:rPr lang="en-US" sz="1600" dirty="0">
                          <a:latin typeface="Times New Roman" panose="02020603050405020304" pitchFamily="18" charset="0"/>
                          <a:cs typeface="Times New Roman" panose="02020603050405020304" pitchFamily="18" charset="0"/>
                        </a:rPr>
                        <a:t>FTC application already filed for capacity</a:t>
                      </a:r>
                    </a:p>
                  </a:txBody>
                  <a:tcPr/>
                </a:tc>
                <a:tc>
                  <a:txBody>
                    <a:bodyPr/>
                    <a:lstStyle/>
                    <a:p>
                      <a:pPr algn="ctr"/>
                      <a:r>
                        <a:rPr lang="en-US" sz="1600" dirty="0">
                          <a:latin typeface="Times New Roman" panose="02020603050405020304" pitchFamily="18" charset="0"/>
                          <a:cs typeface="Times New Roman" panose="02020603050405020304" pitchFamily="18" charset="0"/>
                        </a:rPr>
                        <a:t>Additional FTC application proposed to be filed for Capacity</a:t>
                      </a:r>
                    </a:p>
                  </a:txBody>
                  <a:tcPr/>
                </a:tc>
                <a:tc>
                  <a:txBody>
                    <a:bodyPr/>
                    <a:lstStyle/>
                    <a:p>
                      <a:pPr algn="ctr"/>
                      <a:r>
                        <a:rPr lang="en-US" sz="1600" dirty="0">
                          <a:latin typeface="Times New Roman" panose="02020603050405020304" pitchFamily="18" charset="0"/>
                          <a:cs typeface="Times New Roman" panose="02020603050405020304" pitchFamily="18" charset="0"/>
                        </a:rPr>
                        <a:t>Pending point w.r.t. FTC  if, any</a:t>
                      </a:r>
                    </a:p>
                  </a:txBody>
                  <a:tcPr/>
                </a:tc>
                <a:tc>
                  <a:txBody>
                    <a:bodyPr/>
                    <a:lstStyle/>
                    <a:p>
                      <a:pPr algn="ctr"/>
                      <a:r>
                        <a:rPr lang="en-US" sz="1600" dirty="0">
                          <a:latin typeface="Times New Roman" panose="02020603050405020304" pitchFamily="18" charset="0"/>
                          <a:cs typeface="Times New Roman" panose="02020603050405020304" pitchFamily="18" charset="0"/>
                        </a:rPr>
                        <a:t>Status</a:t>
                      </a:r>
                      <a:r>
                        <a:rPr lang="en-US" sz="1600" baseline="0" dirty="0">
                          <a:latin typeface="Times New Roman" panose="02020603050405020304" pitchFamily="18" charset="0"/>
                          <a:cs typeface="Times New Roman" panose="02020603050405020304" pitchFamily="18" charset="0"/>
                        </a:rPr>
                        <a:t> of Dynamic VAR Compensation</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Trial Run Status (Completed /under process)</a:t>
                      </a:r>
                    </a:p>
                  </a:txBody>
                  <a:tcPr/>
                </a:tc>
                <a:extLst>
                  <a:ext uri="{0D108BD9-81ED-4DB2-BD59-A6C34878D82A}">
                    <a16:rowId xmlns:a16="http://schemas.microsoft.com/office/drawing/2014/main" val="10000"/>
                  </a:ext>
                </a:extLst>
              </a:tr>
              <a:tr h="370840">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10001"/>
                  </a:ext>
                </a:extLst>
              </a:tr>
              <a:tr h="370840">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10002"/>
                  </a:ext>
                </a:extLst>
              </a:tr>
              <a:tr h="370840">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tc>
                  <a:txBody>
                    <a:bodyPr/>
                    <a:lstStyle/>
                    <a:p>
                      <a:pPr algn="ctr"/>
                      <a:r>
                        <a:rPr lang="en-US" sz="1600" dirty="0">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10003"/>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790004085"/>
              </p:ext>
            </p:extLst>
          </p:nvPr>
        </p:nvGraphicFramePr>
        <p:xfrm>
          <a:off x="512073" y="4468141"/>
          <a:ext cx="5739156" cy="2131440"/>
        </p:xfrm>
        <a:graphic>
          <a:graphicData uri="http://schemas.openxmlformats.org/drawingml/2006/table">
            <a:tbl>
              <a:tblPr firstRow="1" bandRow="1">
                <a:tableStyleId>{3C2FFA5D-87B4-456A-9821-1D502468CF0F}</a:tableStyleId>
              </a:tblPr>
              <a:tblGrid>
                <a:gridCol w="717868">
                  <a:extLst>
                    <a:ext uri="{9D8B030D-6E8A-4147-A177-3AD203B41FA5}">
                      <a16:colId xmlns:a16="http://schemas.microsoft.com/office/drawing/2014/main" val="20000"/>
                    </a:ext>
                  </a:extLst>
                </a:gridCol>
                <a:gridCol w="1557029">
                  <a:extLst>
                    <a:ext uri="{9D8B030D-6E8A-4147-A177-3AD203B41FA5}">
                      <a16:colId xmlns:a16="http://schemas.microsoft.com/office/drawing/2014/main" val="20001"/>
                    </a:ext>
                  </a:extLst>
                </a:gridCol>
                <a:gridCol w="3464259">
                  <a:extLst>
                    <a:ext uri="{9D8B030D-6E8A-4147-A177-3AD203B41FA5}">
                      <a16:colId xmlns:a16="http://schemas.microsoft.com/office/drawing/2014/main" val="20002"/>
                    </a:ext>
                  </a:extLst>
                </a:gridCol>
              </a:tblGrid>
              <a:tr h="313635">
                <a:tc gridSpan="3">
                  <a:txBody>
                    <a:bodyPr/>
                    <a:lstStyle/>
                    <a:p>
                      <a:r>
                        <a:rPr lang="en-US" sz="1600" dirty="0"/>
                        <a:t>Quarter-wise Commissioning Target:</a:t>
                      </a:r>
                      <a:endParaRPr lang="en-US" sz="1600" dirty="0">
                        <a:latin typeface="Times New Roman" panose="02020603050405020304" pitchFamily="18" charset="0"/>
                        <a:cs typeface="Times New Roman" panose="02020603050405020304" pitchFamily="18" charset="0"/>
                      </a:endParaRP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429749">
                <a:tc>
                  <a:txBody>
                    <a:bodyPr/>
                    <a:lstStyle/>
                    <a:p>
                      <a:r>
                        <a:rPr lang="en-US" sz="1600" b="1" dirty="0"/>
                        <a:t>S. No.</a:t>
                      </a:r>
                      <a:endParaRPr lang="en-US" sz="1600" b="1" dirty="0">
                        <a:latin typeface="Times New Roman" panose="02020603050405020304" pitchFamily="18" charset="0"/>
                        <a:cs typeface="Times New Roman" panose="02020603050405020304" pitchFamily="18" charset="0"/>
                      </a:endParaRPr>
                    </a:p>
                  </a:txBody>
                  <a:tcPr/>
                </a:tc>
                <a:tc>
                  <a:txBody>
                    <a:bodyPr/>
                    <a:lstStyle/>
                    <a:p>
                      <a:r>
                        <a:rPr lang="en-US" sz="1600" b="1" dirty="0"/>
                        <a:t>Month</a:t>
                      </a:r>
                      <a:endParaRPr lang="en-US" sz="1600" b="1" dirty="0">
                        <a:latin typeface="Times New Roman" panose="02020603050405020304" pitchFamily="18" charset="0"/>
                        <a:cs typeface="Times New Roman" panose="02020603050405020304" pitchFamily="18" charset="0"/>
                      </a:endParaRPr>
                    </a:p>
                  </a:txBody>
                  <a:tcPr/>
                </a:tc>
                <a:tc>
                  <a:txBody>
                    <a:bodyPr/>
                    <a:lstStyle/>
                    <a:p>
                      <a:r>
                        <a:rPr lang="en-US" sz="1600" b="1" dirty="0"/>
                        <a:t>Capacity</a:t>
                      </a:r>
                      <a:endParaRPr lang="en-US" sz="1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60571">
                <a:tc>
                  <a:txBody>
                    <a:bodyPr/>
                    <a:lstStyle/>
                    <a:p>
                      <a:r>
                        <a:rPr lang="en-US" sz="1600" dirty="0"/>
                        <a:t>1</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a:t>Sept’ 25</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a:t>75 MW</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305074">
                <a:tc>
                  <a:txBody>
                    <a:bodyPr/>
                    <a:lstStyle/>
                    <a:p>
                      <a:r>
                        <a:rPr lang="en-US" sz="1600" dirty="0"/>
                        <a:t>2</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a:t>Oct’ 25</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a:t>75 MW</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r h="316838">
                <a:tc>
                  <a:txBody>
                    <a:bodyPr/>
                    <a:lstStyle/>
                    <a:p>
                      <a:r>
                        <a:rPr lang="en-US" sz="1600" dirty="0"/>
                        <a:t>3</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a:t>Nov’ 25</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a:t>75 MW</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r h="316838">
                <a:tc>
                  <a:txBody>
                    <a:bodyPr/>
                    <a:lstStyle/>
                    <a:p>
                      <a:r>
                        <a:rPr lang="en-US" sz="1600" dirty="0"/>
                        <a:t>4</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a:t>Dec’ 25</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a:t>75 MW</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17828927"/>
                  </a:ext>
                </a:extLst>
              </a:tr>
            </a:tbl>
          </a:graphicData>
        </a:graphic>
      </p:graphicFrame>
      <p:graphicFrame>
        <p:nvGraphicFramePr>
          <p:cNvPr id="5" name="Table 4">
            <a:extLst>
              <a:ext uri="{FF2B5EF4-FFF2-40B4-BE49-F238E27FC236}">
                <a16:creationId xmlns:a16="http://schemas.microsoft.com/office/drawing/2014/main" id="{CCFE3E69-E96C-4618-ADA3-CEB61E7A6254}"/>
              </a:ext>
            </a:extLst>
          </p:cNvPr>
          <p:cNvGraphicFramePr>
            <a:graphicFrameLocks noGrp="1"/>
          </p:cNvGraphicFramePr>
          <p:nvPr/>
        </p:nvGraphicFramePr>
        <p:xfrm>
          <a:off x="6594819" y="4468141"/>
          <a:ext cx="5244254" cy="1889760"/>
        </p:xfrm>
        <a:graphic>
          <a:graphicData uri="http://schemas.openxmlformats.org/drawingml/2006/table">
            <a:tbl>
              <a:tblPr/>
              <a:tblGrid>
                <a:gridCol w="5244254">
                  <a:extLst>
                    <a:ext uri="{9D8B030D-6E8A-4147-A177-3AD203B41FA5}">
                      <a16:colId xmlns:a16="http://schemas.microsoft.com/office/drawing/2014/main" val="3803313988"/>
                    </a:ext>
                  </a:extLst>
                </a:gridCol>
              </a:tblGrid>
              <a:tr h="1786869">
                <a:tc>
                  <a:txBody>
                    <a:bodyPr/>
                    <a:lstStyle/>
                    <a:p>
                      <a:pPr marL="0" indent="0">
                        <a:buNone/>
                      </a:pPr>
                      <a:r>
                        <a:rPr lang="en-IN" sz="2000" b="1" u="sng" dirty="0">
                          <a:latin typeface="Times New Roman" panose="02020603050405020304" pitchFamily="18" charset="0"/>
                          <a:cs typeface="Times New Roman" panose="02020603050405020304" pitchFamily="18" charset="0"/>
                        </a:rPr>
                        <a:t>CRITICAL ISSUES – Shared by WPD</a:t>
                      </a:r>
                      <a:endParaRPr lang="en-IN" sz="2000" kern="1200" dirty="0">
                        <a:solidFill>
                          <a:schemeClr val="tx1"/>
                        </a:solidFill>
                        <a:effectLst/>
                        <a:latin typeface="+mn-lt"/>
                        <a:ea typeface="+mn-ea"/>
                        <a:cs typeface="+mn-cs"/>
                      </a:endParaRPr>
                    </a:p>
                    <a:p>
                      <a:pPr marL="342900" indent="-342900">
                        <a:buAutoNum type="arabicPeriod"/>
                      </a:pPr>
                      <a:r>
                        <a:rPr lang="en-IN" sz="2000" kern="1200" dirty="0">
                          <a:solidFill>
                            <a:schemeClr val="tx1"/>
                          </a:solidFill>
                          <a:effectLst/>
                          <a:latin typeface="+mn-lt"/>
                          <a:ea typeface="+mn-ea"/>
                          <a:cs typeface="+mn-cs"/>
                        </a:rPr>
                        <a:t>Land acquisition is constraint.</a:t>
                      </a:r>
                    </a:p>
                    <a:p>
                      <a:pPr marL="342900" indent="-342900">
                        <a:buAutoNum type="arabicPeriod"/>
                      </a:pPr>
                      <a:r>
                        <a:rPr lang="en-IN" sz="2000" kern="1200" dirty="0">
                          <a:solidFill>
                            <a:schemeClr val="tx1"/>
                          </a:solidFill>
                          <a:effectLst/>
                          <a:latin typeface="+mn-lt"/>
                          <a:ea typeface="+mn-ea"/>
                          <a:cs typeface="+mn-cs"/>
                        </a:rPr>
                        <a:t>Bay coordinates pending.</a:t>
                      </a:r>
                    </a:p>
                    <a:p>
                      <a:pPr marL="342900" indent="-342900">
                        <a:buAutoNum type="arabicPeriod"/>
                      </a:pPr>
                      <a:r>
                        <a:rPr lang="en-IN" sz="2000" kern="1200" dirty="0">
                          <a:solidFill>
                            <a:schemeClr val="tx1"/>
                          </a:solidFill>
                          <a:effectLst/>
                          <a:latin typeface="+mn-lt"/>
                          <a:ea typeface="+mn-ea"/>
                          <a:cs typeface="+mn-cs"/>
                        </a:rPr>
                        <a:t>EHV line survey half pending due to coordinates awaited </a:t>
                      </a:r>
                    </a:p>
                    <a:p>
                      <a:pPr marL="0" indent="0">
                        <a:buNone/>
                      </a:pPr>
                      <a:endParaRPr lang="en-IN" sz="1800" kern="1200" dirty="0">
                        <a:solidFill>
                          <a:srgbClr val="FF0000"/>
                        </a:solidFill>
                        <a:effectLst/>
                        <a:latin typeface="+mn-lt"/>
                        <a:ea typeface="+mn-ea"/>
                        <a:cs typeface="+mn-cs"/>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551797526"/>
                  </a:ext>
                </a:extLst>
              </a:tr>
            </a:tbl>
          </a:graphicData>
        </a:graphic>
      </p:graphicFrame>
    </p:spTree>
    <p:extLst>
      <p:ext uri="{BB962C8B-B14F-4D97-AF65-F5344CB8AC3E}">
        <p14:creationId xmlns:p14="http://schemas.microsoft.com/office/powerpoint/2010/main" val="14348491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B0521-C41A-2DA1-FB09-162C1A91F426}"/>
              </a:ext>
            </a:extLst>
          </p:cNvPr>
          <p:cNvSpPr>
            <a:spLocks noGrp="1"/>
          </p:cNvSpPr>
          <p:nvPr>
            <p:ph type="title"/>
          </p:nvPr>
        </p:nvSpPr>
        <p:spPr>
          <a:xfrm>
            <a:off x="101798" y="1"/>
            <a:ext cx="5209790" cy="1178560"/>
          </a:xfrm>
        </p:spPr>
        <p:txBody>
          <a:bodyPr>
            <a:normAutofit/>
          </a:bodyPr>
          <a:lstStyle/>
          <a:p>
            <a:r>
              <a:rPr lang="en-IN" sz="28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SITE PHOTOGRAPHS</a:t>
            </a:r>
          </a:p>
        </p:txBody>
      </p:sp>
      <p:pic>
        <p:nvPicPr>
          <p:cNvPr id="9" name="Picture 8" descr="A person standing next to a green machine&#10;&#10;Description automatically generated">
            <a:extLst>
              <a:ext uri="{FF2B5EF4-FFF2-40B4-BE49-F238E27FC236}">
                <a16:creationId xmlns:a16="http://schemas.microsoft.com/office/drawing/2014/main" id="{71A82FFB-2800-F05C-6DA2-E2259BDE291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83871" y="1132111"/>
            <a:ext cx="3161109" cy="2194560"/>
          </a:xfrm>
          <a:prstGeom prst="rect">
            <a:avLst/>
          </a:prstGeom>
        </p:spPr>
      </p:pic>
      <p:pic>
        <p:nvPicPr>
          <p:cNvPr id="11" name="Picture 10" descr="A pile of rocks with chalk on the side&#10;&#10;Description automatically generated with medium confidence">
            <a:extLst>
              <a:ext uri="{FF2B5EF4-FFF2-40B4-BE49-F238E27FC236}">
                <a16:creationId xmlns:a16="http://schemas.microsoft.com/office/drawing/2014/main" id="{381E0BEF-E0D1-CBFE-52D6-0735320A4F5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6349" y="1132111"/>
            <a:ext cx="3129081" cy="2194560"/>
          </a:xfrm>
          <a:prstGeom prst="rect">
            <a:avLst/>
          </a:prstGeom>
        </p:spPr>
      </p:pic>
      <p:pic>
        <p:nvPicPr>
          <p:cNvPr id="1026" name="Picture 2">
            <a:extLst>
              <a:ext uri="{FF2B5EF4-FFF2-40B4-BE49-F238E27FC236}">
                <a16:creationId xmlns:a16="http://schemas.microsoft.com/office/drawing/2014/main" id="{CDE70925-69F4-DC93-AB14-ED8F541C85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36672" y="1132111"/>
            <a:ext cx="4240106" cy="219456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81798447-FFB3-225D-7430-E61F9AA842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0311" y="3461291"/>
            <a:ext cx="3129081" cy="310642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D381B082-7076-B0FF-1948-D7B6E26039F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3712" y="3461291"/>
            <a:ext cx="3171268" cy="310642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766DE2CB-72D4-E472-610F-9F52DA1FFAE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36671" y="3461291"/>
            <a:ext cx="4240107" cy="31064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44716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AE956-08D9-EC2D-4ACA-07953F1860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409FDB-60E0-5860-DECA-96B56595568C}"/>
              </a:ext>
            </a:extLst>
          </p:cNvPr>
          <p:cNvSpPr>
            <a:spLocks noGrp="1"/>
          </p:cNvSpPr>
          <p:nvPr>
            <p:ph type="title"/>
          </p:nvPr>
        </p:nvSpPr>
        <p:spPr>
          <a:xfrm>
            <a:off x="101798" y="1"/>
            <a:ext cx="5209790" cy="1178560"/>
          </a:xfrm>
        </p:spPr>
        <p:txBody>
          <a:bodyPr>
            <a:normAutofit/>
          </a:bodyPr>
          <a:lstStyle/>
          <a:p>
            <a:r>
              <a:rPr lang="en-IN" sz="28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SITE PHOTOGRAPHS</a:t>
            </a:r>
          </a:p>
        </p:txBody>
      </p:sp>
      <p:pic>
        <p:nvPicPr>
          <p:cNvPr id="3" name="Picture 2">
            <a:extLst>
              <a:ext uri="{FF2B5EF4-FFF2-40B4-BE49-F238E27FC236}">
                <a16:creationId xmlns:a16="http://schemas.microsoft.com/office/drawing/2014/main" id="{C7702B7A-D790-1FD6-E6E5-D75B4A779D5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5280" y="1014957"/>
            <a:ext cx="3414357" cy="2859770"/>
          </a:xfrm>
          <a:prstGeom prst="rect">
            <a:avLst/>
          </a:prstGeom>
        </p:spPr>
      </p:pic>
      <p:pic>
        <p:nvPicPr>
          <p:cNvPr id="4" name="Picture 3">
            <a:extLst>
              <a:ext uri="{FF2B5EF4-FFF2-40B4-BE49-F238E27FC236}">
                <a16:creationId xmlns:a16="http://schemas.microsoft.com/office/drawing/2014/main" id="{EE736A7C-8F9E-B534-1588-1D868B35FB1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91279" y="1009854"/>
            <a:ext cx="3869467" cy="2864873"/>
          </a:xfrm>
          <a:prstGeom prst="rect">
            <a:avLst/>
          </a:prstGeom>
        </p:spPr>
      </p:pic>
      <p:pic>
        <p:nvPicPr>
          <p:cNvPr id="5" name="Picture 4">
            <a:extLst>
              <a:ext uri="{FF2B5EF4-FFF2-40B4-BE49-F238E27FC236}">
                <a16:creationId xmlns:a16="http://schemas.microsoft.com/office/drawing/2014/main" id="{AFFC2109-E472-FFD4-775D-347C982545C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33362" y="1009854"/>
            <a:ext cx="4023358" cy="2864874"/>
          </a:xfrm>
          <a:prstGeom prst="rect">
            <a:avLst/>
          </a:prstGeom>
        </p:spPr>
      </p:pic>
      <p:pic>
        <p:nvPicPr>
          <p:cNvPr id="6" name="Picture 2">
            <a:extLst>
              <a:ext uri="{FF2B5EF4-FFF2-40B4-BE49-F238E27FC236}">
                <a16:creationId xmlns:a16="http://schemas.microsoft.com/office/drawing/2014/main" id="{D2EA3805-DF55-CCF1-C851-001A8F35448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280" y="3944362"/>
            <a:ext cx="3414357" cy="289390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7BE7AA1-4AB3-746C-4462-E6F6FDC346D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91279" y="3973390"/>
            <a:ext cx="3869467" cy="286487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a:extLst>
              <a:ext uri="{FF2B5EF4-FFF2-40B4-BE49-F238E27FC236}">
                <a16:creationId xmlns:a16="http://schemas.microsoft.com/office/drawing/2014/main" id="{FBFD5FCF-F34F-CE29-DD8D-0D67C94890E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33361" y="3944362"/>
            <a:ext cx="4023359" cy="2864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14317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A40A4C-35C7-3DF5-E9FC-6662DEB3BD30}"/>
              </a:ext>
            </a:extLst>
          </p:cNvPr>
          <p:cNvGraphicFramePr>
            <a:graphicFrameLocks noGrp="1"/>
          </p:cNvGraphicFramePr>
          <p:nvPr>
            <p:extLst>
              <p:ext uri="{D42A27DB-BD31-4B8C-83A1-F6EECF244321}">
                <p14:modId xmlns:p14="http://schemas.microsoft.com/office/powerpoint/2010/main" val="1861471073"/>
              </p:ext>
            </p:extLst>
          </p:nvPr>
        </p:nvGraphicFramePr>
        <p:xfrm>
          <a:off x="-1" y="954740"/>
          <a:ext cx="12048565" cy="5819851"/>
        </p:xfrm>
        <a:graphic>
          <a:graphicData uri="http://schemas.openxmlformats.org/drawingml/2006/table">
            <a:tbl>
              <a:tblPr>
                <a:tableStyleId>{5C22544A-7EE6-4342-B048-85BDC9FD1C3A}</a:tableStyleId>
              </a:tblPr>
              <a:tblGrid>
                <a:gridCol w="732899">
                  <a:extLst>
                    <a:ext uri="{9D8B030D-6E8A-4147-A177-3AD203B41FA5}">
                      <a16:colId xmlns:a16="http://schemas.microsoft.com/office/drawing/2014/main" val="2544632119"/>
                    </a:ext>
                  </a:extLst>
                </a:gridCol>
                <a:gridCol w="2204386">
                  <a:extLst>
                    <a:ext uri="{9D8B030D-6E8A-4147-A177-3AD203B41FA5}">
                      <a16:colId xmlns:a16="http://schemas.microsoft.com/office/drawing/2014/main" val="3293785772"/>
                    </a:ext>
                  </a:extLst>
                </a:gridCol>
                <a:gridCol w="882000">
                  <a:extLst>
                    <a:ext uri="{9D8B030D-6E8A-4147-A177-3AD203B41FA5}">
                      <a16:colId xmlns:a16="http://schemas.microsoft.com/office/drawing/2014/main" val="4252287521"/>
                    </a:ext>
                  </a:extLst>
                </a:gridCol>
                <a:gridCol w="931904">
                  <a:extLst>
                    <a:ext uri="{9D8B030D-6E8A-4147-A177-3AD203B41FA5}">
                      <a16:colId xmlns:a16="http://schemas.microsoft.com/office/drawing/2014/main" val="388860131"/>
                    </a:ext>
                  </a:extLst>
                </a:gridCol>
                <a:gridCol w="2267199">
                  <a:extLst>
                    <a:ext uri="{9D8B030D-6E8A-4147-A177-3AD203B41FA5}">
                      <a16:colId xmlns:a16="http://schemas.microsoft.com/office/drawing/2014/main" val="324167260"/>
                    </a:ext>
                  </a:extLst>
                </a:gridCol>
                <a:gridCol w="1063217">
                  <a:extLst>
                    <a:ext uri="{9D8B030D-6E8A-4147-A177-3AD203B41FA5}">
                      <a16:colId xmlns:a16="http://schemas.microsoft.com/office/drawing/2014/main" val="587858292"/>
                    </a:ext>
                  </a:extLst>
                </a:gridCol>
                <a:gridCol w="1542990">
                  <a:extLst>
                    <a:ext uri="{9D8B030D-6E8A-4147-A177-3AD203B41FA5}">
                      <a16:colId xmlns:a16="http://schemas.microsoft.com/office/drawing/2014/main" val="3548527385"/>
                    </a:ext>
                  </a:extLst>
                </a:gridCol>
                <a:gridCol w="2423970">
                  <a:extLst>
                    <a:ext uri="{9D8B030D-6E8A-4147-A177-3AD203B41FA5}">
                      <a16:colId xmlns:a16="http://schemas.microsoft.com/office/drawing/2014/main" val="2068401040"/>
                    </a:ext>
                  </a:extLst>
                </a:gridCol>
              </a:tblGrid>
              <a:tr h="697811">
                <a:tc>
                  <a:txBody>
                    <a:bodyPr/>
                    <a:lstStyle/>
                    <a:p>
                      <a:pPr algn="ctr" fontAlgn="ctr"/>
                      <a:r>
                        <a:rPr lang="en-IN" sz="1600" b="1" u="none" strike="noStrike" dirty="0" err="1">
                          <a:effectLst/>
                        </a:rPr>
                        <a:t>S.No</a:t>
                      </a:r>
                      <a:r>
                        <a:rPr lang="en-IN" sz="1600" b="1" u="none" strike="noStrike" dirty="0">
                          <a:effectLst/>
                        </a:rPr>
                        <a:t>.</a:t>
                      </a:r>
                      <a:endParaRPr lang="en-IN" sz="1600" b="1"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b="1" u="none" strike="noStrike" dirty="0">
                          <a:effectLst/>
                        </a:rPr>
                        <a:t>WPD</a:t>
                      </a:r>
                      <a:endParaRPr lang="en-IN" sz="1600" b="1"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b="1" u="none" strike="noStrike" dirty="0">
                          <a:effectLst/>
                        </a:rPr>
                        <a:t>Tranche</a:t>
                      </a:r>
                      <a:endParaRPr lang="en-IN" sz="1600" b="1"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b="1" u="none" strike="noStrike" dirty="0">
                          <a:effectLst/>
                        </a:rPr>
                        <a:t>PPA Capacity</a:t>
                      </a:r>
                      <a:endParaRPr lang="en-IN" sz="1600" b="1"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b="1" u="none" strike="noStrike" dirty="0">
                          <a:effectLst/>
                        </a:rPr>
                        <a:t>Actual Commissioned Capacity</a:t>
                      </a:r>
                      <a:endParaRPr lang="en-IN" sz="1600" b="1"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b="1" u="none" strike="noStrike" dirty="0">
                          <a:effectLst/>
                        </a:rPr>
                        <a:t>Date of CERC order </a:t>
                      </a:r>
                      <a:endParaRPr lang="en-IN" sz="1600" b="1"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b="1" u="none" strike="noStrike" dirty="0">
                          <a:effectLst/>
                        </a:rPr>
                        <a:t>COD</a:t>
                      </a:r>
                      <a:endParaRPr lang="en-IN" sz="1600" b="1"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b="1" u="none" strike="noStrike" dirty="0">
                          <a:effectLst/>
                        </a:rPr>
                        <a:t>Status</a:t>
                      </a:r>
                      <a:endParaRPr lang="en-IN" sz="1600" b="1" i="0" u="none" strike="noStrike" dirty="0">
                        <a:solidFill>
                          <a:srgbClr val="000000"/>
                        </a:solidFill>
                        <a:effectLst/>
                        <a:latin typeface="Calibri" panose="020F0502020204030204" pitchFamily="34" charset="0"/>
                      </a:endParaRPr>
                    </a:p>
                  </a:txBody>
                  <a:tcPr marL="5593" marR="5593" marT="5593" marB="0" anchor="ctr"/>
                </a:tc>
                <a:extLst>
                  <a:ext uri="{0D108BD9-81ED-4DB2-BD59-A6C34878D82A}">
                    <a16:rowId xmlns:a16="http://schemas.microsoft.com/office/drawing/2014/main" val="885567017"/>
                  </a:ext>
                </a:extLst>
              </a:tr>
              <a:tr h="497310">
                <a:tc>
                  <a:txBody>
                    <a:bodyPr/>
                    <a:lstStyle/>
                    <a:p>
                      <a:pPr algn="ctr" fontAlgn="ctr"/>
                      <a:r>
                        <a:rPr lang="en-IN" sz="1400" u="none" strike="noStrike" dirty="0">
                          <a:effectLst/>
                        </a:rPr>
                        <a:t>1</a:t>
                      </a:r>
                      <a:endParaRPr lang="en-IN" sz="1400" b="1"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400" u="none" strike="noStrike" dirty="0" err="1">
                          <a:effectLst/>
                        </a:rPr>
                        <a:t>Powerica</a:t>
                      </a:r>
                      <a:r>
                        <a:rPr lang="en-IN" sz="1400" u="none" strike="noStrike" dirty="0">
                          <a:effectLst/>
                        </a:rPr>
                        <a:t> Ltd</a:t>
                      </a:r>
                      <a:endParaRPr lang="en-IN" sz="1400" b="0" i="0" u="none" strike="noStrike" dirty="0">
                        <a:solidFill>
                          <a:srgbClr val="000000"/>
                        </a:solidFill>
                        <a:effectLst/>
                        <a:latin typeface="Times New Roman" panose="02020603050405020304" pitchFamily="18" charset="0"/>
                      </a:endParaRPr>
                    </a:p>
                  </a:txBody>
                  <a:tcPr marL="5593" marR="5593" marT="5593" marB="0" anchor="ctr"/>
                </a:tc>
                <a:tc>
                  <a:txBody>
                    <a:bodyPr/>
                    <a:lstStyle/>
                    <a:p>
                      <a:pPr algn="ctr" fontAlgn="ctr"/>
                      <a:r>
                        <a:rPr lang="en-IN" sz="1600" u="none" strike="noStrike" dirty="0">
                          <a:effectLst/>
                        </a:rPr>
                        <a:t>VI</a:t>
                      </a:r>
                      <a:endParaRPr lang="en-IN" sz="1600" b="0"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50.6</a:t>
                      </a:r>
                      <a:endParaRPr lang="en-IN" sz="1600" b="0" i="0" u="none" strike="noStrike">
                        <a:solidFill>
                          <a:srgbClr val="000000"/>
                        </a:solidFill>
                        <a:effectLst/>
                        <a:latin typeface="Times New Roman" panose="02020603050405020304" pitchFamily="18" charset="0"/>
                      </a:endParaRPr>
                    </a:p>
                  </a:txBody>
                  <a:tcPr marL="5593" marR="5593" marT="5593" marB="0" anchor="ctr"/>
                </a:tc>
                <a:tc>
                  <a:txBody>
                    <a:bodyPr/>
                    <a:lstStyle/>
                    <a:p>
                      <a:pPr algn="ctr" fontAlgn="ctr"/>
                      <a:r>
                        <a:rPr lang="en-IN" sz="1600" u="none" strike="noStrike">
                          <a:effectLst/>
                        </a:rPr>
                        <a:t>50.6</a:t>
                      </a:r>
                      <a:endParaRPr lang="en-IN" sz="1600" b="0" i="0" u="none" strike="noStrike">
                        <a:solidFill>
                          <a:srgbClr val="000000"/>
                        </a:solidFill>
                        <a:effectLst/>
                        <a:latin typeface="Times New Roman" panose="02020603050405020304" pitchFamily="18" charset="0"/>
                      </a:endParaRPr>
                    </a:p>
                  </a:txBody>
                  <a:tcPr marL="5593" marR="5593" marT="5593" marB="0" anchor="ctr"/>
                </a:tc>
                <a:tc>
                  <a:txBody>
                    <a:bodyPr/>
                    <a:lstStyle/>
                    <a:p>
                      <a:pPr algn="ctr" fontAlgn="ctr"/>
                      <a:r>
                        <a:rPr lang="en-IN" sz="1600" u="none" strike="noStrike">
                          <a:effectLst/>
                        </a:rPr>
                        <a:t>05-04-2023</a:t>
                      </a:r>
                      <a:endParaRPr lang="en-IN" sz="1600" b="0" i="0" u="none" strike="noStrike">
                        <a:solidFill>
                          <a:srgbClr val="000000"/>
                        </a:solidFill>
                        <a:effectLst/>
                        <a:latin typeface="Times New Roman" panose="02020603050405020304" pitchFamily="18" charset="0"/>
                      </a:endParaRPr>
                    </a:p>
                  </a:txBody>
                  <a:tcPr marL="5593" marR="5593" marT="5593" marB="0" anchor="ctr"/>
                </a:tc>
                <a:tc>
                  <a:txBody>
                    <a:bodyPr/>
                    <a:lstStyle/>
                    <a:p>
                      <a:pPr algn="ctr" fontAlgn="ctr"/>
                      <a:r>
                        <a:rPr lang="en-IN" sz="1600" u="none" strike="noStrike">
                          <a:effectLst/>
                        </a:rPr>
                        <a:t>18-08-2022</a:t>
                      </a:r>
                      <a:endParaRPr lang="en-IN" sz="1600" b="0" i="0" u="none" strike="noStrike">
                        <a:solidFill>
                          <a:srgbClr val="000000"/>
                        </a:solidFill>
                        <a:effectLst/>
                        <a:latin typeface="Times New Roman" panose="02020603050405020304" pitchFamily="18" charset="0"/>
                      </a:endParaRPr>
                    </a:p>
                  </a:txBody>
                  <a:tcPr marL="5593" marR="5593" marT="5593" marB="0" anchor="ctr"/>
                </a:tc>
                <a:tc>
                  <a:txBody>
                    <a:bodyPr/>
                    <a:lstStyle/>
                    <a:p>
                      <a:pPr algn="ctr" fontAlgn="ctr"/>
                      <a:r>
                        <a:rPr lang="en-US" sz="1600" u="none" strike="noStrike">
                          <a:effectLst/>
                        </a:rPr>
                        <a:t>Annuity Started in Oct 2023, Closed </a:t>
                      </a:r>
                      <a:endParaRPr lang="en-US" sz="1600" b="0" i="0" u="none" strike="noStrike">
                        <a:solidFill>
                          <a:srgbClr val="000000"/>
                        </a:solidFill>
                        <a:effectLst/>
                        <a:latin typeface="Calibri" panose="020F0502020204030204" pitchFamily="34" charset="0"/>
                      </a:endParaRPr>
                    </a:p>
                  </a:txBody>
                  <a:tcPr marL="5593" marR="5593" marT="5593" marB="0" anchor="ctr"/>
                </a:tc>
                <a:extLst>
                  <a:ext uri="{0D108BD9-81ED-4DB2-BD59-A6C34878D82A}">
                    <a16:rowId xmlns:a16="http://schemas.microsoft.com/office/drawing/2014/main" val="452467100"/>
                  </a:ext>
                </a:extLst>
              </a:tr>
              <a:tr h="586382">
                <a:tc>
                  <a:txBody>
                    <a:bodyPr/>
                    <a:lstStyle/>
                    <a:p>
                      <a:pPr algn="ctr" fontAlgn="ctr"/>
                      <a:r>
                        <a:rPr lang="en-IN" sz="1400" u="none" strike="noStrike">
                          <a:effectLst/>
                        </a:rPr>
                        <a:t>2</a:t>
                      </a:r>
                      <a:endParaRPr lang="en-IN" sz="14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400" u="none" strike="noStrike" dirty="0">
                          <a:effectLst/>
                        </a:rPr>
                        <a:t>JSW Future Energy Ltd</a:t>
                      </a:r>
                      <a:endParaRPr lang="en-IN" sz="1400" b="0" i="0" u="none" strike="noStrike" dirty="0">
                        <a:solidFill>
                          <a:srgbClr val="000000"/>
                        </a:solidFill>
                        <a:effectLst/>
                        <a:latin typeface="Times New Roman" panose="02020603050405020304" pitchFamily="18" charset="0"/>
                      </a:endParaRPr>
                    </a:p>
                  </a:txBody>
                  <a:tcPr marL="5593" marR="5593" marT="5593" marB="0" anchor="ctr"/>
                </a:tc>
                <a:tc>
                  <a:txBody>
                    <a:bodyPr/>
                    <a:lstStyle/>
                    <a:p>
                      <a:pPr algn="ctr" fontAlgn="ctr"/>
                      <a:r>
                        <a:rPr lang="en-IN" sz="1600" u="none" strike="noStrike" dirty="0">
                          <a:effectLst/>
                        </a:rPr>
                        <a:t>X</a:t>
                      </a:r>
                      <a:endParaRPr lang="en-IN" sz="1600" b="0"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300</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300</a:t>
                      </a:r>
                      <a:endParaRPr lang="en-IN" sz="1600" b="0"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11-04-2022</a:t>
                      </a:r>
                      <a:endParaRPr lang="en-IN" sz="1600" b="0"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15-09-2024</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draft claim final, 01.07.2025, Letter sent to DISCOM</a:t>
                      </a:r>
                      <a:endParaRPr lang="en-IN" sz="1600" b="0" i="0" u="none" strike="noStrike" dirty="0">
                        <a:solidFill>
                          <a:srgbClr val="000000"/>
                        </a:solidFill>
                        <a:effectLst/>
                        <a:latin typeface="Calibri" panose="020F0502020204030204" pitchFamily="34" charset="0"/>
                      </a:endParaRPr>
                    </a:p>
                  </a:txBody>
                  <a:tcPr marL="5593" marR="5593" marT="5593" marB="0" anchor="ctr"/>
                </a:tc>
                <a:extLst>
                  <a:ext uri="{0D108BD9-81ED-4DB2-BD59-A6C34878D82A}">
                    <a16:rowId xmlns:a16="http://schemas.microsoft.com/office/drawing/2014/main" val="1684611203"/>
                  </a:ext>
                </a:extLst>
              </a:tr>
              <a:tr h="469104">
                <a:tc>
                  <a:txBody>
                    <a:bodyPr/>
                    <a:lstStyle/>
                    <a:p>
                      <a:pPr algn="ctr" fontAlgn="ctr"/>
                      <a:r>
                        <a:rPr lang="en-IN" sz="1400" u="none" strike="noStrike">
                          <a:effectLst/>
                        </a:rPr>
                        <a:t>3</a:t>
                      </a:r>
                      <a:endParaRPr lang="en-IN" sz="14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400" u="none" strike="noStrike" dirty="0">
                          <a:effectLst/>
                        </a:rPr>
                        <a:t>Torrent Power Limited</a:t>
                      </a:r>
                      <a:endParaRPr lang="en-IN" sz="1400" b="0" i="0" u="none" strike="noStrike" dirty="0">
                        <a:solidFill>
                          <a:srgbClr val="000000"/>
                        </a:solidFill>
                        <a:effectLst/>
                        <a:latin typeface="Times New Roman" panose="02020603050405020304" pitchFamily="18" charset="0"/>
                      </a:endParaRPr>
                    </a:p>
                  </a:txBody>
                  <a:tcPr marL="5593" marR="5593" marT="5593" marB="0" anchor="ctr"/>
                </a:tc>
                <a:tc>
                  <a:txBody>
                    <a:bodyPr/>
                    <a:lstStyle/>
                    <a:p>
                      <a:pPr algn="ctr" fontAlgn="ctr"/>
                      <a:r>
                        <a:rPr lang="en-IN" sz="1600" u="none" strike="noStrike" dirty="0">
                          <a:effectLst/>
                        </a:rPr>
                        <a:t>V</a:t>
                      </a:r>
                      <a:endParaRPr lang="en-IN" sz="1600" b="0"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115</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115</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09-01-2024</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14-07-2023</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US" sz="1600" b="0" i="0" u="none" strike="noStrike" dirty="0">
                          <a:solidFill>
                            <a:srgbClr val="000000"/>
                          </a:solidFill>
                          <a:effectLst/>
                          <a:latin typeface="Calibri" panose="020F0502020204030204" pitchFamily="34" charset="0"/>
                        </a:rPr>
                        <a:t>D</a:t>
                      </a:r>
                      <a:r>
                        <a:rPr lang="en-IN" sz="1600" b="0" i="0" u="none" strike="noStrike" dirty="0">
                          <a:solidFill>
                            <a:srgbClr val="000000"/>
                          </a:solidFill>
                          <a:effectLst/>
                          <a:latin typeface="Calibri" panose="020F0502020204030204" pitchFamily="34" charset="0"/>
                        </a:rPr>
                        <a:t>raft claim finalised</a:t>
                      </a:r>
                    </a:p>
                  </a:txBody>
                  <a:tcPr marL="5593" marR="5593" marT="5593" marB="0" anchor="ctr"/>
                </a:tc>
                <a:extLst>
                  <a:ext uri="{0D108BD9-81ED-4DB2-BD59-A6C34878D82A}">
                    <a16:rowId xmlns:a16="http://schemas.microsoft.com/office/drawing/2014/main" val="4090328892"/>
                  </a:ext>
                </a:extLst>
              </a:tr>
              <a:tr h="466972">
                <a:tc>
                  <a:txBody>
                    <a:bodyPr/>
                    <a:lstStyle/>
                    <a:p>
                      <a:pPr algn="ctr" fontAlgn="ctr"/>
                      <a:r>
                        <a:rPr lang="en-IN" sz="1400" u="none" strike="noStrike">
                          <a:effectLst/>
                        </a:rPr>
                        <a:t>4</a:t>
                      </a:r>
                      <a:endParaRPr lang="en-IN" sz="14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400" u="none" strike="noStrike">
                          <a:effectLst/>
                        </a:rPr>
                        <a:t>Ayana Renewable Power Six Pvt Ltd</a:t>
                      </a:r>
                      <a:endParaRPr lang="en-IN" sz="1400" b="0" i="0" u="none" strike="noStrike">
                        <a:solidFill>
                          <a:srgbClr val="000000"/>
                        </a:solidFill>
                        <a:effectLst/>
                        <a:latin typeface="Times New Roman" panose="02020603050405020304" pitchFamily="18" charset="0"/>
                      </a:endParaRPr>
                    </a:p>
                  </a:txBody>
                  <a:tcPr marL="5593" marR="5593" marT="5593" marB="0" anchor="ctr"/>
                </a:tc>
                <a:tc>
                  <a:txBody>
                    <a:bodyPr/>
                    <a:lstStyle/>
                    <a:p>
                      <a:pPr algn="ctr" fontAlgn="ctr"/>
                      <a:r>
                        <a:rPr lang="en-IN" sz="1600" u="none" strike="noStrike">
                          <a:effectLst/>
                        </a:rPr>
                        <a:t>X</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300</a:t>
                      </a:r>
                      <a:endParaRPr lang="en-IN" sz="1600" b="0"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300</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11-04-2022</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19-02-2024</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response sought</a:t>
                      </a:r>
                      <a:endParaRPr lang="en-IN" sz="1600" b="0" i="0" u="none" strike="noStrike" dirty="0">
                        <a:solidFill>
                          <a:srgbClr val="000000"/>
                        </a:solidFill>
                        <a:effectLst/>
                        <a:latin typeface="Calibri" panose="020F0502020204030204" pitchFamily="34" charset="0"/>
                      </a:endParaRPr>
                    </a:p>
                  </a:txBody>
                  <a:tcPr marL="5593" marR="5593" marT="5593" marB="0" anchor="ctr"/>
                </a:tc>
                <a:extLst>
                  <a:ext uri="{0D108BD9-81ED-4DB2-BD59-A6C34878D82A}">
                    <a16:rowId xmlns:a16="http://schemas.microsoft.com/office/drawing/2014/main" val="3860363441"/>
                  </a:ext>
                </a:extLst>
              </a:tr>
              <a:tr h="251475">
                <a:tc rowSpan="2">
                  <a:txBody>
                    <a:bodyPr/>
                    <a:lstStyle/>
                    <a:p>
                      <a:pPr algn="ctr" fontAlgn="ctr"/>
                      <a:r>
                        <a:rPr lang="en-IN" sz="1400" u="none" strike="noStrike">
                          <a:effectLst/>
                        </a:rPr>
                        <a:t>5</a:t>
                      </a:r>
                      <a:endParaRPr lang="en-IN" sz="1400" b="0" i="0" u="none" strike="noStrike">
                        <a:solidFill>
                          <a:srgbClr val="000000"/>
                        </a:solidFill>
                        <a:effectLst/>
                        <a:latin typeface="Calibri" panose="020F0502020204030204" pitchFamily="34" charset="0"/>
                      </a:endParaRPr>
                    </a:p>
                  </a:txBody>
                  <a:tcPr marL="5593" marR="5593" marT="5593" marB="0" anchor="ctr"/>
                </a:tc>
                <a:tc rowSpan="2">
                  <a:txBody>
                    <a:bodyPr/>
                    <a:lstStyle/>
                    <a:p>
                      <a:pPr algn="ctr" fontAlgn="ctr"/>
                      <a:r>
                        <a:rPr lang="sv-SE" sz="1400" u="none" strike="noStrike" dirty="0">
                          <a:effectLst/>
                        </a:rPr>
                        <a:t>Vena Energy Vidyuth Pvt. Ltd.</a:t>
                      </a:r>
                      <a:endParaRPr lang="sv-SE" sz="1400" b="0" i="0" u="none" strike="noStrike" dirty="0">
                        <a:solidFill>
                          <a:srgbClr val="000000"/>
                        </a:solidFill>
                        <a:effectLst/>
                        <a:latin typeface="Calibri" panose="020F0502020204030204" pitchFamily="34" charset="0"/>
                      </a:endParaRPr>
                    </a:p>
                  </a:txBody>
                  <a:tcPr marL="5593" marR="5593" marT="5593" marB="0" anchor="ctr"/>
                </a:tc>
                <a:tc rowSpan="2">
                  <a:txBody>
                    <a:bodyPr/>
                    <a:lstStyle/>
                    <a:p>
                      <a:pPr algn="ctr" fontAlgn="ctr"/>
                      <a:r>
                        <a:rPr lang="en-IN" sz="1600" u="none" strike="noStrike">
                          <a:effectLst/>
                        </a:rPr>
                        <a:t>XI</a:t>
                      </a:r>
                      <a:endParaRPr lang="en-IN" sz="1600" b="0" i="0" u="none" strike="noStrike">
                        <a:solidFill>
                          <a:srgbClr val="000000"/>
                        </a:solidFill>
                        <a:effectLst/>
                        <a:latin typeface="Calibri" panose="020F0502020204030204" pitchFamily="34" charset="0"/>
                      </a:endParaRPr>
                    </a:p>
                  </a:txBody>
                  <a:tcPr marL="5593" marR="5593" marT="5593" marB="0" anchor="ctr"/>
                </a:tc>
                <a:tc rowSpan="2">
                  <a:txBody>
                    <a:bodyPr/>
                    <a:lstStyle/>
                    <a:p>
                      <a:pPr algn="ctr" fontAlgn="ctr"/>
                      <a:r>
                        <a:rPr lang="en-IN" sz="1600" u="none" strike="noStrike">
                          <a:effectLst/>
                        </a:rPr>
                        <a:t>160</a:t>
                      </a:r>
                      <a:endParaRPr lang="en-IN" sz="1600" b="0" i="0" u="none" strike="noStrike">
                        <a:solidFill>
                          <a:srgbClr val="000000"/>
                        </a:solidFill>
                        <a:effectLst/>
                        <a:latin typeface="Calibri" panose="020F0502020204030204" pitchFamily="34" charset="0"/>
                      </a:endParaRPr>
                    </a:p>
                  </a:txBody>
                  <a:tcPr marL="5593" marR="5593" marT="5593" marB="0" anchor="ctr"/>
                </a:tc>
                <a:tc rowSpan="2">
                  <a:txBody>
                    <a:bodyPr/>
                    <a:lstStyle/>
                    <a:p>
                      <a:pPr algn="ctr" fontAlgn="ctr"/>
                      <a:r>
                        <a:rPr lang="en-IN" sz="1600" u="none" strike="noStrike" dirty="0">
                          <a:effectLst/>
                        </a:rPr>
                        <a:t>160</a:t>
                      </a:r>
                      <a:endParaRPr lang="en-IN" sz="1600" b="0" i="0" u="none" strike="noStrike" dirty="0">
                        <a:solidFill>
                          <a:srgbClr val="000000"/>
                        </a:solidFill>
                        <a:effectLst/>
                        <a:latin typeface="Calibri" panose="020F0502020204030204" pitchFamily="34" charset="0"/>
                      </a:endParaRPr>
                    </a:p>
                  </a:txBody>
                  <a:tcPr marL="5593" marR="5593" marT="5593" marB="0" anchor="ctr"/>
                </a:tc>
                <a:tc rowSpan="2">
                  <a:txBody>
                    <a:bodyPr/>
                    <a:lstStyle/>
                    <a:p>
                      <a:pPr algn="ctr" fontAlgn="ctr"/>
                      <a:r>
                        <a:rPr lang="en-IN" sz="1600" u="none" strike="noStrike">
                          <a:effectLst/>
                        </a:rPr>
                        <a:t>12-01-2024</a:t>
                      </a:r>
                      <a:endParaRPr lang="en-IN" sz="1600" b="0" i="0" u="none" strike="noStrike">
                        <a:solidFill>
                          <a:srgbClr val="000000"/>
                        </a:solidFill>
                        <a:effectLst/>
                        <a:latin typeface="Calibri" panose="020F0502020204030204" pitchFamily="34" charset="0"/>
                      </a:endParaRPr>
                    </a:p>
                  </a:txBody>
                  <a:tcPr marL="5593" marR="5593" marT="5593" marB="0" anchor="ctr"/>
                </a:tc>
                <a:tc rowSpan="2">
                  <a:txBody>
                    <a:bodyPr/>
                    <a:lstStyle/>
                    <a:p>
                      <a:pPr algn="ctr" fontAlgn="ctr"/>
                      <a:r>
                        <a:rPr lang="en-IN" sz="1600" u="none" strike="noStrike">
                          <a:effectLst/>
                        </a:rPr>
                        <a:t>01-10-2024</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documents sought for GST</a:t>
                      </a:r>
                      <a:endParaRPr lang="en-IN" sz="1600" b="0" i="0" u="none" strike="noStrike" dirty="0">
                        <a:solidFill>
                          <a:srgbClr val="000000"/>
                        </a:solidFill>
                        <a:effectLst/>
                        <a:latin typeface="Calibri" panose="020F0502020204030204" pitchFamily="34" charset="0"/>
                      </a:endParaRPr>
                    </a:p>
                  </a:txBody>
                  <a:tcPr marL="5593" marR="5593" marT="5593" marB="0" anchor="ctr"/>
                </a:tc>
                <a:extLst>
                  <a:ext uri="{0D108BD9-81ED-4DB2-BD59-A6C34878D82A}">
                    <a16:rowId xmlns:a16="http://schemas.microsoft.com/office/drawing/2014/main" val="3407131329"/>
                  </a:ext>
                </a:extLst>
              </a:tr>
              <a:tr h="251475">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a:txBody>
                    <a:bodyPr/>
                    <a:lstStyle/>
                    <a:p>
                      <a:pPr algn="ctr" fontAlgn="ctr"/>
                      <a:r>
                        <a:rPr lang="en-IN" sz="1600" u="none" strike="noStrike" dirty="0">
                          <a:effectLst/>
                        </a:rPr>
                        <a:t>draft claim final for BCD</a:t>
                      </a:r>
                      <a:endParaRPr lang="en-IN" sz="1600" b="0" i="0" u="none" strike="noStrike" dirty="0">
                        <a:solidFill>
                          <a:srgbClr val="000000"/>
                        </a:solidFill>
                        <a:effectLst/>
                        <a:latin typeface="Calibri" panose="020F0502020204030204" pitchFamily="34" charset="0"/>
                      </a:endParaRPr>
                    </a:p>
                  </a:txBody>
                  <a:tcPr marL="5593" marR="5593" marT="5593" marB="0" anchor="ctr"/>
                </a:tc>
                <a:extLst>
                  <a:ext uri="{0D108BD9-81ED-4DB2-BD59-A6C34878D82A}">
                    <a16:rowId xmlns:a16="http://schemas.microsoft.com/office/drawing/2014/main" val="734801085"/>
                  </a:ext>
                </a:extLst>
              </a:tr>
              <a:tr h="565342">
                <a:tc>
                  <a:txBody>
                    <a:bodyPr/>
                    <a:lstStyle/>
                    <a:p>
                      <a:pPr algn="ctr" fontAlgn="ctr"/>
                      <a:r>
                        <a:rPr lang="en-IN" sz="1400" u="none" strike="noStrike">
                          <a:effectLst/>
                        </a:rPr>
                        <a:t>6</a:t>
                      </a:r>
                      <a:endParaRPr lang="en-IN" sz="14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400" u="none" strike="noStrike">
                          <a:effectLst/>
                        </a:rPr>
                        <a:t>Ostro Energy Private Limited</a:t>
                      </a:r>
                      <a:endParaRPr lang="en-IN" sz="1400" b="0" i="0" u="none" strike="noStrike">
                        <a:solidFill>
                          <a:srgbClr val="000000"/>
                        </a:solidFill>
                        <a:effectLst/>
                        <a:latin typeface="Times New Roman" panose="02020603050405020304" pitchFamily="18" charset="0"/>
                      </a:endParaRPr>
                    </a:p>
                  </a:txBody>
                  <a:tcPr marL="5593" marR="5593" marT="5593" marB="0" anchor="ctr"/>
                </a:tc>
                <a:tc>
                  <a:txBody>
                    <a:bodyPr/>
                    <a:lstStyle/>
                    <a:p>
                      <a:pPr algn="ctr" fontAlgn="ctr"/>
                      <a:r>
                        <a:rPr lang="en-IN" sz="1600" u="none" strike="noStrike" dirty="0">
                          <a:effectLst/>
                        </a:rPr>
                        <a:t>VII</a:t>
                      </a:r>
                      <a:endParaRPr lang="en-IN" sz="1600" b="0"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50</a:t>
                      </a:r>
                      <a:endParaRPr lang="en-IN" sz="1600" b="0"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50</a:t>
                      </a:r>
                      <a:endParaRPr lang="en-IN" sz="1600" b="0"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26-12-2023</a:t>
                      </a:r>
                      <a:endParaRPr lang="en-IN" sz="1600" b="0"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05-12-2022</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US" sz="1600" u="none" strike="noStrike" dirty="0">
                          <a:effectLst/>
                        </a:rPr>
                        <a:t> carrying cost claim under evaluation</a:t>
                      </a:r>
                      <a:endParaRPr lang="en-US" sz="1600" b="0" i="0" u="none" strike="noStrike" dirty="0">
                        <a:solidFill>
                          <a:srgbClr val="000000"/>
                        </a:solidFill>
                        <a:effectLst/>
                        <a:latin typeface="Calibri" panose="020F0502020204030204" pitchFamily="34" charset="0"/>
                      </a:endParaRPr>
                    </a:p>
                  </a:txBody>
                  <a:tcPr marL="5593" marR="5593" marT="5593" marB="0" anchor="ctr"/>
                </a:tc>
                <a:extLst>
                  <a:ext uri="{0D108BD9-81ED-4DB2-BD59-A6C34878D82A}">
                    <a16:rowId xmlns:a16="http://schemas.microsoft.com/office/drawing/2014/main" val="1034343251"/>
                  </a:ext>
                </a:extLst>
              </a:tr>
              <a:tr h="466972">
                <a:tc>
                  <a:txBody>
                    <a:bodyPr/>
                    <a:lstStyle/>
                    <a:p>
                      <a:pPr algn="ctr" fontAlgn="ctr"/>
                      <a:r>
                        <a:rPr lang="en-IN" sz="1400" u="none" strike="noStrike">
                          <a:effectLst/>
                        </a:rPr>
                        <a:t>7</a:t>
                      </a:r>
                      <a:endParaRPr lang="en-IN" sz="14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400" u="none" strike="noStrike">
                          <a:effectLst/>
                        </a:rPr>
                        <a:t>Ostro Energy Private Limited</a:t>
                      </a:r>
                      <a:endParaRPr lang="en-IN" sz="1400" b="0" i="0" u="none" strike="noStrike">
                        <a:solidFill>
                          <a:srgbClr val="000000"/>
                        </a:solidFill>
                        <a:effectLst/>
                        <a:latin typeface="Times New Roman" panose="02020603050405020304" pitchFamily="18" charset="0"/>
                      </a:endParaRPr>
                    </a:p>
                  </a:txBody>
                  <a:tcPr marL="5593" marR="5593" marT="5593" marB="0" anchor="ctr"/>
                </a:tc>
                <a:tc>
                  <a:txBody>
                    <a:bodyPr/>
                    <a:lstStyle/>
                    <a:p>
                      <a:pPr algn="ctr" fontAlgn="ctr"/>
                      <a:r>
                        <a:rPr lang="en-IN" sz="1600" u="none" strike="noStrike">
                          <a:effectLst/>
                        </a:rPr>
                        <a:t>VI</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300</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199.5</a:t>
                      </a:r>
                      <a:endParaRPr lang="en-IN" sz="1600" b="0"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19-05-2024</a:t>
                      </a:r>
                      <a:endParaRPr lang="en-IN" sz="1600" b="0"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09-09-2022</a:t>
                      </a:r>
                      <a:endParaRPr lang="en-IN" sz="1600" b="0"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documents under evaluation</a:t>
                      </a:r>
                      <a:endParaRPr lang="en-IN" sz="1600" b="0" i="0" u="none" strike="noStrike" dirty="0">
                        <a:solidFill>
                          <a:srgbClr val="000000"/>
                        </a:solidFill>
                        <a:effectLst/>
                        <a:latin typeface="Calibri" panose="020F0502020204030204" pitchFamily="34" charset="0"/>
                      </a:endParaRPr>
                    </a:p>
                  </a:txBody>
                  <a:tcPr marL="5593" marR="5593" marT="5593" marB="0" anchor="ctr"/>
                </a:tc>
                <a:extLst>
                  <a:ext uri="{0D108BD9-81ED-4DB2-BD59-A6C34878D82A}">
                    <a16:rowId xmlns:a16="http://schemas.microsoft.com/office/drawing/2014/main" val="173475313"/>
                  </a:ext>
                </a:extLst>
              </a:tr>
              <a:tr h="469104">
                <a:tc>
                  <a:txBody>
                    <a:bodyPr/>
                    <a:lstStyle/>
                    <a:p>
                      <a:pPr algn="ctr" fontAlgn="ctr"/>
                      <a:r>
                        <a:rPr lang="en-IN" sz="1400" u="none" strike="noStrike">
                          <a:effectLst/>
                        </a:rPr>
                        <a:t>8</a:t>
                      </a:r>
                      <a:endParaRPr lang="en-IN" sz="14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400" u="none" strike="noStrike">
                          <a:effectLst/>
                        </a:rPr>
                        <a:t>JSW Future Energy Ltd</a:t>
                      </a:r>
                      <a:endParaRPr lang="en-IN" sz="1400" b="0" i="0" u="none" strike="noStrike">
                        <a:solidFill>
                          <a:srgbClr val="000000"/>
                        </a:solidFill>
                        <a:effectLst/>
                        <a:latin typeface="Times New Roman" panose="02020603050405020304" pitchFamily="18" charset="0"/>
                      </a:endParaRPr>
                    </a:p>
                  </a:txBody>
                  <a:tcPr marL="5593" marR="5593" marT="5593" marB="0" anchor="ctr"/>
                </a:tc>
                <a:tc>
                  <a:txBody>
                    <a:bodyPr/>
                    <a:lstStyle/>
                    <a:p>
                      <a:pPr algn="ctr" fontAlgn="ctr"/>
                      <a:r>
                        <a:rPr lang="en-IN" sz="1600" u="none" strike="noStrike">
                          <a:effectLst/>
                        </a:rPr>
                        <a:t>X</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150</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150</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11-04-2022</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14-11-2024</a:t>
                      </a:r>
                      <a:endParaRPr lang="en-IN" sz="1600" b="0"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Documents and clarifications sought</a:t>
                      </a:r>
                      <a:endParaRPr lang="en-IN" sz="1600" b="0" i="0" u="none" strike="noStrike" dirty="0">
                        <a:solidFill>
                          <a:srgbClr val="000000"/>
                        </a:solidFill>
                        <a:effectLst/>
                        <a:latin typeface="Calibri" panose="020F0502020204030204" pitchFamily="34" charset="0"/>
                      </a:endParaRPr>
                    </a:p>
                  </a:txBody>
                  <a:tcPr marL="5593" marR="5593" marT="5593" marB="0" anchor="ctr"/>
                </a:tc>
                <a:extLst>
                  <a:ext uri="{0D108BD9-81ED-4DB2-BD59-A6C34878D82A}">
                    <a16:rowId xmlns:a16="http://schemas.microsoft.com/office/drawing/2014/main" val="1871815756"/>
                  </a:ext>
                </a:extLst>
              </a:tr>
              <a:tr h="565342">
                <a:tc>
                  <a:txBody>
                    <a:bodyPr/>
                    <a:lstStyle/>
                    <a:p>
                      <a:pPr algn="ctr" fontAlgn="ctr"/>
                      <a:r>
                        <a:rPr lang="en-IN" sz="1400" u="none" strike="noStrike">
                          <a:effectLst/>
                        </a:rPr>
                        <a:t>9</a:t>
                      </a:r>
                      <a:endParaRPr lang="en-IN" sz="14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400" u="none" strike="noStrike">
                          <a:effectLst/>
                        </a:rPr>
                        <a:t>Sitac Kabini Renewables Private Limited</a:t>
                      </a:r>
                      <a:endParaRPr lang="en-IN" sz="1400" b="0" i="0" u="none" strike="noStrike">
                        <a:solidFill>
                          <a:srgbClr val="000000"/>
                        </a:solidFill>
                        <a:effectLst/>
                        <a:latin typeface="Times New Roman" panose="02020603050405020304" pitchFamily="18" charset="0"/>
                      </a:endParaRPr>
                    </a:p>
                  </a:txBody>
                  <a:tcPr marL="5593" marR="5593" marT="5593" marB="0" anchor="ctr"/>
                </a:tc>
                <a:tc>
                  <a:txBody>
                    <a:bodyPr/>
                    <a:lstStyle/>
                    <a:p>
                      <a:pPr algn="ctr" fontAlgn="ctr"/>
                      <a:r>
                        <a:rPr lang="en-IN" sz="1600" u="none" strike="noStrike">
                          <a:effectLst/>
                        </a:rPr>
                        <a:t>V</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300</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300</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20-02-2025</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31-05-2023</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documents sought</a:t>
                      </a:r>
                      <a:endParaRPr lang="en-IN" sz="1600" b="0" i="0" u="none" strike="noStrike" dirty="0">
                        <a:solidFill>
                          <a:srgbClr val="000000"/>
                        </a:solidFill>
                        <a:effectLst/>
                        <a:latin typeface="Calibri" panose="020F0502020204030204" pitchFamily="34" charset="0"/>
                      </a:endParaRPr>
                    </a:p>
                  </a:txBody>
                  <a:tcPr marL="5593" marR="5593" marT="5593" marB="0" anchor="ctr"/>
                </a:tc>
                <a:extLst>
                  <a:ext uri="{0D108BD9-81ED-4DB2-BD59-A6C34878D82A}">
                    <a16:rowId xmlns:a16="http://schemas.microsoft.com/office/drawing/2014/main" val="2204963694"/>
                  </a:ext>
                </a:extLst>
              </a:tr>
              <a:tr h="508393">
                <a:tc>
                  <a:txBody>
                    <a:bodyPr/>
                    <a:lstStyle/>
                    <a:p>
                      <a:pPr algn="ctr" fontAlgn="ctr"/>
                      <a:r>
                        <a:rPr lang="en-IN" sz="1400" u="none" strike="noStrike">
                          <a:effectLst/>
                        </a:rPr>
                        <a:t>10</a:t>
                      </a:r>
                      <a:endParaRPr lang="en-IN" sz="14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400" u="none" strike="noStrike">
                          <a:effectLst/>
                        </a:rPr>
                        <a:t>Srijan Energy Systems Private Limited</a:t>
                      </a:r>
                      <a:endParaRPr lang="en-IN" sz="1400" b="0" i="0" u="none" strike="noStrike">
                        <a:solidFill>
                          <a:srgbClr val="000000"/>
                        </a:solidFill>
                        <a:effectLst/>
                        <a:latin typeface="Times New Roman" panose="02020603050405020304" pitchFamily="18" charset="0"/>
                      </a:endParaRPr>
                    </a:p>
                  </a:txBody>
                  <a:tcPr marL="5593" marR="5593" marT="5593" marB="0" anchor="ctr"/>
                </a:tc>
                <a:tc>
                  <a:txBody>
                    <a:bodyPr/>
                    <a:lstStyle/>
                    <a:p>
                      <a:pPr algn="ctr" fontAlgn="ctr"/>
                      <a:r>
                        <a:rPr lang="en-IN" sz="1600" u="none" strike="noStrike" dirty="0">
                          <a:effectLst/>
                        </a:rPr>
                        <a:t>VI</a:t>
                      </a:r>
                      <a:endParaRPr lang="en-IN" sz="1600" b="0" i="0" u="none" strike="noStrike" dirty="0">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150</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148.5</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03-01-2025</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a:effectLst/>
                        </a:rPr>
                        <a:t>16-06-2023</a:t>
                      </a:r>
                      <a:endParaRPr lang="en-IN" sz="1600" b="0" i="0" u="none" strike="noStrike">
                        <a:solidFill>
                          <a:srgbClr val="000000"/>
                        </a:solidFill>
                        <a:effectLst/>
                        <a:latin typeface="Calibri" panose="020F0502020204030204" pitchFamily="34" charset="0"/>
                      </a:endParaRPr>
                    </a:p>
                  </a:txBody>
                  <a:tcPr marL="5593" marR="5593" marT="5593" marB="0" anchor="ctr"/>
                </a:tc>
                <a:tc>
                  <a:txBody>
                    <a:bodyPr/>
                    <a:lstStyle/>
                    <a:p>
                      <a:pPr algn="ctr" fontAlgn="ctr"/>
                      <a:r>
                        <a:rPr lang="en-IN" sz="1600" u="none" strike="noStrike" dirty="0">
                          <a:effectLst/>
                        </a:rPr>
                        <a:t>documents sought</a:t>
                      </a:r>
                      <a:endParaRPr lang="en-IN" sz="1600" b="0" i="0" u="none" strike="noStrike" dirty="0">
                        <a:solidFill>
                          <a:srgbClr val="000000"/>
                        </a:solidFill>
                        <a:effectLst/>
                        <a:latin typeface="Calibri" panose="020F0502020204030204" pitchFamily="34" charset="0"/>
                      </a:endParaRPr>
                    </a:p>
                  </a:txBody>
                  <a:tcPr marL="5593" marR="5593" marT="5593" marB="0" anchor="ctr"/>
                </a:tc>
                <a:extLst>
                  <a:ext uri="{0D108BD9-81ED-4DB2-BD59-A6C34878D82A}">
                    <a16:rowId xmlns:a16="http://schemas.microsoft.com/office/drawing/2014/main" val="3177632505"/>
                  </a:ext>
                </a:extLst>
              </a:tr>
            </a:tbl>
          </a:graphicData>
        </a:graphic>
      </p:graphicFrame>
      <p:sp>
        <p:nvSpPr>
          <p:cNvPr id="6" name="TextBox 5">
            <a:extLst>
              <a:ext uri="{FF2B5EF4-FFF2-40B4-BE49-F238E27FC236}">
                <a16:creationId xmlns:a16="http://schemas.microsoft.com/office/drawing/2014/main" id="{EB576DA8-E619-418F-331A-AC9180810FF4}"/>
              </a:ext>
            </a:extLst>
          </p:cNvPr>
          <p:cNvSpPr txBox="1"/>
          <p:nvPr/>
        </p:nvSpPr>
        <p:spPr>
          <a:xfrm>
            <a:off x="363071" y="245640"/>
            <a:ext cx="6111688" cy="523220"/>
          </a:xfrm>
          <a:prstGeom prst="rect">
            <a:avLst/>
          </a:prstGeom>
          <a:noFill/>
        </p:spPr>
        <p:txBody>
          <a:bodyPr wrap="square">
            <a:spAutoFit/>
          </a:bodyPr>
          <a:lstStyle/>
          <a:p>
            <a:r>
              <a:rPr lang="en-IN" sz="2800" b="1" dirty="0">
                <a:latin typeface="Times New Roman" panose="02020603050405020304" pitchFamily="18" charset="0"/>
                <a:ea typeface="+mj-ea"/>
                <a:cs typeface="Times New Roman" panose="02020603050405020304" pitchFamily="18" charset="0"/>
              </a:rPr>
              <a:t>Change In law cases(WIND)</a:t>
            </a:r>
          </a:p>
        </p:txBody>
      </p:sp>
    </p:spTree>
    <p:extLst>
      <p:ext uri="{BB962C8B-B14F-4D97-AF65-F5344CB8AC3E}">
        <p14:creationId xmlns:p14="http://schemas.microsoft.com/office/powerpoint/2010/main" val="33543877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042F771F-0187-D47F-D3ED-0CF19A22A399}"/>
              </a:ext>
            </a:extLst>
          </p:cNvPr>
          <p:cNvGraphicFramePr>
            <a:graphicFrameLocks noGrp="1"/>
          </p:cNvGraphicFramePr>
          <p:nvPr>
            <p:extLst>
              <p:ext uri="{D42A27DB-BD31-4B8C-83A1-F6EECF244321}">
                <p14:modId xmlns:p14="http://schemas.microsoft.com/office/powerpoint/2010/main" val="3220599688"/>
              </p:ext>
            </p:extLst>
          </p:nvPr>
        </p:nvGraphicFramePr>
        <p:xfrm>
          <a:off x="128789" y="1065829"/>
          <a:ext cx="11956435" cy="5861106"/>
        </p:xfrm>
        <a:graphic>
          <a:graphicData uri="http://schemas.openxmlformats.org/drawingml/2006/table">
            <a:tbl>
              <a:tblPr/>
              <a:tblGrid>
                <a:gridCol w="644150">
                  <a:extLst>
                    <a:ext uri="{9D8B030D-6E8A-4147-A177-3AD203B41FA5}">
                      <a16:colId xmlns:a16="http://schemas.microsoft.com/office/drawing/2014/main" val="2777692308"/>
                    </a:ext>
                  </a:extLst>
                </a:gridCol>
                <a:gridCol w="2645869">
                  <a:extLst>
                    <a:ext uri="{9D8B030D-6E8A-4147-A177-3AD203B41FA5}">
                      <a16:colId xmlns:a16="http://schemas.microsoft.com/office/drawing/2014/main" val="3142345519"/>
                    </a:ext>
                  </a:extLst>
                </a:gridCol>
                <a:gridCol w="1298797">
                  <a:extLst>
                    <a:ext uri="{9D8B030D-6E8A-4147-A177-3AD203B41FA5}">
                      <a16:colId xmlns:a16="http://schemas.microsoft.com/office/drawing/2014/main" val="3802056312"/>
                    </a:ext>
                  </a:extLst>
                </a:gridCol>
                <a:gridCol w="5485129">
                  <a:extLst>
                    <a:ext uri="{9D8B030D-6E8A-4147-A177-3AD203B41FA5}">
                      <a16:colId xmlns:a16="http://schemas.microsoft.com/office/drawing/2014/main" val="4148915681"/>
                    </a:ext>
                  </a:extLst>
                </a:gridCol>
                <a:gridCol w="1882490">
                  <a:extLst>
                    <a:ext uri="{9D8B030D-6E8A-4147-A177-3AD203B41FA5}">
                      <a16:colId xmlns:a16="http://schemas.microsoft.com/office/drawing/2014/main" val="1972647011"/>
                    </a:ext>
                  </a:extLst>
                </a:gridCol>
              </a:tblGrid>
              <a:tr h="263914">
                <a:tc>
                  <a:txBody>
                    <a:bodyPr/>
                    <a:lstStyle/>
                    <a:p>
                      <a:pPr algn="ctr" rtl="0" fontAlgn="ctr">
                        <a:buNone/>
                      </a:pPr>
                      <a:r>
                        <a:rPr lang="en-IN" sz="1400" b="1" dirty="0">
                          <a:effectLst/>
                          <a:latin typeface="Calibri" panose="020F0502020204030204" pitchFamily="34" charset="0"/>
                        </a:rPr>
                        <a:t>Sr. No.</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buNone/>
                      </a:pPr>
                      <a:r>
                        <a:rPr lang="en-US" sz="1400" b="1" dirty="0">
                          <a:effectLst/>
                          <a:latin typeface="Calibri" panose="020F0502020204030204" pitchFamily="34" charset="0"/>
                        </a:rPr>
                        <a:t>Actions pending in Wind Division</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buNone/>
                      </a:pPr>
                      <a:r>
                        <a:rPr lang="en-IN" sz="1400" b="1">
                          <a:effectLst/>
                          <a:latin typeface="Calibri" panose="020F0502020204030204" pitchFamily="34" charset="0"/>
                        </a:rPr>
                        <a:t>Timeline</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buNone/>
                      </a:pPr>
                      <a:r>
                        <a:rPr lang="en-IN" sz="1400" b="1" dirty="0">
                          <a:effectLst/>
                          <a:latin typeface="Calibri" panose="020F0502020204030204" pitchFamily="34" charset="0"/>
                        </a:rPr>
                        <a:t>Status (as on 01.12.2025)</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buNone/>
                      </a:pPr>
                      <a:r>
                        <a:rPr lang="en-IN" sz="1400" b="1" dirty="0">
                          <a:effectLst/>
                          <a:latin typeface="Calibri" panose="020F0502020204030204" pitchFamily="34" charset="0"/>
                        </a:rPr>
                        <a:t>Concerned official</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669921673"/>
                  </a:ext>
                </a:extLst>
              </a:tr>
              <a:tr h="888228">
                <a:tc>
                  <a:txBody>
                    <a:bodyPr/>
                    <a:lstStyle/>
                    <a:p>
                      <a:pPr algn="ctr" rtl="0" fontAlgn="ctr">
                        <a:buNone/>
                      </a:pPr>
                      <a:r>
                        <a:rPr lang="en-IN" sz="1400" b="0" dirty="0">
                          <a:effectLst/>
                          <a:latin typeface="Calibri" panose="020F0502020204030204" pitchFamily="34" charset="0"/>
                        </a:rPr>
                        <a:t>1</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rtl="0" fontAlgn="ctr">
                        <a:buNone/>
                      </a:pPr>
                      <a:r>
                        <a:rPr lang="en-US" sz="1400" b="0" dirty="0">
                          <a:effectLst/>
                          <a:latin typeface="Calibri" panose="020F0502020204030204" pitchFamily="34" charset="0"/>
                        </a:rPr>
                        <a:t>SECI project 50 MW for NDMC</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rtl="0" fontAlgn="ctr">
                        <a:buNone/>
                      </a:pPr>
                      <a:r>
                        <a:rPr lang="en-IN" sz="1400" b="0" dirty="0">
                          <a:effectLst/>
                          <a:latin typeface="Calibri" panose="020F0502020204030204" pitchFamily="34" charset="0"/>
                        </a:rPr>
                        <a:t>ongoing</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rtl="0" fontAlgn="ctr">
                        <a:buNone/>
                      </a:pPr>
                      <a:r>
                        <a:rPr lang="en-US" sz="1400" b="0" dirty="0">
                          <a:effectLst/>
                          <a:latin typeface="Calibri" panose="020F0502020204030204" pitchFamily="34" charset="0"/>
                        </a:rPr>
                        <a:t>query received from NDMC and responded on Friday, Subsequent to report by NIWE, Configuration revision to be reviewed by Projects Team to </a:t>
                      </a:r>
                      <a:r>
                        <a:rPr lang="en-US" sz="1400" b="0" dirty="0" err="1">
                          <a:effectLst/>
                          <a:latin typeface="Calibri" panose="020F0502020204030204" pitchFamily="34" charset="0"/>
                        </a:rPr>
                        <a:t>optimise</a:t>
                      </a:r>
                      <a:r>
                        <a:rPr lang="en-US" sz="1400" b="0" dirty="0">
                          <a:effectLst/>
                          <a:latin typeface="Calibri" panose="020F0502020204030204" pitchFamily="34" charset="0"/>
                        </a:rPr>
                        <a:t> the CUF, Title search report under process, will be initiated once the GO is received</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rtl="0" fontAlgn="ctr">
                        <a:buNone/>
                      </a:pPr>
                      <a:r>
                        <a:rPr lang="en-IN" sz="1400" b="0" dirty="0">
                          <a:effectLst/>
                          <a:latin typeface="Calibri" panose="020F0502020204030204" pitchFamily="34" charset="0"/>
                        </a:rPr>
                        <a:t>Anita/Prashant/Ashutosh Shandilya</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262934143"/>
                  </a:ext>
                </a:extLst>
              </a:tr>
              <a:tr h="1013091">
                <a:tc>
                  <a:txBody>
                    <a:bodyPr/>
                    <a:lstStyle/>
                    <a:p>
                      <a:pPr algn="ctr" rtl="0" fontAlgn="ctr">
                        <a:buNone/>
                      </a:pPr>
                      <a:r>
                        <a:rPr lang="en-IN" sz="1400" b="0" dirty="0">
                          <a:effectLst/>
                          <a:latin typeface="Calibri" panose="020F0502020204030204" pitchFamily="34" charset="0"/>
                        </a:rPr>
                        <a:t>2</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buNone/>
                      </a:pPr>
                      <a:r>
                        <a:rPr lang="en-IN" sz="1400" b="0" dirty="0">
                          <a:effectLst/>
                          <a:latin typeface="Calibri" panose="020F0502020204030204" pitchFamily="34" charset="0"/>
                        </a:rPr>
                        <a:t>CIL Claims settlement</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buNone/>
                      </a:pPr>
                      <a:r>
                        <a:rPr lang="en-IN" sz="1400" b="0" dirty="0">
                          <a:effectLst/>
                          <a:latin typeface="Calibri" panose="020F0502020204030204" pitchFamily="34" charset="0"/>
                        </a:rPr>
                        <a:t>ongoing</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buNone/>
                      </a:pPr>
                      <a:r>
                        <a:rPr lang="en-US" sz="1400" b="0" dirty="0">
                          <a:effectLst/>
                          <a:latin typeface="Calibri" panose="020F0502020204030204" pitchFamily="34" charset="0"/>
                        </a:rPr>
                        <a:t>1) As per requirement, Meetings are being called on case to case basis and discussions are undergoing with Finance </a:t>
                      </a:r>
                      <a:r>
                        <a:rPr lang="en-US" sz="1400" b="0" dirty="0" err="1">
                          <a:effectLst/>
                          <a:latin typeface="Calibri" panose="020F0502020204030204" pitchFamily="34" charset="0"/>
                        </a:rPr>
                        <a:t>divison</a:t>
                      </a:r>
                      <a:r>
                        <a:rPr lang="en-US" sz="1400" b="0" dirty="0">
                          <a:effectLst/>
                          <a:latin typeface="Calibri" panose="020F0502020204030204" pitchFamily="34" charset="0"/>
                        </a:rPr>
                        <a:t> and consultant, 2) currently 7 cases are live 3) Ostro Energy Pvt. Ltd. GST claim </a:t>
                      </a:r>
                      <a:r>
                        <a:rPr lang="en-US" sz="1400" b="0" dirty="0" err="1">
                          <a:effectLst/>
                          <a:latin typeface="Calibri" panose="020F0502020204030204" pitchFamily="34" charset="0"/>
                        </a:rPr>
                        <a:t>finalised</a:t>
                      </a:r>
                      <a:r>
                        <a:rPr lang="en-US" sz="1400" b="0" dirty="0">
                          <a:effectLst/>
                          <a:latin typeface="Calibri" panose="020F0502020204030204" pitchFamily="34" charset="0"/>
                        </a:rPr>
                        <a:t> and Carrying cost claim under evaluation, 4) Torrent </a:t>
                      </a:r>
                      <a:r>
                        <a:rPr lang="en-US" sz="1400" b="0" dirty="0" err="1">
                          <a:effectLst/>
                          <a:latin typeface="Calibri" panose="020F0502020204030204" pitchFamily="34" charset="0"/>
                        </a:rPr>
                        <a:t>Solargen</a:t>
                      </a:r>
                      <a:r>
                        <a:rPr lang="en-US" sz="1400" b="0" dirty="0">
                          <a:effectLst/>
                          <a:latin typeface="Calibri" panose="020F0502020204030204" pitchFamily="34" charset="0"/>
                        </a:rPr>
                        <a:t> Ltd. CIL claim payment started</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buNone/>
                      </a:pPr>
                      <a:r>
                        <a:rPr lang="en-IN" sz="1400" b="0" dirty="0">
                          <a:effectLst/>
                          <a:latin typeface="Calibri" panose="020F0502020204030204" pitchFamily="34" charset="0"/>
                        </a:rPr>
                        <a:t>Anita/Ashutosh Shandilya</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71517350"/>
                  </a:ext>
                </a:extLst>
              </a:tr>
              <a:tr h="369101">
                <a:tc>
                  <a:txBody>
                    <a:bodyPr/>
                    <a:lstStyle/>
                    <a:p>
                      <a:pPr algn="ctr" rtl="0" fontAlgn="ctr">
                        <a:buNone/>
                      </a:pPr>
                      <a:r>
                        <a:rPr lang="en-IN" sz="1400" b="0" dirty="0">
                          <a:effectLst/>
                          <a:latin typeface="Calibri" panose="020F0502020204030204" pitchFamily="34" charset="0"/>
                        </a:rPr>
                        <a:t>3</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rtl="0" fontAlgn="ctr">
                        <a:buNone/>
                      </a:pPr>
                      <a:r>
                        <a:rPr lang="fr-FR" sz="1400" b="0" dirty="0" err="1">
                          <a:effectLst/>
                          <a:latin typeface="Calibri" panose="020F0502020204030204" pitchFamily="34" charset="0"/>
                        </a:rPr>
                        <a:t>Apraava</a:t>
                      </a:r>
                      <a:r>
                        <a:rPr lang="fr-FR" sz="1400" b="0" dirty="0">
                          <a:effectLst/>
                          <a:latin typeface="Calibri" panose="020F0502020204030204" pitchFamily="34" charset="0"/>
                        </a:rPr>
                        <a:t> T-XIV 300 MW </a:t>
                      </a:r>
                      <a:r>
                        <a:rPr lang="fr-FR" sz="1400" b="0" dirty="0" err="1">
                          <a:effectLst/>
                          <a:latin typeface="Calibri" panose="020F0502020204030204" pitchFamily="34" charset="0"/>
                        </a:rPr>
                        <a:t>SCoD</a:t>
                      </a:r>
                      <a:r>
                        <a:rPr lang="fr-FR" sz="1400" b="0" dirty="0">
                          <a:effectLst/>
                          <a:latin typeface="Calibri" panose="020F0502020204030204" pitchFamily="34" charset="0"/>
                        </a:rPr>
                        <a:t> extension</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rtl="0" fontAlgn="ctr">
                        <a:buNone/>
                      </a:pPr>
                      <a:r>
                        <a:rPr lang="en-IN" sz="1400" b="0" dirty="0">
                          <a:effectLst/>
                          <a:latin typeface="Calibri" panose="020F0502020204030204" pitchFamily="34" charset="0"/>
                        </a:rPr>
                        <a:t>ongoing</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rtl="0" fontAlgn="ctr">
                        <a:buNone/>
                      </a:pPr>
                      <a:r>
                        <a:rPr lang="en-US" sz="1400" b="0" dirty="0">
                          <a:effectLst/>
                          <a:latin typeface="Calibri" panose="020F0502020204030204" pitchFamily="34" charset="0"/>
                        </a:rPr>
                        <a:t>Committee meeting discussion held at CTU office, Minutes are awaited</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rtl="0" fontAlgn="ctr">
                        <a:buNone/>
                      </a:pPr>
                      <a:r>
                        <a:rPr lang="en-IN" sz="1400" b="0" dirty="0">
                          <a:effectLst/>
                          <a:latin typeface="Calibri" panose="020F0502020204030204" pitchFamily="34" charset="0"/>
                        </a:rPr>
                        <a:t>Dileep</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964165292"/>
                  </a:ext>
                </a:extLst>
              </a:tr>
              <a:tr h="388776">
                <a:tc>
                  <a:txBody>
                    <a:bodyPr/>
                    <a:lstStyle/>
                    <a:p>
                      <a:pPr algn="ctr" rtl="0" fontAlgn="ctr">
                        <a:buNone/>
                      </a:pPr>
                      <a:r>
                        <a:rPr lang="en-IN" sz="1400" b="0" dirty="0">
                          <a:effectLst/>
                          <a:latin typeface="Calibri" panose="020F0502020204030204" pitchFamily="34" charset="0"/>
                        </a:rPr>
                        <a:t>4</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buNone/>
                      </a:pPr>
                      <a:r>
                        <a:rPr lang="en-US" sz="1400" b="0" dirty="0">
                          <a:effectLst/>
                          <a:latin typeface="Calibri" panose="020F0502020204030204" pitchFamily="34" charset="0"/>
                        </a:rPr>
                        <a:t>Meeting with CSPDCL for Tunga project</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buNone/>
                      </a:pPr>
                      <a:r>
                        <a:rPr lang="en-IN" sz="1400" b="0" dirty="0">
                          <a:effectLst/>
                          <a:latin typeface="Calibri" panose="020F0502020204030204" pitchFamily="34" charset="0"/>
                        </a:rPr>
                        <a:t>ongoing</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buNone/>
                      </a:pPr>
                      <a:r>
                        <a:rPr lang="en-US" sz="1400" b="0" dirty="0">
                          <a:effectLst/>
                          <a:latin typeface="Calibri" panose="020F0502020204030204" pitchFamily="34" charset="0"/>
                        </a:rPr>
                        <a:t>Hearing scheduled on 10.11.2025 has been deleted, next date of hearing to be informed in due course</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buNone/>
                      </a:pPr>
                      <a:r>
                        <a:rPr lang="en-IN" sz="1400" b="0" dirty="0">
                          <a:effectLst/>
                          <a:latin typeface="Calibri" panose="020F0502020204030204" pitchFamily="34" charset="0"/>
                        </a:rPr>
                        <a:t>Anita/Aditee/EMD</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725466684"/>
                  </a:ext>
                </a:extLst>
              </a:tr>
              <a:tr h="888228">
                <a:tc>
                  <a:txBody>
                    <a:bodyPr/>
                    <a:lstStyle/>
                    <a:p>
                      <a:pPr algn="ctr" rtl="0" fontAlgn="ctr">
                        <a:buNone/>
                      </a:pPr>
                      <a:r>
                        <a:rPr lang="en-IN" sz="1400" b="0" dirty="0">
                          <a:effectLst/>
                          <a:latin typeface="Calibri" panose="020F0502020204030204" pitchFamily="34" charset="0"/>
                        </a:rPr>
                        <a:t>5</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rtl="0" fontAlgn="ctr">
                        <a:buNone/>
                      </a:pPr>
                      <a:r>
                        <a:rPr lang="en-IN" sz="1400" b="0" dirty="0">
                          <a:effectLst/>
                          <a:latin typeface="Calibri" panose="020F0502020204030204" pitchFamily="34" charset="0"/>
                        </a:rPr>
                        <a:t>Approval for NDA for availing OEMs wind turbine model data.</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rtl="0" fontAlgn="ctr">
                        <a:buNone/>
                      </a:pPr>
                      <a:r>
                        <a:rPr lang="en-IN" sz="1400" b="0" dirty="0">
                          <a:effectLst/>
                          <a:latin typeface="Calibri" panose="020F0502020204030204" pitchFamily="34" charset="0"/>
                        </a:rPr>
                        <a:t>ongoing</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rtl="0" fontAlgn="ctr">
                        <a:buNone/>
                      </a:pPr>
                      <a:r>
                        <a:rPr lang="en-US" sz="1400" b="0" dirty="0">
                          <a:effectLst/>
                          <a:latin typeface="Calibri" panose="020F0502020204030204" pitchFamily="34" charset="0"/>
                        </a:rPr>
                        <a:t>Signed NDA received from Sany and NDA expected within a week from Envision, NDA under discussion with </a:t>
                      </a:r>
                      <a:r>
                        <a:rPr lang="en-US" sz="1400" b="0" dirty="0" err="1">
                          <a:effectLst/>
                          <a:latin typeface="Calibri" panose="020F0502020204030204" pitchFamily="34" charset="0"/>
                        </a:rPr>
                        <a:t>suzlon</a:t>
                      </a:r>
                      <a:r>
                        <a:rPr lang="en-US" sz="1400" b="0" dirty="0">
                          <a:effectLst/>
                          <a:latin typeface="Calibri" panose="020F0502020204030204" pitchFamily="34" charset="0"/>
                        </a:rPr>
                        <a:t>, AEP assessment with NIWE under </a:t>
                      </a:r>
                      <a:r>
                        <a:rPr lang="en-US" sz="1400" b="0" dirty="0" err="1">
                          <a:effectLst/>
                          <a:latin typeface="Calibri" panose="020F0502020204030204" pitchFamily="34" charset="0"/>
                        </a:rPr>
                        <a:t>finalisation</a:t>
                      </a:r>
                      <a:r>
                        <a:rPr lang="en-US" sz="1400" b="0" dirty="0">
                          <a:effectLst/>
                          <a:latin typeface="Calibri" panose="020F0502020204030204" pitchFamily="34" charset="0"/>
                        </a:rPr>
                        <a:t>, Revised Budgetary quotation sought from Sany, Envision, Inox</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rtl="0" fontAlgn="ctr">
                        <a:buNone/>
                      </a:pPr>
                      <a:r>
                        <a:rPr lang="en-IN" sz="1400" b="0" dirty="0">
                          <a:effectLst/>
                          <a:latin typeface="Calibri" panose="020F0502020204030204" pitchFamily="34" charset="0"/>
                        </a:rPr>
                        <a:t>Anita/Aditee/Ashutosh Shandilya</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32043286"/>
                  </a:ext>
                </a:extLst>
              </a:tr>
              <a:tr h="831471">
                <a:tc>
                  <a:txBody>
                    <a:bodyPr/>
                    <a:lstStyle/>
                    <a:p>
                      <a:pPr algn="ctr" rtl="0" fontAlgn="ctr">
                        <a:buNone/>
                      </a:pPr>
                      <a:r>
                        <a:rPr lang="en-IN" sz="1400" dirty="0">
                          <a:effectLst/>
                        </a:rPr>
                        <a:t>6</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buNone/>
                      </a:pPr>
                      <a:r>
                        <a:rPr lang="en-US" sz="1400" dirty="0">
                          <a:effectLst/>
                        </a:rPr>
                        <a:t>600 MW/ 1200 MWh BESS project for market operation under VGF scheme in AP</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buNone/>
                      </a:pPr>
                      <a:r>
                        <a:rPr lang="en-IN" sz="1400" dirty="0">
                          <a:effectLst/>
                        </a:rPr>
                        <a:t>completed</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buNone/>
                      </a:pPr>
                      <a:r>
                        <a:rPr lang="en-US" sz="1400" dirty="0">
                          <a:effectLst/>
                        </a:rPr>
                        <a:t>Title search report under process, as the advanced possession is awaited</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rtl="0" fontAlgn="ctr">
                        <a:buNone/>
                      </a:pPr>
                      <a:r>
                        <a:rPr lang="en-IN" sz="1400" dirty="0">
                          <a:effectLst/>
                        </a:rPr>
                        <a:t>Anita </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755963777"/>
                  </a:ext>
                </a:extLst>
              </a:tr>
              <a:tr h="1035791">
                <a:tc>
                  <a:txBody>
                    <a:bodyPr/>
                    <a:lstStyle/>
                    <a:p>
                      <a:pPr algn="ctr" rtl="0" fontAlgn="ctr">
                        <a:buNone/>
                      </a:pPr>
                      <a:r>
                        <a:rPr lang="en-IN" sz="1400" dirty="0">
                          <a:effectLst/>
                        </a:rPr>
                        <a:t>7</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rtl="0" fontAlgn="ctr">
                        <a:buNone/>
                      </a:pPr>
                      <a:r>
                        <a:rPr lang="en-US" sz="1400" dirty="0">
                          <a:effectLst/>
                        </a:rPr>
                        <a:t>100 MW ISTS Connected Solar power project at </a:t>
                      </a:r>
                      <a:r>
                        <a:rPr lang="en-US" sz="1400" dirty="0" err="1">
                          <a:effectLst/>
                        </a:rPr>
                        <a:t>Chitradurga</a:t>
                      </a:r>
                      <a:r>
                        <a:rPr lang="en-US" sz="1400" dirty="0">
                          <a:effectLst/>
                        </a:rPr>
                        <a:t>, </a:t>
                      </a:r>
                      <a:r>
                        <a:rPr lang="en-US" sz="1400" dirty="0" err="1">
                          <a:effectLst/>
                        </a:rPr>
                        <a:t>karnataka</a:t>
                      </a:r>
                      <a:r>
                        <a:rPr lang="en-US" sz="1400" dirty="0">
                          <a:effectLst/>
                        </a:rPr>
                        <a:t> for DRDO </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rtl="0" fontAlgn="ctr">
                        <a:buNone/>
                      </a:pPr>
                      <a:r>
                        <a:rPr lang="en-IN" sz="1400" dirty="0">
                          <a:effectLst/>
                        </a:rPr>
                        <a:t>ongoing</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rtl="0" fontAlgn="ctr">
                        <a:buNone/>
                      </a:pPr>
                      <a:r>
                        <a:rPr lang="en-US" sz="1400" dirty="0">
                          <a:effectLst/>
                        </a:rPr>
                        <a:t>Meeting held with CTUIL and the issues regarding connectivity expressed by CTU and the same is under discussion</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rtl="0" fontAlgn="ctr">
                        <a:buNone/>
                      </a:pPr>
                      <a:r>
                        <a:rPr lang="en-IN" sz="1400" dirty="0">
                          <a:effectLst/>
                        </a:rPr>
                        <a:t>Anita</a:t>
                      </a:r>
                    </a:p>
                  </a:txBody>
                  <a:tcPr marL="8309" marR="8309" marT="5539" marB="55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303261558"/>
                  </a:ext>
                </a:extLst>
              </a:tr>
            </a:tbl>
          </a:graphicData>
        </a:graphic>
      </p:graphicFrame>
      <p:sp>
        <p:nvSpPr>
          <p:cNvPr id="7" name="TextBox 6">
            <a:extLst>
              <a:ext uri="{FF2B5EF4-FFF2-40B4-BE49-F238E27FC236}">
                <a16:creationId xmlns:a16="http://schemas.microsoft.com/office/drawing/2014/main" id="{DAE0F396-6BBB-DF67-ECC9-69863665563B}"/>
              </a:ext>
            </a:extLst>
          </p:cNvPr>
          <p:cNvSpPr txBox="1"/>
          <p:nvPr/>
        </p:nvSpPr>
        <p:spPr>
          <a:xfrm>
            <a:off x="122308" y="113571"/>
            <a:ext cx="3395511" cy="400110"/>
          </a:xfrm>
          <a:prstGeom prst="rect">
            <a:avLst/>
          </a:prstGeom>
          <a:noFill/>
        </p:spPr>
        <p:txBody>
          <a:bodyPr wrap="square" rtlCol="0">
            <a:spAutoFit/>
          </a:bodyPr>
          <a:lstStyle/>
          <a:p>
            <a:r>
              <a:rPr lang="en-IN" sz="2000" b="1" dirty="0"/>
              <a:t>MIS Update as on 01.12.2025</a:t>
            </a:r>
          </a:p>
        </p:txBody>
      </p:sp>
    </p:spTree>
    <p:extLst>
      <p:ext uri="{BB962C8B-B14F-4D97-AF65-F5344CB8AC3E}">
        <p14:creationId xmlns:p14="http://schemas.microsoft.com/office/powerpoint/2010/main" val="33924289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F81F31-CAD7-912F-73DB-62A288C75C33}"/>
              </a:ext>
            </a:extLst>
          </p:cNvPr>
          <p:cNvSpPr txBox="1"/>
          <p:nvPr/>
        </p:nvSpPr>
        <p:spPr>
          <a:xfrm>
            <a:off x="2731294" y="2733675"/>
            <a:ext cx="6729412" cy="707886"/>
          </a:xfrm>
          <a:prstGeom prst="rect">
            <a:avLst/>
          </a:prstGeom>
          <a:noFill/>
        </p:spPr>
        <p:txBody>
          <a:bodyPr wrap="square" rtlCol="0">
            <a:spAutoFit/>
          </a:bodyPr>
          <a:lstStyle/>
          <a:p>
            <a:pPr algn="ctr"/>
            <a:r>
              <a:rPr lang="en-US" sz="4000" b="1" dirty="0"/>
              <a:t>T</a:t>
            </a:r>
            <a:r>
              <a:rPr lang="en-IN" sz="4000" b="1" dirty="0"/>
              <a:t>HANK YOU</a:t>
            </a:r>
            <a:endParaRPr lang="en-GB" sz="4000" b="1" dirty="0"/>
          </a:p>
        </p:txBody>
      </p:sp>
    </p:spTree>
    <p:extLst>
      <p:ext uri="{BB962C8B-B14F-4D97-AF65-F5344CB8AC3E}">
        <p14:creationId xmlns:p14="http://schemas.microsoft.com/office/powerpoint/2010/main" val="19905798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17017</TotalTime>
  <Words>4928</Words>
  <Application>Microsoft Office PowerPoint</Application>
  <PresentationFormat>Widescreen</PresentationFormat>
  <Paragraphs>1731</Paragraphs>
  <Slides>39</Slides>
  <Notes>4</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39</vt:i4>
      </vt:variant>
    </vt:vector>
  </HeadingPairs>
  <TitlesOfParts>
    <vt:vector size="49" baseType="lpstr">
      <vt:lpstr>Aptos</vt:lpstr>
      <vt:lpstr>Aptos Narrow</vt:lpstr>
      <vt:lpstr>Arial</vt:lpstr>
      <vt:lpstr>Calibri</vt:lpstr>
      <vt:lpstr>Calibri Light</vt:lpstr>
      <vt:lpstr>Courier New</vt:lpstr>
      <vt:lpstr>Times New Roman</vt:lpstr>
      <vt:lpstr>Office Theme</vt:lpstr>
      <vt:lpstr>1_Custom Design</vt:lpstr>
      <vt:lpstr>Custom Design</vt:lpstr>
      <vt:lpstr>PowerPoint Presentation</vt:lpstr>
      <vt:lpstr>PowerPoint Presentation</vt:lpstr>
      <vt:lpstr>PowerPoint Presentation</vt:lpstr>
      <vt:lpstr>PowerPoint Presentation</vt:lpstr>
      <vt:lpstr>PowerPoint Presentation</vt:lpstr>
      <vt:lpstr>PowerPoint Presentation</vt:lpstr>
      <vt:lpstr>Wind Power Projects Impacted due to delay in GNA/Connectivity</vt:lpstr>
      <vt:lpstr>DISCUSSION POINTS</vt:lpstr>
      <vt:lpstr>Tranche-wise Progress Status (Wind)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BRIEF – TORRENT POWER LIMITED- TRANCHE-XII </vt:lpstr>
      <vt:lpstr>PowerPoint Presentation</vt:lpstr>
      <vt:lpstr>PowerPoint Presentation</vt:lpstr>
      <vt:lpstr>COMMISSIONING PLAN: SUBMITTED BY WPD</vt:lpstr>
      <vt:lpstr>SITE PHOTOGRAPHS</vt:lpstr>
      <vt:lpstr>SITE PHOTOGRAPHS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Dileep Kumar</dc:creator>
  <cp:lastModifiedBy>Ashutosh Shandilya</cp:lastModifiedBy>
  <cp:revision>1649</cp:revision>
  <cp:lastPrinted>2025-02-11T11:04:51Z</cp:lastPrinted>
  <dcterms:created xsi:type="dcterms:W3CDTF">2023-10-13T04:42:40Z</dcterms:created>
  <dcterms:modified xsi:type="dcterms:W3CDTF">2025-12-01T07:36:10Z</dcterms:modified>
</cp:coreProperties>
</file>