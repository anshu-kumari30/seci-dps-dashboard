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hyperlink" Target="https://gamma.app" TargetMode="External"/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" TargetMode="External"/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" TargetMode="External"/><Relationship Id="rId1" Type="http://schemas.openxmlformats.org/officeDocument/2006/relationships/image" Target="../media/image-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hyperlink" Target="https://gamma.app" TargetMode="External"/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hyperlink" Target="https://gamma.app" TargetMode="External"/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hyperlink" Target="https://gamma.app" TargetMode="External"/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hyperlink" Target="https://gamma.app" TargetMode="External"/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hyperlink" Target="https://gamma.app" TargetMode="External"/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88" y="2737366"/>
            <a:ext cx="4919305" cy="275486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280190" y="1425535"/>
            <a:ext cx="7556421" cy="293465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7702"/>
              </a:lnSpc>
              <a:buNone/>
            </a:pPr>
            <a:r>
              <a:rPr lang="en-US" sz="6162" dirty="0">
                <a:solidFill>
                  <a:srgbClr val="124E73"/>
                </a:solidFill>
                <a:latin typeface="MuseoModerno" pitchFamily="34" charset="0"/>
                <a:ea typeface="MuseoModerno" pitchFamily="34" charset="-122"/>
                <a:cs typeface="MuseoModerno" pitchFamily="34" charset="-120"/>
              </a:rPr>
              <a:t>Introduction to Mobile Price Prediction</a:t>
            </a:r>
            <a:endParaRPr lang="en-US" sz="6162" dirty="0"/>
          </a:p>
        </p:txBody>
      </p:sp>
      <p:sp>
        <p:nvSpPr>
          <p:cNvPr id="7" name="Text 3"/>
          <p:cNvSpPr/>
          <p:nvPr/>
        </p:nvSpPr>
        <p:spPr>
          <a:xfrm>
            <a:off x="6280190" y="4700349"/>
            <a:ext cx="7556421" cy="14516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858"/>
              </a:lnSpc>
              <a:buNone/>
            </a:pPr>
            <a:r>
              <a:rPr lang="en-US" sz="1786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Mobile price prediction is crucial in today’s tech-driven market. With numerous brands and models, predicting prices helps consumers and retailers make informed decisions. It utilizes historical data and machine learning techniques to forecast prices accurately.</a:t>
            </a:r>
            <a:endParaRPr lang="en-US" sz="1786" dirty="0"/>
          </a:p>
        </p:txBody>
      </p:sp>
      <p:sp>
        <p:nvSpPr>
          <p:cNvPr id="8" name="Shape 4"/>
          <p:cNvSpPr/>
          <p:nvPr/>
        </p:nvSpPr>
        <p:spPr>
          <a:xfrm>
            <a:off x="6280190" y="6424017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7810" y="6431637"/>
            <a:ext cx="347663" cy="34766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756440" y="6407110"/>
            <a:ext cx="2095857" cy="39683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lnSpc>
                <a:spcPts val="3126"/>
              </a:lnSpc>
              <a:buNone/>
            </a:pPr>
            <a:r>
              <a:rPr lang="en-US" sz="2233" b="1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by anshu Kumari</a:t>
            </a:r>
            <a:endParaRPr lang="en-US" sz="2233" dirty="0"/>
          </a:p>
        </p:txBody>
      </p:sp>
      <p:pic>
        <p:nvPicPr>
          <p:cNvPr id="11" name="Image 3" descr="preencoded.png">
            <a:hlinkClick r:id="rId5" tooltip="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4272201"/>
            <a:ext cx="9258776" cy="70877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5581"/>
              </a:lnSpc>
              <a:buNone/>
            </a:pPr>
            <a:r>
              <a:rPr lang="en-US" sz="4465" dirty="0">
                <a:solidFill>
                  <a:srgbClr val="124E73"/>
                </a:solidFill>
                <a:latin typeface="MuseoModerno" pitchFamily="34" charset="0"/>
                <a:ea typeface="MuseoModerno" pitchFamily="34" charset="-122"/>
                <a:cs typeface="MuseoModerno" pitchFamily="34" charset="-120"/>
              </a:rPr>
              <a:t>Data Collection and Preprocessing</a:t>
            </a:r>
            <a:endParaRPr lang="en-US" sz="4465" dirty="0"/>
          </a:p>
        </p:txBody>
      </p:sp>
      <p:sp>
        <p:nvSpPr>
          <p:cNvPr id="6" name="Shape 3"/>
          <p:cNvSpPr/>
          <p:nvPr/>
        </p:nvSpPr>
        <p:spPr>
          <a:xfrm>
            <a:off x="793790" y="5576292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3EEE3"/>
          </a:solidFill>
          <a:ln/>
        </p:spPr>
      </p:sp>
      <p:sp>
        <p:nvSpPr>
          <p:cNvPr id="7" name="Text 4"/>
          <p:cNvSpPr/>
          <p:nvPr/>
        </p:nvSpPr>
        <p:spPr>
          <a:xfrm>
            <a:off x="969169" y="5661303"/>
            <a:ext cx="159544" cy="3402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 indent="0" marL="0">
              <a:lnSpc>
                <a:spcPts val="2679"/>
              </a:lnSpc>
              <a:buNone/>
            </a:pPr>
            <a:r>
              <a:rPr lang="en-US" sz="2679" dirty="0">
                <a:solidFill>
                  <a:srgbClr val="2B4150"/>
                </a:solidFill>
                <a:latin typeface="MuseoModerno" pitchFamily="34" charset="0"/>
                <a:ea typeface="MuseoModerno" pitchFamily="34" charset="-122"/>
                <a:cs typeface="MuseoModerno" pitchFamily="34" charset="-120"/>
              </a:rPr>
              <a:t>1</a:t>
            </a:r>
            <a:endParaRPr lang="en-US" sz="2679" dirty="0"/>
          </a:p>
        </p:txBody>
      </p:sp>
      <p:sp>
        <p:nvSpPr>
          <p:cNvPr id="8" name="Text 5"/>
          <p:cNvSpPr/>
          <p:nvPr/>
        </p:nvSpPr>
        <p:spPr>
          <a:xfrm>
            <a:off x="1530906" y="5576292"/>
            <a:ext cx="2835235" cy="35433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791"/>
              </a:lnSpc>
              <a:buNone/>
            </a:pPr>
            <a:r>
              <a:rPr lang="en-US" sz="2233" dirty="0">
                <a:solidFill>
                  <a:srgbClr val="2B4150"/>
                </a:solidFill>
                <a:latin typeface="MuseoModerno" pitchFamily="34" charset="0"/>
                <a:ea typeface="MuseoModerno" pitchFamily="34" charset="-122"/>
                <a:cs typeface="MuseoModerno" pitchFamily="34" charset="-120"/>
              </a:rPr>
              <a:t>Data Sources</a:t>
            </a:r>
            <a:endParaRPr lang="en-US" sz="2233" dirty="0"/>
          </a:p>
        </p:txBody>
      </p:sp>
      <p:sp>
        <p:nvSpPr>
          <p:cNvPr id="9" name="Text 6"/>
          <p:cNvSpPr/>
          <p:nvPr/>
        </p:nvSpPr>
        <p:spPr>
          <a:xfrm>
            <a:off x="1530906" y="6066711"/>
            <a:ext cx="3459242" cy="7258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858"/>
              </a:lnSpc>
              <a:buNone/>
            </a:pPr>
            <a:r>
              <a:rPr lang="en-US" sz="1786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Gather data from various online retailers and tech websites.</a:t>
            </a:r>
            <a:endParaRPr lang="en-US" sz="1786" dirty="0"/>
          </a:p>
        </p:txBody>
      </p:sp>
      <p:sp>
        <p:nvSpPr>
          <p:cNvPr id="10" name="Shape 7"/>
          <p:cNvSpPr/>
          <p:nvPr/>
        </p:nvSpPr>
        <p:spPr>
          <a:xfrm>
            <a:off x="5216962" y="5576292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3EEE3"/>
          </a:solidFill>
          <a:ln/>
        </p:spPr>
      </p:sp>
      <p:sp>
        <p:nvSpPr>
          <p:cNvPr id="11" name="Text 8"/>
          <p:cNvSpPr/>
          <p:nvPr/>
        </p:nvSpPr>
        <p:spPr>
          <a:xfrm>
            <a:off x="5377458" y="5661303"/>
            <a:ext cx="189190" cy="3402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 indent="0" marL="0">
              <a:lnSpc>
                <a:spcPts val="2679"/>
              </a:lnSpc>
              <a:buNone/>
            </a:pPr>
            <a:r>
              <a:rPr lang="en-US" sz="2679" dirty="0">
                <a:solidFill>
                  <a:srgbClr val="2B4150"/>
                </a:solidFill>
                <a:latin typeface="MuseoModerno" pitchFamily="34" charset="0"/>
                <a:ea typeface="MuseoModerno" pitchFamily="34" charset="-122"/>
                <a:cs typeface="MuseoModerno" pitchFamily="34" charset="-120"/>
              </a:rPr>
              <a:t>2</a:t>
            </a:r>
            <a:endParaRPr lang="en-US" sz="2679" dirty="0"/>
          </a:p>
        </p:txBody>
      </p:sp>
      <p:sp>
        <p:nvSpPr>
          <p:cNvPr id="12" name="Text 9"/>
          <p:cNvSpPr/>
          <p:nvPr/>
        </p:nvSpPr>
        <p:spPr>
          <a:xfrm>
            <a:off x="5954078" y="5576292"/>
            <a:ext cx="2835235" cy="35433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791"/>
              </a:lnSpc>
              <a:buNone/>
            </a:pPr>
            <a:r>
              <a:rPr lang="en-US" sz="2233" dirty="0">
                <a:solidFill>
                  <a:srgbClr val="2B4150"/>
                </a:solidFill>
                <a:latin typeface="MuseoModerno" pitchFamily="34" charset="0"/>
                <a:ea typeface="MuseoModerno" pitchFamily="34" charset="-122"/>
                <a:cs typeface="MuseoModerno" pitchFamily="34" charset="-120"/>
              </a:rPr>
              <a:t>Cleaning Data</a:t>
            </a:r>
            <a:endParaRPr lang="en-US" sz="2233" dirty="0"/>
          </a:p>
        </p:txBody>
      </p:sp>
      <p:sp>
        <p:nvSpPr>
          <p:cNvPr id="13" name="Text 10"/>
          <p:cNvSpPr/>
          <p:nvPr/>
        </p:nvSpPr>
        <p:spPr>
          <a:xfrm>
            <a:off x="5954078" y="6066711"/>
            <a:ext cx="3459242" cy="7258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858"/>
              </a:lnSpc>
              <a:buNone/>
            </a:pPr>
            <a:r>
              <a:rPr lang="en-US" sz="1786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Remove inconsistencies and fill in missing values for accuracy.</a:t>
            </a:r>
            <a:endParaRPr lang="en-US" sz="1786" dirty="0"/>
          </a:p>
        </p:txBody>
      </p:sp>
      <p:sp>
        <p:nvSpPr>
          <p:cNvPr id="14" name="Shape 11"/>
          <p:cNvSpPr/>
          <p:nvPr/>
        </p:nvSpPr>
        <p:spPr>
          <a:xfrm>
            <a:off x="9640133" y="5576292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3EEE3"/>
          </a:solidFill>
          <a:ln/>
        </p:spPr>
      </p:sp>
      <p:sp>
        <p:nvSpPr>
          <p:cNvPr id="15" name="Text 12"/>
          <p:cNvSpPr/>
          <p:nvPr/>
        </p:nvSpPr>
        <p:spPr>
          <a:xfrm>
            <a:off x="9799677" y="5661303"/>
            <a:ext cx="191214" cy="3402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 indent="0" marL="0">
              <a:lnSpc>
                <a:spcPts val="2679"/>
              </a:lnSpc>
              <a:buNone/>
            </a:pPr>
            <a:r>
              <a:rPr lang="en-US" sz="2679" dirty="0">
                <a:solidFill>
                  <a:srgbClr val="2B4150"/>
                </a:solidFill>
                <a:latin typeface="MuseoModerno" pitchFamily="34" charset="0"/>
                <a:ea typeface="MuseoModerno" pitchFamily="34" charset="-122"/>
                <a:cs typeface="MuseoModerno" pitchFamily="34" charset="-120"/>
              </a:rPr>
              <a:t>3</a:t>
            </a:r>
            <a:endParaRPr lang="en-US" sz="2679" dirty="0"/>
          </a:p>
        </p:txBody>
      </p:sp>
      <p:sp>
        <p:nvSpPr>
          <p:cNvPr id="16" name="Text 13"/>
          <p:cNvSpPr/>
          <p:nvPr/>
        </p:nvSpPr>
        <p:spPr>
          <a:xfrm>
            <a:off x="10377249" y="5576292"/>
            <a:ext cx="2835235" cy="35433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791"/>
              </a:lnSpc>
              <a:buNone/>
            </a:pPr>
            <a:r>
              <a:rPr lang="en-US" sz="2233" dirty="0">
                <a:solidFill>
                  <a:srgbClr val="2B4150"/>
                </a:solidFill>
                <a:latin typeface="MuseoModerno" pitchFamily="34" charset="0"/>
                <a:ea typeface="MuseoModerno" pitchFamily="34" charset="-122"/>
                <a:cs typeface="MuseoModerno" pitchFamily="34" charset="-120"/>
              </a:rPr>
              <a:t>Normalization</a:t>
            </a:r>
            <a:endParaRPr lang="en-US" sz="2233" dirty="0"/>
          </a:p>
        </p:txBody>
      </p:sp>
      <p:sp>
        <p:nvSpPr>
          <p:cNvPr id="17" name="Text 14"/>
          <p:cNvSpPr/>
          <p:nvPr/>
        </p:nvSpPr>
        <p:spPr>
          <a:xfrm>
            <a:off x="10377249" y="6066711"/>
            <a:ext cx="3459242" cy="7258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858"/>
              </a:lnSpc>
              <a:buNone/>
            </a:pPr>
            <a:r>
              <a:rPr lang="en-US" sz="1786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Standardize features to ensure uniformity across datasets.</a:t>
            </a:r>
            <a:endParaRPr lang="en-US" sz="1786" dirty="0"/>
          </a:p>
        </p:txBody>
      </p:sp>
      <p:pic>
        <p:nvPicPr>
          <p:cNvPr id="18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sp>
        <p:nvSpPr>
          <p:cNvPr id="4" name="Text 2"/>
          <p:cNvSpPr/>
          <p:nvPr/>
        </p:nvSpPr>
        <p:spPr>
          <a:xfrm>
            <a:off x="793790" y="2721412"/>
            <a:ext cx="9302472" cy="70877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5581"/>
              </a:lnSpc>
              <a:buNone/>
            </a:pPr>
            <a:r>
              <a:rPr lang="en-US" sz="4465" dirty="0">
                <a:solidFill>
                  <a:srgbClr val="124E73"/>
                </a:solidFill>
                <a:latin typeface="MuseoModerno" pitchFamily="34" charset="0"/>
                <a:ea typeface="MuseoModerno" pitchFamily="34" charset="-122"/>
                <a:cs typeface="MuseoModerno" pitchFamily="34" charset="-120"/>
              </a:rPr>
              <a:t>Feature Engineering and Selection</a:t>
            </a:r>
            <a:endParaRPr lang="en-US" sz="4465" dirty="0"/>
          </a:p>
        </p:txBody>
      </p:sp>
      <p:sp>
        <p:nvSpPr>
          <p:cNvPr id="5" name="Text 3"/>
          <p:cNvSpPr/>
          <p:nvPr/>
        </p:nvSpPr>
        <p:spPr>
          <a:xfrm>
            <a:off x="793790" y="3997166"/>
            <a:ext cx="2835235" cy="35433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791"/>
              </a:lnSpc>
              <a:buNone/>
            </a:pPr>
            <a:r>
              <a:rPr lang="en-US" sz="2233" dirty="0">
                <a:solidFill>
                  <a:srgbClr val="124E73"/>
                </a:solidFill>
                <a:latin typeface="MuseoModerno" pitchFamily="34" charset="0"/>
                <a:ea typeface="MuseoModerno" pitchFamily="34" charset="-122"/>
                <a:cs typeface="MuseoModerno" pitchFamily="34" charset="-120"/>
              </a:rPr>
              <a:t>Creating Features</a:t>
            </a:r>
            <a:endParaRPr lang="en-US" sz="2233" dirty="0"/>
          </a:p>
        </p:txBody>
      </p:sp>
      <p:sp>
        <p:nvSpPr>
          <p:cNvPr id="6" name="Text 4"/>
          <p:cNvSpPr/>
          <p:nvPr/>
        </p:nvSpPr>
        <p:spPr>
          <a:xfrm>
            <a:off x="793790" y="4578310"/>
            <a:ext cx="3978116" cy="7258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858"/>
              </a:lnSpc>
              <a:buNone/>
            </a:pPr>
            <a:r>
              <a:rPr lang="en-US" sz="1786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Extract relevant attributes like specifications, ratings, and reviews.</a:t>
            </a:r>
            <a:endParaRPr lang="en-US" sz="1786" dirty="0"/>
          </a:p>
        </p:txBody>
      </p:sp>
      <p:sp>
        <p:nvSpPr>
          <p:cNvPr id="7" name="Text 5"/>
          <p:cNvSpPr/>
          <p:nvPr/>
        </p:nvSpPr>
        <p:spPr>
          <a:xfrm>
            <a:off x="5332928" y="3997166"/>
            <a:ext cx="2835235" cy="35433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791"/>
              </a:lnSpc>
              <a:buNone/>
            </a:pPr>
            <a:r>
              <a:rPr lang="en-US" sz="2233" dirty="0">
                <a:solidFill>
                  <a:srgbClr val="124E73"/>
                </a:solidFill>
                <a:latin typeface="MuseoModerno" pitchFamily="34" charset="0"/>
                <a:ea typeface="MuseoModerno" pitchFamily="34" charset="-122"/>
                <a:cs typeface="MuseoModerno" pitchFamily="34" charset="-120"/>
              </a:rPr>
              <a:t>Feature Selection</a:t>
            </a:r>
            <a:endParaRPr lang="en-US" sz="2233" dirty="0"/>
          </a:p>
        </p:txBody>
      </p:sp>
      <p:sp>
        <p:nvSpPr>
          <p:cNvPr id="8" name="Text 6"/>
          <p:cNvSpPr/>
          <p:nvPr/>
        </p:nvSpPr>
        <p:spPr>
          <a:xfrm>
            <a:off x="5332928" y="4578310"/>
            <a:ext cx="3978116" cy="7258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858"/>
              </a:lnSpc>
              <a:buNone/>
            </a:pPr>
            <a:r>
              <a:rPr lang="en-US" sz="1786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Identify the most impactful features using correlation matrices.</a:t>
            </a:r>
            <a:endParaRPr lang="en-US" sz="1786" dirty="0"/>
          </a:p>
        </p:txBody>
      </p:sp>
      <p:sp>
        <p:nvSpPr>
          <p:cNvPr id="9" name="Text 7"/>
          <p:cNvSpPr/>
          <p:nvPr/>
        </p:nvSpPr>
        <p:spPr>
          <a:xfrm>
            <a:off x="9872067" y="3997166"/>
            <a:ext cx="3516987" cy="35433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791"/>
              </a:lnSpc>
              <a:buNone/>
            </a:pPr>
            <a:r>
              <a:rPr lang="en-US" sz="2233" dirty="0">
                <a:solidFill>
                  <a:srgbClr val="124E73"/>
                </a:solidFill>
                <a:latin typeface="MuseoModerno" pitchFamily="34" charset="0"/>
                <a:ea typeface="MuseoModerno" pitchFamily="34" charset="-122"/>
                <a:cs typeface="MuseoModerno" pitchFamily="34" charset="-120"/>
              </a:rPr>
              <a:t>Dimensionality Reduction</a:t>
            </a:r>
            <a:endParaRPr lang="en-US" sz="2233" dirty="0"/>
          </a:p>
        </p:txBody>
      </p:sp>
      <p:sp>
        <p:nvSpPr>
          <p:cNvPr id="10" name="Text 8"/>
          <p:cNvSpPr/>
          <p:nvPr/>
        </p:nvSpPr>
        <p:spPr>
          <a:xfrm>
            <a:off x="9872067" y="4578310"/>
            <a:ext cx="3978116" cy="7258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858"/>
              </a:lnSpc>
              <a:buNone/>
            </a:pPr>
            <a:r>
              <a:rPr lang="en-US" sz="1786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Apply techniques like PCA to reduce the feature set.</a:t>
            </a:r>
            <a:endParaRPr lang="en-US" sz="1786" dirty="0"/>
          </a:p>
        </p:txBody>
      </p:sp>
      <p:pic>
        <p:nvPicPr>
          <p:cNvPr id="11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607" y="2534483"/>
            <a:ext cx="4919186" cy="316063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280190" y="685800"/>
            <a:ext cx="7556421" cy="14175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5581"/>
              </a:lnSpc>
              <a:buNone/>
            </a:pPr>
            <a:r>
              <a:rPr lang="en-US" sz="4465" dirty="0">
                <a:solidFill>
                  <a:srgbClr val="124E73"/>
                </a:solidFill>
                <a:latin typeface="MuseoModerno" pitchFamily="34" charset="0"/>
                <a:ea typeface="MuseoModerno" pitchFamily="34" charset="-122"/>
                <a:cs typeface="MuseoModerno" pitchFamily="34" charset="-120"/>
              </a:rPr>
              <a:t>Model Selection and Training</a:t>
            </a:r>
            <a:endParaRPr lang="en-US" sz="4465" dirty="0"/>
          </a:p>
        </p:txBody>
      </p:sp>
      <p:sp>
        <p:nvSpPr>
          <p:cNvPr id="7" name="Shape 3"/>
          <p:cNvSpPr/>
          <p:nvPr/>
        </p:nvSpPr>
        <p:spPr>
          <a:xfrm>
            <a:off x="6605111" y="2443520"/>
            <a:ext cx="30480" cy="5100280"/>
          </a:xfrm>
          <a:prstGeom prst="roundRect">
            <a:avLst>
              <a:gd name="adj" fmla="val 111628"/>
            </a:avLst>
          </a:prstGeom>
          <a:solidFill>
            <a:srgbClr val="D9D4C9"/>
          </a:solidFill>
          <a:ln/>
        </p:spPr>
      </p:sp>
      <p:sp>
        <p:nvSpPr>
          <p:cNvPr id="8" name="Shape 4"/>
          <p:cNvSpPr/>
          <p:nvPr/>
        </p:nvSpPr>
        <p:spPr>
          <a:xfrm>
            <a:off x="6845022" y="2938582"/>
            <a:ext cx="793790" cy="30480"/>
          </a:xfrm>
          <a:prstGeom prst="roundRect">
            <a:avLst>
              <a:gd name="adj" fmla="val 111628"/>
            </a:avLst>
          </a:prstGeom>
          <a:solidFill>
            <a:srgbClr val="D9D4C9"/>
          </a:solidFill>
          <a:ln/>
        </p:spPr>
      </p:sp>
      <p:sp>
        <p:nvSpPr>
          <p:cNvPr id="9" name="Shape 5"/>
          <p:cNvSpPr/>
          <p:nvPr/>
        </p:nvSpPr>
        <p:spPr>
          <a:xfrm>
            <a:off x="6365200" y="2698671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3EEE3"/>
          </a:solidFill>
          <a:ln/>
        </p:spPr>
      </p:sp>
      <p:sp>
        <p:nvSpPr>
          <p:cNvPr id="10" name="Text 6"/>
          <p:cNvSpPr/>
          <p:nvPr/>
        </p:nvSpPr>
        <p:spPr>
          <a:xfrm>
            <a:off x="6540579" y="2783681"/>
            <a:ext cx="159544" cy="3402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 indent="0" marL="0">
              <a:lnSpc>
                <a:spcPts val="2679"/>
              </a:lnSpc>
              <a:buNone/>
            </a:pPr>
            <a:r>
              <a:rPr lang="en-US" sz="2679" dirty="0">
                <a:solidFill>
                  <a:srgbClr val="2B4150"/>
                </a:solidFill>
                <a:latin typeface="MuseoModerno" pitchFamily="34" charset="0"/>
                <a:ea typeface="MuseoModerno" pitchFamily="34" charset="-122"/>
                <a:cs typeface="MuseoModerno" pitchFamily="34" charset="-120"/>
              </a:rPr>
              <a:t>1</a:t>
            </a:r>
            <a:endParaRPr lang="en-US" sz="2679" dirty="0"/>
          </a:p>
        </p:txBody>
      </p:sp>
      <p:sp>
        <p:nvSpPr>
          <p:cNvPr id="11" name="Text 7"/>
          <p:cNvSpPr/>
          <p:nvPr/>
        </p:nvSpPr>
        <p:spPr>
          <a:xfrm>
            <a:off x="7867888" y="2670334"/>
            <a:ext cx="2835235" cy="35433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lnSpc>
                <a:spcPts val="2791"/>
              </a:lnSpc>
              <a:buNone/>
            </a:pPr>
            <a:r>
              <a:rPr lang="en-US" sz="2233" dirty="0">
                <a:solidFill>
                  <a:srgbClr val="2B4150"/>
                </a:solidFill>
                <a:latin typeface="MuseoModerno" pitchFamily="34" charset="0"/>
                <a:ea typeface="MuseoModerno" pitchFamily="34" charset="-122"/>
                <a:cs typeface="MuseoModerno" pitchFamily="34" charset="-120"/>
              </a:rPr>
              <a:t>Choosing the Model</a:t>
            </a:r>
            <a:endParaRPr lang="en-US" sz="2233" dirty="0"/>
          </a:p>
        </p:txBody>
      </p:sp>
      <p:sp>
        <p:nvSpPr>
          <p:cNvPr id="12" name="Text 8"/>
          <p:cNvSpPr/>
          <p:nvPr/>
        </p:nvSpPr>
        <p:spPr>
          <a:xfrm>
            <a:off x="7867888" y="3160752"/>
            <a:ext cx="5968722" cy="7258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858"/>
              </a:lnSpc>
              <a:buNone/>
            </a:pPr>
            <a:r>
              <a:rPr lang="en-US" sz="1786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Evaluate different algorithms such as linear regression and decision trees.</a:t>
            </a:r>
            <a:endParaRPr lang="en-US" sz="1786" dirty="0"/>
          </a:p>
        </p:txBody>
      </p:sp>
      <p:sp>
        <p:nvSpPr>
          <p:cNvPr id="13" name="Shape 9"/>
          <p:cNvSpPr/>
          <p:nvPr/>
        </p:nvSpPr>
        <p:spPr>
          <a:xfrm>
            <a:off x="6845022" y="4835247"/>
            <a:ext cx="793790" cy="30480"/>
          </a:xfrm>
          <a:prstGeom prst="roundRect">
            <a:avLst>
              <a:gd name="adj" fmla="val 111628"/>
            </a:avLst>
          </a:prstGeom>
          <a:solidFill>
            <a:srgbClr val="D9D4C9"/>
          </a:solidFill>
          <a:ln/>
        </p:spPr>
      </p:sp>
      <p:sp>
        <p:nvSpPr>
          <p:cNvPr id="14" name="Shape 10"/>
          <p:cNvSpPr/>
          <p:nvPr/>
        </p:nvSpPr>
        <p:spPr>
          <a:xfrm>
            <a:off x="6365200" y="4595336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3EEE3"/>
          </a:solidFill>
          <a:ln/>
        </p:spPr>
      </p:sp>
      <p:sp>
        <p:nvSpPr>
          <p:cNvPr id="15" name="Text 11"/>
          <p:cNvSpPr/>
          <p:nvPr/>
        </p:nvSpPr>
        <p:spPr>
          <a:xfrm>
            <a:off x="6525697" y="4680347"/>
            <a:ext cx="189190" cy="3402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 indent="0" marL="0">
              <a:lnSpc>
                <a:spcPts val="2679"/>
              </a:lnSpc>
              <a:buNone/>
            </a:pPr>
            <a:r>
              <a:rPr lang="en-US" sz="2679" dirty="0">
                <a:solidFill>
                  <a:srgbClr val="2B4150"/>
                </a:solidFill>
                <a:latin typeface="MuseoModerno" pitchFamily="34" charset="0"/>
                <a:ea typeface="MuseoModerno" pitchFamily="34" charset="-122"/>
                <a:cs typeface="MuseoModerno" pitchFamily="34" charset="-120"/>
              </a:rPr>
              <a:t>2</a:t>
            </a:r>
            <a:endParaRPr lang="en-US" sz="2679" dirty="0"/>
          </a:p>
        </p:txBody>
      </p:sp>
      <p:sp>
        <p:nvSpPr>
          <p:cNvPr id="16" name="Text 12"/>
          <p:cNvSpPr/>
          <p:nvPr/>
        </p:nvSpPr>
        <p:spPr>
          <a:xfrm>
            <a:off x="7867888" y="4566999"/>
            <a:ext cx="2835235" cy="35433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lnSpc>
                <a:spcPts val="2791"/>
              </a:lnSpc>
              <a:buNone/>
            </a:pPr>
            <a:r>
              <a:rPr lang="en-US" sz="2233" dirty="0">
                <a:solidFill>
                  <a:srgbClr val="2B4150"/>
                </a:solidFill>
                <a:latin typeface="MuseoModerno" pitchFamily="34" charset="0"/>
                <a:ea typeface="MuseoModerno" pitchFamily="34" charset="-122"/>
                <a:cs typeface="MuseoModerno" pitchFamily="34" charset="-120"/>
              </a:rPr>
              <a:t>Training the Model</a:t>
            </a:r>
            <a:endParaRPr lang="en-US" sz="2233" dirty="0"/>
          </a:p>
        </p:txBody>
      </p:sp>
      <p:sp>
        <p:nvSpPr>
          <p:cNvPr id="17" name="Text 13"/>
          <p:cNvSpPr/>
          <p:nvPr/>
        </p:nvSpPr>
        <p:spPr>
          <a:xfrm>
            <a:off x="7867888" y="5057418"/>
            <a:ext cx="5968722" cy="36290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lnSpc>
                <a:spcPts val="2858"/>
              </a:lnSpc>
              <a:buNone/>
            </a:pPr>
            <a:r>
              <a:rPr lang="en-US" sz="1786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Feed the selected model with training data for learning.</a:t>
            </a:r>
            <a:endParaRPr lang="en-US" sz="1786" dirty="0"/>
          </a:p>
        </p:txBody>
      </p:sp>
      <p:sp>
        <p:nvSpPr>
          <p:cNvPr id="18" name="Shape 14"/>
          <p:cNvSpPr/>
          <p:nvPr/>
        </p:nvSpPr>
        <p:spPr>
          <a:xfrm>
            <a:off x="6845022" y="6369010"/>
            <a:ext cx="793790" cy="30480"/>
          </a:xfrm>
          <a:prstGeom prst="roundRect">
            <a:avLst>
              <a:gd name="adj" fmla="val 111628"/>
            </a:avLst>
          </a:prstGeom>
          <a:solidFill>
            <a:srgbClr val="D9D4C9"/>
          </a:solidFill>
          <a:ln/>
        </p:spPr>
      </p:sp>
      <p:sp>
        <p:nvSpPr>
          <p:cNvPr id="19" name="Shape 15"/>
          <p:cNvSpPr/>
          <p:nvPr/>
        </p:nvSpPr>
        <p:spPr>
          <a:xfrm>
            <a:off x="6365200" y="6129099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3EEE3"/>
          </a:solidFill>
          <a:ln/>
        </p:spPr>
      </p:sp>
      <p:sp>
        <p:nvSpPr>
          <p:cNvPr id="20" name="Text 16"/>
          <p:cNvSpPr/>
          <p:nvPr/>
        </p:nvSpPr>
        <p:spPr>
          <a:xfrm>
            <a:off x="6524744" y="6214110"/>
            <a:ext cx="191214" cy="3402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 indent="0" marL="0">
              <a:lnSpc>
                <a:spcPts val="2679"/>
              </a:lnSpc>
              <a:buNone/>
            </a:pPr>
            <a:r>
              <a:rPr lang="en-US" sz="2679" dirty="0">
                <a:solidFill>
                  <a:srgbClr val="2B4150"/>
                </a:solidFill>
                <a:latin typeface="MuseoModerno" pitchFamily="34" charset="0"/>
                <a:ea typeface="MuseoModerno" pitchFamily="34" charset="-122"/>
                <a:cs typeface="MuseoModerno" pitchFamily="34" charset="-120"/>
              </a:rPr>
              <a:t>3</a:t>
            </a:r>
            <a:endParaRPr lang="en-US" sz="2679" dirty="0"/>
          </a:p>
        </p:txBody>
      </p:sp>
      <p:sp>
        <p:nvSpPr>
          <p:cNvPr id="21" name="Text 17"/>
          <p:cNvSpPr/>
          <p:nvPr/>
        </p:nvSpPr>
        <p:spPr>
          <a:xfrm>
            <a:off x="7867888" y="6100763"/>
            <a:ext cx="3396258" cy="35433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lnSpc>
                <a:spcPts val="2791"/>
              </a:lnSpc>
              <a:buNone/>
            </a:pPr>
            <a:r>
              <a:rPr lang="en-US" sz="2233" dirty="0">
                <a:solidFill>
                  <a:srgbClr val="2B4150"/>
                </a:solidFill>
                <a:latin typeface="MuseoModerno" pitchFamily="34" charset="0"/>
                <a:ea typeface="MuseoModerno" pitchFamily="34" charset="-122"/>
                <a:cs typeface="MuseoModerno" pitchFamily="34" charset="-120"/>
              </a:rPr>
              <a:t>Tuning Hyperparameters</a:t>
            </a:r>
            <a:endParaRPr lang="en-US" sz="2233" dirty="0"/>
          </a:p>
        </p:txBody>
      </p:sp>
      <p:sp>
        <p:nvSpPr>
          <p:cNvPr id="22" name="Text 18"/>
          <p:cNvSpPr/>
          <p:nvPr/>
        </p:nvSpPr>
        <p:spPr>
          <a:xfrm>
            <a:off x="7867888" y="6591181"/>
            <a:ext cx="5968722" cy="7258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858"/>
              </a:lnSpc>
              <a:buNone/>
            </a:pPr>
            <a:r>
              <a:rPr lang="en-US" sz="1786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Optimize parameters to enhance model performance effectively.</a:t>
            </a:r>
            <a:endParaRPr lang="en-US" sz="1786" dirty="0"/>
          </a:p>
        </p:txBody>
      </p:sp>
      <p:pic>
        <p:nvPicPr>
          <p:cNvPr id="23" name="Image 2" descr="preencoded.png">
            <a:hlinkClick r:id="rId4" tooltip="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88" y="2270046"/>
            <a:ext cx="4919305" cy="368950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280190" y="1651159"/>
            <a:ext cx="7556421" cy="14175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5581"/>
              </a:lnSpc>
              <a:buNone/>
            </a:pPr>
            <a:r>
              <a:rPr lang="en-US" sz="4465" dirty="0">
                <a:solidFill>
                  <a:srgbClr val="124E73"/>
                </a:solidFill>
                <a:latin typeface="MuseoModerno" pitchFamily="34" charset="0"/>
                <a:ea typeface="MuseoModerno" pitchFamily="34" charset="-122"/>
                <a:cs typeface="MuseoModerno" pitchFamily="34" charset="-120"/>
              </a:rPr>
              <a:t>Model Evaluation and Performance Metrics</a:t>
            </a:r>
            <a:endParaRPr lang="en-US" sz="4465" dirty="0"/>
          </a:p>
        </p:txBody>
      </p:sp>
      <p:sp>
        <p:nvSpPr>
          <p:cNvPr id="7" name="Shape 3"/>
          <p:cNvSpPr/>
          <p:nvPr/>
        </p:nvSpPr>
        <p:spPr>
          <a:xfrm>
            <a:off x="6280190" y="3664029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3EEE3"/>
          </a:solidFill>
          <a:ln/>
        </p:spPr>
      </p:sp>
      <p:sp>
        <p:nvSpPr>
          <p:cNvPr id="8" name="Text 4"/>
          <p:cNvSpPr/>
          <p:nvPr/>
        </p:nvSpPr>
        <p:spPr>
          <a:xfrm>
            <a:off x="6455569" y="3749040"/>
            <a:ext cx="159544" cy="3402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 indent="0" marL="0">
              <a:lnSpc>
                <a:spcPts val="2679"/>
              </a:lnSpc>
              <a:buNone/>
            </a:pPr>
            <a:r>
              <a:rPr lang="en-US" sz="2679" dirty="0">
                <a:solidFill>
                  <a:srgbClr val="2B4150"/>
                </a:solidFill>
                <a:latin typeface="MuseoModerno" pitchFamily="34" charset="0"/>
                <a:ea typeface="MuseoModerno" pitchFamily="34" charset="-122"/>
                <a:cs typeface="MuseoModerno" pitchFamily="34" charset="-120"/>
              </a:rPr>
              <a:t>1</a:t>
            </a:r>
            <a:endParaRPr lang="en-US" sz="2679" dirty="0"/>
          </a:p>
        </p:txBody>
      </p:sp>
      <p:sp>
        <p:nvSpPr>
          <p:cNvPr id="9" name="Text 5"/>
          <p:cNvSpPr/>
          <p:nvPr/>
        </p:nvSpPr>
        <p:spPr>
          <a:xfrm>
            <a:off x="7017306" y="3664029"/>
            <a:ext cx="2835235" cy="35433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791"/>
              </a:lnSpc>
              <a:buNone/>
            </a:pPr>
            <a:r>
              <a:rPr lang="en-US" sz="2233" dirty="0">
                <a:solidFill>
                  <a:srgbClr val="2B4150"/>
                </a:solidFill>
                <a:latin typeface="MuseoModerno" pitchFamily="34" charset="0"/>
                <a:ea typeface="MuseoModerno" pitchFamily="34" charset="-122"/>
                <a:cs typeface="MuseoModerno" pitchFamily="34" charset="-120"/>
              </a:rPr>
              <a:t>Accuracy Score</a:t>
            </a:r>
            <a:endParaRPr lang="en-US" sz="2233" dirty="0"/>
          </a:p>
        </p:txBody>
      </p:sp>
      <p:sp>
        <p:nvSpPr>
          <p:cNvPr id="10" name="Text 6"/>
          <p:cNvSpPr/>
          <p:nvPr/>
        </p:nvSpPr>
        <p:spPr>
          <a:xfrm>
            <a:off x="7017306" y="4154448"/>
            <a:ext cx="2927747" cy="7258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858"/>
              </a:lnSpc>
              <a:buNone/>
            </a:pPr>
            <a:r>
              <a:rPr lang="en-US" sz="1786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Measure the model's correctness in predictions.</a:t>
            </a:r>
            <a:endParaRPr lang="en-US" sz="1786" dirty="0"/>
          </a:p>
        </p:txBody>
      </p:sp>
      <p:sp>
        <p:nvSpPr>
          <p:cNvPr id="11" name="Shape 7"/>
          <p:cNvSpPr/>
          <p:nvPr/>
        </p:nvSpPr>
        <p:spPr>
          <a:xfrm>
            <a:off x="10171867" y="3664029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3EEE3"/>
          </a:solidFill>
          <a:ln/>
        </p:spPr>
      </p:sp>
      <p:sp>
        <p:nvSpPr>
          <p:cNvPr id="12" name="Text 8"/>
          <p:cNvSpPr/>
          <p:nvPr/>
        </p:nvSpPr>
        <p:spPr>
          <a:xfrm>
            <a:off x="10332363" y="3749040"/>
            <a:ext cx="189190" cy="3402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 indent="0" marL="0">
              <a:lnSpc>
                <a:spcPts val="2679"/>
              </a:lnSpc>
              <a:buNone/>
            </a:pPr>
            <a:r>
              <a:rPr lang="en-US" sz="2679" dirty="0">
                <a:solidFill>
                  <a:srgbClr val="2B4150"/>
                </a:solidFill>
                <a:latin typeface="MuseoModerno" pitchFamily="34" charset="0"/>
                <a:ea typeface="MuseoModerno" pitchFamily="34" charset="-122"/>
                <a:cs typeface="MuseoModerno" pitchFamily="34" charset="-120"/>
              </a:rPr>
              <a:t>2</a:t>
            </a:r>
            <a:endParaRPr lang="en-US" sz="2679" dirty="0"/>
          </a:p>
        </p:txBody>
      </p:sp>
      <p:sp>
        <p:nvSpPr>
          <p:cNvPr id="13" name="Text 9"/>
          <p:cNvSpPr/>
          <p:nvPr/>
        </p:nvSpPr>
        <p:spPr>
          <a:xfrm>
            <a:off x="10908983" y="3664029"/>
            <a:ext cx="2835235" cy="35433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791"/>
              </a:lnSpc>
              <a:buNone/>
            </a:pPr>
            <a:r>
              <a:rPr lang="en-US" sz="2233" dirty="0">
                <a:solidFill>
                  <a:srgbClr val="2B4150"/>
                </a:solidFill>
                <a:latin typeface="MuseoModerno" pitchFamily="34" charset="0"/>
                <a:ea typeface="MuseoModerno" pitchFamily="34" charset="-122"/>
                <a:cs typeface="MuseoModerno" pitchFamily="34" charset="-120"/>
              </a:rPr>
              <a:t>Mean Absolute Error</a:t>
            </a:r>
            <a:endParaRPr lang="en-US" sz="2233" dirty="0"/>
          </a:p>
        </p:txBody>
      </p:sp>
      <p:sp>
        <p:nvSpPr>
          <p:cNvPr id="14" name="Text 10"/>
          <p:cNvSpPr/>
          <p:nvPr/>
        </p:nvSpPr>
        <p:spPr>
          <a:xfrm>
            <a:off x="10908983" y="4154448"/>
            <a:ext cx="2927747" cy="10887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858"/>
              </a:lnSpc>
              <a:buNone/>
            </a:pPr>
            <a:r>
              <a:rPr lang="en-US" sz="1786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Evaluate how far off predictions are from actual prices.</a:t>
            </a:r>
            <a:endParaRPr lang="en-US" sz="1786" dirty="0"/>
          </a:p>
        </p:txBody>
      </p:sp>
      <p:sp>
        <p:nvSpPr>
          <p:cNvPr id="15" name="Shape 11"/>
          <p:cNvSpPr/>
          <p:nvPr/>
        </p:nvSpPr>
        <p:spPr>
          <a:xfrm>
            <a:off x="6280190" y="5725120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3EEE3"/>
          </a:solidFill>
          <a:ln/>
        </p:spPr>
      </p:sp>
      <p:sp>
        <p:nvSpPr>
          <p:cNvPr id="16" name="Text 12"/>
          <p:cNvSpPr/>
          <p:nvPr/>
        </p:nvSpPr>
        <p:spPr>
          <a:xfrm>
            <a:off x="6439733" y="5810131"/>
            <a:ext cx="191214" cy="3402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 indent="0" marL="0">
              <a:lnSpc>
                <a:spcPts val="2679"/>
              </a:lnSpc>
              <a:buNone/>
            </a:pPr>
            <a:r>
              <a:rPr lang="en-US" sz="2679" dirty="0">
                <a:solidFill>
                  <a:srgbClr val="2B4150"/>
                </a:solidFill>
                <a:latin typeface="MuseoModerno" pitchFamily="34" charset="0"/>
                <a:ea typeface="MuseoModerno" pitchFamily="34" charset="-122"/>
                <a:cs typeface="MuseoModerno" pitchFamily="34" charset="-120"/>
              </a:rPr>
              <a:t>3</a:t>
            </a:r>
            <a:endParaRPr lang="en-US" sz="2679" dirty="0"/>
          </a:p>
        </p:txBody>
      </p:sp>
      <p:sp>
        <p:nvSpPr>
          <p:cNvPr id="17" name="Text 13"/>
          <p:cNvSpPr/>
          <p:nvPr/>
        </p:nvSpPr>
        <p:spPr>
          <a:xfrm>
            <a:off x="7017306" y="5725120"/>
            <a:ext cx="3123962" cy="35433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791"/>
              </a:lnSpc>
              <a:buNone/>
            </a:pPr>
            <a:r>
              <a:rPr lang="en-US" sz="2233" dirty="0">
                <a:solidFill>
                  <a:srgbClr val="2B4150"/>
                </a:solidFill>
                <a:latin typeface="MuseoModerno" pitchFamily="34" charset="0"/>
                <a:ea typeface="MuseoModerno" pitchFamily="34" charset="-122"/>
                <a:cs typeface="MuseoModerno" pitchFamily="34" charset="-120"/>
              </a:rPr>
              <a:t>Comparison of Models</a:t>
            </a:r>
            <a:endParaRPr lang="en-US" sz="2233" dirty="0"/>
          </a:p>
        </p:txBody>
      </p:sp>
      <p:sp>
        <p:nvSpPr>
          <p:cNvPr id="18" name="Text 14"/>
          <p:cNvSpPr/>
          <p:nvPr/>
        </p:nvSpPr>
        <p:spPr>
          <a:xfrm>
            <a:off x="7017306" y="6215539"/>
            <a:ext cx="6819305" cy="36290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858"/>
              </a:lnSpc>
              <a:buNone/>
            </a:pPr>
            <a:r>
              <a:rPr lang="en-US" sz="1786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Assess different models to select the best performer.</a:t>
            </a:r>
            <a:endParaRPr lang="en-US" sz="1786" dirty="0"/>
          </a:p>
        </p:txBody>
      </p:sp>
      <p:pic>
        <p:nvPicPr>
          <p:cNvPr id="19" name="Image 2" descr="preencoded.png">
            <a:hlinkClick r:id="rId4" tooltip="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0106" y="2356961"/>
            <a:ext cx="4934069" cy="351555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73073" y="608290"/>
            <a:ext cx="7597854" cy="13804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5435"/>
              </a:lnSpc>
              <a:buNone/>
            </a:pPr>
            <a:r>
              <a:rPr lang="en-US" sz="4348" dirty="0">
                <a:solidFill>
                  <a:srgbClr val="124E73"/>
                </a:solidFill>
                <a:latin typeface="MuseoModerno" pitchFamily="34" charset="0"/>
                <a:ea typeface="MuseoModerno" pitchFamily="34" charset="-122"/>
                <a:cs typeface="MuseoModerno" pitchFamily="34" charset="-120"/>
              </a:rPr>
              <a:t>Deployment and Integration</a:t>
            </a:r>
            <a:endParaRPr lang="en-US" sz="4348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073" y="2319933"/>
            <a:ext cx="1104424" cy="176712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208728" y="2540794"/>
            <a:ext cx="2911673" cy="34504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lnSpc>
                <a:spcPts val="2718"/>
              </a:lnSpc>
              <a:buNone/>
            </a:pPr>
            <a:r>
              <a:rPr lang="en-US" sz="2174" dirty="0">
                <a:solidFill>
                  <a:srgbClr val="2B4150"/>
                </a:solidFill>
                <a:latin typeface="MuseoModerno" pitchFamily="34" charset="0"/>
                <a:ea typeface="MuseoModerno" pitchFamily="34" charset="-122"/>
                <a:cs typeface="MuseoModerno" pitchFamily="34" charset="-120"/>
              </a:rPr>
              <a:t>Deployment Planning</a:t>
            </a:r>
            <a:endParaRPr lang="en-US" sz="2174" dirty="0"/>
          </a:p>
        </p:txBody>
      </p:sp>
      <p:sp>
        <p:nvSpPr>
          <p:cNvPr id="9" name="Text 4"/>
          <p:cNvSpPr/>
          <p:nvPr/>
        </p:nvSpPr>
        <p:spPr>
          <a:xfrm>
            <a:off x="2208728" y="3018353"/>
            <a:ext cx="6162199" cy="35337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lnSpc>
                <a:spcPts val="2783"/>
              </a:lnSpc>
              <a:buNone/>
            </a:pPr>
            <a:r>
              <a:rPr lang="en-US" sz="1739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Outline a strategy for seamlessly integrating the model.</a:t>
            </a:r>
            <a:endParaRPr lang="en-US" sz="1739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073" y="4087058"/>
            <a:ext cx="1104424" cy="176712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208728" y="4307919"/>
            <a:ext cx="3120390" cy="34504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lnSpc>
                <a:spcPts val="2718"/>
              </a:lnSpc>
              <a:buNone/>
            </a:pPr>
            <a:r>
              <a:rPr lang="en-US" sz="2174" dirty="0">
                <a:solidFill>
                  <a:srgbClr val="2B4150"/>
                </a:solidFill>
                <a:latin typeface="MuseoModerno" pitchFamily="34" charset="0"/>
                <a:ea typeface="MuseoModerno" pitchFamily="34" charset="-122"/>
                <a:cs typeface="MuseoModerno" pitchFamily="34" charset="-120"/>
              </a:rPr>
              <a:t>Real-World Integration</a:t>
            </a:r>
            <a:endParaRPr lang="en-US" sz="2174" dirty="0"/>
          </a:p>
        </p:txBody>
      </p:sp>
      <p:sp>
        <p:nvSpPr>
          <p:cNvPr id="12" name="Text 6"/>
          <p:cNvSpPr/>
          <p:nvPr/>
        </p:nvSpPr>
        <p:spPr>
          <a:xfrm>
            <a:off x="2208728" y="4785479"/>
            <a:ext cx="6162199" cy="35337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lnSpc>
                <a:spcPts val="2783"/>
              </a:lnSpc>
              <a:buNone/>
            </a:pPr>
            <a:r>
              <a:rPr lang="en-US" sz="1739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Embed the model into applications for user accessibility.</a:t>
            </a:r>
            <a:endParaRPr lang="en-US" sz="1739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3073" y="5854184"/>
            <a:ext cx="1104424" cy="176712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2208728" y="6075045"/>
            <a:ext cx="3090862" cy="34504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lnSpc>
                <a:spcPts val="2718"/>
              </a:lnSpc>
              <a:buNone/>
            </a:pPr>
            <a:r>
              <a:rPr lang="en-US" sz="2174" dirty="0">
                <a:solidFill>
                  <a:srgbClr val="2B4150"/>
                </a:solidFill>
                <a:latin typeface="MuseoModerno" pitchFamily="34" charset="0"/>
                <a:ea typeface="MuseoModerno" pitchFamily="34" charset="-122"/>
                <a:cs typeface="MuseoModerno" pitchFamily="34" charset="-120"/>
              </a:rPr>
              <a:t>Continuous Monitoring</a:t>
            </a:r>
            <a:endParaRPr lang="en-US" sz="2174" dirty="0"/>
          </a:p>
        </p:txBody>
      </p:sp>
      <p:sp>
        <p:nvSpPr>
          <p:cNvPr id="15" name="Text 8"/>
          <p:cNvSpPr/>
          <p:nvPr/>
        </p:nvSpPr>
        <p:spPr>
          <a:xfrm>
            <a:off x="2208728" y="6552605"/>
            <a:ext cx="6162199" cy="35337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lnSpc>
                <a:spcPts val="2783"/>
              </a:lnSpc>
              <a:buNone/>
            </a:pPr>
            <a:r>
              <a:rPr lang="en-US" sz="1739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Regularly check model performance and update as needed.</a:t>
            </a:r>
            <a:endParaRPr lang="en-US" sz="1739" dirty="0"/>
          </a:p>
        </p:txBody>
      </p:sp>
      <p:pic>
        <p:nvPicPr>
          <p:cNvPr id="16" name="Image 5" descr="preencoded.png">
            <a:hlinkClick r:id="rId7" tooltip="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7488" y="2270046"/>
            <a:ext cx="4919305" cy="368950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93790" y="1452682"/>
            <a:ext cx="7556421" cy="14175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5581"/>
              </a:lnSpc>
              <a:buNone/>
            </a:pPr>
            <a:r>
              <a:rPr lang="en-US" sz="4465" dirty="0">
                <a:solidFill>
                  <a:srgbClr val="124E73"/>
                </a:solidFill>
                <a:latin typeface="MuseoModerno" pitchFamily="34" charset="0"/>
                <a:ea typeface="MuseoModerno" pitchFamily="34" charset="-122"/>
                <a:cs typeface="MuseoModerno" pitchFamily="34" charset="-120"/>
              </a:rPr>
              <a:t>Limitations and Future Improvements</a:t>
            </a:r>
            <a:endParaRPr lang="en-US" sz="4465" dirty="0"/>
          </a:p>
        </p:txBody>
      </p:sp>
      <p:sp>
        <p:nvSpPr>
          <p:cNvPr id="7" name="Shape 3"/>
          <p:cNvSpPr/>
          <p:nvPr/>
        </p:nvSpPr>
        <p:spPr>
          <a:xfrm>
            <a:off x="793790" y="3210401"/>
            <a:ext cx="3664863" cy="2032754"/>
          </a:xfrm>
          <a:prstGeom prst="roundRect">
            <a:avLst>
              <a:gd name="adj" fmla="val 1674"/>
            </a:avLst>
          </a:prstGeom>
          <a:solidFill>
            <a:srgbClr val="F3EEE3"/>
          </a:solidFill>
          <a:ln/>
        </p:spPr>
      </p:sp>
      <p:sp>
        <p:nvSpPr>
          <p:cNvPr id="8" name="Text 4"/>
          <p:cNvSpPr/>
          <p:nvPr/>
        </p:nvSpPr>
        <p:spPr>
          <a:xfrm>
            <a:off x="1020604" y="3437215"/>
            <a:ext cx="2835235" cy="35433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791"/>
              </a:lnSpc>
              <a:buNone/>
            </a:pPr>
            <a:r>
              <a:rPr lang="en-US" sz="2233" dirty="0">
                <a:solidFill>
                  <a:srgbClr val="2B4150"/>
                </a:solidFill>
                <a:latin typeface="MuseoModerno" pitchFamily="34" charset="0"/>
                <a:ea typeface="MuseoModerno" pitchFamily="34" charset="-122"/>
                <a:cs typeface="MuseoModerno" pitchFamily="34" charset="-120"/>
              </a:rPr>
              <a:t>Data Limitations</a:t>
            </a:r>
            <a:endParaRPr lang="en-US" sz="2233" dirty="0"/>
          </a:p>
        </p:txBody>
      </p:sp>
      <p:sp>
        <p:nvSpPr>
          <p:cNvPr id="9" name="Text 5"/>
          <p:cNvSpPr/>
          <p:nvPr/>
        </p:nvSpPr>
        <p:spPr>
          <a:xfrm>
            <a:off x="1020604" y="3927634"/>
            <a:ext cx="3211235" cy="7258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858"/>
              </a:lnSpc>
              <a:buNone/>
            </a:pPr>
            <a:r>
              <a:rPr lang="en-US" sz="1786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Quality and variety of data can affect predictions.</a:t>
            </a:r>
            <a:endParaRPr lang="en-US" sz="1786" dirty="0"/>
          </a:p>
        </p:txBody>
      </p:sp>
      <p:sp>
        <p:nvSpPr>
          <p:cNvPr id="10" name="Shape 6"/>
          <p:cNvSpPr/>
          <p:nvPr/>
        </p:nvSpPr>
        <p:spPr>
          <a:xfrm>
            <a:off x="4685467" y="3210401"/>
            <a:ext cx="3664863" cy="2032754"/>
          </a:xfrm>
          <a:prstGeom prst="roundRect">
            <a:avLst>
              <a:gd name="adj" fmla="val 1674"/>
            </a:avLst>
          </a:prstGeom>
          <a:solidFill>
            <a:srgbClr val="F3EEE3"/>
          </a:solidFill>
          <a:ln/>
        </p:spPr>
      </p:sp>
      <p:sp>
        <p:nvSpPr>
          <p:cNvPr id="11" name="Text 7"/>
          <p:cNvSpPr/>
          <p:nvPr/>
        </p:nvSpPr>
        <p:spPr>
          <a:xfrm>
            <a:off x="4912281" y="3437215"/>
            <a:ext cx="2835235" cy="35433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791"/>
              </a:lnSpc>
              <a:buNone/>
            </a:pPr>
            <a:r>
              <a:rPr lang="en-US" sz="2233" dirty="0">
                <a:solidFill>
                  <a:srgbClr val="2B4150"/>
                </a:solidFill>
                <a:latin typeface="MuseoModerno" pitchFamily="34" charset="0"/>
                <a:ea typeface="MuseoModerno" pitchFamily="34" charset="-122"/>
                <a:cs typeface="MuseoModerno" pitchFamily="34" charset="-120"/>
              </a:rPr>
              <a:t>Model Complexity</a:t>
            </a:r>
            <a:endParaRPr lang="en-US" sz="2233" dirty="0"/>
          </a:p>
        </p:txBody>
      </p:sp>
      <p:sp>
        <p:nvSpPr>
          <p:cNvPr id="12" name="Text 8"/>
          <p:cNvSpPr/>
          <p:nvPr/>
        </p:nvSpPr>
        <p:spPr>
          <a:xfrm>
            <a:off x="4912281" y="3927634"/>
            <a:ext cx="3211235" cy="10887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858"/>
              </a:lnSpc>
              <a:buNone/>
            </a:pPr>
            <a:r>
              <a:rPr lang="en-US" sz="1786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Complex models may require extensive computational resources.</a:t>
            </a:r>
            <a:endParaRPr lang="en-US" sz="1786" dirty="0"/>
          </a:p>
        </p:txBody>
      </p:sp>
      <p:sp>
        <p:nvSpPr>
          <p:cNvPr id="13" name="Shape 9"/>
          <p:cNvSpPr/>
          <p:nvPr/>
        </p:nvSpPr>
        <p:spPr>
          <a:xfrm>
            <a:off x="793790" y="5469969"/>
            <a:ext cx="7556421" cy="1306949"/>
          </a:xfrm>
          <a:prstGeom prst="roundRect">
            <a:avLst>
              <a:gd name="adj" fmla="val 2603"/>
            </a:avLst>
          </a:prstGeom>
          <a:solidFill>
            <a:srgbClr val="F3EEE3"/>
          </a:solidFill>
          <a:ln/>
        </p:spPr>
      </p:sp>
      <p:sp>
        <p:nvSpPr>
          <p:cNvPr id="14" name="Text 10"/>
          <p:cNvSpPr/>
          <p:nvPr/>
        </p:nvSpPr>
        <p:spPr>
          <a:xfrm>
            <a:off x="1020604" y="5696783"/>
            <a:ext cx="2988707" cy="35433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791"/>
              </a:lnSpc>
              <a:buNone/>
            </a:pPr>
            <a:r>
              <a:rPr lang="en-US" sz="2233" dirty="0">
                <a:solidFill>
                  <a:srgbClr val="2B4150"/>
                </a:solidFill>
                <a:latin typeface="MuseoModerno" pitchFamily="34" charset="0"/>
                <a:ea typeface="MuseoModerno" pitchFamily="34" charset="-122"/>
                <a:cs typeface="MuseoModerno" pitchFamily="34" charset="-120"/>
              </a:rPr>
              <a:t>Future Enhancements</a:t>
            </a:r>
            <a:endParaRPr lang="en-US" sz="2233" dirty="0"/>
          </a:p>
        </p:txBody>
      </p:sp>
      <p:sp>
        <p:nvSpPr>
          <p:cNvPr id="15" name="Text 11"/>
          <p:cNvSpPr/>
          <p:nvPr/>
        </p:nvSpPr>
        <p:spPr>
          <a:xfrm>
            <a:off x="1020604" y="6187202"/>
            <a:ext cx="7102793" cy="36290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858"/>
              </a:lnSpc>
              <a:buNone/>
            </a:pPr>
            <a:r>
              <a:rPr lang="en-US" sz="1786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Incorporate more features to improve prediction accuracy.</a:t>
            </a:r>
            <a:endParaRPr lang="en-US" sz="1786" dirty="0"/>
          </a:p>
        </p:txBody>
      </p:sp>
      <p:pic>
        <p:nvPicPr>
          <p:cNvPr id="16" name="Image 2" descr="preencoded.png">
            <a:hlinkClick r:id="rId4" tooltip="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88" y="2690217"/>
            <a:ext cx="4919305" cy="284916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280190" y="1473994"/>
            <a:ext cx="7556421" cy="14175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5581"/>
              </a:lnSpc>
              <a:buNone/>
            </a:pPr>
            <a:r>
              <a:rPr lang="en-US" sz="4465" dirty="0">
                <a:solidFill>
                  <a:srgbClr val="124E73"/>
                </a:solidFill>
                <a:latin typeface="MuseoModerno" pitchFamily="34" charset="0"/>
                <a:ea typeface="MuseoModerno" pitchFamily="34" charset="-122"/>
                <a:cs typeface="MuseoModerno" pitchFamily="34" charset="-120"/>
              </a:rPr>
              <a:t>Conclusion and Key Takeaways</a:t>
            </a:r>
            <a:endParaRPr lang="en-US" sz="4465" dirty="0"/>
          </a:p>
        </p:txBody>
      </p:sp>
      <p:sp>
        <p:nvSpPr>
          <p:cNvPr id="7" name="Shape 3"/>
          <p:cNvSpPr/>
          <p:nvPr/>
        </p:nvSpPr>
        <p:spPr>
          <a:xfrm>
            <a:off x="6280190" y="3486864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3EEE3"/>
          </a:solidFill>
          <a:ln/>
        </p:spPr>
      </p:sp>
      <p:sp>
        <p:nvSpPr>
          <p:cNvPr id="8" name="Text 4"/>
          <p:cNvSpPr/>
          <p:nvPr/>
        </p:nvSpPr>
        <p:spPr>
          <a:xfrm>
            <a:off x="6455569" y="3571875"/>
            <a:ext cx="159544" cy="3402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 indent="0" marL="0">
              <a:lnSpc>
                <a:spcPts val="2679"/>
              </a:lnSpc>
              <a:buNone/>
            </a:pPr>
            <a:r>
              <a:rPr lang="en-US" sz="2679" dirty="0">
                <a:solidFill>
                  <a:srgbClr val="2B4150"/>
                </a:solidFill>
                <a:latin typeface="MuseoModerno" pitchFamily="34" charset="0"/>
                <a:ea typeface="MuseoModerno" pitchFamily="34" charset="-122"/>
                <a:cs typeface="MuseoModerno" pitchFamily="34" charset="-120"/>
              </a:rPr>
              <a:t>1</a:t>
            </a:r>
            <a:endParaRPr lang="en-US" sz="2679" dirty="0"/>
          </a:p>
        </p:txBody>
      </p:sp>
      <p:sp>
        <p:nvSpPr>
          <p:cNvPr id="9" name="Text 5"/>
          <p:cNvSpPr/>
          <p:nvPr/>
        </p:nvSpPr>
        <p:spPr>
          <a:xfrm>
            <a:off x="7017306" y="3486864"/>
            <a:ext cx="2927747" cy="708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791"/>
              </a:lnSpc>
              <a:buNone/>
            </a:pPr>
            <a:r>
              <a:rPr lang="en-US" sz="2233" dirty="0">
                <a:solidFill>
                  <a:srgbClr val="2B4150"/>
                </a:solidFill>
                <a:latin typeface="MuseoModerno" pitchFamily="34" charset="0"/>
                <a:ea typeface="MuseoModerno" pitchFamily="34" charset="-122"/>
                <a:cs typeface="MuseoModerno" pitchFamily="34" charset="-120"/>
              </a:rPr>
              <a:t>Importance of Predictions</a:t>
            </a:r>
            <a:endParaRPr lang="en-US" sz="2233" dirty="0"/>
          </a:p>
        </p:txBody>
      </p:sp>
      <p:sp>
        <p:nvSpPr>
          <p:cNvPr id="10" name="Text 6"/>
          <p:cNvSpPr/>
          <p:nvPr/>
        </p:nvSpPr>
        <p:spPr>
          <a:xfrm>
            <a:off x="7017306" y="4331613"/>
            <a:ext cx="2927747" cy="10887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858"/>
              </a:lnSpc>
              <a:buNone/>
            </a:pPr>
            <a:r>
              <a:rPr lang="en-US" sz="1786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Accurate price prediction benefits consumers and retailers alike.</a:t>
            </a:r>
            <a:endParaRPr lang="en-US" sz="1786" dirty="0"/>
          </a:p>
        </p:txBody>
      </p:sp>
      <p:sp>
        <p:nvSpPr>
          <p:cNvPr id="11" name="Shape 7"/>
          <p:cNvSpPr/>
          <p:nvPr/>
        </p:nvSpPr>
        <p:spPr>
          <a:xfrm>
            <a:off x="10171867" y="3486864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3EEE3"/>
          </a:solidFill>
          <a:ln/>
        </p:spPr>
      </p:sp>
      <p:sp>
        <p:nvSpPr>
          <p:cNvPr id="12" name="Text 8"/>
          <p:cNvSpPr/>
          <p:nvPr/>
        </p:nvSpPr>
        <p:spPr>
          <a:xfrm>
            <a:off x="10332363" y="3571875"/>
            <a:ext cx="189190" cy="3402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 indent="0" marL="0">
              <a:lnSpc>
                <a:spcPts val="2679"/>
              </a:lnSpc>
              <a:buNone/>
            </a:pPr>
            <a:r>
              <a:rPr lang="en-US" sz="2679" dirty="0">
                <a:solidFill>
                  <a:srgbClr val="2B4150"/>
                </a:solidFill>
                <a:latin typeface="MuseoModerno" pitchFamily="34" charset="0"/>
                <a:ea typeface="MuseoModerno" pitchFamily="34" charset="-122"/>
                <a:cs typeface="MuseoModerno" pitchFamily="34" charset="-120"/>
              </a:rPr>
              <a:t>2</a:t>
            </a:r>
            <a:endParaRPr lang="en-US" sz="2679" dirty="0"/>
          </a:p>
        </p:txBody>
      </p:sp>
      <p:sp>
        <p:nvSpPr>
          <p:cNvPr id="13" name="Text 9"/>
          <p:cNvSpPr/>
          <p:nvPr/>
        </p:nvSpPr>
        <p:spPr>
          <a:xfrm>
            <a:off x="10908983" y="3486864"/>
            <a:ext cx="2841427" cy="35433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791"/>
              </a:lnSpc>
              <a:buNone/>
            </a:pPr>
            <a:r>
              <a:rPr lang="en-US" sz="2233" dirty="0">
                <a:solidFill>
                  <a:srgbClr val="2B4150"/>
                </a:solidFill>
                <a:latin typeface="MuseoModerno" pitchFamily="34" charset="0"/>
                <a:ea typeface="MuseoModerno" pitchFamily="34" charset="-122"/>
                <a:cs typeface="MuseoModerno" pitchFamily="34" charset="-120"/>
              </a:rPr>
              <a:t>Efficiency Techniques</a:t>
            </a:r>
            <a:endParaRPr lang="en-US" sz="2233" dirty="0"/>
          </a:p>
        </p:txBody>
      </p:sp>
      <p:sp>
        <p:nvSpPr>
          <p:cNvPr id="14" name="Text 10"/>
          <p:cNvSpPr/>
          <p:nvPr/>
        </p:nvSpPr>
        <p:spPr>
          <a:xfrm>
            <a:off x="10908983" y="3977283"/>
            <a:ext cx="2927747" cy="10887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858"/>
              </a:lnSpc>
              <a:buNone/>
            </a:pPr>
            <a:r>
              <a:rPr lang="en-US" sz="1786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Utilizing machine learning enhances predictive capabilities.</a:t>
            </a:r>
            <a:endParaRPr lang="en-US" sz="1786" dirty="0"/>
          </a:p>
        </p:txBody>
      </p:sp>
      <p:sp>
        <p:nvSpPr>
          <p:cNvPr id="15" name="Shape 11"/>
          <p:cNvSpPr/>
          <p:nvPr/>
        </p:nvSpPr>
        <p:spPr>
          <a:xfrm>
            <a:off x="6280190" y="5902285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3EEE3"/>
          </a:solidFill>
          <a:ln/>
        </p:spPr>
      </p:sp>
      <p:sp>
        <p:nvSpPr>
          <p:cNvPr id="16" name="Text 12"/>
          <p:cNvSpPr/>
          <p:nvPr/>
        </p:nvSpPr>
        <p:spPr>
          <a:xfrm>
            <a:off x="6439733" y="5987296"/>
            <a:ext cx="191214" cy="3402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 indent="0" marL="0">
              <a:lnSpc>
                <a:spcPts val="2679"/>
              </a:lnSpc>
              <a:buNone/>
            </a:pPr>
            <a:r>
              <a:rPr lang="en-US" sz="2679" dirty="0">
                <a:solidFill>
                  <a:srgbClr val="2B4150"/>
                </a:solidFill>
                <a:latin typeface="MuseoModerno" pitchFamily="34" charset="0"/>
                <a:ea typeface="MuseoModerno" pitchFamily="34" charset="-122"/>
                <a:cs typeface="MuseoModerno" pitchFamily="34" charset="-120"/>
              </a:rPr>
              <a:t>3</a:t>
            </a:r>
            <a:endParaRPr lang="en-US" sz="2679" dirty="0"/>
          </a:p>
        </p:txBody>
      </p:sp>
      <p:sp>
        <p:nvSpPr>
          <p:cNvPr id="17" name="Text 13"/>
          <p:cNvSpPr/>
          <p:nvPr/>
        </p:nvSpPr>
        <p:spPr>
          <a:xfrm>
            <a:off x="7017306" y="5902285"/>
            <a:ext cx="2835235" cy="35433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791"/>
              </a:lnSpc>
              <a:buNone/>
            </a:pPr>
            <a:r>
              <a:rPr lang="en-US" sz="2233" dirty="0">
                <a:solidFill>
                  <a:srgbClr val="2B4150"/>
                </a:solidFill>
                <a:latin typeface="MuseoModerno" pitchFamily="34" charset="0"/>
                <a:ea typeface="MuseoModerno" pitchFamily="34" charset="-122"/>
                <a:cs typeface="MuseoModerno" pitchFamily="34" charset="-120"/>
              </a:rPr>
              <a:t>Ongoing Research</a:t>
            </a:r>
            <a:endParaRPr lang="en-US" sz="2233" dirty="0"/>
          </a:p>
        </p:txBody>
      </p:sp>
      <p:sp>
        <p:nvSpPr>
          <p:cNvPr id="18" name="Text 14"/>
          <p:cNvSpPr/>
          <p:nvPr/>
        </p:nvSpPr>
        <p:spPr>
          <a:xfrm>
            <a:off x="7017306" y="6392704"/>
            <a:ext cx="6819305" cy="36290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858"/>
              </a:lnSpc>
              <a:buNone/>
            </a:pPr>
            <a:r>
              <a:rPr lang="en-US" sz="1786" dirty="0">
                <a:solidFill>
                  <a:srgbClr val="2B41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Continual advancements will lead to better models in the future.</a:t>
            </a:r>
            <a:endParaRPr lang="en-US" sz="1786" dirty="0"/>
          </a:p>
        </p:txBody>
      </p:sp>
      <p:pic>
        <p:nvPicPr>
          <p:cNvPr id="19" name="Image 2" descr="preencoded.png">
            <a:hlinkClick r:id="rId4" tooltip="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2024-07-31T09:21:50Z</dcterms:created>
  <dcterms:modified xsi:type="dcterms:W3CDTF">2024-07-31T09:21:50Z</dcterms:modified>
</cp:coreProperties>
</file>