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  <p:sldMasterId id="2147483820" r:id="rId2"/>
    <p:sldMasterId id="2147483808" r:id="rId3"/>
  </p:sldMasterIdLst>
  <p:notesMasterIdLst>
    <p:notesMasterId r:id="rId43"/>
  </p:notesMasterIdLst>
  <p:handoutMasterIdLst>
    <p:handoutMasterId r:id="rId44"/>
  </p:handoutMasterIdLst>
  <p:sldIdLst>
    <p:sldId id="272" r:id="rId4"/>
    <p:sldId id="340" r:id="rId5"/>
    <p:sldId id="354" r:id="rId6"/>
    <p:sldId id="2502" r:id="rId7"/>
    <p:sldId id="336" r:id="rId8"/>
    <p:sldId id="337" r:id="rId9"/>
    <p:sldId id="2510" r:id="rId10"/>
    <p:sldId id="2509" r:id="rId11"/>
    <p:sldId id="761" r:id="rId12"/>
    <p:sldId id="265" r:id="rId13"/>
    <p:sldId id="266" r:id="rId14"/>
    <p:sldId id="268" r:id="rId15"/>
    <p:sldId id="269" r:id="rId16"/>
    <p:sldId id="270" r:id="rId17"/>
    <p:sldId id="271" r:id="rId18"/>
    <p:sldId id="755" r:id="rId19"/>
    <p:sldId id="273" r:id="rId20"/>
    <p:sldId id="274" r:id="rId21"/>
    <p:sldId id="275" r:id="rId22"/>
    <p:sldId id="276" r:id="rId23"/>
    <p:sldId id="280" r:id="rId24"/>
    <p:sldId id="281" r:id="rId25"/>
    <p:sldId id="748" r:id="rId26"/>
    <p:sldId id="759" r:id="rId27"/>
    <p:sldId id="760" r:id="rId28"/>
    <p:sldId id="355" r:id="rId29"/>
    <p:sldId id="357" r:id="rId30"/>
    <p:sldId id="358" r:id="rId31"/>
    <p:sldId id="356" r:id="rId32"/>
    <p:sldId id="758" r:id="rId33"/>
    <p:sldId id="258" r:id="rId34"/>
    <p:sldId id="2482" r:id="rId35"/>
    <p:sldId id="2480" r:id="rId36"/>
    <p:sldId id="2484" r:id="rId37"/>
    <p:sldId id="2486" r:id="rId38"/>
    <p:sldId id="2503" r:id="rId39"/>
    <p:sldId id="2514" r:id="rId40"/>
    <p:sldId id="2515" r:id="rId41"/>
    <p:sldId id="320" r:id="rId42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2" autoAdjust="0"/>
    <p:restoredTop sz="93447" autoAdjust="0"/>
  </p:normalViewPr>
  <p:slideViewPr>
    <p:cSldViewPr snapToGrid="0">
      <p:cViewPr>
        <p:scale>
          <a:sx n="60" d="100"/>
          <a:sy n="60" d="100"/>
        </p:scale>
        <p:origin x="1281" y="5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4" d="100"/>
          <a:sy n="44" d="100"/>
        </p:scale>
        <p:origin x="286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72.16.0.5\wind\REVIEW%20MEETINGS\14.10.2025\Previous%20years_0708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72.16.0.5\wind\REVIEW%20MEETINGS\14.10.2025\Previous%20years_0708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119238327970816E-2"/>
          <c:y val="3.3274669445496827E-2"/>
          <c:w val="0.92566192041767381"/>
          <c:h val="0.775247365964677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'YoY progress'!$B$215</c:f>
              <c:strCache>
                <c:ptCount val="1"/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7"/>
              <c:layout>
                <c:manualLayout>
                  <c:x val="0"/>
                  <c:y val="-2.28850683038200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9FD-4829-A30A-2EEFEAB7405D}"/>
                </c:ext>
              </c:extLst>
            </c:dLbl>
            <c:numFmt formatCode="#&quot;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'YoY progress'!$A$216:$A$224</c:f>
              <c:strCache>
                <c:ptCount val="9"/>
                <c:pt idx="1">
                  <c:v>FY 2018-19</c:v>
                </c:pt>
                <c:pt idx="2">
                  <c:v>FY 2019-20</c:v>
                </c:pt>
                <c:pt idx="3">
                  <c:v>FY 2020-21</c:v>
                </c:pt>
                <c:pt idx="4">
                  <c:v>FY 2021-22</c:v>
                </c:pt>
                <c:pt idx="5">
                  <c:v>FY 2022-23</c:v>
                </c:pt>
                <c:pt idx="6">
                  <c:v>FY 2023-24</c:v>
                </c:pt>
                <c:pt idx="7">
                  <c:v>FY 2024-25</c:v>
                </c:pt>
                <c:pt idx="8">
                  <c:v>FY 2025-26</c:v>
                </c:pt>
              </c:strCache>
            </c:strRef>
          </c:cat>
          <c:val>
            <c:numRef>
              <c:f>'YoY progress'!$B$216:$B$224</c:f>
              <c:numCache>
                <c:formatCode>0.00</c:formatCode>
                <c:ptCount val="9"/>
                <c:pt idx="0" formatCode="General">
                  <c:v>0</c:v>
                </c:pt>
                <c:pt idx="1">
                  <c:v>728.68999999999994</c:v>
                </c:pt>
                <c:pt idx="2">
                  <c:v>1232.7100000000003</c:v>
                </c:pt>
                <c:pt idx="3">
                  <c:v>1123</c:v>
                </c:pt>
                <c:pt idx="4">
                  <c:v>742.50000000000011</c:v>
                </c:pt>
                <c:pt idx="5">
                  <c:v>975.59999999999991</c:v>
                </c:pt>
                <c:pt idx="6">
                  <c:v>1208.3</c:v>
                </c:pt>
                <c:pt idx="7">
                  <c:v>1082.81</c:v>
                </c:pt>
                <c:pt idx="8">
                  <c:v>32.399999999995998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9B-4CA1-B9E8-FBE7685F6B64}"/>
            </c:ext>
          </c:extLst>
        </c:ser>
        <c:ser>
          <c:idx val="1"/>
          <c:order val="1"/>
          <c:tx>
            <c:strRef>
              <c:f>'YoY progress'!$C$215</c:f>
              <c:strCache>
                <c:ptCount val="1"/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0"/>
                  <c:y val="-3.65296728601377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9B-4CA1-B9E8-FBE7685F6B64}"/>
                </c:ext>
              </c:extLst>
            </c:dLbl>
            <c:dLbl>
              <c:idx val="5"/>
              <c:layout>
                <c:manualLayout>
                  <c:x val="-1.8958147024275703E-16"/>
                  <c:y val="-0.127853855010482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79B-4CA1-B9E8-FBE7685F6B64}"/>
                </c:ext>
              </c:extLst>
            </c:dLbl>
            <c:dLbl>
              <c:idx val="6"/>
              <c:layout>
                <c:manualLayout>
                  <c:x val="-2.5852577746518814E-3"/>
                  <c:y val="-8.87149198031918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9B-4CA1-B9E8-FBE7685F6B64}"/>
                </c:ext>
              </c:extLst>
            </c:dLbl>
            <c:dLbl>
              <c:idx val="7"/>
              <c:layout>
                <c:manualLayout>
                  <c:x val="-2.3786879154330792E-3"/>
                  <c:y val="-7.4299167307868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79B-4CA1-B9E8-FBE7685F6B64}"/>
                </c:ext>
              </c:extLst>
            </c:dLbl>
            <c:dLbl>
              <c:idx val="8"/>
              <c:layout>
                <c:manualLayout>
                  <c:x val="0"/>
                  <c:y val="-0.1067022616574195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9B-4CA1-B9E8-FBE7685F6B64}"/>
                </c:ext>
              </c:extLst>
            </c:dLbl>
            <c:numFmt formatCode="#&quot;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'YoY progress'!$A$216:$A$224</c:f>
              <c:strCache>
                <c:ptCount val="9"/>
                <c:pt idx="1">
                  <c:v>FY 2018-19</c:v>
                </c:pt>
                <c:pt idx="2">
                  <c:v>FY 2019-20</c:v>
                </c:pt>
                <c:pt idx="3">
                  <c:v>FY 2020-21</c:v>
                </c:pt>
                <c:pt idx="4">
                  <c:v>FY 2021-22</c:v>
                </c:pt>
                <c:pt idx="5">
                  <c:v>FY 2022-23</c:v>
                </c:pt>
                <c:pt idx="6">
                  <c:v>FY 2023-24</c:v>
                </c:pt>
                <c:pt idx="7">
                  <c:v>FY 2024-25</c:v>
                </c:pt>
                <c:pt idx="8">
                  <c:v>FY 2025-26</c:v>
                </c:pt>
              </c:strCache>
            </c:strRef>
          </c:cat>
          <c:val>
            <c:numRef>
              <c:f>'YoY progress'!$C$216:$C$224</c:f>
              <c:numCache>
                <c:formatCode>0</c:formatCode>
                <c:ptCount val="9"/>
                <c:pt idx="0" formatCode="General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 formatCode="0.0">
                  <c:v>0</c:v>
                </c:pt>
                <c:pt idx="8" formatCode="0.0">
                  <c:v>733.40000000000396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9B-4CA1-B9E8-FBE7685F6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76548640"/>
        <c:axId val="476552560"/>
      </c:barChart>
      <c:lineChart>
        <c:grouping val="standard"/>
        <c:varyColors val="0"/>
        <c:ser>
          <c:idx val="2"/>
          <c:order val="2"/>
          <c:tx>
            <c:strRef>
              <c:f>'YoY progress'!$D$215</c:f>
              <c:strCache>
                <c:ptCount val="1"/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numFmt formatCode="#&quot;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noFill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'YoY progress'!$A$216:$A$224</c:f>
              <c:strCache>
                <c:ptCount val="9"/>
                <c:pt idx="1">
                  <c:v>FY 2018-19</c:v>
                </c:pt>
                <c:pt idx="2">
                  <c:v>FY 2019-20</c:v>
                </c:pt>
                <c:pt idx="3">
                  <c:v>FY 2020-21</c:v>
                </c:pt>
                <c:pt idx="4">
                  <c:v>FY 2021-22</c:v>
                </c:pt>
                <c:pt idx="5">
                  <c:v>FY 2022-23</c:v>
                </c:pt>
                <c:pt idx="6">
                  <c:v>FY 2023-24</c:v>
                </c:pt>
                <c:pt idx="7">
                  <c:v>FY 2024-25</c:v>
                </c:pt>
                <c:pt idx="8">
                  <c:v>FY 2025-26</c:v>
                </c:pt>
              </c:strCache>
            </c:strRef>
          </c:cat>
          <c:val>
            <c:numRef>
              <c:f>'YoY progress'!$D$216:$D$224</c:f>
              <c:numCache>
                <c:formatCode>0.0</c:formatCode>
                <c:ptCount val="9"/>
                <c:pt idx="0" formatCode="General">
                  <c:v>0</c:v>
                </c:pt>
                <c:pt idx="1">
                  <c:v>728.68999999999994</c:v>
                </c:pt>
                <c:pt idx="2">
                  <c:v>1961.4</c:v>
                </c:pt>
                <c:pt idx="3">
                  <c:v>3084.4</c:v>
                </c:pt>
                <c:pt idx="4">
                  <c:v>3826.9</c:v>
                </c:pt>
                <c:pt idx="5">
                  <c:v>4802.5</c:v>
                </c:pt>
                <c:pt idx="6">
                  <c:v>6010.8</c:v>
                </c:pt>
                <c:pt idx="7">
                  <c:v>7093.6100000000006</c:v>
                </c:pt>
                <c:pt idx="8">
                  <c:v>7859.4100000000008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79B-4CA1-B9E8-FBE7685F6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548640"/>
        <c:axId val="476552560"/>
      </c:lineChart>
      <c:catAx>
        <c:axId val="476548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476552560"/>
        <c:crosses val="autoZero"/>
        <c:auto val="1"/>
        <c:lblAlgn val="ctr"/>
        <c:lblOffset val="100"/>
        <c:noMultiLvlLbl val="0"/>
      </c:catAx>
      <c:valAx>
        <c:axId val="47655256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GB" sz="2400" b="1"/>
                  <a:t>Capacity (MW)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476548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20213655253506"/>
          <c:y val="5.07433449350842E-2"/>
          <c:w val="0.73474294582641442"/>
          <c:h val="0.48481019782839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'Tranche-wise'!$E$2</c:f>
              <c:strCache>
                <c:ptCount val="1"/>
                <c:pt idx="0">
                  <c:v>Awarded (MW)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'Tranche-wise'!$B$4:$B$19</c:f>
              <c:strCache>
                <c:ptCount val="16"/>
                <c:pt idx="0">
                  <c:v>T-II</c:v>
                </c:pt>
                <c:pt idx="1">
                  <c:v>T-III</c:v>
                </c:pt>
                <c:pt idx="2">
                  <c:v>T-IV</c:v>
                </c:pt>
                <c:pt idx="3">
                  <c:v>T-V</c:v>
                </c:pt>
                <c:pt idx="4">
                  <c:v>T-VI</c:v>
                </c:pt>
                <c:pt idx="5">
                  <c:v>T-VII</c:v>
                </c:pt>
                <c:pt idx="6">
                  <c:v>T-VIII</c:v>
                </c:pt>
                <c:pt idx="7">
                  <c:v>T-IX</c:v>
                </c:pt>
                <c:pt idx="8">
                  <c:v>T-X</c:v>
                </c:pt>
                <c:pt idx="9">
                  <c:v>T-XI</c:v>
                </c:pt>
                <c:pt idx="10">
                  <c:v>T-XII</c:v>
                </c:pt>
                <c:pt idx="11">
                  <c:v>T-XIII</c:v>
                </c:pt>
                <c:pt idx="12">
                  <c:v>T-XIV</c:v>
                </c:pt>
                <c:pt idx="13">
                  <c:v>T-XV</c:v>
                </c:pt>
                <c:pt idx="14">
                  <c:v>T-XVI</c:v>
                </c:pt>
                <c:pt idx="15">
                  <c:v>T-XVII</c:v>
                </c:pt>
              </c:strCache>
            </c:strRef>
          </c:cat>
          <c:val>
            <c:numRef>
              <c:f>'Tranche-wise'!$E$4:$E$19</c:f>
              <c:numCache>
                <c:formatCode>General</c:formatCode>
                <c:ptCount val="16"/>
                <c:pt idx="0">
                  <c:v>1000</c:v>
                </c:pt>
                <c:pt idx="1">
                  <c:v>2000</c:v>
                </c:pt>
                <c:pt idx="2">
                  <c:v>2000</c:v>
                </c:pt>
                <c:pt idx="3">
                  <c:v>1190</c:v>
                </c:pt>
                <c:pt idx="4">
                  <c:v>1200</c:v>
                </c:pt>
                <c:pt idx="5">
                  <c:v>480</c:v>
                </c:pt>
                <c:pt idx="6">
                  <c:v>440.8</c:v>
                </c:pt>
                <c:pt idx="7">
                  <c:v>970</c:v>
                </c:pt>
                <c:pt idx="8">
                  <c:v>1200</c:v>
                </c:pt>
                <c:pt idx="9">
                  <c:v>1200</c:v>
                </c:pt>
                <c:pt idx="10">
                  <c:v>1100</c:v>
                </c:pt>
                <c:pt idx="11">
                  <c:v>600</c:v>
                </c:pt>
                <c:pt idx="12">
                  <c:v>690</c:v>
                </c:pt>
                <c:pt idx="13">
                  <c:v>0</c:v>
                </c:pt>
                <c:pt idx="14">
                  <c:v>1175</c:v>
                </c:pt>
                <c:pt idx="1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49-44D6-98D4-9792DE3F63C1}"/>
            </c:ext>
          </c:extLst>
        </c:ser>
        <c:ser>
          <c:idx val="1"/>
          <c:order val="1"/>
          <c:tx>
            <c:strRef>
              <c:f>'Tranche-wise'!$F$2</c:f>
              <c:strCache>
                <c:ptCount val="1"/>
                <c:pt idx="0">
                  <c:v>PPA Signed (MW)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'Tranche-wise'!$B$4:$B$19</c:f>
              <c:strCache>
                <c:ptCount val="16"/>
                <c:pt idx="0">
                  <c:v>T-II</c:v>
                </c:pt>
                <c:pt idx="1">
                  <c:v>T-III</c:v>
                </c:pt>
                <c:pt idx="2">
                  <c:v>T-IV</c:v>
                </c:pt>
                <c:pt idx="3">
                  <c:v>T-V</c:v>
                </c:pt>
                <c:pt idx="4">
                  <c:v>T-VI</c:v>
                </c:pt>
                <c:pt idx="5">
                  <c:v>T-VII</c:v>
                </c:pt>
                <c:pt idx="6">
                  <c:v>T-VIII</c:v>
                </c:pt>
                <c:pt idx="7">
                  <c:v>T-IX</c:v>
                </c:pt>
                <c:pt idx="8">
                  <c:v>T-X</c:v>
                </c:pt>
                <c:pt idx="9">
                  <c:v>T-XI</c:v>
                </c:pt>
                <c:pt idx="10">
                  <c:v>T-XII</c:v>
                </c:pt>
                <c:pt idx="11">
                  <c:v>T-XIII</c:v>
                </c:pt>
                <c:pt idx="12">
                  <c:v>T-XIV</c:v>
                </c:pt>
                <c:pt idx="13">
                  <c:v>T-XV</c:v>
                </c:pt>
                <c:pt idx="14">
                  <c:v>T-XVI</c:v>
                </c:pt>
                <c:pt idx="15">
                  <c:v>T-XVII</c:v>
                </c:pt>
              </c:strCache>
            </c:strRef>
          </c:cat>
          <c:val>
            <c:numRef>
              <c:f>'Tranche-wise'!$F$4:$F$19</c:f>
              <c:numCache>
                <c:formatCode>0</c:formatCode>
                <c:ptCount val="16"/>
                <c:pt idx="0">
                  <c:v>1000</c:v>
                </c:pt>
                <c:pt idx="1">
                  <c:v>2000</c:v>
                </c:pt>
                <c:pt idx="2">
                  <c:v>2000</c:v>
                </c:pt>
                <c:pt idx="3">
                  <c:v>1190</c:v>
                </c:pt>
                <c:pt idx="4">
                  <c:v>1075</c:v>
                </c:pt>
                <c:pt idx="5">
                  <c:v>280</c:v>
                </c:pt>
                <c:pt idx="6" formatCode="0.00">
                  <c:v>440.64</c:v>
                </c:pt>
                <c:pt idx="7">
                  <c:v>970</c:v>
                </c:pt>
                <c:pt idx="8">
                  <c:v>1200</c:v>
                </c:pt>
                <c:pt idx="9">
                  <c:v>1200</c:v>
                </c:pt>
                <c:pt idx="10">
                  <c:v>800</c:v>
                </c:pt>
                <c:pt idx="11" formatCode="General">
                  <c:v>600</c:v>
                </c:pt>
                <c:pt idx="12" formatCode="General">
                  <c:v>500</c:v>
                </c:pt>
                <c:pt idx="13" formatCode="General">
                  <c:v>0</c:v>
                </c:pt>
                <c:pt idx="14" formatCode="General">
                  <c:v>1175</c:v>
                </c:pt>
                <c:pt idx="15" formatCode="General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49-44D6-98D4-9792DE3F63C1}"/>
            </c:ext>
          </c:extLst>
        </c:ser>
        <c:ser>
          <c:idx val="2"/>
          <c:order val="2"/>
          <c:tx>
            <c:strRef>
              <c:f>'Tranche-wise'!$G$2</c:f>
              <c:strCache>
                <c:ptCount val="1"/>
                <c:pt idx="0">
                  <c:v>Commissioned (MW)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'Tranche-wise'!$B$4:$B$19</c:f>
              <c:strCache>
                <c:ptCount val="16"/>
                <c:pt idx="0">
                  <c:v>T-II</c:v>
                </c:pt>
                <c:pt idx="1">
                  <c:v>T-III</c:v>
                </c:pt>
                <c:pt idx="2">
                  <c:v>T-IV</c:v>
                </c:pt>
                <c:pt idx="3">
                  <c:v>T-V</c:v>
                </c:pt>
                <c:pt idx="4">
                  <c:v>T-VI</c:v>
                </c:pt>
                <c:pt idx="5">
                  <c:v>T-VII</c:v>
                </c:pt>
                <c:pt idx="6">
                  <c:v>T-VIII</c:v>
                </c:pt>
                <c:pt idx="7">
                  <c:v>T-IX</c:v>
                </c:pt>
                <c:pt idx="8">
                  <c:v>T-X</c:v>
                </c:pt>
                <c:pt idx="9">
                  <c:v>T-XI</c:v>
                </c:pt>
                <c:pt idx="10">
                  <c:v>T-XII</c:v>
                </c:pt>
                <c:pt idx="11">
                  <c:v>T-XIII</c:v>
                </c:pt>
                <c:pt idx="12">
                  <c:v>T-XIV</c:v>
                </c:pt>
                <c:pt idx="13">
                  <c:v>T-XV</c:v>
                </c:pt>
                <c:pt idx="14">
                  <c:v>T-XVI</c:v>
                </c:pt>
                <c:pt idx="15">
                  <c:v>T-XVII</c:v>
                </c:pt>
              </c:strCache>
            </c:strRef>
          </c:cat>
          <c:val>
            <c:numRef>
              <c:f>'Tranche-wise'!$G$4:$G$19</c:f>
              <c:numCache>
                <c:formatCode>0.0</c:formatCode>
                <c:ptCount val="16"/>
                <c:pt idx="0">
                  <c:v>760.1</c:v>
                </c:pt>
                <c:pt idx="1">
                  <c:v>950.2</c:v>
                </c:pt>
                <c:pt idx="2">
                  <c:v>721.9</c:v>
                </c:pt>
                <c:pt idx="3">
                  <c:v>621.5</c:v>
                </c:pt>
                <c:pt idx="4" formatCode="0">
                  <c:v>973</c:v>
                </c:pt>
                <c:pt idx="5" formatCode="0">
                  <c:v>180</c:v>
                </c:pt>
                <c:pt idx="6">
                  <c:v>250.71</c:v>
                </c:pt>
                <c:pt idx="7">
                  <c:v>862</c:v>
                </c:pt>
                <c:pt idx="8" formatCode="0">
                  <c:v>750</c:v>
                </c:pt>
                <c:pt idx="9">
                  <c:v>54.6</c:v>
                </c:pt>
                <c:pt idx="10" formatCode="0">
                  <c:v>0</c:v>
                </c:pt>
                <c:pt idx="11" formatCode="0">
                  <c:v>0</c:v>
                </c:pt>
                <c:pt idx="12" formatCode="0">
                  <c:v>0</c:v>
                </c:pt>
                <c:pt idx="13" formatCode="0">
                  <c:v>0</c:v>
                </c:pt>
                <c:pt idx="14" formatCode="0">
                  <c:v>0</c:v>
                </c:pt>
                <c:pt idx="15" formatCode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49-44D6-98D4-9792DE3F63C1}"/>
            </c:ext>
          </c:extLst>
        </c:ser>
        <c:ser>
          <c:idx val="4"/>
          <c:order val="3"/>
          <c:tx>
            <c:strRef>
              <c:f>'Tranche-wise'!$P$2</c:f>
              <c:strCache>
                <c:ptCount val="1"/>
                <c:pt idx="0">
                  <c:v>Not coming up/ Not likely to come up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'Tranche-wise'!$B$4:$B$19</c:f>
              <c:strCache>
                <c:ptCount val="16"/>
                <c:pt idx="0">
                  <c:v>T-II</c:v>
                </c:pt>
                <c:pt idx="1">
                  <c:v>T-III</c:v>
                </c:pt>
                <c:pt idx="2">
                  <c:v>T-IV</c:v>
                </c:pt>
                <c:pt idx="3">
                  <c:v>T-V</c:v>
                </c:pt>
                <c:pt idx="4">
                  <c:v>T-VI</c:v>
                </c:pt>
                <c:pt idx="5">
                  <c:v>T-VII</c:v>
                </c:pt>
                <c:pt idx="6">
                  <c:v>T-VIII</c:v>
                </c:pt>
                <c:pt idx="7">
                  <c:v>T-IX</c:v>
                </c:pt>
                <c:pt idx="8">
                  <c:v>T-X</c:v>
                </c:pt>
                <c:pt idx="9">
                  <c:v>T-XI</c:v>
                </c:pt>
                <c:pt idx="10">
                  <c:v>T-XII</c:v>
                </c:pt>
                <c:pt idx="11">
                  <c:v>T-XIII</c:v>
                </c:pt>
                <c:pt idx="12">
                  <c:v>T-XIV</c:v>
                </c:pt>
                <c:pt idx="13">
                  <c:v>T-XV</c:v>
                </c:pt>
                <c:pt idx="14">
                  <c:v>T-XVI</c:v>
                </c:pt>
                <c:pt idx="15">
                  <c:v>T-XVII</c:v>
                </c:pt>
              </c:strCache>
            </c:strRef>
          </c:cat>
          <c:val>
            <c:numRef>
              <c:f>'Tranche-wise'!$P$4:$P$19</c:f>
              <c:numCache>
                <c:formatCode>0</c:formatCode>
                <c:ptCount val="16"/>
                <c:pt idx="0">
                  <c:v>239.9</c:v>
                </c:pt>
                <c:pt idx="1">
                  <c:v>1049.8</c:v>
                </c:pt>
                <c:pt idx="2">
                  <c:v>1278.0999999999999</c:v>
                </c:pt>
                <c:pt idx="3">
                  <c:v>568.5</c:v>
                </c:pt>
                <c:pt idx="4">
                  <c:v>102</c:v>
                </c:pt>
                <c:pt idx="5">
                  <c:v>100</c:v>
                </c:pt>
                <c:pt idx="6">
                  <c:v>189.92999999999998</c:v>
                </c:pt>
                <c:pt idx="7">
                  <c:v>0</c:v>
                </c:pt>
                <c:pt idx="8">
                  <c:v>450</c:v>
                </c:pt>
                <c:pt idx="9">
                  <c:v>1020</c:v>
                </c:pt>
                <c:pt idx="10">
                  <c:v>0</c:v>
                </c:pt>
                <c:pt idx="11">
                  <c:v>600</c:v>
                </c:pt>
                <c:pt idx="12">
                  <c:v>200</c:v>
                </c:pt>
                <c:pt idx="13">
                  <c:v>0</c:v>
                </c:pt>
                <c:pt idx="14">
                  <c:v>0</c:v>
                </c:pt>
                <c:pt idx="1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949-44D6-98D4-9792DE3F6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6554520"/>
        <c:axId val="476554912"/>
      </c:barChart>
      <c:lineChart>
        <c:grouping val="standard"/>
        <c:varyColors val="0"/>
        <c:ser>
          <c:idx val="3"/>
          <c:order val="4"/>
          <c:tx>
            <c:strRef>
              <c:f>'Tranche-wise'!$D$2</c:f>
              <c:strCache>
                <c:ptCount val="1"/>
                <c:pt idx="0">
                  <c:v>Maximum Tariff
(INR/kWh)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'Tranche-wise'!$B$4:$B$20</c:f>
              <c:strCache>
                <c:ptCount val="17"/>
                <c:pt idx="0">
                  <c:v>T-II</c:v>
                </c:pt>
                <c:pt idx="1">
                  <c:v>T-III</c:v>
                </c:pt>
                <c:pt idx="2">
                  <c:v>T-IV</c:v>
                </c:pt>
                <c:pt idx="3">
                  <c:v>T-V</c:v>
                </c:pt>
                <c:pt idx="4">
                  <c:v>T-VI</c:v>
                </c:pt>
                <c:pt idx="5">
                  <c:v>T-VII</c:v>
                </c:pt>
                <c:pt idx="6">
                  <c:v>T-VIII</c:v>
                </c:pt>
                <c:pt idx="7">
                  <c:v>T-IX</c:v>
                </c:pt>
                <c:pt idx="8">
                  <c:v>T-X</c:v>
                </c:pt>
                <c:pt idx="9">
                  <c:v>T-XI</c:v>
                </c:pt>
                <c:pt idx="10">
                  <c:v>T-XII</c:v>
                </c:pt>
                <c:pt idx="11">
                  <c:v>T-XIII</c:v>
                </c:pt>
                <c:pt idx="12">
                  <c:v>T-XIV</c:v>
                </c:pt>
                <c:pt idx="13">
                  <c:v>T-XV</c:v>
                </c:pt>
                <c:pt idx="14">
                  <c:v>T-XVI</c:v>
                </c:pt>
                <c:pt idx="15">
                  <c:v>T-XVII</c:v>
                </c:pt>
                <c:pt idx="16">
                  <c:v>T-XVIII</c:v>
                </c:pt>
              </c:strCache>
            </c:strRef>
          </c:cat>
          <c:val>
            <c:numRef>
              <c:f>'Tranche-wise'!$D$4:$D$19</c:f>
              <c:numCache>
                <c:formatCode>General</c:formatCode>
                <c:ptCount val="16"/>
                <c:pt idx="0">
                  <c:v>2.65</c:v>
                </c:pt>
                <c:pt idx="1">
                  <c:v>2.4500000000000002</c:v>
                </c:pt>
                <c:pt idx="2">
                  <c:v>2.52</c:v>
                </c:pt>
                <c:pt idx="3">
                  <c:v>2.77</c:v>
                </c:pt>
                <c:pt idx="4">
                  <c:v>2.83</c:v>
                </c:pt>
                <c:pt idx="5">
                  <c:v>2.83</c:v>
                </c:pt>
                <c:pt idx="6">
                  <c:v>2.84</c:v>
                </c:pt>
                <c:pt idx="7" formatCode="0.00">
                  <c:v>3</c:v>
                </c:pt>
                <c:pt idx="8">
                  <c:v>2.78</c:v>
                </c:pt>
                <c:pt idx="9" formatCode="0.00">
                  <c:v>2.7</c:v>
                </c:pt>
                <c:pt idx="10">
                  <c:v>2.94</c:v>
                </c:pt>
                <c:pt idx="11">
                  <c:v>2.95</c:v>
                </c:pt>
                <c:pt idx="12">
                  <c:v>3.24</c:v>
                </c:pt>
                <c:pt idx="13">
                  <c:v>4.01</c:v>
                </c:pt>
                <c:pt idx="14" formatCode="0.00">
                  <c:v>3.7</c:v>
                </c:pt>
                <c:pt idx="15">
                  <c:v>3.82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949-44D6-98D4-9792DE3F6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549424"/>
        <c:axId val="476549816"/>
      </c:lineChart>
      <c:catAx>
        <c:axId val="476554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554912"/>
        <c:crosses val="autoZero"/>
        <c:auto val="1"/>
        <c:lblAlgn val="ctr"/>
        <c:lblOffset val="100"/>
        <c:noMultiLvlLbl val="0"/>
      </c:catAx>
      <c:valAx>
        <c:axId val="4765549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Capacity</a:t>
                </a:r>
              </a:p>
              <a:p>
                <a:pPr>
                  <a:defRPr sz="1600"/>
                </a:pPr>
                <a:r>
                  <a:rPr lang="en-GB" sz="1600"/>
                  <a:t>(MW)</a:t>
                </a:r>
              </a:p>
            </c:rich>
          </c:tx>
          <c:layout>
            <c:manualLayout>
              <c:xMode val="edge"/>
              <c:yMode val="edge"/>
              <c:x val="7.2496496049769876E-2"/>
              <c:y val="0.265658582322909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554520"/>
        <c:crosses val="autoZero"/>
        <c:crossBetween val="between"/>
      </c:valAx>
      <c:valAx>
        <c:axId val="47654981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600"/>
                  <a:t>Tariff </a:t>
                </a:r>
              </a:p>
              <a:p>
                <a:pPr>
                  <a:defRPr sz="1600"/>
                </a:pPr>
                <a:r>
                  <a:rPr lang="en-GB" sz="1600"/>
                  <a:t>(INR/ kWh)</a:t>
                </a:r>
              </a:p>
            </c:rich>
          </c:tx>
          <c:layout>
            <c:manualLayout>
              <c:xMode val="edge"/>
              <c:yMode val="edge"/>
              <c:x val="0.96049013249064685"/>
              <c:y val="0.270364821885684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549424"/>
        <c:crosses val="max"/>
        <c:crossBetween val="between"/>
      </c:valAx>
      <c:catAx>
        <c:axId val="4765494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6549816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 b="1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8DEFD1-A745-6D1E-08DC-9F2C5E19F2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70FFD5-1760-384C-135A-634F211946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81B41-22C8-4029-B834-06C8EB03D1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B8518-FB49-5DF9-C1C6-4BEA8E461E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E9FE8-ED74-6928-87EE-D0B357F9E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D357C-C53A-4EAB-85EF-F1C1045C36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08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18832" cy="495029"/>
          </a:xfrm>
          <a:prstGeom prst="rect">
            <a:avLst/>
          </a:prstGeom>
        </p:spPr>
        <p:txBody>
          <a:bodyPr vert="horz" lIns="91399" tIns="45700" rIns="91399" bIns="4570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2" y="3"/>
            <a:ext cx="2918832" cy="495029"/>
          </a:xfrm>
          <a:prstGeom prst="rect">
            <a:avLst/>
          </a:prstGeom>
        </p:spPr>
        <p:txBody>
          <a:bodyPr vert="horz" lIns="91399" tIns="45700" rIns="91399" bIns="45700" rtlCol="0"/>
          <a:lstStyle>
            <a:lvl1pPr algn="r">
              <a:defRPr sz="1200"/>
            </a:lvl1pPr>
          </a:lstStyle>
          <a:p>
            <a:fld id="{DF16E867-EC0C-42CE-B2B2-CEF77EDA0F9F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99" tIns="45700" rIns="91399" bIns="4570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7"/>
            <a:ext cx="5388610" cy="3884861"/>
          </a:xfrm>
          <a:prstGeom prst="rect">
            <a:avLst/>
          </a:prstGeom>
        </p:spPr>
        <p:txBody>
          <a:bodyPr vert="horz" lIns="91399" tIns="45700" rIns="91399" bIns="4570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7"/>
            <a:ext cx="2918832" cy="495027"/>
          </a:xfrm>
          <a:prstGeom prst="rect">
            <a:avLst/>
          </a:prstGeom>
        </p:spPr>
        <p:txBody>
          <a:bodyPr vert="horz" lIns="91399" tIns="45700" rIns="91399" bIns="4570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2" y="9371287"/>
            <a:ext cx="2918832" cy="495027"/>
          </a:xfrm>
          <a:prstGeom prst="rect">
            <a:avLst/>
          </a:prstGeom>
        </p:spPr>
        <p:txBody>
          <a:bodyPr vert="horz" lIns="91399" tIns="45700" rIns="91399" bIns="45700" rtlCol="0" anchor="b"/>
          <a:lstStyle>
            <a:lvl1pPr algn="r">
              <a:defRPr sz="1200"/>
            </a:lvl1pPr>
          </a:lstStyle>
          <a:p>
            <a:fld id="{397ABA0D-EA83-4A17-BDD7-D87ADB6A0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08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ABA0D-EA83-4A17-BDD7-D87ADB6A0CB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74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ABA0D-EA83-4A17-BDD7-D87ADB6A0CB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852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3A2D5F-1943-495D-90CA-45DDE6717B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259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3A2D5F-1943-495D-90CA-45DDE6717BE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32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E0289-9E66-669D-8135-EEA606D2C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684D3-752A-70AA-9673-1171569CC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785E2-5360-BAF2-D7CA-43810739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B17CA-EF6D-FD48-38BA-C1A9A2C6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9C51A-D4E2-1C1D-1291-71C3776C4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ED1CF2-CA34-392A-5E17-2289800E0C04}"/>
              </a:ext>
            </a:extLst>
          </p:cNvPr>
          <p:cNvCxnSpPr/>
          <p:nvPr userDrawn="1"/>
        </p:nvCxnSpPr>
        <p:spPr>
          <a:xfrm>
            <a:off x="0" y="92891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53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85A2-CD98-902B-90D2-97993144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2A2D-D681-36DC-0D52-8E6D319AB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9DE84-CE84-5C02-ED65-E3DFFA2F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54A08-94AC-3B5A-5375-51058D84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6AE6A-E83B-7531-7C6E-6D067B9C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76F358-C59C-744F-C5FA-9B87E0DC3CEF}"/>
              </a:ext>
            </a:extLst>
          </p:cNvPr>
          <p:cNvCxnSpPr/>
          <p:nvPr userDrawn="1"/>
        </p:nvCxnSpPr>
        <p:spPr>
          <a:xfrm>
            <a:off x="0" y="928914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92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8F26-D86F-488E-53F4-A5F2BEE7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49944-E92A-A231-FA52-DED919E22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5CBA-80AF-D73E-196C-8FE8A5B3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1902B-A138-35FD-1836-3C10E87A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B5B69-4D67-D9DD-F603-88FCABFD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FDABF6-1A97-9936-808D-56F86B20900D}"/>
              </a:ext>
            </a:extLst>
          </p:cNvPr>
          <p:cNvCxnSpPr/>
          <p:nvPr userDrawn="1"/>
        </p:nvCxnSpPr>
        <p:spPr>
          <a:xfrm>
            <a:off x="0" y="1219200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301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58A3-FC6B-9474-8A1A-B8DC2C8D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5629-E38A-4FCC-5E74-E217DA02D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FCEB5-C360-6693-0464-FE2934B6E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DE681-B5F9-60B1-FF31-0D2641A9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EC349-8990-2C5D-23A0-183CA240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996A1-5BF3-7FAD-9EC9-533C3E783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7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B7A2-C643-60F5-9A6B-4AFB00C0E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943E8-0706-3958-0A3B-5626B3B42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AB4BB-179A-6618-5CFE-1F3E5CD57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1F364C-9769-6ECE-C358-8D3CE0092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ACECB-F01F-02AB-4ACB-F9BC7AD10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71E27-A6C7-D794-AF95-61FC0A8E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02DB1-19BC-9E1E-6130-96A00F867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B0A1A-EC14-B854-B14B-61D9BC54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53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E1D9-3FA0-460B-B9E9-06BDB26B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46D2B-A89A-2990-1C57-4E9857CB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A096E-D8DE-4EC4-425E-65DDDAC36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2DE18-39FE-1423-3D3F-FBA26609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83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197C7B-D2F6-64C9-D1C5-4A561FE99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1E43A-93D9-D78F-0739-EB06699E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BC41A-60E2-C184-8620-2225B18B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7CDBA-BA30-2D60-69E6-F4DDF3DEC2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9790" y="1"/>
            <a:ext cx="1272209" cy="80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2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4F95-334E-C500-CAAB-D745410AE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BEAC4-EF11-B9B3-2D19-2B51C4A99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475A9-A7A7-9258-80BD-FDE3E18F3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126B3-06C4-CC29-6972-F1A5F8C7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E5F71-3433-DB8F-A4F9-8ABF7A8F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E8D7D-0768-9199-8EE7-755D78ED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58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88F1-290C-2C74-1695-147AE108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9CB37-D9E1-4E70-93F2-3E72EEE89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EDF10-EE0B-D841-C57C-34D416E53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B2B61-1EF8-ACB0-2F4F-D86F85E5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973C6-5D5C-A431-9F1A-189066D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73DE5-AB90-0BF4-A8E1-1383EB65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08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597A-FD8C-FA10-852D-1DA54307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2E977-2B42-ABC8-5A52-CE68EF982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2775C-D021-E428-FCBB-D152CFC4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AB808-FC26-E334-0B92-B6A1C8CF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ECF7-A0AB-9D41-E3F1-83335D16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34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6B147A-8B8E-7BD3-5DE1-4C6B9DB0D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5D85B-332D-00BC-9635-77216FAB3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CB000-2EC0-C826-E293-55C4EAAB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C9D97-066E-0685-AA71-FDE1B19D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6159A-F254-4EAE-01FF-7C4069D3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623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11A4-8D12-6D63-38D2-F25BD3959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E8EFD-C0B0-E7D6-7DF7-0E8D1A0AD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B0DCC-C344-D466-0D83-2C85266D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08C0-8870-356F-7F45-622DDC28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0E75F-631A-84D4-C248-6E19F08A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597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2C61-7E7C-5266-9F92-4DCC37FA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49A57-0252-61A6-F43D-50347B969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CFAD6-65B8-A909-7215-E508933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A508B-9952-3294-A6BB-824513B8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1B36F-D48B-9E38-8B61-5709AFA0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591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1BC5-84A7-C22A-EE39-463137B3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49508-A730-568C-5B70-A9625453C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31A87-90EE-7090-B6E2-C6664A9AB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0375A-1A11-57F7-9492-96667660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DDAB0-C760-7415-FCD4-0C0CE7CE8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1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5AF0-705C-D13D-B82D-6C979540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FFC7C-1F23-E007-95DF-D4F8F17FC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A19A7-D5D6-42DA-6B51-A5FA18AFC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2F2B9-BB49-A90E-77B9-BBDD2D7E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A384-156E-7DAE-E507-ECD820F4B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B623D-E8F7-6C22-7E40-CB69617B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01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8A5D-1391-DED4-A4A8-F2A67E6F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FC693-AF8C-22D1-C0D4-4EC81664C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8F2D0-EA80-1A4B-E06F-9741FA902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2B4B8-DCE8-31CD-4C47-583699DEE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B37F1-CAFC-5C05-6856-3277D835D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B9C56D-3A2C-5078-C8CF-C3145693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63EE2-0742-0772-E3C9-8E99AF62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1BDD-34FF-62EA-FC84-FADF37C3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829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4B35-21BB-2B42-05F6-A39E8B1D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26B93-0116-FD22-680A-575E568C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3DE9A-9C78-1AF6-6A5E-8A5AF4E6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EFC39-4A42-1CC5-B021-10F48CA7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892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81040C-7936-E0CE-5A35-290C85CD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F5F38-88FF-3AE3-4C43-F7FC8235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2DBFB-8290-9A1E-17A6-83F4ADB5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154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BF05-8D64-ACD9-50B6-142AC51F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35CB-A789-856D-5A20-1E870CEEC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14A54-DF51-35A8-682D-B2158F03F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99904-9D3B-7279-881F-2B0C2F5E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69C1C-5761-DA96-15D3-30621DD1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C1442-40A6-0E4E-D60B-623A48230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83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472-0140-DA2F-DE65-04F985CE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526E3-F547-AB66-3642-E349DF8D6E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A8794-3D08-444C-1BCA-562049926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02E2D-C0BA-C67E-F962-1507B79E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6610E-31D8-88E8-2CAE-259BE29DA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E0F70-7295-9D1F-D12B-8B095728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785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0C07-579D-DE0B-1DBF-8AE31018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B0D26-E72F-8D98-88D0-06F9DF1C4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2C2FD-D187-07C6-34FD-7DBF3E19E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EC189-511C-641C-6DA5-59B62230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C5588-37CE-ADD2-D204-EA4185A5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47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C9B4D-E924-B423-760C-1AADEDB82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8D310-408D-980C-B3AD-EAB87154B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0B160-8477-5361-4BDE-9BDE5BFD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BB590-2B83-51E4-723E-5C35A2F53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D643-D53C-0FF3-47B3-B64D6755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30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8691-466A-6806-AE48-150CC45DC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9FA31-2831-D405-7963-6BA90A0BC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5654A-1C71-5030-10C7-9C6F66C3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F3839-185A-2148-2E50-2A7D33FC4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CF3E6-F602-7832-2FAD-CF57C075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70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7841-9425-DBEF-3F6C-434817985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645-4824-7B6A-8192-D4B24D74B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5A356-7D72-841A-12E6-E29A16D1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4A594-05A8-2631-26A8-8C47B649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1FACB-468E-E47B-6902-14EA190F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02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4D01-D80D-CC02-0B01-90709300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3F4CD-0015-C8C7-46E1-759394C9D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C17D7-E20E-B90F-815F-20489F8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6707-E8DE-9F2A-D039-C582BCD4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6CAE0-D19D-3BB8-091A-2F98E2D6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407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DB04-1B98-2A65-CA23-6798888F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182FA-C89F-07BE-3675-F7FB4D80B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3728-FF48-B087-4951-B7A975888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1D4E8-0737-E668-2457-482938B4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7A7DD-2ABC-26F2-5F6C-180636D1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156FA-F6F5-B47B-2A9D-06AA2E31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32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D8B5-9447-89C3-20F6-0CCE5CAD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7BAFC-1405-D9F8-FAAE-EC0007C85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65531-6A78-8658-0DA8-487A93C2A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1E1989-9B02-7A6E-9C58-FE322C479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8036F6-31F6-822E-A68C-F4A54A004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E6513-998C-CE01-8E65-547EC7F5C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4D5415-B957-46F7-1C11-A1D23DA35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08452B-474D-4AD2-7968-E9837DDC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68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AD77-9166-DDC4-85A0-32F1D6F1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D562BC-1E97-78A7-B63A-C024799C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0ED7C-7F08-37D7-C2AC-13388758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F5752-C21E-70F3-DD9C-776CE8F4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2862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40E0E-C634-9D98-98DF-AA750AE5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BD037-E169-8555-F4C8-82630EBC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3F4F2-351D-1F8F-BFC6-9DD7EE98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0448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950C-D960-069A-EF0D-28C7BE08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A2AE-61F6-342A-715A-0452ECE5E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AE41E-8F7F-12D0-0C93-02B030693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41E36-B4D6-FE13-67C7-8CC1E3F0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BE4F4-5B19-9F55-EAE0-A38ED4B3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A102D-F6F7-1ACA-F761-B10A4DD3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9841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785D4-B671-414C-587D-8183B010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67900-884F-AD3A-B539-EAD38B947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DC342-0D4B-7DCE-16C7-70967FCD3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FCB10-1A58-388A-22BE-8BAB7331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33AD8-BB9F-20E2-5B4D-36E13729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63BAF-3982-9D99-01CC-B7D7BA1C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362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4E23-362C-D755-07A1-77423B54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714A3-C391-9AA3-793B-3AB726FBF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610E0-6305-9474-AA6D-DAFA777C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B60E6-78BC-455C-A798-36A99A11C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5288E-D573-31FA-4FBB-860C6E17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1203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3E022-C7E6-AA2A-342B-5F75753A3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1A402-558D-6CAB-79E5-B475A3FC9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B274-03CC-2413-1E60-B9C45155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134E4-876B-DD38-E937-C2703626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C734B-A08B-B5F5-82C6-671DBAEF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31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224CC-942D-7EEE-74A9-22373430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00962-FD7B-E75D-0513-B940B69EB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AD434-6B19-B7D8-CEE4-548A58D17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43B78-4B15-48B7-844B-FAF50BD23CF6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89A3-F41E-4778-BAC6-6CF6AB7E7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336BB-6CA3-328C-D60E-09AD2436C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CC0E9-971B-4AE6-BC05-046D8314A3D2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77C252-531B-1EEA-FE2E-312594EF70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335" y="0"/>
            <a:ext cx="1294665" cy="82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5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F0021D-C7D4-ED42-9BF8-FB434C64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2684C-FC72-CA46-1E91-DBECA7857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4327-396F-D9A8-826A-CC90720BC3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29C05-E46B-45A3-894C-8239547FA850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89883-F099-536F-DE94-B5E89478A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AA49B-26AF-F9DA-D641-DC8D92450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025DE-21F8-441D-AA34-105EB9794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21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6C75C0-CBA8-D621-3005-B8A7E612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155BB-F2C5-CA8E-5C85-4F3F37D60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91D9E-4B8F-101F-76BC-D540B3F15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9594D-C72E-448D-AFFE-6CF0FB6A741A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494A0-1B16-CFA9-A1E2-236855F90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7499D-D0D9-25D3-A4FE-F661B766D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9AE83-E52A-42E6-95E9-5D734B0D6E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99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slide" Target="slide20.xml"/><Relationship Id="rId18" Type="http://schemas.openxmlformats.org/officeDocument/2006/relationships/slide" Target="slide25.xml"/><Relationship Id="rId3" Type="http://schemas.openxmlformats.org/officeDocument/2006/relationships/slide" Target="slide10.xml"/><Relationship Id="rId7" Type="http://schemas.openxmlformats.org/officeDocument/2006/relationships/slide" Target="slide14.xml"/><Relationship Id="rId12" Type="http://schemas.openxmlformats.org/officeDocument/2006/relationships/slide" Target="slide19.xml"/><Relationship Id="rId17" Type="http://schemas.openxmlformats.org/officeDocument/2006/relationships/slide" Target="slide24.xml"/><Relationship Id="rId2" Type="http://schemas.openxmlformats.org/officeDocument/2006/relationships/notesSlide" Target="../notesSlides/notesSlide2.xml"/><Relationship Id="rId16" Type="http://schemas.openxmlformats.org/officeDocument/2006/relationships/slide" Target="slide23.xml"/><Relationship Id="rId20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11" Type="http://schemas.openxmlformats.org/officeDocument/2006/relationships/slide" Target="slide18.xml"/><Relationship Id="rId5" Type="http://schemas.openxmlformats.org/officeDocument/2006/relationships/slide" Target="slide12.xml"/><Relationship Id="rId15" Type="http://schemas.openxmlformats.org/officeDocument/2006/relationships/slide" Target="slide22.xml"/><Relationship Id="rId10" Type="http://schemas.openxmlformats.org/officeDocument/2006/relationships/slide" Target="slide17.xml"/><Relationship Id="rId19" Type="http://schemas.openxmlformats.org/officeDocument/2006/relationships/slide" Target="slide26.xml"/><Relationship Id="rId4" Type="http://schemas.openxmlformats.org/officeDocument/2006/relationships/slide" Target="slide11.xml"/><Relationship Id="rId9" Type="http://schemas.openxmlformats.org/officeDocument/2006/relationships/slide" Target="slide16.xml"/><Relationship Id="rId14" Type="http://schemas.openxmlformats.org/officeDocument/2006/relationships/slide" Target="slide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41%20Project%20Status%20for%20Wind%20Power%20Projects%20up%20to%2031Jan23.xlsx#_I" TargetMode="External"/><Relationship Id="rId2" Type="http://schemas.openxmlformats.org/officeDocument/2006/relationships/hyperlink" Target="https://d.docs.live.net/cbfe10444b12620d/Documents/17122022/40%20Project%20Status%20for%20Wind%20Power%20Projects%20up%20to%2031Dec22.xlsx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II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III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IV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V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VI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VII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VIII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I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X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XI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XI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XI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XI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XI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41%20Project%20Status%20for%20Wind%20Power%20Projects%20up%20to%2031Jan23.xlsx#_XI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5323FBF-7DB5-0171-9394-B6C5250621E0}"/>
              </a:ext>
            </a:extLst>
          </p:cNvPr>
          <p:cNvSpPr txBox="1">
            <a:spLocks/>
          </p:cNvSpPr>
          <p:nvPr/>
        </p:nvSpPr>
        <p:spPr>
          <a:xfrm>
            <a:off x="-171545" y="50085"/>
            <a:ext cx="12191999" cy="238713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OF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PROJECTS 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VARIOUS ISTS SCHEMES OF SECI </a:t>
            </a:r>
            <a:endParaRPr lang="en-IN" sz="36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EECCD2F-BEC1-3C8D-3195-EE38BFCBD13D}"/>
              </a:ext>
            </a:extLst>
          </p:cNvPr>
          <p:cNvSpPr txBox="1">
            <a:spLocks/>
          </p:cNvSpPr>
          <p:nvPr/>
        </p:nvSpPr>
        <p:spPr>
          <a:xfrm>
            <a:off x="1524000" y="5915032"/>
            <a:ext cx="9144000" cy="892882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altLang="en-US" sz="1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Energy Corporation of India Limited</a:t>
            </a:r>
          </a:p>
          <a:p>
            <a:pPr marL="0" indent="0">
              <a:buNone/>
            </a:pPr>
            <a:r>
              <a:rPr lang="en-IN" sz="11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17.11.2025</a:t>
            </a:r>
            <a:endParaRPr lang="en-IN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Boosting Energy: Wind and Solar Projects Progress in Four Provinces ...">
            <a:extLst>
              <a:ext uri="{FF2B5EF4-FFF2-40B4-BE49-F238E27FC236}">
                <a16:creationId xmlns:a16="http://schemas.microsoft.com/office/drawing/2014/main" id="{D5E16207-D2CA-7055-95EF-E71A0E563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593" y="2617680"/>
            <a:ext cx="3805519" cy="30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FFE1C735-FDB8-01B1-8458-1E0B2306E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9" y="2667807"/>
            <a:ext cx="4074922" cy="301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ispatch, Fluence and Eneco to deploy Netherlands' largest standalone ...">
            <a:extLst>
              <a:ext uri="{FF2B5EF4-FFF2-40B4-BE49-F238E27FC236}">
                <a16:creationId xmlns:a16="http://schemas.microsoft.com/office/drawing/2014/main" id="{A9339F97-0857-34DB-1B2A-52E3B57178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9"/>
          <a:stretch>
            <a:fillRect/>
          </a:stretch>
        </p:blipFill>
        <p:spPr bwMode="auto">
          <a:xfrm>
            <a:off x="8172878" y="2617680"/>
            <a:ext cx="3967346" cy="301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DA3FB2-B039-21DE-F6C1-6C6AB9A33C70}"/>
              </a:ext>
            </a:extLst>
          </p:cNvPr>
          <p:cNvCxnSpPr/>
          <p:nvPr/>
        </p:nvCxnSpPr>
        <p:spPr>
          <a:xfrm>
            <a:off x="-51776" y="2437218"/>
            <a:ext cx="12191999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43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D605-FFA5-EB47-2CCA-409EBDC3B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B37F4-30F0-B2C5-34E0-956B7340C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4" y="877987"/>
            <a:ext cx="11873132" cy="5853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3FA02-58E5-472A-90FA-73A98F9B57FB}"/>
              </a:ext>
            </a:extLst>
          </p:cNvPr>
          <p:cNvSpPr txBox="1"/>
          <p:nvPr/>
        </p:nvSpPr>
        <p:spPr>
          <a:xfrm>
            <a:off x="159434" y="214694"/>
            <a:ext cx="11873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ea typeface="+mj-ea"/>
                <a:cs typeface="+mj-cs"/>
              </a:rPr>
              <a:t>I</a:t>
            </a:r>
            <a:r>
              <a:rPr lang="en-IN" sz="2800" dirty="0">
                <a:solidFill>
                  <a:srgbClr val="0070C0"/>
                </a:solidFill>
                <a:ea typeface="+mj-ea"/>
                <a:cs typeface="+mj-cs"/>
              </a:rPr>
              <a:t>STS WIND POWER PROJECTS – YoY PROGRESS &amp; PROJECTIONS</a:t>
            </a:r>
            <a:endParaRPr lang="en-GB" sz="2800" dirty="0">
              <a:solidFill>
                <a:srgbClr val="0070C0"/>
              </a:solidFill>
              <a:ea typeface="+mj-ea"/>
              <a:cs typeface="+mj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FCB85DC-20F1-4BE5-9064-6491818E3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9624063"/>
              </p:ext>
            </p:extLst>
          </p:nvPr>
        </p:nvGraphicFramePr>
        <p:xfrm>
          <a:off x="311085" y="1046375"/>
          <a:ext cx="11510127" cy="5549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529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1687-2FC3-5C15-68F8-E350DF57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51B82-4875-E0A1-6E6B-3374A7273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4" y="877987"/>
            <a:ext cx="11873132" cy="5853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9DC9E-4715-E365-AF8E-41EF8F141757}"/>
              </a:ext>
            </a:extLst>
          </p:cNvPr>
          <p:cNvSpPr txBox="1"/>
          <p:nvPr/>
        </p:nvSpPr>
        <p:spPr>
          <a:xfrm>
            <a:off x="159434" y="26215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ea typeface="+mj-ea"/>
                <a:cs typeface="+mj-cs"/>
              </a:rPr>
              <a:t>I</a:t>
            </a:r>
            <a:r>
              <a:rPr lang="en-IN" sz="2800" dirty="0">
                <a:solidFill>
                  <a:srgbClr val="0070C0"/>
                </a:solidFill>
                <a:ea typeface="+mj-ea"/>
                <a:cs typeface="+mj-cs"/>
              </a:rPr>
              <a:t>STS WIND POWER PROJECTS – TRANCHE-WISE PROGRESS</a:t>
            </a:r>
            <a:endParaRPr lang="en-GB" sz="2800" dirty="0">
              <a:solidFill>
                <a:srgbClr val="0070C0"/>
              </a:solidFill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1999B-519A-1D49-DD99-C3D590735DD1}"/>
              </a:ext>
            </a:extLst>
          </p:cNvPr>
          <p:cNvSpPr txBox="1"/>
          <p:nvPr/>
        </p:nvSpPr>
        <p:spPr>
          <a:xfrm>
            <a:off x="421106" y="5948308"/>
            <a:ext cx="8999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*In T-I, PPA was signed between WPD and PTC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T-XV was cancelled due to abnormally high tariff quoted by bidders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5A6AAE8-FE15-44E8-B616-78AF4998E6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188668"/>
              </p:ext>
            </p:extLst>
          </p:nvPr>
        </p:nvGraphicFramePr>
        <p:xfrm>
          <a:off x="-124584" y="967920"/>
          <a:ext cx="11662356" cy="5763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7519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7EBF5-A1BE-E303-B5FA-37C3A5B0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9EA37-67CD-191A-C0FD-DDA6F78A1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4" y="877987"/>
            <a:ext cx="11873132" cy="5853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25AE3-D8D5-F1EB-A4E6-01BF688128FF}"/>
              </a:ext>
            </a:extLst>
          </p:cNvPr>
          <p:cNvSpPr txBox="1"/>
          <p:nvPr/>
        </p:nvSpPr>
        <p:spPr>
          <a:xfrm>
            <a:off x="159434" y="214694"/>
            <a:ext cx="11873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ea typeface="+mj-ea"/>
                <a:cs typeface="+mj-cs"/>
              </a:rPr>
              <a:t>I</a:t>
            </a:r>
            <a:r>
              <a:rPr lang="en-IN" sz="2800" dirty="0">
                <a:solidFill>
                  <a:srgbClr val="0070C0"/>
                </a:solidFill>
                <a:ea typeface="+mj-ea"/>
                <a:cs typeface="+mj-cs"/>
              </a:rPr>
              <a:t>STS WIND POWER PROJECTS – YoY PROGRESS &amp; PROJECTIONS</a:t>
            </a:r>
            <a:endParaRPr lang="en-GB" sz="2800" dirty="0">
              <a:solidFill>
                <a:srgbClr val="0070C0"/>
              </a:solidFill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E3C813-CABB-C268-25C3-FA7187B33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114357"/>
              </p:ext>
            </p:extLst>
          </p:nvPr>
        </p:nvGraphicFramePr>
        <p:xfrm>
          <a:off x="31051" y="972856"/>
          <a:ext cx="12129898" cy="5758530"/>
        </p:xfrm>
        <a:graphic>
          <a:graphicData uri="http://schemas.openxmlformats.org/drawingml/2006/table">
            <a:tbl>
              <a:tblPr lastRow="1" bandRow="1">
                <a:tableStyleId>{5C22544A-7EE6-4342-B048-85BDC9FD1C3A}</a:tableStyleId>
              </a:tblPr>
              <a:tblGrid>
                <a:gridCol w="664533">
                  <a:extLst>
                    <a:ext uri="{9D8B030D-6E8A-4147-A177-3AD203B41FA5}">
                      <a16:colId xmlns:a16="http://schemas.microsoft.com/office/drawing/2014/main" val="1525875574"/>
                    </a:ext>
                  </a:extLst>
                </a:gridCol>
                <a:gridCol w="968691">
                  <a:extLst>
                    <a:ext uri="{9D8B030D-6E8A-4147-A177-3AD203B41FA5}">
                      <a16:colId xmlns:a16="http://schemas.microsoft.com/office/drawing/2014/main" val="1865253979"/>
                    </a:ext>
                  </a:extLst>
                </a:gridCol>
                <a:gridCol w="916798">
                  <a:extLst>
                    <a:ext uri="{9D8B030D-6E8A-4147-A177-3AD203B41FA5}">
                      <a16:colId xmlns:a16="http://schemas.microsoft.com/office/drawing/2014/main" val="4255467293"/>
                    </a:ext>
                  </a:extLst>
                </a:gridCol>
                <a:gridCol w="899497">
                  <a:extLst>
                    <a:ext uri="{9D8B030D-6E8A-4147-A177-3AD203B41FA5}">
                      <a16:colId xmlns:a16="http://schemas.microsoft.com/office/drawing/2014/main" val="1839316076"/>
                    </a:ext>
                  </a:extLst>
                </a:gridCol>
                <a:gridCol w="1072479">
                  <a:extLst>
                    <a:ext uri="{9D8B030D-6E8A-4147-A177-3AD203B41FA5}">
                      <a16:colId xmlns:a16="http://schemas.microsoft.com/office/drawing/2014/main" val="4247397983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1762696657"/>
                    </a:ext>
                  </a:extLst>
                </a:gridCol>
                <a:gridCol w="1483154">
                  <a:extLst>
                    <a:ext uri="{9D8B030D-6E8A-4147-A177-3AD203B41FA5}">
                      <a16:colId xmlns:a16="http://schemas.microsoft.com/office/drawing/2014/main" val="2371253637"/>
                    </a:ext>
                  </a:extLst>
                </a:gridCol>
                <a:gridCol w="1109288">
                  <a:extLst>
                    <a:ext uri="{9D8B030D-6E8A-4147-A177-3AD203B41FA5}">
                      <a16:colId xmlns:a16="http://schemas.microsoft.com/office/drawing/2014/main" val="392718463"/>
                    </a:ext>
                  </a:extLst>
                </a:gridCol>
                <a:gridCol w="988275">
                  <a:extLst>
                    <a:ext uri="{9D8B030D-6E8A-4147-A177-3AD203B41FA5}">
                      <a16:colId xmlns:a16="http://schemas.microsoft.com/office/drawing/2014/main" val="2266592741"/>
                    </a:ext>
                  </a:extLst>
                </a:gridCol>
                <a:gridCol w="826925">
                  <a:extLst>
                    <a:ext uri="{9D8B030D-6E8A-4147-A177-3AD203B41FA5}">
                      <a16:colId xmlns:a16="http://schemas.microsoft.com/office/drawing/2014/main" val="3877006467"/>
                    </a:ext>
                  </a:extLst>
                </a:gridCol>
                <a:gridCol w="1119373">
                  <a:extLst>
                    <a:ext uri="{9D8B030D-6E8A-4147-A177-3AD203B41FA5}">
                      <a16:colId xmlns:a16="http://schemas.microsoft.com/office/drawing/2014/main" val="1798204644"/>
                    </a:ext>
                  </a:extLst>
                </a:gridCol>
                <a:gridCol w="1068949">
                  <a:extLst>
                    <a:ext uri="{9D8B030D-6E8A-4147-A177-3AD203B41FA5}">
                      <a16:colId xmlns:a16="http://schemas.microsoft.com/office/drawing/2014/main" val="2277054308"/>
                    </a:ext>
                  </a:extLst>
                </a:gridCol>
              </a:tblGrid>
              <a:tr h="6134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effectLst/>
                        </a:rPr>
                        <a:t>Tranche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effectLst/>
                        </a:rPr>
                        <a:t>Total Capacity Tendered </a:t>
                      </a:r>
                    </a:p>
                    <a:p>
                      <a:pPr algn="ctr" rtl="0" fontAlgn="ctr"/>
                      <a:r>
                        <a:rPr lang="en-IN" sz="1100" b="1" u="none" strike="noStrike" dirty="0">
                          <a:effectLst/>
                        </a:rPr>
                        <a:t>(MW)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effectLst/>
                        </a:rPr>
                        <a:t>Total capacity awarded </a:t>
                      </a:r>
                    </a:p>
                    <a:p>
                      <a:pPr algn="ctr" rtl="0" fontAlgn="ctr"/>
                      <a:r>
                        <a:rPr lang="en-IN" sz="1100" b="1" u="none" strike="noStrike" dirty="0">
                          <a:effectLst/>
                        </a:rPr>
                        <a:t>(MW)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effectLst/>
                        </a:rPr>
                        <a:t>PPA Signed Capacity</a:t>
                      </a:r>
                    </a:p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(MW)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>
                          <a:effectLst/>
                        </a:rPr>
                        <a:t>PPA Effective Date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effectLst/>
                        </a:rPr>
                        <a:t>Original SCD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effectLst/>
                        </a:rPr>
                        <a:t>Capacity Commissioned till date </a:t>
                      </a:r>
                    </a:p>
                    <a:p>
                      <a:pPr algn="ctr" rtl="0" fontAlgn="ctr"/>
                      <a:r>
                        <a:rPr lang="en-US" sz="1100" b="1" u="none" strike="noStrike" dirty="0">
                          <a:effectLst/>
                        </a:rPr>
                        <a:t>(MW)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>
                          <a:effectLst/>
                        </a:rPr>
                        <a:t>Capacity Under Implementation</a:t>
                      </a:r>
                    </a:p>
                    <a:p>
                      <a:pPr algn="ctr" rtl="0" fontAlgn="ctr"/>
                      <a:r>
                        <a:rPr lang="en-IN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(MW)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>
                          <a:effectLst/>
                        </a:rPr>
                        <a:t>Cancelled / Terminated</a:t>
                      </a:r>
                    </a:p>
                    <a:p>
                      <a:pPr algn="ctr" rtl="0" fontAlgn="ctr"/>
                      <a:r>
                        <a:rPr lang="en-IN" sz="1100" b="1" u="none" strike="noStrike">
                          <a:effectLst/>
                        </a:rPr>
                        <a:t>(MW) 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>
                          <a:effectLst/>
                        </a:rPr>
                        <a:t>Disputed Capacity</a:t>
                      </a:r>
                    </a:p>
                    <a:p>
                      <a:pPr algn="ctr" rtl="0" fontAlgn="ctr"/>
                      <a:r>
                        <a:rPr lang="en-IN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(MW)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>
                          <a:effectLst/>
                        </a:rPr>
                        <a:t>Capacity not likely to come up</a:t>
                      </a:r>
                    </a:p>
                    <a:p>
                      <a:pPr algn="ctr" rtl="0" fontAlgn="ctr"/>
                      <a:r>
                        <a:rPr lang="en-IN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(MW)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Tariff</a:t>
                      </a:r>
                    </a:p>
                    <a:p>
                      <a:pPr algn="ctr" rtl="0" fontAlgn="ctr"/>
                      <a:r>
                        <a:rPr lang="en-IN" sz="11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(INR/kWh)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extLst>
                  <a:ext uri="{0D108BD9-81ED-4DB2-BD59-A6C34878D82A}">
                    <a16:rowId xmlns:a16="http://schemas.microsoft.com/office/drawing/2014/main" val="1880626358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3" action="ppaction://hlinksldjump"/>
                        </a:rPr>
                        <a:t>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3" action="ppaction://hlinksldjump"/>
                        </a:rPr>
                        <a:t>1000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1049.9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1049.9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21-07-2017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05-10-2018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999.9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3.46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3832034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II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4" action="ppaction://hlinksldjump"/>
                        </a:rPr>
                        <a:t>1000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1000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1000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02-01-2018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03-05-2019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760.1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239.9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2.64 - 2.65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5210509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III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5" action="ppaction://hlinksldjump"/>
                        </a:rPr>
                        <a:t>2000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2000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2000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24-05-2018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24-11-2019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950.2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1049.8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2.44 – 2.45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631363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IV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6" action="ppaction://hlinksldjump"/>
                        </a:rPr>
                        <a:t>2000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2000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30-08-2018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28-02-2020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724.0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573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703.0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2.51 – 2.52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7326882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V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7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1190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1190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22-01-2019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22-07-2020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621.5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393.5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2.76 – 2.77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6637469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VI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8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1075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15-09-2019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15-03-2021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973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2.82 – 2.83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9416730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VII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9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480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280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18-10-2019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18-04-2021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180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2.79 – 2.83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8668982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VIII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0" action="ppaction://hlinksldjump"/>
                        </a:rPr>
                        <a:t>1800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440.8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440.64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21-05-2020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21-11-2021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250.71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189.93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2.83 – 2.84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47962343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IX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1" action="ppaction://hlinksldjump"/>
                        </a:rPr>
                        <a:t>2500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970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970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31-03-2021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31-03-2023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862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0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2.99 – 3.00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2275763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X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2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1200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1200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10-09-2021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10-03-2023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750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450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2.77-2.78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4425385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XI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3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1200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1200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30-06-2022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30-12-2023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245.4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900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120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2.69-2.70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33546900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XII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4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1100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800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29-03-2023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29-03-2025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800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2.89-2.94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38659639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XIII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5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600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600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26-06-2023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26-06-2025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2.90-2.95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0328342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XIV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6" action="ppaction://hlinksldjump"/>
                        </a:rPr>
                        <a:t>1200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690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500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16-11-2023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16-11-2025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500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200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3.18-3.24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329660"/>
                  </a:ext>
                </a:extLst>
              </a:tr>
              <a:tr h="754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XV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1300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 gridSpan="9"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>
                          <a:effectLst/>
                        </a:rPr>
                        <a:t>In line with MNRE letter dated 16.02.2024, SECI tender for 1300 MW Wind Tranche-XV stands cancelled.</a:t>
                      </a:r>
                    </a:p>
                  </a:txBody>
                  <a:tcPr marL="5557" marR="5557" marT="5557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1400" u="none" strike="noStrike" dirty="0">
                        <a:effectLst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37263173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XVI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7" action="ppaction://hlinksldjump"/>
                        </a:rPr>
                        <a:t>1350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1175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1175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13-06-2024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13-06-2026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1175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3.60-3.70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97355116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XVII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  <a:hlinkClick r:id="rId18" action="ppaction://hlinksldjump"/>
                        </a:rPr>
                        <a:t>500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01-03-2025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01-03-2027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u="none" strike="noStrike" dirty="0">
                          <a:effectLst/>
                        </a:rPr>
                        <a:t>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3.81-3.82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88337849"/>
                  </a:ext>
                </a:extLst>
              </a:tr>
              <a:tr h="27020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XVIII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PPA yet to be signed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638034"/>
                  </a:ext>
                </a:extLst>
              </a:tr>
              <a:tr h="3076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effectLst/>
                        </a:rPr>
                        <a:t>Total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effectLst/>
                        </a:rPr>
                        <a:t>23650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effectLst/>
                        </a:rPr>
                        <a:t>16695.7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effectLst/>
                        </a:rPr>
                        <a:t>15580.5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effectLst/>
                        </a:rPr>
                        <a:t> 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effectLst/>
                        </a:rPr>
                        <a:t> 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7126.01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2978.4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  <a:hlinkClick r:id="rId1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1458.4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3967.73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  <a:hlinkClick r:id="rId2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420.0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57" marR="5557" marT="5557" marB="0" anchor="ctr"/>
                </a:tc>
                <a:extLst>
                  <a:ext uri="{0D108BD9-81ED-4DB2-BD59-A6C34878D82A}">
                    <a16:rowId xmlns:a16="http://schemas.microsoft.com/office/drawing/2014/main" val="3887278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0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FCF826-3D00-0CD4-FFC1-47CF350FC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181994"/>
              </p:ext>
            </p:extLst>
          </p:nvPr>
        </p:nvGraphicFramePr>
        <p:xfrm>
          <a:off x="116541" y="701733"/>
          <a:ext cx="11958917" cy="5454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504">
                  <a:extLst>
                    <a:ext uri="{9D8B030D-6E8A-4147-A177-3AD203B41FA5}">
                      <a16:colId xmlns:a16="http://schemas.microsoft.com/office/drawing/2014/main" val="1464149496"/>
                    </a:ext>
                  </a:extLst>
                </a:gridCol>
                <a:gridCol w="942392">
                  <a:extLst>
                    <a:ext uri="{9D8B030D-6E8A-4147-A177-3AD203B41FA5}">
                      <a16:colId xmlns:a16="http://schemas.microsoft.com/office/drawing/2014/main" val="1717262643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2210686900"/>
                    </a:ext>
                  </a:extLst>
                </a:gridCol>
                <a:gridCol w="1166326">
                  <a:extLst>
                    <a:ext uri="{9D8B030D-6E8A-4147-A177-3AD203B41FA5}">
                      <a16:colId xmlns:a16="http://schemas.microsoft.com/office/drawing/2014/main" val="1080282854"/>
                    </a:ext>
                  </a:extLst>
                </a:gridCol>
                <a:gridCol w="3341931">
                  <a:extLst>
                    <a:ext uri="{9D8B030D-6E8A-4147-A177-3AD203B41FA5}">
                      <a16:colId xmlns:a16="http://schemas.microsoft.com/office/drawing/2014/main" val="2719856805"/>
                    </a:ext>
                  </a:extLst>
                </a:gridCol>
                <a:gridCol w="4404123">
                  <a:extLst>
                    <a:ext uri="{9D8B030D-6E8A-4147-A177-3AD203B41FA5}">
                      <a16:colId xmlns:a16="http://schemas.microsoft.com/office/drawing/2014/main" val="4210947227"/>
                    </a:ext>
                  </a:extLst>
                </a:gridCol>
              </a:tblGrid>
              <a:tr h="91812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Capacity Commissioned till date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Likely to be  commissioned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Tariff/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/ Max 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Project-wise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358378"/>
                  </a:ext>
                </a:extLst>
              </a:tr>
              <a:tr h="120942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862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2.99-3.0 INR/kWh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for JSW/270 MW – (Actual start date of LTA plus 60 days)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Vena (160 MW, fully commissioned on 29.10.2024)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(540 MW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commissioned on 31.03.2025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(270 MW) </a:t>
                      </a: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 MW – By Oct’2025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614284"/>
                  </a:ext>
                </a:extLst>
              </a:tr>
              <a:tr h="1439737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2.77-2.78 INR/kWh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for Viento 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- 09.10.2024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timeline for commissioning is 06.07.2025.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(300 MW, under litigation)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Ayana (300 MW, fully commissioned)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Viento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(150 MW, under litigation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(150 MW, fully commissioned)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(300 MW, fully commissioned)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795597"/>
                  </a:ext>
                </a:extLst>
              </a:tr>
              <a:tr h="186065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125.4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2.69-2.70 INR/kWh</a:t>
                      </a: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for </a:t>
                      </a: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Sembcorp – 26.01.2026</a:t>
                      </a:r>
                    </a:p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for Others – 26.07.2025; Max. time for commissioning with LD 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22.04.2026.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Sembcorp (180 MW, 54.6 MW 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 MW:           Sept’25</a:t>
                      </a: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104.4 MW       Oct’25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Renew (300 MW), 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Anupavan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(150 MW), Adani (450 MW), Azure (120 MW) - under litigation/ not likely to come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534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F5AE45D-B38B-67DC-15D5-377AB69D15BA}"/>
              </a:ext>
            </a:extLst>
          </p:cNvPr>
          <p:cNvSpPr txBox="1"/>
          <p:nvPr/>
        </p:nvSpPr>
        <p:spPr>
          <a:xfrm>
            <a:off x="291966" y="138499"/>
            <a:ext cx="11783493" cy="5909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TRANCHE-WISE REALISTIC FIGURES OF PROJECT CAPACITIES LIKELY TO BE COMMISSIONED FROM THE TOTAL AWARDED CAPACITY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8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AB5F6E-33D9-5987-2488-66FF7469A3BD}"/>
              </a:ext>
            </a:extLst>
          </p:cNvPr>
          <p:cNvGraphicFramePr>
            <a:graphicFrameLocks noGrp="1"/>
          </p:cNvGraphicFramePr>
          <p:nvPr/>
        </p:nvGraphicFramePr>
        <p:xfrm>
          <a:off x="167951" y="677109"/>
          <a:ext cx="11680182" cy="5686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706">
                  <a:extLst>
                    <a:ext uri="{9D8B030D-6E8A-4147-A177-3AD203B41FA5}">
                      <a16:colId xmlns:a16="http://schemas.microsoft.com/office/drawing/2014/main" val="2437246375"/>
                    </a:ext>
                  </a:extLst>
                </a:gridCol>
                <a:gridCol w="906456">
                  <a:extLst>
                    <a:ext uri="{9D8B030D-6E8A-4147-A177-3AD203B41FA5}">
                      <a16:colId xmlns:a16="http://schemas.microsoft.com/office/drawing/2014/main" val="3653494502"/>
                    </a:ext>
                  </a:extLst>
                </a:gridCol>
                <a:gridCol w="1189234">
                  <a:extLst>
                    <a:ext uri="{9D8B030D-6E8A-4147-A177-3AD203B41FA5}">
                      <a16:colId xmlns:a16="http://schemas.microsoft.com/office/drawing/2014/main" val="4185334151"/>
                    </a:ext>
                  </a:extLst>
                </a:gridCol>
                <a:gridCol w="1313890">
                  <a:extLst>
                    <a:ext uri="{9D8B030D-6E8A-4147-A177-3AD203B41FA5}">
                      <a16:colId xmlns:a16="http://schemas.microsoft.com/office/drawing/2014/main" val="167525109"/>
                    </a:ext>
                  </a:extLst>
                </a:gridCol>
                <a:gridCol w="1925215">
                  <a:extLst>
                    <a:ext uri="{9D8B030D-6E8A-4147-A177-3AD203B41FA5}">
                      <a16:colId xmlns:a16="http://schemas.microsoft.com/office/drawing/2014/main" val="405868197"/>
                    </a:ext>
                  </a:extLst>
                </a:gridCol>
                <a:gridCol w="5337681">
                  <a:extLst>
                    <a:ext uri="{9D8B030D-6E8A-4147-A177-3AD203B41FA5}">
                      <a16:colId xmlns:a16="http://schemas.microsoft.com/office/drawing/2014/main" val="3049929814"/>
                    </a:ext>
                  </a:extLst>
                </a:gridCol>
              </a:tblGrid>
              <a:tr h="112111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Capacity Commissioned till date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Likely to be  commissioned</a:t>
                      </a: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Tariff/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SCD/ Max Timeline</a:t>
                      </a:r>
                    </a:p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Project-wise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347773"/>
                  </a:ext>
                </a:extLst>
              </a:tr>
              <a:tr h="86796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2.89-2.94 INR/kWh</a:t>
                      </a: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– 23.01.2026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(300 MW, under implementation)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NTPC (200 MW, under implementation)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Torrent (300 MW, under implementation)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195735"/>
                  </a:ext>
                </a:extLst>
              </a:tr>
              <a:tr h="97645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2.9-2.95 INR/kWh</a:t>
                      </a: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– 02.12.2025</a:t>
                      </a:r>
                    </a:p>
                    <a:p>
                      <a:pPr algn="ctr"/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SJVN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(100 MW, under implementation)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Scatec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(300 MW, under litigation)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(200 MW, under litigation /DRC)</a:t>
                      </a:r>
                      <a:endParaRPr lang="en-IN" sz="1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267567"/>
                  </a:ext>
                </a:extLst>
              </a:tr>
              <a:tr h="6871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3.18-3.24 INR/kWh</a:t>
                      </a: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– 27.12.2025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Apraava (300 MW, under implementation)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SJVN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(200 MW, under implementation)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945185"/>
                  </a:ext>
                </a:extLst>
              </a:tr>
              <a:tr h="86796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3.6-3.7 INR/kWh</a:t>
                      </a: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– 19.06.2026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Torrent (100 MW, under implementation)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Powerica (50 MW, under implementation)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(1025 MW, under implementation)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022637"/>
                  </a:ext>
                </a:extLst>
              </a:tr>
              <a:tr h="6871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XVIII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3.81-3.82 INR/kWh</a:t>
                      </a: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SCD – 01.03.2027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Powerica (50 MW, under implementation)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Adyant (50 MW, tariff not adopted by CERC)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9839491"/>
                  </a:ext>
                </a:extLst>
              </a:tr>
              <a:tr h="434637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6545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1666.6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2558.4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9635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40D454-DB54-B79F-492B-82EA00FFE5D0}"/>
              </a:ext>
            </a:extLst>
          </p:cNvPr>
          <p:cNvSpPr txBox="1"/>
          <p:nvPr/>
        </p:nvSpPr>
        <p:spPr>
          <a:xfrm>
            <a:off x="375385" y="30777"/>
            <a:ext cx="11444438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 sz="2000" dirty="0"/>
              <a:t>TRANCHE-WISE REALISTIC FIGURES OF PROJECT CAPACITIES LIKELY TO BE COMMISSIONED FROM THE TOTAL AWARDED CAPACITY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…]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41938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7F10-BF40-73F4-2E1F-D0C39288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274002"/>
            <a:ext cx="10855960" cy="407035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Power Projects Impacted due to delay in GNA/Connectivity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84D0A-A1CB-7EA1-B8E6-CB40A4B64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273323"/>
              </p:ext>
            </p:extLst>
          </p:nvPr>
        </p:nvGraphicFramePr>
        <p:xfrm>
          <a:off x="233680" y="1056640"/>
          <a:ext cx="11755120" cy="49666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5475">
                  <a:extLst>
                    <a:ext uri="{9D8B030D-6E8A-4147-A177-3AD203B41FA5}">
                      <a16:colId xmlns:a16="http://schemas.microsoft.com/office/drawing/2014/main" val="1377290156"/>
                    </a:ext>
                  </a:extLst>
                </a:gridCol>
                <a:gridCol w="1427223">
                  <a:extLst>
                    <a:ext uri="{9D8B030D-6E8A-4147-A177-3AD203B41FA5}">
                      <a16:colId xmlns:a16="http://schemas.microsoft.com/office/drawing/2014/main" val="2777390116"/>
                    </a:ext>
                  </a:extLst>
                </a:gridCol>
                <a:gridCol w="1063202">
                  <a:extLst>
                    <a:ext uri="{9D8B030D-6E8A-4147-A177-3AD203B41FA5}">
                      <a16:colId xmlns:a16="http://schemas.microsoft.com/office/drawing/2014/main" val="3806877942"/>
                    </a:ext>
                  </a:extLst>
                </a:gridCol>
                <a:gridCol w="1500167">
                  <a:extLst>
                    <a:ext uri="{9D8B030D-6E8A-4147-A177-3AD203B41FA5}">
                      <a16:colId xmlns:a16="http://schemas.microsoft.com/office/drawing/2014/main" val="1396682785"/>
                    </a:ext>
                  </a:extLst>
                </a:gridCol>
                <a:gridCol w="901578">
                  <a:extLst>
                    <a:ext uri="{9D8B030D-6E8A-4147-A177-3AD203B41FA5}">
                      <a16:colId xmlns:a16="http://schemas.microsoft.com/office/drawing/2014/main" val="2460506625"/>
                    </a:ext>
                  </a:extLst>
                </a:gridCol>
                <a:gridCol w="1064158">
                  <a:extLst>
                    <a:ext uri="{9D8B030D-6E8A-4147-A177-3AD203B41FA5}">
                      <a16:colId xmlns:a16="http://schemas.microsoft.com/office/drawing/2014/main" val="2908264120"/>
                    </a:ext>
                  </a:extLst>
                </a:gridCol>
                <a:gridCol w="1421345">
                  <a:extLst>
                    <a:ext uri="{9D8B030D-6E8A-4147-A177-3AD203B41FA5}">
                      <a16:colId xmlns:a16="http://schemas.microsoft.com/office/drawing/2014/main" val="2512322236"/>
                    </a:ext>
                  </a:extLst>
                </a:gridCol>
                <a:gridCol w="1869894">
                  <a:extLst>
                    <a:ext uri="{9D8B030D-6E8A-4147-A177-3AD203B41FA5}">
                      <a16:colId xmlns:a16="http://schemas.microsoft.com/office/drawing/2014/main" val="2326593771"/>
                    </a:ext>
                  </a:extLst>
                </a:gridCol>
                <a:gridCol w="971305">
                  <a:extLst>
                    <a:ext uri="{9D8B030D-6E8A-4147-A177-3AD203B41FA5}">
                      <a16:colId xmlns:a16="http://schemas.microsoft.com/office/drawing/2014/main" val="1453954338"/>
                    </a:ext>
                  </a:extLst>
                </a:gridCol>
                <a:gridCol w="1030773">
                  <a:extLst>
                    <a:ext uri="{9D8B030D-6E8A-4147-A177-3AD203B41FA5}">
                      <a16:colId xmlns:a16="http://schemas.microsoft.com/office/drawing/2014/main" val="3362171086"/>
                    </a:ext>
                  </a:extLst>
                </a:gridCol>
              </a:tblGrid>
              <a:tr h="15721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Tranche/ Scheme 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Bidder/ SPV 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Interconnection Point/ Pooling Substation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 Project Capacity, MW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SCD (as per PPA)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Revised SCD</a:t>
                      </a: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Connectivity/ GNA effectiveness date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Capacity delayed due to transmission (in MW)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but under </a:t>
                      </a:r>
                      <a:r>
                        <a:rPr lang="en-US" sz="1600" b="1" u="sng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TGNA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MW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0986156"/>
                  </a:ext>
                </a:extLst>
              </a:tr>
              <a:tr h="91083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SECI IX-Blended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 kV Karur S/S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15-07-2023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date of GNA effectiveness + 60 days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31-03-2026*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991077"/>
                  </a:ext>
                </a:extLst>
              </a:tr>
              <a:tr h="79821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SECI Wind-XI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Infra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400/220 kV Gadag S/S</a:t>
                      </a:r>
                      <a:endParaRPr lang="nl-NL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30-12-2023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01.07.2025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31-03-2026*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747922"/>
                  </a:ext>
                </a:extLst>
              </a:tr>
              <a:tr h="5916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SECI Wind-XII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400/220 kV Solapur S/S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29-03-2025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23.01.2026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31-03-2026*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286749"/>
                  </a:ext>
                </a:extLst>
              </a:tr>
              <a:tr h="5321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SECI Wind-XII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Torrent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400/220 kV Koppal-II S/S</a:t>
                      </a:r>
                      <a:endParaRPr lang="nl-NL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29-03-2025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23.01.2026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27-12-2025#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974475"/>
                  </a:ext>
                </a:extLst>
              </a:tr>
              <a:tr h="46852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SECI Wind-XIV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Apraava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Vijayapura/ Bijapur GSS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16-11-2025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27.12.2025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17-01-2027$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03" marR="4703" marT="4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35475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75F9AB-4AA8-EF4F-D8BD-248B896C4064}"/>
              </a:ext>
            </a:extLst>
          </p:cNvPr>
          <p:cNvSpPr txBox="1"/>
          <p:nvPr/>
        </p:nvSpPr>
        <p:spPr>
          <a:xfrm>
            <a:off x="233680" y="6023242"/>
            <a:ext cx="115190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*Expected COD date of Narendra –Pune Line, which may be further extended.</a:t>
            </a:r>
          </a:p>
          <a:p>
            <a:r>
              <a:rPr lang="en-IN" sz="1400" dirty="0"/>
              <a:t>#Timeline may be extended.</a:t>
            </a:r>
          </a:p>
          <a:p>
            <a:r>
              <a:rPr lang="en-IN" sz="1400" dirty="0"/>
              <a:t>$SPV transfer took place in Jan 2025.  </a:t>
            </a:r>
          </a:p>
        </p:txBody>
      </p:sp>
    </p:spTree>
    <p:extLst>
      <p:ext uri="{BB962C8B-B14F-4D97-AF65-F5344CB8AC3E}">
        <p14:creationId xmlns:p14="http://schemas.microsoft.com/office/powerpoint/2010/main" val="266698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AA8D-8A6D-20E3-AE1B-17F359E10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99389"/>
            <a:ext cx="10515600" cy="481648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EC6E8-5983-1F69-D21E-2B6F12EB5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1005841"/>
            <a:ext cx="11892280" cy="565277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DELAY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 CERC notification dated 20.06.2025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any extension in the Scheduled Commissioning Date (SCD) shall not exceed six months at a time and can be granted a maximum of two times, specifically for extensions beyond 30.06.2025.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 the case of M/s Apraava’s 300 MW wind power project under SECI Tranche-XIV, the delay in operationalization of GNA exceeds two years.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accordance with the MoP order dated 09.06.2023 and provisions of the PPA, the Competent Authority to grant extensions beyond 30.06.2025 is the Ministry of New and Renewable Energy (MNRE). Accordingly, M/s Apraava’s request for extension of the SCD beyond 30.06.2025 has been submitted to MNRE vide letter/emails dated 23.05.2025 and 08.07.2025 for necessary directions.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63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2A6FB-C5E1-8AC9-1E58-9751FE77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2641600"/>
            <a:ext cx="10515600" cy="1325563"/>
          </a:xfrm>
        </p:spPr>
        <p:txBody>
          <a:bodyPr/>
          <a:lstStyle/>
          <a:p>
            <a:r>
              <a:rPr lang="en-US" b="1" dirty="0"/>
              <a:t>Tranche-wise Progress Status (Wind)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77495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hlinkClick r:id="rId2"/>
          </p:cNvPr>
          <p:cNvSpPr txBox="1"/>
          <p:nvPr/>
        </p:nvSpPr>
        <p:spPr>
          <a:xfrm>
            <a:off x="4006294" y="123131"/>
            <a:ext cx="39188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Tranche – 1 (Tariff: </a:t>
            </a:r>
            <a:r>
              <a:rPr lang="en-IN" sz="2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Rs</a:t>
            </a:r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. 3.46 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21.07.2017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3412" y="5148470"/>
            <a:ext cx="1072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B77A46-F501-61F3-964C-A210CC2D8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389761"/>
              </p:ext>
            </p:extLst>
          </p:nvPr>
        </p:nvGraphicFramePr>
        <p:xfrm>
          <a:off x="156410" y="1143000"/>
          <a:ext cx="1161866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525">
                  <a:extLst>
                    <a:ext uri="{9D8B030D-6E8A-4147-A177-3AD203B41FA5}">
                      <a16:colId xmlns:a16="http://schemas.microsoft.com/office/drawing/2014/main" val="3842924706"/>
                    </a:ext>
                  </a:extLst>
                </a:gridCol>
                <a:gridCol w="4804444">
                  <a:extLst>
                    <a:ext uri="{9D8B030D-6E8A-4147-A177-3AD203B41FA5}">
                      <a16:colId xmlns:a16="http://schemas.microsoft.com/office/drawing/2014/main" val="425937265"/>
                    </a:ext>
                  </a:extLst>
                </a:gridCol>
                <a:gridCol w="1455821">
                  <a:extLst>
                    <a:ext uri="{9D8B030D-6E8A-4147-A177-3AD203B41FA5}">
                      <a16:colId xmlns:a16="http://schemas.microsoft.com/office/drawing/2014/main" val="908932994"/>
                    </a:ext>
                  </a:extLst>
                </a:gridCol>
                <a:gridCol w="1708484">
                  <a:extLst>
                    <a:ext uri="{9D8B030D-6E8A-4147-A177-3AD203B41FA5}">
                      <a16:colId xmlns:a16="http://schemas.microsoft.com/office/drawing/2014/main" val="630513307"/>
                    </a:ext>
                  </a:extLst>
                </a:gridCol>
                <a:gridCol w="2751389">
                  <a:extLst>
                    <a:ext uri="{9D8B030D-6E8A-4147-A177-3AD203B41FA5}">
                      <a16:colId xmlns:a16="http://schemas.microsoft.com/office/drawing/2014/main" val="3488083070"/>
                    </a:ext>
                  </a:extLst>
                </a:gridCol>
              </a:tblGrid>
              <a:tr h="58475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655926"/>
                  </a:ext>
                </a:extLst>
              </a:tr>
              <a:tr h="34902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Mytrah Vayu (Sabarmati)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04760"/>
                  </a:ext>
                </a:extLst>
              </a:tr>
              <a:tr h="31763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Infra Renewable Energy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4006"/>
                  </a:ext>
                </a:extLst>
              </a:tr>
              <a:tr h="31763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Wind One Renergy  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Private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50148"/>
                  </a:ext>
                </a:extLst>
              </a:tr>
              <a:tr h="34651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 Two Renergy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4092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 Three Renergy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41854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 Four Renergy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33318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 Five Renergy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53804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Ostro Kutch Wind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087592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Green Energy (MP)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748979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1719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5E7ED71-CFF7-B67E-93C8-643D6703B404}"/>
              </a:ext>
            </a:extLst>
          </p:cNvPr>
          <p:cNvSpPr txBox="1"/>
          <p:nvPr/>
        </p:nvSpPr>
        <p:spPr>
          <a:xfrm>
            <a:off x="288758" y="6011594"/>
            <a:ext cx="6744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PPAs under this Tranche signed between WPD and M/s PTC Ltd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F71A3-A450-401F-8C2E-B25F2AE2C97E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438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3412" y="5148470"/>
            <a:ext cx="1072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23629" y="127534"/>
            <a:ext cx="51447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2 (Tariff: </a:t>
            </a:r>
            <a:r>
              <a:rPr lang="en-IN" sz="2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Rs</a:t>
            </a:r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. 2.64-2.65/kWh)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19.12.2017 – 02.01.2018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FEA182-0AF9-2579-8B78-2A141A370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704717"/>
              </p:ext>
            </p:extLst>
          </p:nvPr>
        </p:nvGraphicFramePr>
        <p:xfrm>
          <a:off x="498759" y="1143000"/>
          <a:ext cx="1156410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676">
                  <a:extLst>
                    <a:ext uri="{9D8B030D-6E8A-4147-A177-3AD203B41FA5}">
                      <a16:colId xmlns:a16="http://schemas.microsoft.com/office/drawing/2014/main" val="3842924706"/>
                    </a:ext>
                  </a:extLst>
                </a:gridCol>
                <a:gridCol w="4550343">
                  <a:extLst>
                    <a:ext uri="{9D8B030D-6E8A-4147-A177-3AD203B41FA5}">
                      <a16:colId xmlns:a16="http://schemas.microsoft.com/office/drawing/2014/main" val="425937265"/>
                    </a:ext>
                  </a:extLst>
                </a:gridCol>
                <a:gridCol w="1864895">
                  <a:extLst>
                    <a:ext uri="{9D8B030D-6E8A-4147-A177-3AD203B41FA5}">
                      <a16:colId xmlns:a16="http://schemas.microsoft.com/office/drawing/2014/main" val="908932994"/>
                    </a:ext>
                  </a:extLst>
                </a:gridCol>
                <a:gridCol w="1672390">
                  <a:extLst>
                    <a:ext uri="{9D8B030D-6E8A-4147-A177-3AD203B41FA5}">
                      <a16:colId xmlns:a16="http://schemas.microsoft.com/office/drawing/2014/main" val="630513307"/>
                    </a:ext>
                  </a:extLst>
                </a:gridCol>
                <a:gridCol w="2894797">
                  <a:extLst>
                    <a:ext uri="{9D8B030D-6E8A-4147-A177-3AD203B41FA5}">
                      <a16:colId xmlns:a16="http://schemas.microsoft.com/office/drawing/2014/main" val="3488083070"/>
                    </a:ext>
                  </a:extLst>
                </a:gridCol>
              </a:tblGrid>
              <a:tr h="74563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655926"/>
                  </a:ext>
                </a:extLst>
              </a:tr>
              <a:tr h="24797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ReNew Power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19.9 MW stands cancelled.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504760"/>
                  </a:ext>
                </a:extLst>
              </a:tr>
              <a:tr h="18300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Haroda Wind Energy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Projects stand cancelled.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54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Khatiyu Wind Energy Private 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50148"/>
                  </a:ext>
                </a:extLst>
              </a:tr>
              <a:tr h="17337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Vigodi Wind Energy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40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Ravapar Wind Energy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41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Inox Clean Energy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MW stands terminated.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33318"/>
                  </a:ext>
                </a:extLst>
              </a:tr>
              <a:tr h="21817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Greenko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Wind Power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99344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Sembcorp Green Infra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878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Wind Energy Kutchh One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94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3643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B2574E-73D3-0E9A-E485-DCE6A09F883C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08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03412" y="5148470"/>
            <a:ext cx="1072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01713" y="147901"/>
            <a:ext cx="4388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3 (Tariff: Rs. 2.44-2.45/kWh)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24.05.2018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41B711-4193-88BF-172B-722440D57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582640"/>
              </p:ext>
            </p:extLst>
          </p:nvPr>
        </p:nvGraphicFramePr>
        <p:xfrm>
          <a:off x="473157" y="1076571"/>
          <a:ext cx="11245683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380">
                  <a:extLst>
                    <a:ext uri="{9D8B030D-6E8A-4147-A177-3AD203B41FA5}">
                      <a16:colId xmlns:a16="http://schemas.microsoft.com/office/drawing/2014/main" val="3943116801"/>
                    </a:ext>
                  </a:extLst>
                </a:gridCol>
                <a:gridCol w="4439652">
                  <a:extLst>
                    <a:ext uri="{9D8B030D-6E8A-4147-A177-3AD203B41FA5}">
                      <a16:colId xmlns:a16="http://schemas.microsoft.com/office/drawing/2014/main" val="35525800"/>
                    </a:ext>
                  </a:extLst>
                </a:gridCol>
                <a:gridCol w="1299411">
                  <a:extLst>
                    <a:ext uri="{9D8B030D-6E8A-4147-A177-3AD203B41FA5}">
                      <a16:colId xmlns:a16="http://schemas.microsoft.com/office/drawing/2014/main" val="270551204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58622682"/>
                    </a:ext>
                  </a:extLst>
                </a:gridCol>
                <a:gridCol w="2803440">
                  <a:extLst>
                    <a:ext uri="{9D8B030D-6E8A-4147-A177-3AD203B41FA5}">
                      <a16:colId xmlns:a16="http://schemas.microsoft.com/office/drawing/2014/main" val="2903210109"/>
                    </a:ext>
                  </a:extLst>
                </a:gridCol>
              </a:tblGrid>
              <a:tr h="89441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79899"/>
                  </a:ext>
                </a:extLst>
              </a:tr>
              <a:tr h="62609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ReNew Wind Energy (AP2)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 to the extent of 100 MW project capacity.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040455"/>
                  </a:ext>
                </a:extLst>
              </a:tr>
              <a:tr h="21483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Sembcorp Green Infra Pvt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688968"/>
                  </a:ext>
                </a:extLst>
              </a:tr>
              <a:tr h="24611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Inox Green Energy Services 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  <a:endParaRPr lang="en-I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326614"/>
                  </a:ext>
                </a:extLst>
              </a:tr>
              <a:tr h="30706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Torrent Power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  <a:endParaRPr lang="en-I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83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Alfanar Energy Private Limited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790659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Green Energy (MP)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  <a:endParaRPr lang="en-I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83551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Betam Wind Energy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773923"/>
                  </a:ext>
                </a:extLst>
              </a:tr>
              <a:tr h="172588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803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F2AF25A-1814-F19A-3260-D084E919DED5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5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1712" y="202733"/>
            <a:ext cx="4388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4 (Tariff: </a:t>
            </a:r>
            <a:r>
              <a:rPr lang="en-IN" sz="2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Rs</a:t>
            </a:r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. 2.51-2.52/kWh)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30.08.2018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E987960-2659-D8C3-FC43-0952083AE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1373"/>
              </p:ext>
            </p:extLst>
          </p:nvPr>
        </p:nvGraphicFramePr>
        <p:xfrm>
          <a:off x="455594" y="910619"/>
          <a:ext cx="11280807" cy="5548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592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4690603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744579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2688654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115959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16663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Continuum Power Trading (TN)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 to the extent of 126 MW.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 MW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Sprng Renewable Energy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Avikiran Solar India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dispute to the extent of 2.1 MW.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 MW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Vivid Solaire Energy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MW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29395"/>
                  </a:ext>
                </a:extLst>
              </a:tr>
              <a:tr h="21957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Inox Green Energy Services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15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Wind Energy Kutchh Two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927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Mytrah Vayu (Brahmaputra) 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 litigation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455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ReNew Wind Energy (TN)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 litigation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760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156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571E0B-AA9C-6935-4F95-B998DD4BD224}"/>
              </a:ext>
            </a:extLst>
          </p:cNvPr>
          <p:cNvSpPr txBox="1"/>
          <p:nvPr/>
        </p:nvSpPr>
        <p:spPr>
          <a:xfrm>
            <a:off x="9637556" y="6488668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20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1713" y="113314"/>
            <a:ext cx="4388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5 (Tariff: </a:t>
            </a:r>
            <a:r>
              <a:rPr lang="en-IN" sz="2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Rs</a:t>
            </a:r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. 2.76-2.77/kWh)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22.01.2019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0BEFFD-8650-4C1E-A8FB-E2F288031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697529"/>
              </p:ext>
            </p:extLst>
          </p:nvPr>
        </p:nvGraphicFramePr>
        <p:xfrm>
          <a:off x="419100" y="1089341"/>
          <a:ext cx="11353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218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4270740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433546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911395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2862901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58475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34902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Torrent Solargen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31763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Wind Energy Kutchh Four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31763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Netra Wind Private Limited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93.5 MW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Sitac Kabini Renewables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048417"/>
                  </a:ext>
                </a:extLst>
              </a:tr>
              <a:tr h="31763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Boreas Renewable Energy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06504"/>
                  </a:ext>
                </a:extLst>
              </a:tr>
              <a:tr h="317634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061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739F772-97ED-722B-B475-EF748F663185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36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1713" y="102748"/>
            <a:ext cx="4388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6 (Tariff: </a:t>
            </a:r>
            <a:r>
              <a:rPr lang="en-IN" sz="2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Rs</a:t>
            </a:r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. 2.82-2.83/kWh)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15.09.2019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BB4CD3-E711-6283-A537-783116C6E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715225"/>
              </p:ext>
            </p:extLst>
          </p:nvPr>
        </p:nvGraphicFramePr>
        <p:xfrm>
          <a:off x="266701" y="1051560"/>
          <a:ext cx="11652451" cy="3823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8240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5007259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2927552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53954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Wind Energy Kutchh Three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30353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Ostro Kannada Power Pvt Ltd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100.5 MW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Powerica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529395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Wind Energy MP One Private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815121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Morjar Windfarm Development Pvt. Ltd.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 MW stands cancelled.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768559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Zenataris Renewable Energy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 failed to execute PPA.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973505"/>
                  </a:ext>
                </a:extLst>
              </a:tr>
              <a:tr h="435609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2076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390B6D-24EF-F12A-93D3-F25B325F58C1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121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89739" y="62217"/>
            <a:ext cx="4412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7 (Tariff: </a:t>
            </a:r>
            <a:r>
              <a:rPr lang="en-IN" sz="2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Rs</a:t>
            </a:r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. 2.79-2.83/kWh)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18.10.2019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C6B1D9-CCBF-CBCB-0422-225CE84B5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170211"/>
              </p:ext>
            </p:extLst>
          </p:nvPr>
        </p:nvGraphicFramePr>
        <p:xfrm>
          <a:off x="184618" y="933875"/>
          <a:ext cx="11804181" cy="2783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935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4556947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3213099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56643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34882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Betam Wind Energy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 failed to execute PPA.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Ostro Energy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34628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Sprng Wind Energy Private Limited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stands cancelled.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Wind Energy Kutchh Five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529395"/>
                  </a:ext>
                </a:extLst>
              </a:tr>
              <a:tr h="405988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949722-B0D6-DFFC-591D-C0708A600128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380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1713" y="131301"/>
            <a:ext cx="4388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8 (Tariff: </a:t>
            </a:r>
            <a:r>
              <a:rPr lang="en-IN" sz="2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Rs</a:t>
            </a:r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. 2.83-2.84/kWh)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21.05.2020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C148D2-4B83-5936-B660-9A586C0BE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020496"/>
              </p:ext>
            </p:extLst>
          </p:nvPr>
        </p:nvGraphicFramePr>
        <p:xfrm>
          <a:off x="304801" y="1148380"/>
          <a:ext cx="114680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29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4559771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2163687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847051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2013561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58475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Apraava Energy 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31763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Tunga Renewable Energy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342600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33F7D7B-C9E9-655E-E8F2-D9026DAA1352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107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167506" y="215523"/>
            <a:ext cx="8158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9 (Tariff: Rs. 2.99-3.00/kWh)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31.03.2021 for 700 MW and 15.07.2021 for 270 MW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5DADCD-5CCA-A388-35D2-87F9C4673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416420"/>
              </p:ext>
            </p:extLst>
          </p:nvPr>
        </p:nvGraphicFramePr>
        <p:xfrm>
          <a:off x="272715" y="1234334"/>
          <a:ext cx="1164656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787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4551568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272619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800519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3124076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73117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Vena Energy Vidyuth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Renew Energy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JSW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Renew Energy 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execution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(Revised SCD is 30.11.2025)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24539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0640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36F01F-7498-0C86-C8A2-D73632CAB974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9896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37593" y="155365"/>
            <a:ext cx="45168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10 (Tariff: Rs. 2.77-2.78/kWh)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10.09.2021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E82248-A568-455C-1B2E-11204F5AF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784828"/>
              </p:ext>
            </p:extLst>
          </p:nvPr>
        </p:nvGraphicFramePr>
        <p:xfrm>
          <a:off x="228600" y="1032807"/>
          <a:ext cx="1172210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609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4448459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197204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753386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3419443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86046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22449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Renewable Energy Seven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328633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Ayana Renewable Power Six 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Viento Renewables Private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Renew Energy Two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529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Renew Energy Two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855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3868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6F9C97-E6F1-744A-AA7D-C475F26C2C3C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940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44678" y="155365"/>
            <a:ext cx="45026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11 (Tariff: Rs. 2.69-2.70/kWh)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30.06.2022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C55EFD-A1CC-7EC9-7E7C-F40DCC208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561958"/>
              </p:ext>
            </p:extLst>
          </p:nvPr>
        </p:nvGraphicFramePr>
        <p:xfrm>
          <a:off x="228600" y="1029135"/>
          <a:ext cx="11658600" cy="4414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909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3780149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131216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640264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4242062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61581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44406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ReNew Naveen Urja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lnfra Wind Energy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execution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(Revised SCD is 26.07.2025)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Anupavan Renewables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Limited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Adani Renewable Energy Holding Fifteen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52939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Wind Energy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progress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 not achieved (Due Date 26.01.2024)</a:t>
                      </a: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Revised SCD is 26.07.2025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815121"/>
                  </a:ext>
                </a:extLst>
              </a:tr>
              <a:tr h="495700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A63BFF-58C3-716D-30AF-E0B37B076A1D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315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37593" y="107239"/>
            <a:ext cx="45168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12 (Tariff: Rs. 2.89-2.94/kWh)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29.03.2023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ABE611-63F6-D08F-31C9-8FB1ED17C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480606"/>
              </p:ext>
            </p:extLst>
          </p:nvPr>
        </p:nvGraphicFramePr>
        <p:xfrm>
          <a:off x="254000" y="1042588"/>
          <a:ext cx="11544301" cy="463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881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4363119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3149601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49494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34902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Halvad Renewables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 failed to execute PPA.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Renew Energy Three Limited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Closure achieved.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execution.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(Revised SCD is 23.01.2026)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NTPC Renewable Energy 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Financial Closure achieved.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 execution.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(Revised SCD is 23.01.2026)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34651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sv-SE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Torrent Saurya Urja 2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Financial Closure achieved.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 execution.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(Revised SCD is 23.01.2026)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529395"/>
                  </a:ext>
                </a:extLst>
              </a:tr>
              <a:tr h="607515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736C75-D912-2D0C-DF02-42AB547A2CA7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118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01713" y="131302"/>
            <a:ext cx="4388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13 (Tariff: Rs. 2.9-2.95/kWh)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26.06.2023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91BCE3-0606-18CB-CF39-FDE94FADC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011932"/>
              </p:ext>
            </p:extLst>
          </p:nvPr>
        </p:nvGraphicFramePr>
        <p:xfrm>
          <a:off x="330200" y="983810"/>
          <a:ext cx="11683999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33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3804075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178351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621410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4076830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58475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SJVN Green Energy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progress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 not achieved (Due Date 26.01.2024)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Revised SCD is 02.12.2025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Scatec India Renewables One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litigation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55916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Teq Green Power XI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 Limited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dispute in DRC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 not achieved (Due Date 26.01.2024)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Revised SCD is 02.12.2025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07A4725-9E6F-A1FB-33A5-39767F0E3744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368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37593" y="143333"/>
            <a:ext cx="45168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14 (Tariff: Rs. 3.18-3.24/kWh)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16.11.2023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C20487-A702-4B5E-F913-B8396FA03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995787"/>
              </p:ext>
            </p:extLst>
          </p:nvPr>
        </p:nvGraphicFramePr>
        <p:xfrm>
          <a:off x="355600" y="1063625"/>
          <a:ext cx="115443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965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3672934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159497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659117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4122787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41557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Prairie Energy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 failed to execute PPA.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Apraava Energy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 not achieved (Due Date 16.06.2024)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Revised SCD is 27.12.2025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WPD’s request for extension in FC and SCD is under review (referred to MNRE)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SJVN Green Energy 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progress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 not achieved (Due Date 16.06.2024)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Revised SCD is 27.12.2025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308083">
                <a:tc>
                  <a:txBody>
                    <a:bodyPr/>
                    <a:lstStyle/>
                    <a:p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FDBB37-1B75-4306-DB38-36E20A7390FC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636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CE1E-09C3-3A6B-4292-189A9D38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194F22-DE34-7672-3019-D082CD250F3B}"/>
              </a:ext>
            </a:extLst>
          </p:cNvPr>
          <p:cNvSpPr txBox="1"/>
          <p:nvPr/>
        </p:nvSpPr>
        <p:spPr>
          <a:xfrm>
            <a:off x="3965833" y="143333"/>
            <a:ext cx="4260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16 (Tariff: Rs. 3.6-3.7/kWh)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13.06.2024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0568B9-04BC-5602-BA7B-DC5E346C6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195406"/>
              </p:ext>
            </p:extLst>
          </p:nvPr>
        </p:nvGraphicFramePr>
        <p:xfrm>
          <a:off x="355600" y="1063625"/>
          <a:ext cx="115443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965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3896035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41557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Torrent Solar Power Private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execution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(Revised SCD is 19.06.2026)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Renew Energy Eight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Renew Energy Four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025075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JSW Renew Energy Four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081323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Powerica Limited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228651"/>
                  </a:ext>
                </a:extLst>
              </a:tr>
              <a:tr h="308083">
                <a:tc>
                  <a:txBody>
                    <a:bodyPr/>
                    <a:lstStyle/>
                    <a:p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6AB5CF-EEFE-10B4-8F95-93D55DFDD534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926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BE63-4473-E95E-2C1D-CB2D8EDB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EA24C8-A500-637F-F9F5-5A12502EF4F3}"/>
              </a:ext>
            </a:extLst>
          </p:cNvPr>
          <p:cNvSpPr txBox="1"/>
          <p:nvPr/>
        </p:nvSpPr>
        <p:spPr>
          <a:xfrm>
            <a:off x="3837593" y="143333"/>
            <a:ext cx="45168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Tranche – 17 (Tariff: Rs. 3.81-3.82/kWh)</a:t>
            </a:r>
            <a:endParaRPr lang="en-IN" sz="20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date of PPA: 01.03.2025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955273-3DC1-5EA3-9D51-922ED772F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95802"/>
              </p:ext>
            </p:extLst>
          </p:nvPr>
        </p:nvGraphicFramePr>
        <p:xfrm>
          <a:off x="355600" y="1063625"/>
          <a:ext cx="115443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965">
                  <a:extLst>
                    <a:ext uri="{9D8B030D-6E8A-4147-A177-3AD203B41FA5}">
                      <a16:colId xmlns:a16="http://schemas.microsoft.com/office/drawing/2014/main" val="4064482732"/>
                    </a:ext>
                  </a:extLst>
                </a:gridCol>
                <a:gridCol w="3896035">
                  <a:extLst>
                    <a:ext uri="{9D8B030D-6E8A-4147-A177-3AD203B41FA5}">
                      <a16:colId xmlns:a16="http://schemas.microsoft.com/office/drawing/2014/main" val="32082039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10538717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1761692143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1177015039"/>
                    </a:ext>
                  </a:extLst>
                </a:gridCol>
              </a:tblGrid>
              <a:tr h="41557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PPA Capacity 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Commissioned Capacity</a:t>
                      </a:r>
                    </a:p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9557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Powerica 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execution.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(Revised SCD is 01.09.2027)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3822"/>
                  </a:ext>
                </a:extLst>
              </a:tr>
              <a:tr h="24934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Adyant Renewables Private 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Tariff not adopted by CERC.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842036"/>
                  </a:ext>
                </a:extLst>
              </a:tr>
              <a:tr h="308083">
                <a:tc>
                  <a:txBody>
                    <a:bodyPr/>
                    <a:lstStyle/>
                    <a:p>
                      <a:endParaRPr lang="en-IN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2661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075DAF-33C1-9A4C-E22C-71E7B958CB31}"/>
              </a:ext>
            </a:extLst>
          </p:cNvPr>
          <p:cNvSpPr txBox="1"/>
          <p:nvPr/>
        </p:nvSpPr>
        <p:spPr>
          <a:xfrm>
            <a:off x="8602133" y="617220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8120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B10C-E080-6D7A-4220-AD79AD0E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D1727-61AF-E2AD-B01B-A9B5FD6E4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4" y="877987"/>
            <a:ext cx="11873132" cy="5853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F640F-31D7-E9FC-9F23-A0EA9578D59C}"/>
              </a:ext>
            </a:extLst>
          </p:cNvPr>
          <p:cNvSpPr txBox="1"/>
          <p:nvPr/>
        </p:nvSpPr>
        <p:spPr>
          <a:xfrm>
            <a:off x="159434" y="26215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</a:t>
            </a:r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STS WIND POWER PROJECTS – </a:t>
            </a: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Terminated Capacity</a:t>
            </a:r>
            <a:endParaRPr lang="en-GB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B084E7-E4D1-9E2E-8D8E-7E2B50C0D6DF}"/>
              </a:ext>
            </a:extLst>
          </p:cNvPr>
          <p:cNvCxnSpPr/>
          <p:nvPr/>
        </p:nvCxnSpPr>
        <p:spPr>
          <a:xfrm>
            <a:off x="0" y="844062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7D2E28-5359-7522-E6B1-06F84F0BC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786278"/>
              </p:ext>
            </p:extLst>
          </p:nvPr>
        </p:nvGraphicFramePr>
        <p:xfrm>
          <a:off x="159434" y="902749"/>
          <a:ext cx="11873132" cy="55504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2800">
                  <a:extLst>
                    <a:ext uri="{9D8B030D-6E8A-4147-A177-3AD203B41FA5}">
                      <a16:colId xmlns:a16="http://schemas.microsoft.com/office/drawing/2014/main" val="1250168329"/>
                    </a:ext>
                  </a:extLst>
                </a:gridCol>
                <a:gridCol w="806115">
                  <a:extLst>
                    <a:ext uri="{9D8B030D-6E8A-4147-A177-3AD203B41FA5}">
                      <a16:colId xmlns:a16="http://schemas.microsoft.com/office/drawing/2014/main" val="1001609873"/>
                    </a:ext>
                  </a:extLst>
                </a:gridCol>
                <a:gridCol w="4020551">
                  <a:extLst>
                    <a:ext uri="{9D8B030D-6E8A-4147-A177-3AD203B41FA5}">
                      <a16:colId xmlns:a16="http://schemas.microsoft.com/office/drawing/2014/main" val="41060927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66863305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4229572982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3477274156"/>
                    </a:ext>
                  </a:extLst>
                </a:gridCol>
                <a:gridCol w="1123266">
                  <a:extLst>
                    <a:ext uri="{9D8B030D-6E8A-4147-A177-3AD203B41FA5}">
                      <a16:colId xmlns:a16="http://schemas.microsoft.com/office/drawing/2014/main" val="2409257564"/>
                    </a:ext>
                  </a:extLst>
                </a:gridCol>
              </a:tblGrid>
              <a:tr h="4199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Status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Tranche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WPD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PPA Capacity</a:t>
                      </a:r>
                      <a:br>
                        <a:rPr lang="en-IN" sz="1200" u="none" strike="noStrike" dirty="0">
                          <a:effectLst/>
                        </a:rPr>
                      </a:br>
                      <a:r>
                        <a:rPr lang="en-IN" sz="1200" u="none" strike="noStrike" dirty="0">
                          <a:effectLst/>
                        </a:rPr>
                        <a:t>(MW)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Commissioned Capacity</a:t>
                      </a:r>
                      <a:br>
                        <a:rPr lang="en-IN" sz="1200" u="none" strike="noStrike" dirty="0">
                          <a:effectLst/>
                        </a:rPr>
                      </a:br>
                      <a:r>
                        <a:rPr lang="en-IN" sz="1200" u="none" strike="noStrike" dirty="0">
                          <a:effectLst/>
                        </a:rPr>
                        <a:t>(MW)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Terminated</a:t>
                      </a:r>
                      <a:br>
                        <a:rPr lang="en-IN" sz="1200" u="none" strike="noStrike" dirty="0">
                          <a:effectLst/>
                        </a:rPr>
                      </a:br>
                      <a:r>
                        <a:rPr lang="en-IN" sz="1200" u="none" strike="noStrike" dirty="0">
                          <a:effectLst/>
                        </a:rPr>
                        <a:t>(MW)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4123478905"/>
                  </a:ext>
                </a:extLst>
              </a:tr>
              <a:tr h="41371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CAPACITY NOT INSTALLED BY WPD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Wind Four Renergy </a:t>
                      </a:r>
                      <a:r>
                        <a:rPr lang="en-IN" sz="1200" u="none" strike="noStrike" dirty="0">
                          <a:effectLst/>
                        </a:rPr>
                        <a:t>Pvt Ltd </a:t>
                      </a:r>
                    </a:p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(SPV of M/s Inox)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666345626"/>
                  </a:ext>
                </a:extLst>
              </a:tr>
              <a:tr h="2082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ReNew Power Pvt Ltd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230.1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19.9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3365238231"/>
                  </a:ext>
                </a:extLst>
              </a:tr>
              <a:tr h="41371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Inox Clean Energy Ltd </a:t>
                      </a:r>
                    </a:p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(SPV of M/s Inox)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3657626678"/>
                  </a:ext>
                </a:extLst>
              </a:tr>
              <a:tr h="41371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UNILATERALLY TERMINATED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Haroda Wind Energy Pvt Ltd </a:t>
                      </a:r>
                    </a:p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(SPV of M/s Inox)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2776974059"/>
                  </a:ext>
                </a:extLst>
              </a:tr>
              <a:tr h="4137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Khatiyu Wind Energy </a:t>
                      </a:r>
                      <a:r>
                        <a:rPr lang="en-IN" sz="1200" u="none" strike="noStrike" dirty="0">
                          <a:effectLst/>
                        </a:rPr>
                        <a:t>Pvt Ltd </a:t>
                      </a:r>
                    </a:p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(SPV of M/s Inox)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2149051079"/>
                  </a:ext>
                </a:extLst>
              </a:tr>
              <a:tr h="41371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Vigodi Wind Energy </a:t>
                      </a:r>
                      <a:r>
                        <a:rPr lang="en-IN" sz="1200" u="none" strike="noStrike" dirty="0">
                          <a:effectLst/>
                        </a:rPr>
                        <a:t>Pvt Ltd </a:t>
                      </a:r>
                    </a:p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(SPV of M/s Inox)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571083683"/>
                  </a:ext>
                </a:extLst>
              </a:tr>
              <a:tr h="7075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Ravapar Wind Energy </a:t>
                      </a:r>
                      <a:r>
                        <a:rPr lang="en-IN" sz="1200" u="none" strike="noStrike" dirty="0">
                          <a:effectLst/>
                        </a:rPr>
                        <a:t>Pvt Ltd </a:t>
                      </a:r>
                    </a:p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(SPV of M/s Inox)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50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3251793755"/>
                  </a:ext>
                </a:extLst>
              </a:tr>
              <a:tr h="126939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CAPACITY NOT INSTALLED BY WPD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IV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Adani Wind Energy Kutchh Two Ltd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750619798"/>
                  </a:ext>
                </a:extLst>
              </a:tr>
              <a:tr h="2082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IV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err="1">
                          <a:effectLst/>
                        </a:rPr>
                        <a:t>Avikiran</a:t>
                      </a:r>
                      <a:r>
                        <a:rPr lang="en-IN" sz="1200" u="none" strike="noStrike" dirty="0">
                          <a:effectLst/>
                        </a:rPr>
                        <a:t> Solar India Pvt Ltd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165.9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35544012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IV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Vivid Solaire Energy Pvt Ltd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Tamil Nadu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168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23270297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IV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Continuum Power Trading (TN) Pvt Ltd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250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88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124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4235177584"/>
                  </a:ext>
                </a:extLst>
              </a:tr>
              <a:tr h="9605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V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Adani Wind Energy Kutchh Four Ltd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Gujarat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300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300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3466968"/>
                  </a:ext>
                </a:extLst>
              </a:tr>
              <a:tr h="909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V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Netra Wind Private Limited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300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206.5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93.5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1867053962"/>
                  </a:ext>
                </a:extLst>
              </a:tr>
              <a:tr h="2187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VI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Morjar Windfarm Development Pvt Ltd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Gujarat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148.5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1.5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19518327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VI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Ostro Kannada Power Pvt Ltd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Karnataka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300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199.5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100.5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3917340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UNILATERALLY TERMINATED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VII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u="none" strike="noStrike" dirty="0">
                          <a:effectLst/>
                        </a:rPr>
                        <a:t>Sprng Wind Energy Pvt Ltd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Madhya Pradesh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>
                          <a:effectLst/>
                        </a:rPr>
                        <a:t>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100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32739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TARIFF NOT ADOPTED BY CERC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XVII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Adytant Renewables Pvt Ltd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Maharashtra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1819136560"/>
                  </a:ext>
                </a:extLst>
              </a:tr>
              <a:tr h="21139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effectLst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2785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1236.5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1508.4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290" marR="2290" marT="2290" marB="0" anchor="ctr"/>
                </a:tc>
                <a:extLst>
                  <a:ext uri="{0D108BD9-81ED-4DB2-BD59-A6C34878D82A}">
                    <a16:rowId xmlns:a16="http://schemas.microsoft.com/office/drawing/2014/main" val="132251835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185FDC-E6C3-3130-78C8-2D3749B1312F}"/>
              </a:ext>
            </a:extLst>
          </p:cNvPr>
          <p:cNvSpPr txBox="1"/>
          <p:nvPr/>
        </p:nvSpPr>
        <p:spPr>
          <a:xfrm>
            <a:off x="8790392" y="6453160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9887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42A87-D22F-80A3-6D35-422DB40B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6189A-319A-9EB9-898B-F04AA8A2E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4" y="877987"/>
            <a:ext cx="11873132" cy="5853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0962E-7763-5344-D39B-5F14791EABC6}"/>
              </a:ext>
            </a:extLst>
          </p:cNvPr>
          <p:cNvSpPr txBox="1"/>
          <p:nvPr/>
        </p:nvSpPr>
        <p:spPr>
          <a:xfrm>
            <a:off x="159434" y="26215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</a:t>
            </a:r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STS WIND POWER PROJECTS – </a:t>
            </a: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Disputed Capacity – Part 1 of 2</a:t>
            </a:r>
            <a:endParaRPr lang="en-GB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938BF2-D3F5-509B-FEB3-BF5AB30D19C6}"/>
              </a:ext>
            </a:extLst>
          </p:cNvPr>
          <p:cNvCxnSpPr/>
          <p:nvPr/>
        </p:nvCxnSpPr>
        <p:spPr>
          <a:xfrm>
            <a:off x="0" y="844062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ECF754-E221-1EF6-DF74-F2D4AD1CE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677830"/>
              </p:ext>
            </p:extLst>
          </p:nvPr>
        </p:nvGraphicFramePr>
        <p:xfrm>
          <a:off x="159434" y="1014481"/>
          <a:ext cx="11873132" cy="5569982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431116">
                  <a:extLst>
                    <a:ext uri="{9D8B030D-6E8A-4147-A177-3AD203B41FA5}">
                      <a16:colId xmlns:a16="http://schemas.microsoft.com/office/drawing/2014/main" val="3839638492"/>
                    </a:ext>
                  </a:extLst>
                </a:gridCol>
                <a:gridCol w="1206558">
                  <a:extLst>
                    <a:ext uri="{9D8B030D-6E8A-4147-A177-3AD203B41FA5}">
                      <a16:colId xmlns:a16="http://schemas.microsoft.com/office/drawing/2014/main" val="600081952"/>
                    </a:ext>
                  </a:extLst>
                </a:gridCol>
                <a:gridCol w="555567">
                  <a:extLst>
                    <a:ext uri="{9D8B030D-6E8A-4147-A177-3AD203B41FA5}">
                      <a16:colId xmlns:a16="http://schemas.microsoft.com/office/drawing/2014/main" val="3790209724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1183445894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553156167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422142169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144348705"/>
                    </a:ext>
                  </a:extLst>
                </a:gridCol>
                <a:gridCol w="3441016">
                  <a:extLst>
                    <a:ext uri="{9D8B030D-6E8A-4147-A177-3AD203B41FA5}">
                      <a16:colId xmlns:a16="http://schemas.microsoft.com/office/drawing/2014/main" val="3010996357"/>
                    </a:ext>
                  </a:extLst>
                </a:gridCol>
              </a:tblGrid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 err="1">
                          <a:effectLst/>
                        </a:rPr>
                        <a:t>Sl</a:t>
                      </a:r>
                      <a:r>
                        <a:rPr lang="en-GB" sz="1100" kern="100" dirty="0">
                          <a:effectLst/>
                        </a:rPr>
                        <a:t> No.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Status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Tranche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PPA-signing Entity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PPA Capacity</a:t>
                      </a:r>
                      <a:br>
                        <a:rPr lang="en-GB" sz="1100" kern="100">
                          <a:effectLst/>
                        </a:rPr>
                      </a:br>
                      <a:r>
                        <a:rPr lang="en-GB" sz="1100" kern="100">
                          <a:effectLst/>
                        </a:rPr>
                        <a:t>(MW)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Original/ Last Revised SCD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Status of LD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Petition/ Appeal No. and Date of filing and stage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952490575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1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u="none" strike="noStrike" dirty="0">
                          <a:effectLst/>
                        </a:rPr>
                        <a:t>UNILATERALLY TERMINATED AND UNDER LITIGATION WITH EXPIRED PROJECT TIMELINES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III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Adani Green Energy (MP) Ltd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250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24.11.2019/ Nil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Recovered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Appeal No. 299/ 2024 in APTEL/ 26.06.2024/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245184826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2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III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ReNew Wind Energy (AP2) Pvt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100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24.11.2019/ 31.08.2021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Stayed by CERC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Petition No. 56/MP/2022 in CERC / 06.02.2022/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2785726980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3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III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Torrent Power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499.8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24.11.2019/ Nil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Recovered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Appeal No. 152/2024 in APTEL / 01.04.2024/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283580390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4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IV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Mytrah Vayu (Brahmaputra) Pvt Ltd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300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29.02.2020/ 28.08.2020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Recovered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Appeal No. 29/2024 in APTEL / 16.01.2024/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753171002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5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IV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ReNew Wind Energy (TN) Pvt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265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29.02.2020/ Nil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Recovered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Appeal No. 691/2023 in APTEL / 19.06.2023/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4091213373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6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V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Boreas Renewable Energy Pvt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175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22.07.2020/ 22.12.2020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Recovered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Appeal No. 109/2025 in APTEL / 19.03.2025/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290179479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7</a:t>
                      </a: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X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Adani Renewable Energy Seven Ltd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300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10.03.2023/ 11.06.2023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Recovered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Petition No. 4/MP/2024 in CERC / 13.11.2023/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032167429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8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X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Viento Renewables Pvt Ltd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150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10.03.2023/ 09.10.2024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In process of recovering LD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Petition No. 356/MP/2024 in CERC / 11.07.2025/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2153983742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9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100" u="none" strike="noStrike" dirty="0">
                          <a:effectLst/>
                        </a:rPr>
                        <a:t>UNILATERALLY TERMINATED AND UNDER LITIGATION BUT PROJECT TIMELINES NOT LAPSED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XI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Adani Renewable Energy Four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450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30.12.2023/ 26.07.2025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Not recovered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Petition No. 348/MP/2023 in CERC / 19.10.2023/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174292729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XI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ReNew Naveen Urja Pvt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300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30.12.2023/ 26.07.2025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Petition No. 169/MP/2024 in CERC / 17.04.2024/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2974635879"/>
                  </a:ext>
                </a:extLst>
              </a:tr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11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XI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Anupavan Renewables Pvt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150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30.12.2023/ 26.07.2025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00" dirty="0">
                          <a:effectLst/>
                        </a:rPr>
                        <a:t>Petition No. 178/MP/2025 in CERC / 29.11.2024/ Hearing ongoing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237255437"/>
                  </a:ext>
                </a:extLst>
              </a:tr>
              <a:tr h="123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12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XIII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Scatec India Renewables One Pvt Ltd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300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26.06.2025/ 02.12.2025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Petition No. 26/MP/2024 in CERC / 24.01.2024/ Order reserved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4112677674"/>
                  </a:ext>
                </a:extLst>
              </a:tr>
              <a:tr h="2266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 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 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endParaRPr lang="en-IN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TOTAL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 dirty="0">
                          <a:effectLst/>
                        </a:rPr>
                        <a:t>3239.8</a:t>
                      </a:r>
                      <a:endParaRPr lang="en-IN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100" kern="100">
                          <a:effectLst/>
                        </a:rPr>
                        <a:t> </a:t>
                      </a:r>
                      <a:endParaRPr lang="en-IN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/>
                </a:tc>
                <a:tc>
                  <a:txBody>
                    <a:bodyPr/>
                    <a:lstStyle/>
                    <a:p>
                      <a:endParaRPr lang="en-IN" sz="11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endParaRPr lang="en-IN" sz="11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50123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250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408BA-9F94-B81F-63D8-43C1EA0F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CADD7-B1BE-5AD3-0959-63E52606C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4" y="877987"/>
            <a:ext cx="11873132" cy="5853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A08D4D-996B-CA18-4CED-9EB412EAFB65}"/>
              </a:ext>
            </a:extLst>
          </p:cNvPr>
          <p:cNvSpPr txBox="1"/>
          <p:nvPr/>
        </p:nvSpPr>
        <p:spPr>
          <a:xfrm>
            <a:off x="159434" y="26215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</a:t>
            </a:r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STS WIND POWER PROJECTS – </a:t>
            </a: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Disputed Capacity – Part 2 of 2</a:t>
            </a:r>
            <a:endParaRPr lang="en-GB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C1A391-86CC-284F-50CE-342E0333376D}"/>
              </a:ext>
            </a:extLst>
          </p:cNvPr>
          <p:cNvCxnSpPr/>
          <p:nvPr/>
        </p:nvCxnSpPr>
        <p:spPr>
          <a:xfrm>
            <a:off x="0" y="844062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BF5B9A-C2CF-351C-F512-6F8339FFC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341990"/>
              </p:ext>
            </p:extLst>
          </p:nvPr>
        </p:nvGraphicFramePr>
        <p:xfrm>
          <a:off x="159434" y="886503"/>
          <a:ext cx="11873132" cy="5376545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578348">
                  <a:extLst>
                    <a:ext uri="{9D8B030D-6E8A-4147-A177-3AD203B41FA5}">
                      <a16:colId xmlns:a16="http://schemas.microsoft.com/office/drawing/2014/main" val="3839638492"/>
                    </a:ext>
                  </a:extLst>
                </a:gridCol>
                <a:gridCol w="918552">
                  <a:extLst>
                    <a:ext uri="{9D8B030D-6E8A-4147-A177-3AD203B41FA5}">
                      <a16:colId xmlns:a16="http://schemas.microsoft.com/office/drawing/2014/main" val="600081952"/>
                    </a:ext>
                  </a:extLst>
                </a:gridCol>
                <a:gridCol w="774045">
                  <a:extLst>
                    <a:ext uri="{9D8B030D-6E8A-4147-A177-3AD203B41FA5}">
                      <a16:colId xmlns:a16="http://schemas.microsoft.com/office/drawing/2014/main" val="3790209724"/>
                    </a:ext>
                  </a:extLst>
                </a:gridCol>
                <a:gridCol w="1491916">
                  <a:extLst>
                    <a:ext uri="{9D8B030D-6E8A-4147-A177-3AD203B41FA5}">
                      <a16:colId xmlns:a16="http://schemas.microsoft.com/office/drawing/2014/main" val="1183445894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2553156167"/>
                    </a:ext>
                  </a:extLst>
                </a:gridCol>
                <a:gridCol w="1467852">
                  <a:extLst>
                    <a:ext uri="{9D8B030D-6E8A-4147-A177-3AD203B41FA5}">
                      <a16:colId xmlns:a16="http://schemas.microsoft.com/office/drawing/2014/main" val="3055579403"/>
                    </a:ext>
                  </a:extLst>
                </a:gridCol>
                <a:gridCol w="1147846">
                  <a:extLst>
                    <a:ext uri="{9D8B030D-6E8A-4147-A177-3AD203B41FA5}">
                      <a16:colId xmlns:a16="http://schemas.microsoft.com/office/drawing/2014/main" val="2422142169"/>
                    </a:ext>
                  </a:extLst>
                </a:gridCol>
                <a:gridCol w="1134014">
                  <a:extLst>
                    <a:ext uri="{9D8B030D-6E8A-4147-A177-3AD203B41FA5}">
                      <a16:colId xmlns:a16="http://schemas.microsoft.com/office/drawing/2014/main" val="2144348705"/>
                    </a:ext>
                  </a:extLst>
                </a:gridCol>
                <a:gridCol w="3073180">
                  <a:extLst>
                    <a:ext uri="{9D8B030D-6E8A-4147-A177-3AD203B41FA5}">
                      <a16:colId xmlns:a16="http://schemas.microsoft.com/office/drawing/2014/main" val="3010996357"/>
                    </a:ext>
                  </a:extLst>
                </a:gridCol>
              </a:tblGrid>
              <a:tr h="4139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 err="1">
                          <a:effectLst/>
                        </a:rPr>
                        <a:t>Sl</a:t>
                      </a:r>
                      <a:r>
                        <a:rPr lang="en-GB" sz="1400" kern="100" dirty="0">
                          <a:effectLst/>
                        </a:rPr>
                        <a:t> No.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Status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Tranche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PPA-signing Entity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PPA Capacity</a:t>
                      </a:r>
                      <a:br>
                        <a:rPr lang="en-GB" sz="1400" kern="100">
                          <a:effectLst/>
                        </a:rPr>
                      </a:br>
                      <a:r>
                        <a:rPr lang="en-GB" sz="1400" kern="100">
                          <a:effectLst/>
                        </a:rPr>
                        <a:t>(MW)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Disputed Capacity (MW)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Original/ Last Revised SCD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Status of LD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Petition/ Appeal No. and Date of filing and stage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952490575"/>
                  </a:ext>
                </a:extLst>
              </a:tr>
              <a:tr h="136359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13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effectLst/>
                        </a:rPr>
                        <a:t>SEEKING EXTENSION IN PROJECT TIMELINES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III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Inox Green Energy Services Ltd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200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200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24.11.2019/ 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31.08.2022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Recovered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Petition No. 307/MP/2024/ CERC/ 03.09.2024/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Hearing ongoing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245184826"/>
                  </a:ext>
                </a:extLst>
              </a:tr>
              <a:tr h="4845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14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IV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Inox Green Energy Services Ltd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100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100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29.02.2020/ 31.08.2022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Recovered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Petition No. 308/MP/2024/ CERC/ 03.09.2024/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Hearing ongoing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2785726980"/>
                  </a:ext>
                </a:extLst>
              </a:tr>
              <a:tr h="4772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IV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 err="1">
                          <a:effectLst/>
                        </a:rPr>
                        <a:t>Avikiran</a:t>
                      </a:r>
                      <a:r>
                        <a:rPr lang="en-GB" sz="1400" kern="100" dirty="0">
                          <a:effectLst/>
                        </a:rPr>
                        <a:t> Solar India Pvt Ltd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285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2.1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29.02.2020/ 17.03.2022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Recovered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Petition No. 180/MP/2024/ CERC/ 30.04.2024/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Hearing ongoing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283580390"/>
                  </a:ext>
                </a:extLst>
              </a:tr>
              <a:tr h="4772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16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IV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</a:rPr>
                        <a:t>Continuum Power Trading (TN) Pvt Ltd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250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38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29.02.2020/ 21.12.2022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Recovered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</a:rPr>
                        <a:t>SLP No. 15096-15097/2024/ SCI/ 10.07.2024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Hearing Ongoing.</a:t>
                      </a: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753171002"/>
                  </a:ext>
                </a:extLst>
              </a:tr>
              <a:tr h="4772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17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VIII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sv-SE" sz="1400" kern="100" dirty="0">
                          <a:effectLst/>
                        </a:rPr>
                        <a:t>Tunga Renewable Energy Pvt Ltd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189.93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189.93</a:t>
                      </a: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21.11.2021/ 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cs typeface="Mangal" panose="02040503050203030202" pitchFamily="18" charset="0"/>
                        </a:rPr>
                        <a:t>05.09.2022</a:t>
                      </a:r>
                      <a:endParaRPr lang="en-IN" sz="1400" kern="100" dirty="0">
                        <a:effectLst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Not Recovered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Petition No. 339/MP/2024/ CERC/ 14.11.2022/</a:t>
                      </a:r>
                      <a:endParaRPr lang="en-IN" sz="1400" kern="1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Hearing ongoing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4091213373"/>
                  </a:ext>
                </a:extLst>
              </a:tr>
              <a:tr h="2266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 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endParaRPr lang="en-IN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TOTAL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1024.93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530.03</a:t>
                      </a:r>
                    </a:p>
                  </a:txBody>
                  <a:tcPr marL="32096" marR="3209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/>
                </a:tc>
                <a:tc>
                  <a:txBody>
                    <a:bodyPr/>
                    <a:lstStyle/>
                    <a:p>
                      <a:endParaRPr lang="en-IN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endParaRPr lang="en-IN" sz="14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501235089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FCEC6DE-1780-E720-018D-43BE39495BA8}"/>
              </a:ext>
            </a:extLst>
          </p:cNvPr>
          <p:cNvSpPr/>
          <p:nvPr/>
        </p:nvSpPr>
        <p:spPr>
          <a:xfrm>
            <a:off x="2642098" y="6372363"/>
            <a:ext cx="6907803" cy="44696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Disputed Capacity =&gt; 3239.8 MW + 530.03 MW = 3769.83 MW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1F01F-FADC-E25C-4A0B-618F2433DFA8}"/>
              </a:ext>
            </a:extLst>
          </p:cNvPr>
          <p:cNvSpPr txBox="1"/>
          <p:nvPr/>
        </p:nvSpPr>
        <p:spPr>
          <a:xfrm>
            <a:off x="10256121" y="6315654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03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DF5F-A19F-C5B3-61DB-A7EB2AC8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47D60-81FA-6F51-1D89-3230E482D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4" y="877987"/>
            <a:ext cx="11873132" cy="5853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i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20395-4167-A2FC-7507-563EDF09D8CA}"/>
              </a:ext>
            </a:extLst>
          </p:cNvPr>
          <p:cNvSpPr txBox="1"/>
          <p:nvPr/>
        </p:nvSpPr>
        <p:spPr>
          <a:xfrm>
            <a:off x="159434" y="26215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</a:t>
            </a:r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STS WIND POWER PROJECTS – </a:t>
            </a: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Not coming up/ Not likely to come up</a:t>
            </a:r>
            <a:endParaRPr lang="en-GB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AD3313-5C87-2F7B-8D00-18808F97F72F}"/>
              </a:ext>
            </a:extLst>
          </p:cNvPr>
          <p:cNvCxnSpPr/>
          <p:nvPr/>
        </p:nvCxnSpPr>
        <p:spPr>
          <a:xfrm>
            <a:off x="0" y="844062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CE5117D-9747-5CEA-9123-86589BCDF406}"/>
              </a:ext>
            </a:extLst>
          </p:cNvPr>
          <p:cNvSpPr/>
          <p:nvPr/>
        </p:nvSpPr>
        <p:spPr>
          <a:xfrm>
            <a:off x="2985796" y="4227022"/>
            <a:ext cx="5576189" cy="44696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Terminated + Disputed + Capacity not coming up=&gt; 5898 MW </a:t>
            </a:r>
            <a:endParaRPr lang="en-IN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492479-F3C9-7E41-6227-769925A5A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81478"/>
              </p:ext>
            </p:extLst>
          </p:nvPr>
        </p:nvGraphicFramePr>
        <p:xfrm>
          <a:off x="1275591" y="1088131"/>
          <a:ext cx="8253420" cy="224754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908569">
                  <a:extLst>
                    <a:ext uri="{9D8B030D-6E8A-4147-A177-3AD203B41FA5}">
                      <a16:colId xmlns:a16="http://schemas.microsoft.com/office/drawing/2014/main" val="3839638492"/>
                    </a:ext>
                  </a:extLst>
                </a:gridCol>
                <a:gridCol w="944198">
                  <a:extLst>
                    <a:ext uri="{9D8B030D-6E8A-4147-A177-3AD203B41FA5}">
                      <a16:colId xmlns:a16="http://schemas.microsoft.com/office/drawing/2014/main" val="3790209724"/>
                    </a:ext>
                  </a:extLst>
                </a:gridCol>
                <a:gridCol w="2490389">
                  <a:extLst>
                    <a:ext uri="{9D8B030D-6E8A-4147-A177-3AD203B41FA5}">
                      <a16:colId xmlns:a16="http://schemas.microsoft.com/office/drawing/2014/main" val="1183445894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553156167"/>
                    </a:ext>
                  </a:extLst>
                </a:gridCol>
                <a:gridCol w="2334127">
                  <a:extLst>
                    <a:ext uri="{9D8B030D-6E8A-4147-A177-3AD203B41FA5}">
                      <a16:colId xmlns:a16="http://schemas.microsoft.com/office/drawing/2014/main" val="2422142169"/>
                    </a:ext>
                  </a:extLst>
                </a:gridCol>
              </a:tblGrid>
              <a:tr h="3568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 err="1">
                          <a:effectLst/>
                        </a:rPr>
                        <a:t>Sl</a:t>
                      </a:r>
                      <a:r>
                        <a:rPr lang="en-GB" sz="1400" kern="100" dirty="0">
                          <a:effectLst/>
                        </a:rPr>
                        <a:t> No.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Tranche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PPA-signing Entity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PPA Capacity</a:t>
                      </a:r>
                      <a:br>
                        <a:rPr lang="en-GB" sz="1400" kern="100">
                          <a:effectLst/>
                        </a:rPr>
                      </a:br>
                      <a:r>
                        <a:rPr lang="en-GB" sz="1400" kern="100">
                          <a:effectLst/>
                        </a:rPr>
                        <a:t>(MW)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Original/ Last Revised SCD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3952490575"/>
                  </a:ext>
                </a:extLst>
              </a:tr>
              <a:tr h="3568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Two Wind Energy Private Limited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30.12.2023/ 26.07.2025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2785726980"/>
                  </a:ext>
                </a:extLst>
              </a:tr>
              <a:tr h="411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2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XIII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Teq Green Power XI Pvt Ltd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26.06.2025/ 02.12.2025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283580390"/>
                  </a:ext>
                </a:extLst>
              </a:tr>
              <a:tr h="3568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3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XIII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SJVN Green Energy Ltd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26.06.2025/ 02.12.2025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1753171002"/>
                  </a:ext>
                </a:extLst>
              </a:tr>
              <a:tr h="4114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4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XIV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SJVN Green Energy Ltd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400" kern="100" dirty="0">
                          <a:effectLst/>
                        </a:rPr>
                        <a:t>16.11.2025/ 27.12.2025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extLst>
                  <a:ext uri="{0D108BD9-81ED-4DB2-BD59-A6C34878D82A}">
                    <a16:rowId xmlns:a16="http://schemas.microsoft.com/office/drawing/2014/main" val="4091213373"/>
                  </a:ext>
                </a:extLst>
              </a:tr>
              <a:tr h="195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 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endParaRPr lang="en-IN" sz="14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>
                          <a:effectLst/>
                        </a:rPr>
                        <a:t>TOTAL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620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GB" sz="1400" kern="100" dirty="0">
                          <a:effectLst/>
                        </a:rPr>
                        <a:t> 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2096" marR="32096" marT="0" marB="0"/>
                </a:tc>
                <a:extLst>
                  <a:ext uri="{0D108BD9-81ED-4DB2-BD59-A6C34878D82A}">
                    <a16:rowId xmlns:a16="http://schemas.microsoft.com/office/drawing/2014/main" val="1501235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6BC374-050D-C366-BABD-2435739FD781}"/>
              </a:ext>
            </a:extLst>
          </p:cNvPr>
          <p:cNvSpPr txBox="1"/>
          <p:nvPr/>
        </p:nvSpPr>
        <p:spPr>
          <a:xfrm>
            <a:off x="9318812" y="5323541"/>
            <a:ext cx="12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065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2FCCAF-4B18-5E08-DE54-5822201CC214}"/>
              </a:ext>
            </a:extLst>
          </p:cNvPr>
          <p:cNvSpPr txBox="1"/>
          <p:nvPr/>
        </p:nvSpPr>
        <p:spPr>
          <a:xfrm>
            <a:off x="1123949" y="2782669"/>
            <a:ext cx="10298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solidFill>
                  <a:srgbClr val="0070C0"/>
                </a:solidFill>
                <a:ea typeface="+mj-ea"/>
                <a:cs typeface="+mj-cs"/>
              </a:rPr>
              <a:t>Typical Project Progress Format Submitted by WPDs</a:t>
            </a:r>
          </a:p>
        </p:txBody>
      </p:sp>
    </p:spTree>
    <p:extLst>
      <p:ext uri="{BB962C8B-B14F-4D97-AF65-F5344CB8AC3E}">
        <p14:creationId xmlns:p14="http://schemas.microsoft.com/office/powerpoint/2010/main" val="2461179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1CAA-11F1-4E28-8225-520844D9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9155"/>
            <a:ext cx="10076848" cy="481896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BRIEF – TORRENT POWER LIMITED- TRANCHE-XII 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C4C18FA6-BAAA-4A04-B72A-1350ECE2D589}"/>
              </a:ext>
            </a:extLst>
          </p:cNvPr>
          <p:cNvGraphicFramePr>
            <a:graphicFrameLocks noGrp="1"/>
          </p:cNvGraphicFramePr>
          <p:nvPr/>
        </p:nvGraphicFramePr>
        <p:xfrm>
          <a:off x="145143" y="1139317"/>
          <a:ext cx="8320619" cy="5469528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3131502">
                  <a:extLst>
                    <a:ext uri="{9D8B030D-6E8A-4147-A177-3AD203B41FA5}">
                      <a16:colId xmlns:a16="http://schemas.microsoft.com/office/drawing/2014/main" val="3568977301"/>
                    </a:ext>
                  </a:extLst>
                </a:gridCol>
                <a:gridCol w="5189117">
                  <a:extLst>
                    <a:ext uri="{9D8B030D-6E8A-4147-A177-3AD203B41FA5}">
                      <a16:colId xmlns:a16="http://schemas.microsoft.com/office/drawing/2014/main" val="3947747402"/>
                    </a:ext>
                  </a:extLst>
                </a:gridCol>
              </a:tblGrid>
              <a:tr h="7767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Project Name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Details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510752"/>
                  </a:ext>
                </a:extLst>
              </a:tr>
              <a:tr h="7767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Site Location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300 MW SECI Xll, Todkibad, Karnataka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993350"/>
                  </a:ext>
                </a:extLst>
              </a:tr>
              <a:tr h="7767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WTG Configuration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S114_140M HLT_3.0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502817"/>
                  </a:ext>
                </a:extLst>
              </a:tr>
              <a:tr h="7767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Capacity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3MW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41692"/>
                  </a:ext>
                </a:extLst>
              </a:tr>
              <a:tr h="80875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Machines (Nos)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566803"/>
                  </a:ext>
                </a:extLst>
              </a:tr>
              <a:tr h="7767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WTG Supplier/OEM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Suzlon Energy Ltd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508004"/>
                  </a:ext>
                </a:extLst>
              </a:tr>
              <a:tr h="7767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Details of EPC including Land Aggregator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Suzlon Gujarat Wind Park Ltd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538371"/>
                  </a:ext>
                </a:extLst>
              </a:tr>
            </a:tbl>
          </a:graphicData>
        </a:graphic>
      </p:graphicFrame>
      <p:pic>
        <p:nvPicPr>
          <p:cNvPr id="3074" name="Picture 2" descr="Single Wind Turbine Images – Browse 4,623 Stock Photos, Vectors, and ...">
            <a:extLst>
              <a:ext uri="{FF2B5EF4-FFF2-40B4-BE49-F238E27FC236}">
                <a16:creationId xmlns:a16="http://schemas.microsoft.com/office/drawing/2014/main" id="{24641991-A3D6-2FFE-F644-419A8E25F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68"/>
          <a:stretch>
            <a:fillRect/>
          </a:stretch>
        </p:blipFill>
        <p:spPr bwMode="auto">
          <a:xfrm>
            <a:off x="8694057" y="994174"/>
            <a:ext cx="3497942" cy="586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698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6BA6D64-CC4B-ECE8-64F1-BF42D5FD892F}"/>
              </a:ext>
            </a:extLst>
          </p:cNvPr>
          <p:cNvSpPr txBox="1"/>
          <p:nvPr/>
        </p:nvSpPr>
        <p:spPr>
          <a:xfrm>
            <a:off x="130627" y="203201"/>
            <a:ext cx="8251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 STATUS FOR PROJECT DEVELOPMENT</a:t>
            </a:r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330C7FFB-EAE2-CE76-9866-6F6645A308A9}"/>
              </a:ext>
            </a:extLst>
          </p:cNvPr>
          <p:cNvGraphicFramePr>
            <a:graphicFrameLocks noGrp="1"/>
          </p:cNvGraphicFramePr>
          <p:nvPr/>
        </p:nvGraphicFramePr>
        <p:xfrm>
          <a:off x="130627" y="1006653"/>
          <a:ext cx="5254171" cy="5839446"/>
        </p:xfrm>
        <a:graphic>
          <a:graphicData uri="http://schemas.openxmlformats.org/drawingml/2006/table">
            <a:tbl>
              <a:tblPr firstRow="1" bandRow="1"/>
              <a:tblGrid>
                <a:gridCol w="3328251">
                  <a:extLst>
                    <a:ext uri="{9D8B030D-6E8A-4147-A177-3AD203B41FA5}">
                      <a16:colId xmlns:a16="http://schemas.microsoft.com/office/drawing/2014/main" val="592813031"/>
                    </a:ext>
                  </a:extLst>
                </a:gridCol>
                <a:gridCol w="1925920">
                  <a:extLst>
                    <a:ext uri="{9D8B030D-6E8A-4147-A177-3AD203B41FA5}">
                      <a16:colId xmlns:a16="http://schemas.microsoft.com/office/drawing/2014/main" val="1637057023"/>
                    </a:ext>
                  </a:extLst>
                </a:gridCol>
              </a:tblGrid>
              <a:tr h="317659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APPROVAL &amp; CLEARANCES</a:t>
                      </a:r>
                    </a:p>
                  </a:txBody>
                  <a:tcPr marL="45720" marR="45720" marT="22860" marB="2286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STATUS</a:t>
                      </a:r>
                    </a:p>
                  </a:txBody>
                  <a:tcPr marL="45720" marR="45720" marT="22860" marB="2286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557924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Land Required / Acquired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100/37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68399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MOD Application Date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NA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160908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MOD Approval Status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NA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450870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SNA Application Date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28-03-2023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714644"/>
                  </a:ext>
                </a:extLst>
              </a:tr>
              <a:tr h="11344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SNA Approval Status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 enhancement from 2.1 MW to 3 MW for 200 MW needs to be done </a:t>
                      </a:r>
                      <a:endParaRPr lang="en-IN" sz="1800" dirty="0">
                        <a:latin typeface="+mn-lt"/>
                      </a:endParaRP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24226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Order of Supply of WTG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510258"/>
                  </a:ext>
                </a:extLst>
              </a:tr>
              <a:tr h="58993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WTGs fully received at site / in transit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Not yet dispatch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581163"/>
                  </a:ext>
                </a:extLst>
              </a:tr>
              <a:tr h="1587486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WTG Foundation completed / In Progress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Soil test work in progress. Foundation casting to start from the month of Dec 2024 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31340"/>
                  </a:ext>
                </a:extLst>
              </a:tr>
              <a:tr h="58993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WTG Erection completed / In Progress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Not Yet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993818"/>
                  </a:ext>
                </a:extLst>
              </a:tr>
            </a:tbl>
          </a:graphicData>
        </a:graphic>
      </p:graphicFrame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A7919451-EA3E-C7F1-FABD-518493C78FBD}"/>
              </a:ext>
            </a:extLst>
          </p:cNvPr>
          <p:cNvGraphicFramePr>
            <a:graphicFrameLocks noGrp="1"/>
          </p:cNvGraphicFramePr>
          <p:nvPr/>
        </p:nvGraphicFramePr>
        <p:xfrm>
          <a:off x="5965373" y="1006650"/>
          <a:ext cx="6096000" cy="5807808"/>
        </p:xfrm>
        <a:graphic>
          <a:graphicData uri="http://schemas.openxmlformats.org/drawingml/2006/table">
            <a:tbl>
              <a:tblPr firstRow="1" bandRow="1"/>
              <a:tblGrid>
                <a:gridCol w="3480179">
                  <a:extLst>
                    <a:ext uri="{9D8B030D-6E8A-4147-A177-3AD203B41FA5}">
                      <a16:colId xmlns:a16="http://schemas.microsoft.com/office/drawing/2014/main" val="592813031"/>
                    </a:ext>
                  </a:extLst>
                </a:gridCol>
                <a:gridCol w="2615821">
                  <a:extLst>
                    <a:ext uri="{9D8B030D-6E8A-4147-A177-3AD203B41FA5}">
                      <a16:colId xmlns:a16="http://schemas.microsoft.com/office/drawing/2014/main" val="1637057023"/>
                    </a:ext>
                  </a:extLst>
                </a:gridCol>
              </a:tblGrid>
              <a:tr h="383535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+mn-lt"/>
                        </a:rPr>
                        <a:t>GRID</a:t>
                      </a:r>
                    </a:p>
                  </a:txBody>
                  <a:tcPr marL="45720" marR="45720" marT="22860" marB="2286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STATUS</a:t>
                      </a:r>
                    </a:p>
                  </a:txBody>
                  <a:tcPr marL="45720" marR="45720" marT="22860" marB="2286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557924"/>
                  </a:ext>
                </a:extLst>
              </a:tr>
              <a:tr h="383535">
                <a:tc>
                  <a:txBody>
                    <a:bodyPr/>
                    <a:lstStyle/>
                    <a:p>
                      <a:pPr algn="ctr" defTabSz="1828800" hangingPunct="1">
                        <a:buClr>
                          <a:prstClr val="white">
                            <a:lumMod val="50000"/>
                          </a:prstClr>
                        </a:buClr>
                        <a:buSzPct val="150000"/>
                      </a:pPr>
                      <a:r>
                        <a:rPr lang="en-US" sz="1800" kern="1200" dirty="0">
                          <a:solidFill>
                            <a:prstClr val="black"/>
                          </a:solidFill>
                          <a:latin typeface="+mn-lt"/>
                        </a:rPr>
                        <a:t>Connectivity Application Date</a:t>
                      </a:r>
                      <a:endParaRPr lang="en-IN" sz="1800" dirty="0">
                        <a:latin typeface="+mn-lt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18-05-2023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160908"/>
                  </a:ext>
                </a:extLst>
              </a:tr>
              <a:tr h="38353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As per CTU connectivity start date</a:t>
                      </a:r>
                      <a:endParaRPr lang="en-IN" sz="1800" dirty="0">
                        <a:latin typeface="+mn-lt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23-01-2026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714644"/>
                  </a:ext>
                </a:extLst>
              </a:tr>
              <a:tr h="71227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GNA Status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Final Grant of connectivity Received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14554"/>
                  </a:ext>
                </a:extLst>
              </a:tr>
              <a:tr h="712278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Con-4 Application Date &amp; status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Tentative CON-TD data submitted on NSWS portal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598461"/>
                  </a:ext>
                </a:extLst>
              </a:tr>
              <a:tr h="38353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Dynamic VAR Compensation status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Order Placed 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470271"/>
                  </a:ext>
                </a:extLst>
              </a:tr>
              <a:tr h="712278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+mn-lt"/>
                        </a:rPr>
                        <a:t>Trial Run Status (In process/Completed)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N" sz="1800" dirty="0">
                          <a:latin typeface="+mn-lt"/>
                        </a:rPr>
                        <a:t>0%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067899"/>
                  </a:ext>
                </a:extLst>
              </a:tr>
              <a:tr h="1041021">
                <a:tc>
                  <a:txBody>
                    <a:bodyPr/>
                    <a:lstStyle/>
                    <a:p>
                      <a:pPr marL="457189" marR="0" lvl="1" indent="0" algn="ctr" defTabSz="18287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+mn-lt"/>
                        </a:rPr>
                        <a:t>PSS status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PSS land &amp; EPC Vendor  finalised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13789"/>
                  </a:ext>
                </a:extLst>
              </a:tr>
              <a:tr h="712278">
                <a:tc>
                  <a:txBody>
                    <a:bodyPr/>
                    <a:lstStyle/>
                    <a:p>
                      <a:pPr marL="0" marR="0" lvl="0" indent="0" algn="ctr" defTabSz="18287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+mn-lt"/>
                        </a:rPr>
                        <a:t>As per CTU evacuation system planning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Land work in Progress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404937"/>
                  </a:ext>
                </a:extLst>
              </a:tr>
              <a:tr h="383535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Commissioning  plan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+mn-lt"/>
                        </a:rPr>
                        <a:t>23-01-2026</a:t>
                      </a:r>
                    </a:p>
                  </a:txBody>
                  <a:tcPr marL="45720" marR="45720" marT="22860" marB="228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088382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A35EDB-9A22-6410-7177-6D9C9AAEB94B}"/>
              </a:ext>
            </a:extLst>
          </p:cNvPr>
          <p:cNvCxnSpPr>
            <a:cxnSpLocks/>
          </p:cNvCxnSpPr>
          <p:nvPr/>
        </p:nvCxnSpPr>
        <p:spPr>
          <a:xfrm>
            <a:off x="5718629" y="963109"/>
            <a:ext cx="0" cy="5851349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476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5F804E-E5DF-429C-9CCF-448AAAA7C9E2}"/>
              </a:ext>
            </a:extLst>
          </p:cNvPr>
          <p:cNvSpPr txBox="1"/>
          <p:nvPr/>
        </p:nvSpPr>
        <p:spPr>
          <a:xfrm>
            <a:off x="58921" y="205255"/>
            <a:ext cx="82512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 STATUS FOR PROJECT DEVELOPMENT</a:t>
            </a:r>
          </a:p>
          <a:p>
            <a:endParaRPr lang="en-IN" sz="2800" b="1" u="sng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D956E8-CA80-45AF-9DFD-02FAFC450706}"/>
              </a:ext>
            </a:extLst>
          </p:cNvPr>
          <p:cNvGraphicFramePr>
            <a:graphicFrameLocks/>
          </p:cNvGraphicFramePr>
          <p:nvPr/>
        </p:nvGraphicFramePr>
        <p:xfrm>
          <a:off x="144862" y="4479579"/>
          <a:ext cx="6517196" cy="22167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6391">
                  <a:extLst>
                    <a:ext uri="{9D8B030D-6E8A-4147-A177-3AD203B41FA5}">
                      <a16:colId xmlns:a16="http://schemas.microsoft.com/office/drawing/2014/main" val="2653901849"/>
                    </a:ext>
                  </a:extLst>
                </a:gridCol>
                <a:gridCol w="2480805">
                  <a:extLst>
                    <a:ext uri="{9D8B030D-6E8A-4147-A177-3AD203B41FA5}">
                      <a16:colId xmlns:a16="http://schemas.microsoft.com/office/drawing/2014/main" val="2144740993"/>
                    </a:ext>
                  </a:extLst>
                </a:gridCol>
              </a:tblGrid>
              <a:tr h="258029">
                <a:tc>
                  <a:txBody>
                    <a:bodyPr/>
                    <a:lstStyle/>
                    <a:p>
                      <a:r>
                        <a:rPr lang="en-IN" sz="1400" b="1" dirty="0"/>
                        <a:t>ELECTRCAL  BoP (PSS)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45312"/>
                  </a:ext>
                </a:extLst>
              </a:tr>
              <a:tr h="212078">
                <a:tc>
                  <a:txBody>
                    <a:bodyPr/>
                    <a:lstStyle/>
                    <a:p>
                      <a:r>
                        <a:rPr lang="en-IN" sz="1400" dirty="0"/>
                        <a:t>Land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Done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13968"/>
                  </a:ext>
                </a:extLst>
              </a:tr>
              <a:tr h="25802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Execution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76917"/>
                  </a:ext>
                </a:extLst>
              </a:tr>
              <a:tr h="212078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Control room Construction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477853"/>
                  </a:ext>
                </a:extLst>
              </a:tr>
              <a:tr h="25802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220KV &amp; 33KV Gantry &amp; Structures 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74966"/>
                  </a:ext>
                </a:extLst>
              </a:tr>
              <a:tr h="38790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220KV Equipment foundation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Transformer Erection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41861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6871416-78EC-4D53-841F-6C7BD9CE4077}"/>
              </a:ext>
            </a:extLst>
          </p:cNvPr>
          <p:cNvGraphicFramePr>
            <a:graphicFrameLocks/>
          </p:cNvGraphicFramePr>
          <p:nvPr/>
        </p:nvGraphicFramePr>
        <p:xfrm>
          <a:off x="127986" y="996107"/>
          <a:ext cx="6534071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3995">
                  <a:extLst>
                    <a:ext uri="{9D8B030D-6E8A-4147-A177-3AD203B41FA5}">
                      <a16:colId xmlns:a16="http://schemas.microsoft.com/office/drawing/2014/main" val="2653901849"/>
                    </a:ext>
                  </a:extLst>
                </a:gridCol>
                <a:gridCol w="2470076">
                  <a:extLst>
                    <a:ext uri="{9D8B030D-6E8A-4147-A177-3AD203B41FA5}">
                      <a16:colId xmlns:a16="http://schemas.microsoft.com/office/drawing/2014/main" val="653098352"/>
                    </a:ext>
                  </a:extLst>
                </a:gridCol>
              </a:tblGrid>
              <a:tr h="258029">
                <a:tc>
                  <a:txBody>
                    <a:bodyPr/>
                    <a:lstStyle/>
                    <a:p>
                      <a:r>
                        <a:rPr lang="en-IN" sz="1400" b="1" dirty="0"/>
                        <a:t>ELECTRICAL BoP(EHV)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45312"/>
                  </a:ext>
                </a:extLst>
              </a:tr>
              <a:tr h="212078">
                <a:tc>
                  <a:txBody>
                    <a:bodyPr/>
                    <a:lstStyle/>
                    <a:p>
                      <a:r>
                        <a:rPr lang="en-US" sz="1400" dirty="0"/>
                        <a:t>RoW Agreement (Required / Acquired)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13968"/>
                  </a:ext>
                </a:extLst>
              </a:tr>
              <a:tr h="25802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Excavation (Completed  / In process)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6%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76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EHV  Foundation (Completed / In process)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7.36%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477853"/>
                  </a:ext>
                </a:extLst>
              </a:tr>
              <a:tr h="25802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EHV Erection completed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74966"/>
                  </a:ext>
                </a:extLst>
              </a:tr>
              <a:tr h="25802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Stringing (Required / Completed/ In process)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96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D920CC-67C6-4C4D-9168-9D8AA3171349}"/>
              </a:ext>
            </a:extLst>
          </p:cNvPr>
          <p:cNvGraphicFramePr>
            <a:graphicFrameLocks/>
          </p:cNvGraphicFramePr>
          <p:nvPr/>
        </p:nvGraphicFramePr>
        <p:xfrm>
          <a:off x="6824874" y="996107"/>
          <a:ext cx="4914823" cy="18809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3216">
                  <a:extLst>
                    <a:ext uri="{9D8B030D-6E8A-4147-A177-3AD203B41FA5}">
                      <a16:colId xmlns:a16="http://schemas.microsoft.com/office/drawing/2014/main" val="2653901849"/>
                    </a:ext>
                  </a:extLst>
                </a:gridCol>
                <a:gridCol w="2091607">
                  <a:extLst>
                    <a:ext uri="{9D8B030D-6E8A-4147-A177-3AD203B41FA5}">
                      <a16:colId xmlns:a16="http://schemas.microsoft.com/office/drawing/2014/main" val="653098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EQUIPMENT SUPPLY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45312"/>
                  </a:ext>
                </a:extLst>
              </a:tr>
              <a:tr h="355018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EHV tower 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477853"/>
                  </a:ext>
                </a:extLst>
              </a:tr>
              <a:tr h="30383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Anchor Cages / Stub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12%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74966"/>
                  </a:ext>
                </a:extLst>
              </a:tr>
              <a:tr h="30383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PSS –Power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9671"/>
                  </a:ext>
                </a:extLst>
              </a:tr>
              <a:tr h="30677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EHV-Al-59 Moose Conductor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19113"/>
                  </a:ext>
                </a:extLst>
              </a:tr>
              <a:tr h="30383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EHV Hardware and Insulator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0827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E0F795-CADC-4FF1-B24C-BFFAF0AB350C}"/>
              </a:ext>
            </a:extLst>
          </p:cNvPr>
          <p:cNvGraphicFramePr>
            <a:graphicFrameLocks/>
          </p:cNvGraphicFramePr>
          <p:nvPr/>
        </p:nvGraphicFramePr>
        <p:xfrm>
          <a:off x="6824874" y="2896931"/>
          <a:ext cx="4922634" cy="195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2060">
                  <a:extLst>
                    <a:ext uri="{9D8B030D-6E8A-4147-A177-3AD203B41FA5}">
                      <a16:colId xmlns:a16="http://schemas.microsoft.com/office/drawing/2014/main" val="2653901849"/>
                    </a:ext>
                  </a:extLst>
                </a:gridCol>
                <a:gridCol w="2100574">
                  <a:extLst>
                    <a:ext uri="{9D8B030D-6E8A-4147-A177-3AD203B41FA5}">
                      <a16:colId xmlns:a16="http://schemas.microsoft.com/office/drawing/2014/main" val="653098352"/>
                    </a:ext>
                  </a:extLst>
                </a:gridCol>
              </a:tblGrid>
              <a:tr h="290186">
                <a:tc>
                  <a:txBody>
                    <a:bodyPr/>
                    <a:lstStyle/>
                    <a:p>
                      <a:r>
                        <a:rPr lang="en-IN" sz="1400" b="1" dirty="0"/>
                        <a:t>RESOURCES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45312"/>
                  </a:ext>
                </a:extLst>
              </a:tr>
              <a:tr h="290186">
                <a:tc>
                  <a:txBody>
                    <a:bodyPr/>
                    <a:lstStyle/>
                    <a:p>
                      <a:r>
                        <a:rPr lang="en-US" sz="1400" dirty="0"/>
                        <a:t>WTG subcontractor's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13968"/>
                  </a:ext>
                </a:extLst>
              </a:tr>
              <a:tr h="49331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EHV Foundation subcontractors  mobilization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76917"/>
                  </a:ext>
                </a:extLst>
              </a:tr>
              <a:tr h="49331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EHV Erection subcontractor's mobilization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477853"/>
                  </a:ext>
                </a:extLst>
              </a:tr>
              <a:tr h="290186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PSS Civil </a:t>
                      </a:r>
                      <a:r>
                        <a:rPr lang="en-US" sz="1400"/>
                        <a:t>contractor mobilization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7496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02A35D7-95F1-4742-BEDE-38BA2776D9EF}"/>
              </a:ext>
            </a:extLst>
          </p:cNvPr>
          <p:cNvGraphicFramePr>
            <a:graphicFrameLocks/>
          </p:cNvGraphicFramePr>
          <p:nvPr/>
        </p:nvGraphicFramePr>
        <p:xfrm>
          <a:off x="144861" y="3038267"/>
          <a:ext cx="6517196" cy="1441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3993">
                  <a:extLst>
                    <a:ext uri="{9D8B030D-6E8A-4147-A177-3AD203B41FA5}">
                      <a16:colId xmlns:a16="http://schemas.microsoft.com/office/drawing/2014/main" val="2653901849"/>
                    </a:ext>
                  </a:extLst>
                </a:gridCol>
                <a:gridCol w="2453203">
                  <a:extLst>
                    <a:ext uri="{9D8B030D-6E8A-4147-A177-3AD203B41FA5}">
                      <a16:colId xmlns:a16="http://schemas.microsoft.com/office/drawing/2014/main" val="2144740993"/>
                    </a:ext>
                  </a:extLst>
                </a:gridCol>
              </a:tblGrid>
              <a:tr h="483816">
                <a:tc>
                  <a:txBody>
                    <a:bodyPr/>
                    <a:lstStyle/>
                    <a:p>
                      <a:r>
                        <a:rPr lang="en-IN" sz="1400" b="1" dirty="0"/>
                        <a:t>ELECTRICAL BoP(USS &amp; 33KV)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545312"/>
                  </a:ext>
                </a:extLst>
              </a:tr>
              <a:tr h="478748">
                <a:tc>
                  <a:txBody>
                    <a:bodyPr/>
                    <a:lstStyle/>
                    <a:p>
                      <a:r>
                        <a:rPr lang="en-US" sz="1400" dirty="0"/>
                        <a:t>USS Readiness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13968"/>
                  </a:ext>
                </a:extLst>
              </a:tr>
              <a:tr h="478748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1400" dirty="0"/>
                        <a:t>33kv line Work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7691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10E5DD-0FD2-E24C-9B2C-1784FAE3FD47}"/>
              </a:ext>
            </a:extLst>
          </p:cNvPr>
          <p:cNvGraphicFramePr>
            <a:graphicFrameLocks noGrp="1"/>
          </p:cNvGraphicFramePr>
          <p:nvPr/>
        </p:nvGraphicFramePr>
        <p:xfrm>
          <a:off x="6841747" y="4867488"/>
          <a:ext cx="4922634" cy="1867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2681">
                  <a:extLst>
                    <a:ext uri="{9D8B030D-6E8A-4147-A177-3AD203B41FA5}">
                      <a16:colId xmlns:a16="http://schemas.microsoft.com/office/drawing/2014/main" val="2692381100"/>
                    </a:ext>
                  </a:extLst>
                </a:gridCol>
                <a:gridCol w="1189953">
                  <a:extLst>
                    <a:ext uri="{9D8B030D-6E8A-4147-A177-3AD203B41FA5}">
                      <a16:colId xmlns:a16="http://schemas.microsoft.com/office/drawing/2014/main" val="4248939802"/>
                    </a:ext>
                  </a:extLst>
                </a:gridCol>
              </a:tblGrid>
              <a:tr h="343435">
                <a:tc>
                  <a:txBody>
                    <a:bodyPr/>
                    <a:lstStyle/>
                    <a:p>
                      <a:r>
                        <a:rPr lang="en-IN" sz="1400" b="1" dirty="0"/>
                        <a:t>CIVIL BoP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151150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r>
                        <a:rPr lang="en-US" sz="1400" dirty="0"/>
                        <a:t>Soil Test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100/38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941403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Excavation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100/06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328697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WTG Foundation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100/00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898596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WTG Erection completed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100/00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339268"/>
                  </a:ext>
                </a:extLst>
              </a:tr>
              <a:tr h="263279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WTG Pre commission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100/00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087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76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2AD1-6CC7-3D25-F58B-2F81E24CE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542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COMMISSIONING PLAN: SUBMITTED BY WPD</a:t>
            </a:r>
            <a:endParaRPr lang="en-GB" sz="28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498" y="1221337"/>
          <a:ext cx="11175687" cy="291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5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55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5596">
                  <a:extLst>
                    <a:ext uri="{9D8B030D-6E8A-4147-A177-3AD203B41FA5}">
                      <a16:colId xmlns:a16="http://schemas.microsoft.com/office/drawing/2014/main" val="1436412059"/>
                    </a:ext>
                  </a:extLst>
                </a:gridCol>
              </a:tblGrid>
              <a:tr h="145058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WTGs already erected and ready for commissioning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WTGs erected however not ready for commissioning or under process of pre-commissioning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FTC application already filed for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FTC application proposed to be filed for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 point w.r.t. FTC  if,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Dynamic VAR Compensation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Trial Run Status (Completed /under process)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04085"/>
              </p:ext>
            </p:extLst>
          </p:nvPr>
        </p:nvGraphicFramePr>
        <p:xfrm>
          <a:off x="512073" y="4468141"/>
          <a:ext cx="5739156" cy="21314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17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4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635">
                <a:tc gridSpan="3">
                  <a:txBody>
                    <a:bodyPr/>
                    <a:lstStyle/>
                    <a:p>
                      <a:r>
                        <a:rPr lang="en-US" sz="1600" dirty="0"/>
                        <a:t>Quarter-wise Commissioning Target: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49">
                <a:tc>
                  <a:txBody>
                    <a:bodyPr/>
                    <a:lstStyle/>
                    <a:p>
                      <a:r>
                        <a:rPr lang="en-US" sz="1600" b="1" dirty="0"/>
                        <a:t>S. No.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Month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Capacity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1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Sept’ 25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75 MW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74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Oct’ 25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75 MW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38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Nov’ 25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75 MW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38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Dec’ 25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75 MW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8289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FE3E69-E96C-4618-ADA3-CEB61E7A6254}"/>
              </a:ext>
            </a:extLst>
          </p:cNvPr>
          <p:cNvGraphicFramePr>
            <a:graphicFrameLocks noGrp="1"/>
          </p:cNvGraphicFramePr>
          <p:nvPr/>
        </p:nvGraphicFramePr>
        <p:xfrm>
          <a:off x="6594819" y="4468141"/>
          <a:ext cx="5244254" cy="1889760"/>
        </p:xfrm>
        <a:graphic>
          <a:graphicData uri="http://schemas.openxmlformats.org/drawingml/2006/table">
            <a:tbl>
              <a:tblPr/>
              <a:tblGrid>
                <a:gridCol w="5244254">
                  <a:extLst>
                    <a:ext uri="{9D8B030D-6E8A-4147-A177-3AD203B41FA5}">
                      <a16:colId xmlns:a16="http://schemas.microsoft.com/office/drawing/2014/main" val="3803313988"/>
                    </a:ext>
                  </a:extLst>
                </a:gridCol>
              </a:tblGrid>
              <a:tr h="17868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2000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ISSUES – Shared by WPD</a:t>
                      </a:r>
                      <a:endParaRPr lang="en-IN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Land acquisition is constraint.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Bay coordinates pending.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IN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EHV line survey half pending due to coordinates awaited </a:t>
                      </a:r>
                    </a:p>
                    <a:p>
                      <a:pPr marL="0" indent="0">
                        <a:buNone/>
                      </a:pPr>
                      <a:endParaRPr lang="en-IN" sz="18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797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849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0521-C41A-2DA1-FB09-162C1A91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98" y="1"/>
            <a:ext cx="5209790" cy="1178560"/>
          </a:xfrm>
        </p:spPr>
        <p:txBody>
          <a:bodyPr>
            <a:normAutofit/>
          </a:bodyPr>
          <a:lstStyle/>
          <a:p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SITE PHOTOGRAPHS</a:t>
            </a:r>
          </a:p>
        </p:txBody>
      </p:sp>
      <p:pic>
        <p:nvPicPr>
          <p:cNvPr id="9" name="Picture 8" descr="A person standing next to a green machine&#10;&#10;Description automatically generated">
            <a:extLst>
              <a:ext uri="{FF2B5EF4-FFF2-40B4-BE49-F238E27FC236}">
                <a16:creationId xmlns:a16="http://schemas.microsoft.com/office/drawing/2014/main" id="{71A82FFB-2800-F05C-6DA2-E2259BDE29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871" y="1132111"/>
            <a:ext cx="3161109" cy="2194560"/>
          </a:xfrm>
          <a:prstGeom prst="rect">
            <a:avLst/>
          </a:prstGeom>
        </p:spPr>
      </p:pic>
      <p:pic>
        <p:nvPicPr>
          <p:cNvPr id="11" name="Picture 10" descr="A pile of rocks with chalk on the side&#10;&#10;Description automatically generated with medium confidence">
            <a:extLst>
              <a:ext uri="{FF2B5EF4-FFF2-40B4-BE49-F238E27FC236}">
                <a16:creationId xmlns:a16="http://schemas.microsoft.com/office/drawing/2014/main" id="{381E0BEF-E0D1-CBFE-52D6-0735320A4F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49" y="1132111"/>
            <a:ext cx="3129081" cy="219456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DE70925-69F4-DC93-AB14-ED8F541C8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672" y="1132111"/>
            <a:ext cx="4240106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1798447-FFB3-225D-7430-E61F9AA84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11" y="3461291"/>
            <a:ext cx="3129081" cy="310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381B082-7076-B0FF-1948-D7B6E2603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712" y="3461291"/>
            <a:ext cx="3171268" cy="310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66DE2CB-72D4-E472-610F-9F52DA1FF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671" y="3461291"/>
            <a:ext cx="4240107" cy="310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471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AE956-08D9-EC2D-4ACA-07953F186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9FDB-60E0-5860-DECA-96B56595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98" y="1"/>
            <a:ext cx="5209790" cy="1178560"/>
          </a:xfrm>
        </p:spPr>
        <p:txBody>
          <a:bodyPr>
            <a:normAutofit/>
          </a:bodyPr>
          <a:lstStyle/>
          <a:p>
            <a:r>
              <a:rPr lang="en-IN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SITE PHOTOGRAPHS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702B7A-D790-1FD6-E6E5-D75B4A779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1014957"/>
            <a:ext cx="3414357" cy="28597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736A7C-8F9E-B534-1588-1D868B35FB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279" y="1009854"/>
            <a:ext cx="3869467" cy="2864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FC2109-E472-FFD4-775D-347C982545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62" y="1009854"/>
            <a:ext cx="4023358" cy="286487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2EA3805-DF55-CCF1-C851-001A8F354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" y="3944362"/>
            <a:ext cx="3414357" cy="289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7BE7AA1-4AB3-746C-4462-E6F6FDC34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279" y="3973390"/>
            <a:ext cx="3869467" cy="286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BFD5FCF-F34F-CE29-DD8D-0D67C9489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361" y="3944362"/>
            <a:ext cx="4023359" cy="286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431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A40A4C-35C7-3DF5-E9FC-6662DEB3B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471073"/>
              </p:ext>
            </p:extLst>
          </p:nvPr>
        </p:nvGraphicFramePr>
        <p:xfrm>
          <a:off x="-1" y="954740"/>
          <a:ext cx="12048565" cy="58198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2899">
                  <a:extLst>
                    <a:ext uri="{9D8B030D-6E8A-4147-A177-3AD203B41FA5}">
                      <a16:colId xmlns:a16="http://schemas.microsoft.com/office/drawing/2014/main" val="2544632119"/>
                    </a:ext>
                  </a:extLst>
                </a:gridCol>
                <a:gridCol w="2204386">
                  <a:extLst>
                    <a:ext uri="{9D8B030D-6E8A-4147-A177-3AD203B41FA5}">
                      <a16:colId xmlns:a16="http://schemas.microsoft.com/office/drawing/2014/main" val="3293785772"/>
                    </a:ext>
                  </a:extLst>
                </a:gridCol>
                <a:gridCol w="882000">
                  <a:extLst>
                    <a:ext uri="{9D8B030D-6E8A-4147-A177-3AD203B41FA5}">
                      <a16:colId xmlns:a16="http://schemas.microsoft.com/office/drawing/2014/main" val="4252287521"/>
                    </a:ext>
                  </a:extLst>
                </a:gridCol>
                <a:gridCol w="931904">
                  <a:extLst>
                    <a:ext uri="{9D8B030D-6E8A-4147-A177-3AD203B41FA5}">
                      <a16:colId xmlns:a16="http://schemas.microsoft.com/office/drawing/2014/main" val="388860131"/>
                    </a:ext>
                  </a:extLst>
                </a:gridCol>
                <a:gridCol w="2267199">
                  <a:extLst>
                    <a:ext uri="{9D8B030D-6E8A-4147-A177-3AD203B41FA5}">
                      <a16:colId xmlns:a16="http://schemas.microsoft.com/office/drawing/2014/main" val="324167260"/>
                    </a:ext>
                  </a:extLst>
                </a:gridCol>
                <a:gridCol w="1063217">
                  <a:extLst>
                    <a:ext uri="{9D8B030D-6E8A-4147-A177-3AD203B41FA5}">
                      <a16:colId xmlns:a16="http://schemas.microsoft.com/office/drawing/2014/main" val="587858292"/>
                    </a:ext>
                  </a:extLst>
                </a:gridCol>
                <a:gridCol w="1542990">
                  <a:extLst>
                    <a:ext uri="{9D8B030D-6E8A-4147-A177-3AD203B41FA5}">
                      <a16:colId xmlns:a16="http://schemas.microsoft.com/office/drawing/2014/main" val="3548527385"/>
                    </a:ext>
                  </a:extLst>
                </a:gridCol>
                <a:gridCol w="2423970">
                  <a:extLst>
                    <a:ext uri="{9D8B030D-6E8A-4147-A177-3AD203B41FA5}">
                      <a16:colId xmlns:a16="http://schemas.microsoft.com/office/drawing/2014/main" val="2068401040"/>
                    </a:ext>
                  </a:extLst>
                </a:gridCol>
              </a:tblGrid>
              <a:tr h="6978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 err="1">
                          <a:effectLst/>
                        </a:rPr>
                        <a:t>S.No</a:t>
                      </a:r>
                      <a:r>
                        <a:rPr lang="en-IN" sz="1600" b="1" u="none" strike="noStrike" dirty="0">
                          <a:effectLst/>
                        </a:rPr>
                        <a:t>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WPD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Tranche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PPA Capacity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Actual Commissioned Capacity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Date of CERC order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COD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</a:rPr>
                        <a:t>Status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885567017"/>
                  </a:ext>
                </a:extLst>
              </a:tr>
              <a:tr h="4973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Powerica Ltd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VI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50.6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50.6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05-04-2023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18-08-2022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Annuity Started in Oct 2023, Closed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452467100"/>
                  </a:ext>
                </a:extLst>
              </a:tr>
              <a:tr h="5863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JSW Future Energy Ltd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X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11-04-2022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15-09-2024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draft claim final, 01.07.2025, Letter sent to DISCOM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1684611203"/>
                  </a:ext>
                </a:extLst>
              </a:tr>
              <a:tr h="4691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Torrent Power Limited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V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09-01-2024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14-07-2023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raft claim finalised</a:t>
                      </a: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4090328892"/>
                  </a:ext>
                </a:extLst>
              </a:tr>
              <a:tr h="4669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Ayana Renewable Power Six Pvt Ltd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X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11-04-2022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19-02-2024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response sought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3860363441"/>
                  </a:ext>
                </a:extLst>
              </a:tr>
              <a:tr h="2514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sv-SE" sz="1400" u="none" strike="noStrike" dirty="0">
                          <a:effectLst/>
                        </a:rPr>
                        <a:t>Vena Energy Vidyuth Pvt. Ltd.</a:t>
                      </a:r>
                      <a:endParaRPr lang="sv-S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XI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160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160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12-01-2024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01-10-2024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documents sought for GST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3407131329"/>
                  </a:ext>
                </a:extLst>
              </a:tr>
              <a:tr h="25147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draft claim final for BCD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734801085"/>
                  </a:ext>
                </a:extLst>
              </a:tr>
              <a:tr h="56534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Ostro Energy Private Limited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VII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26-12-2023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05-12-2022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 carrying cost claim under evaluation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1034343251"/>
                  </a:ext>
                </a:extLst>
              </a:tr>
              <a:tr h="4669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Ostro Energy Private Limited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VI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199.5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19-05-2024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09-09-2022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documents under evaluation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173475313"/>
                  </a:ext>
                </a:extLst>
              </a:tr>
              <a:tr h="4691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JSW Future Energy Ltd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X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150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150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11-04-2022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14-11-2024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Documents and clarifications sought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1871815756"/>
                  </a:ext>
                </a:extLst>
              </a:tr>
              <a:tr h="56534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Sitac Kabini Renewables Private Limited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V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20-02-2025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31-05-2023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documents sought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2204963694"/>
                  </a:ext>
                </a:extLst>
              </a:tr>
              <a:tr h="50839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Srijan Energy Systems Private Limited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VI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150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148.5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03-01-2025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16-06-2023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documents sought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93" marR="5593" marT="5593" marB="0" anchor="ctr"/>
                </a:tc>
                <a:extLst>
                  <a:ext uri="{0D108BD9-81ED-4DB2-BD59-A6C34878D82A}">
                    <a16:rowId xmlns:a16="http://schemas.microsoft.com/office/drawing/2014/main" val="31776325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576DA8-E619-418F-331A-AC9180810FF4}"/>
              </a:ext>
            </a:extLst>
          </p:cNvPr>
          <p:cNvSpPr txBox="1"/>
          <p:nvPr/>
        </p:nvSpPr>
        <p:spPr>
          <a:xfrm>
            <a:off x="363071" y="245640"/>
            <a:ext cx="6111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Change In law cases(WIND)</a:t>
            </a:r>
          </a:p>
        </p:txBody>
      </p:sp>
    </p:spTree>
    <p:extLst>
      <p:ext uri="{BB962C8B-B14F-4D97-AF65-F5344CB8AC3E}">
        <p14:creationId xmlns:p14="http://schemas.microsoft.com/office/powerpoint/2010/main" val="33543877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F09780-64DA-BBDD-4358-37A434D71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448926"/>
              </p:ext>
            </p:extLst>
          </p:nvPr>
        </p:nvGraphicFramePr>
        <p:xfrm>
          <a:off x="122308" y="977871"/>
          <a:ext cx="11968737" cy="5824205"/>
        </p:xfrm>
        <a:graphic>
          <a:graphicData uri="http://schemas.openxmlformats.org/drawingml/2006/table">
            <a:tbl>
              <a:tblPr/>
              <a:tblGrid>
                <a:gridCol w="650946">
                  <a:extLst>
                    <a:ext uri="{9D8B030D-6E8A-4147-A177-3AD203B41FA5}">
                      <a16:colId xmlns:a16="http://schemas.microsoft.com/office/drawing/2014/main" val="1539554960"/>
                    </a:ext>
                  </a:extLst>
                </a:gridCol>
                <a:gridCol w="4252850">
                  <a:extLst>
                    <a:ext uri="{9D8B030D-6E8A-4147-A177-3AD203B41FA5}">
                      <a16:colId xmlns:a16="http://schemas.microsoft.com/office/drawing/2014/main" val="3865538125"/>
                    </a:ext>
                  </a:extLst>
                </a:gridCol>
                <a:gridCol w="928685">
                  <a:extLst>
                    <a:ext uri="{9D8B030D-6E8A-4147-A177-3AD203B41FA5}">
                      <a16:colId xmlns:a16="http://schemas.microsoft.com/office/drawing/2014/main" val="3579101427"/>
                    </a:ext>
                  </a:extLst>
                </a:gridCol>
                <a:gridCol w="4252850">
                  <a:extLst>
                    <a:ext uri="{9D8B030D-6E8A-4147-A177-3AD203B41FA5}">
                      <a16:colId xmlns:a16="http://schemas.microsoft.com/office/drawing/2014/main" val="3774106420"/>
                    </a:ext>
                  </a:extLst>
                </a:gridCol>
                <a:gridCol w="1883406">
                  <a:extLst>
                    <a:ext uri="{9D8B030D-6E8A-4147-A177-3AD203B41FA5}">
                      <a16:colId xmlns:a16="http://schemas.microsoft.com/office/drawing/2014/main" val="1265109232"/>
                    </a:ext>
                  </a:extLst>
                </a:gridCol>
              </a:tblGrid>
              <a:tr h="2807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dirty="0">
                          <a:effectLst/>
                          <a:latin typeface="Georgia" panose="02040502050405020303" pitchFamily="18" charset="0"/>
                        </a:rPr>
                        <a:t>Sr. No.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Georgia" panose="02040502050405020303" pitchFamily="18" charset="0"/>
                        </a:rPr>
                        <a:t>Actions pending in Wind Division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dirty="0">
                          <a:effectLst/>
                          <a:latin typeface="Georgia" panose="02040502050405020303" pitchFamily="18" charset="0"/>
                        </a:rPr>
                        <a:t>Timeline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dirty="0">
                          <a:effectLst/>
                          <a:latin typeface="Georgia" panose="02040502050405020303" pitchFamily="18" charset="0"/>
                        </a:rPr>
                        <a:t>Status (as on 08.12.2025)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b="1" dirty="0">
                          <a:effectLst/>
                          <a:latin typeface="Georgia" panose="02040502050405020303" pitchFamily="18" charset="0"/>
                        </a:rPr>
                        <a:t>Concerned official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47082"/>
                  </a:ext>
                </a:extLst>
              </a:tr>
              <a:tr h="68017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SECI project 50 MW for NDMC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ongoing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Subsequent to report by NIWE, Configuration revision to be reviewed by Projects Team to </a:t>
                      </a:r>
                      <a:r>
                        <a:rPr lang="en-US" sz="1200" b="0" dirty="0" err="1">
                          <a:effectLst/>
                          <a:latin typeface="Georgia" panose="02040502050405020303" pitchFamily="18" charset="0"/>
                        </a:rPr>
                        <a:t>optimise</a:t>
                      </a: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 the CUF, Title search report under process, will be initiated once the GO is received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Anita/Prashant/Ashutosh Shandilya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693992"/>
                  </a:ext>
                </a:extLst>
              </a:tr>
              <a:tr h="10796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CIL Claims settlement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ongoing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1) As per requirement, Meetings are being called on case to case basis and discussions are undergoing with Finance </a:t>
                      </a:r>
                      <a:r>
                        <a:rPr lang="en-US" sz="1200" b="0" dirty="0" err="1">
                          <a:effectLst/>
                          <a:latin typeface="Georgia" panose="02040502050405020303" pitchFamily="18" charset="0"/>
                        </a:rPr>
                        <a:t>divison</a:t>
                      </a: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 and consultant, 2) currently 7 cases are live 3) Ostro Energy Pvt. Ltd. GST claim </a:t>
                      </a:r>
                      <a:r>
                        <a:rPr lang="en-US" sz="1200" b="0" dirty="0" err="1">
                          <a:effectLst/>
                          <a:latin typeface="Georgia" panose="02040502050405020303" pitchFamily="18" charset="0"/>
                        </a:rPr>
                        <a:t>finalised</a:t>
                      </a: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 and Carrying cost claim under evaluation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Anita/Ashutosh Shandilya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432926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200" b="0" dirty="0" err="1">
                          <a:effectLst/>
                          <a:latin typeface="Georgia" panose="02040502050405020303" pitchFamily="18" charset="0"/>
                        </a:rPr>
                        <a:t>Apraava</a:t>
                      </a:r>
                      <a:r>
                        <a:rPr lang="fr-FR" sz="1200" b="0" dirty="0">
                          <a:effectLst/>
                          <a:latin typeface="Georgia" panose="02040502050405020303" pitchFamily="18" charset="0"/>
                        </a:rPr>
                        <a:t> T-XIV 300 MW </a:t>
                      </a:r>
                      <a:r>
                        <a:rPr lang="fr-FR" sz="1200" b="0" dirty="0" err="1">
                          <a:effectLst/>
                          <a:latin typeface="Georgia" panose="02040502050405020303" pitchFamily="18" charset="0"/>
                        </a:rPr>
                        <a:t>SCoD</a:t>
                      </a:r>
                      <a:r>
                        <a:rPr lang="fr-FR" sz="1200" b="0" dirty="0">
                          <a:effectLst/>
                          <a:latin typeface="Georgia" panose="02040502050405020303" pitchFamily="18" charset="0"/>
                        </a:rPr>
                        <a:t> extension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ongoing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Committee meeting discussion held at CTU office, Minutes are awaited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Dileep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556014"/>
                  </a:ext>
                </a:extLst>
              </a:tr>
              <a:tr h="4138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Meeting with CSPDCL for Tunga project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ongoing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Hearing scheduled on 10.11.2025 has been deleted, next date of hearing to be informed in due course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Anita/Aditee/EMD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57317"/>
                  </a:ext>
                </a:extLst>
              </a:tr>
              <a:tr h="10796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Approval for NDA for availing OEMs wind turbine model data.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ongoing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Signed NDA received from Sany and NDA expected within a week from Envision, NDA under discussion with </a:t>
                      </a:r>
                      <a:r>
                        <a:rPr lang="en-US" sz="1200" b="0" dirty="0" err="1">
                          <a:effectLst/>
                          <a:latin typeface="Georgia" panose="02040502050405020303" pitchFamily="18" charset="0"/>
                        </a:rPr>
                        <a:t>suzlon</a:t>
                      </a: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, AEP assessment with NIWE under </a:t>
                      </a:r>
                      <a:r>
                        <a:rPr lang="en-US" sz="1200" b="0" dirty="0" err="1">
                          <a:effectLst/>
                          <a:latin typeface="Georgia" panose="02040502050405020303" pitchFamily="18" charset="0"/>
                        </a:rPr>
                        <a:t>finalisation</a:t>
                      </a:r>
                      <a:r>
                        <a:rPr lang="en-US" sz="1200" b="0" dirty="0">
                          <a:effectLst/>
                          <a:latin typeface="Georgia" panose="02040502050405020303" pitchFamily="18" charset="0"/>
                        </a:rPr>
                        <a:t>, Revised Budgetary quotation received from Sany, and expected to be received this week from Envision, Inox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0" dirty="0">
                          <a:effectLst/>
                          <a:latin typeface="Georgia" panose="02040502050405020303" pitchFamily="18" charset="0"/>
                        </a:rPr>
                        <a:t>Anita/Aditee/Ashutosh Shandilya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178922"/>
                  </a:ext>
                </a:extLst>
              </a:tr>
              <a:tr h="8513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dirty="0">
                          <a:effectLst/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Georgia" panose="02040502050405020303" pitchFamily="18" charset="0"/>
                        </a:rPr>
                        <a:t>600 MW/ 1200 MWh BESS project for market operation under VGF scheme in AP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dirty="0">
                          <a:effectLst/>
                          <a:latin typeface="Georgia" panose="02040502050405020303" pitchFamily="18" charset="0"/>
                        </a:rPr>
                        <a:t>completed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Georgia" panose="02040502050405020303" pitchFamily="18" charset="0"/>
                        </a:rPr>
                        <a:t>Title search report under process, as the advanced possession is awaited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dirty="0">
                          <a:effectLst/>
                          <a:latin typeface="Georgia" panose="02040502050405020303" pitchFamily="18" charset="0"/>
                        </a:rPr>
                        <a:t>Anita 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898503"/>
                  </a:ext>
                </a:extLst>
              </a:tr>
              <a:tr h="106058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dirty="0">
                          <a:effectLst/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Georgia" panose="02040502050405020303" pitchFamily="18" charset="0"/>
                        </a:rPr>
                        <a:t>100 MW ISTS Connected Solar power project at </a:t>
                      </a:r>
                      <a:r>
                        <a:rPr lang="en-US" sz="1200" dirty="0" err="1">
                          <a:effectLst/>
                          <a:latin typeface="Georgia" panose="02040502050405020303" pitchFamily="18" charset="0"/>
                        </a:rPr>
                        <a:t>Chitradurga</a:t>
                      </a:r>
                      <a:r>
                        <a:rPr lang="en-US" sz="1200" dirty="0">
                          <a:effectLst/>
                          <a:latin typeface="Georgia" panose="02040502050405020303" pitchFamily="18" charset="0"/>
                        </a:rPr>
                        <a:t>, </a:t>
                      </a:r>
                      <a:r>
                        <a:rPr lang="en-US" sz="1200" dirty="0" err="1">
                          <a:effectLst/>
                          <a:latin typeface="Georgia" panose="02040502050405020303" pitchFamily="18" charset="0"/>
                        </a:rPr>
                        <a:t>karnataka</a:t>
                      </a:r>
                      <a:r>
                        <a:rPr lang="en-US" sz="1200" dirty="0">
                          <a:effectLst/>
                          <a:latin typeface="Georgia" panose="02040502050405020303" pitchFamily="18" charset="0"/>
                        </a:rPr>
                        <a:t> for DRDO 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dirty="0">
                          <a:effectLst/>
                          <a:latin typeface="Georgia" panose="02040502050405020303" pitchFamily="18" charset="0"/>
                        </a:rPr>
                        <a:t>ongoing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Georgia" panose="02040502050405020303" pitchFamily="18" charset="0"/>
                        </a:rPr>
                        <a:t>Meeting held with CTUIL and the issues regarding connectivity expressed by CTU and the same is under discussion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dirty="0">
                          <a:effectLst/>
                          <a:latin typeface="Georgia" panose="02040502050405020303" pitchFamily="18" charset="0"/>
                        </a:rPr>
                        <a:t>Anita</a:t>
                      </a:r>
                    </a:p>
                  </a:txBody>
                  <a:tcPr marL="8698" marR="8698" marT="5799" marB="57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1032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EB174C7-2955-DE1B-06FB-3CFC694CA670}"/>
              </a:ext>
            </a:extLst>
          </p:cNvPr>
          <p:cNvSpPr txBox="1"/>
          <p:nvPr/>
        </p:nvSpPr>
        <p:spPr>
          <a:xfrm>
            <a:off x="122308" y="113571"/>
            <a:ext cx="3395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MIS Update as </a:t>
            </a:r>
            <a:r>
              <a:rPr lang="en-IN" sz="2000" b="1"/>
              <a:t>on 08.12.2025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68585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81F31-CAD7-912F-73DB-62A288C75C33}"/>
              </a:ext>
            </a:extLst>
          </p:cNvPr>
          <p:cNvSpPr txBox="1"/>
          <p:nvPr/>
        </p:nvSpPr>
        <p:spPr>
          <a:xfrm>
            <a:off x="2731294" y="2733675"/>
            <a:ext cx="6729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</a:t>
            </a:r>
            <a:r>
              <a:rPr lang="en-IN" sz="4000" b="1" dirty="0"/>
              <a:t>HANK YOU</a:t>
            </a:r>
            <a:endParaRPr lang="en-GB" sz="4000" b="1" dirty="0"/>
          </a:p>
        </p:txBody>
      </p:sp>
    </p:spTree>
    <p:extLst>
      <p:ext uri="{BB962C8B-B14F-4D97-AF65-F5344CB8AC3E}">
        <p14:creationId xmlns:p14="http://schemas.microsoft.com/office/powerpoint/2010/main" val="1990579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17091</TotalTime>
  <Words>4792</Words>
  <Application>Microsoft Office PowerPoint</Application>
  <PresentationFormat>Widescreen</PresentationFormat>
  <Paragraphs>1719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Aptos</vt:lpstr>
      <vt:lpstr>Aptos Narrow</vt:lpstr>
      <vt:lpstr>Arial</vt:lpstr>
      <vt:lpstr>Calibri</vt:lpstr>
      <vt:lpstr>Calibri Light</vt:lpstr>
      <vt:lpstr>Courier New</vt:lpstr>
      <vt:lpstr>Georgia</vt:lpstr>
      <vt:lpstr>Times New Roman</vt:lpstr>
      <vt:lpstr>Office Theme</vt:lpstr>
      <vt:lpstr>1_Custom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Wind Power Projects Impacted due to delay in GNA/Connectivity</vt:lpstr>
      <vt:lpstr>DISCUSSION POINTS</vt:lpstr>
      <vt:lpstr>Tranche-wise Progress Status (Wind)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BRIEF – TORRENT POWER LIMITED- TRANCHE-XII </vt:lpstr>
      <vt:lpstr>PowerPoint Presentation</vt:lpstr>
      <vt:lpstr>PowerPoint Presentation</vt:lpstr>
      <vt:lpstr>COMMISSIONING PLAN: SUBMITTED BY WPD</vt:lpstr>
      <vt:lpstr>SITE PHOTOGRAPHS</vt:lpstr>
      <vt:lpstr>SITE PHOTOGRAPHS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Dileep Kumar</dc:creator>
  <cp:lastModifiedBy>ASHUTOSH SHANDILYA</cp:lastModifiedBy>
  <cp:revision>1662</cp:revision>
  <cp:lastPrinted>2025-11-17T05:56:08Z</cp:lastPrinted>
  <dcterms:created xsi:type="dcterms:W3CDTF">2023-10-13T04:42:40Z</dcterms:created>
  <dcterms:modified xsi:type="dcterms:W3CDTF">2025-12-08T06:49:50Z</dcterms:modified>
</cp:coreProperties>
</file>