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6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69" r:id="rId16"/>
    <p:sldId id="270" r:id="rId17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512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972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7336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4946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7968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154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013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969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1337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264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857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8999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683312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0278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68981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8675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9077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1085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97674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idx="1"/>
          </p:nvPr>
        </p:nvSpPr>
        <p:spPr>
          <a:xfrm>
            <a:off x="4872849" y="1179941"/>
            <a:ext cx="6667373" cy="2858475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12700" marR="5080" indent="350520" algn="ctr">
              <a:lnSpc>
                <a:spcPts val="7130"/>
              </a:lnSpc>
              <a:spcBef>
                <a:spcPts val="990"/>
              </a:spcBef>
              <a:tabLst>
                <a:tab pos="2524125" algn="l"/>
              </a:tabLst>
            </a:pPr>
            <a:r>
              <a:rPr lang="en-IN" sz="6000" spc="720" dirty="0">
                <a:latin typeface="Bell MT" panose="02020503060305020303" pitchFamily="18" charset="0"/>
              </a:rPr>
              <a:t>MOBILE</a:t>
            </a:r>
            <a:r>
              <a:rPr lang="en-IN" sz="6000" dirty="0">
                <a:latin typeface="Bell MT" panose="02020503060305020303" pitchFamily="18" charset="0"/>
              </a:rPr>
              <a:t> </a:t>
            </a:r>
            <a:r>
              <a:rPr sz="6000" spc="665" dirty="0">
                <a:latin typeface="Bell MT" panose="02020503060305020303" pitchFamily="18" charset="0"/>
              </a:rPr>
              <a:t>PRICE </a:t>
            </a:r>
            <a:r>
              <a:rPr lang="en-IN" sz="6000" spc="665" dirty="0">
                <a:latin typeface="Bell MT" panose="02020503060305020303" pitchFamily="18" charset="0"/>
              </a:rPr>
              <a:t> </a:t>
            </a:r>
            <a:r>
              <a:rPr sz="6000" spc="545" dirty="0">
                <a:latin typeface="Bell MT" panose="02020503060305020303" pitchFamily="18" charset="0"/>
              </a:rPr>
              <a:t>PREDICTION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086600" y="4648200"/>
            <a:ext cx="2580640" cy="1087755"/>
          </a:xfrm>
          <a:prstGeom prst="rect">
            <a:avLst/>
          </a:prstGeom>
        </p:spPr>
        <p:txBody>
          <a:bodyPr vert="horz" wrap="square" lIns="0" tIns="177800" rIns="0" bIns="0" rtlCol="0">
            <a:spAutoFit/>
          </a:bodyPr>
          <a:lstStyle/>
          <a:p>
            <a:pPr marL="42545" algn="ctr">
              <a:lnSpc>
                <a:spcPct val="100000"/>
              </a:lnSpc>
              <a:spcBef>
                <a:spcPts val="1400"/>
              </a:spcBef>
            </a:pPr>
            <a:r>
              <a:rPr lang="en-IN" sz="2400" dirty="0" err="1" smtClean="0">
                <a:latin typeface="Cambria"/>
                <a:cs typeface="Cambria"/>
              </a:rPr>
              <a:t>Anshu</a:t>
            </a:r>
            <a:endParaRPr sz="2400" dirty="0">
              <a:latin typeface="Cambria"/>
              <a:cs typeface="Cambria"/>
            </a:endParaRPr>
          </a:p>
          <a:p>
            <a:pPr marL="12700" algn="ctr">
              <a:lnSpc>
                <a:spcPct val="100000"/>
              </a:lnSpc>
              <a:spcBef>
                <a:spcPts val="1300"/>
              </a:spcBef>
            </a:pPr>
            <a:r>
              <a:rPr sz="2400" spc="85" dirty="0">
                <a:solidFill>
                  <a:srgbClr val="FFFFFF"/>
                </a:solidFill>
                <a:latin typeface="Cambria"/>
                <a:cs typeface="Cambria"/>
              </a:rPr>
              <a:t>Dated- </a:t>
            </a:r>
            <a:r>
              <a:rPr lang="en-IN" sz="2400" spc="-10" dirty="0">
                <a:solidFill>
                  <a:srgbClr val="FFFFFF"/>
                </a:solidFill>
                <a:latin typeface="Cambria"/>
                <a:cs typeface="Cambria"/>
              </a:rPr>
              <a:t>31</a:t>
            </a:r>
            <a:r>
              <a:rPr sz="2400" spc="-10" dirty="0">
                <a:solidFill>
                  <a:srgbClr val="FFFFFF"/>
                </a:solidFill>
                <a:latin typeface="Cambria"/>
                <a:cs typeface="Cambria"/>
              </a:rPr>
              <a:t>-0</a:t>
            </a:r>
            <a:r>
              <a:rPr lang="en-IN" sz="2400" spc="-10" dirty="0">
                <a:solidFill>
                  <a:srgbClr val="FFFFFF"/>
                </a:solidFill>
                <a:latin typeface="Cambria"/>
                <a:cs typeface="Cambria"/>
              </a:rPr>
              <a:t>7</a:t>
            </a:r>
            <a:r>
              <a:rPr sz="2400" spc="-10" dirty="0">
                <a:solidFill>
                  <a:srgbClr val="FFFFFF"/>
                </a:solidFill>
                <a:latin typeface="Cambria"/>
                <a:cs typeface="Cambria"/>
              </a:rPr>
              <a:t>-</a:t>
            </a:r>
            <a:r>
              <a:rPr sz="2400" spc="-20" dirty="0">
                <a:solidFill>
                  <a:srgbClr val="FFFFFF"/>
                </a:solidFill>
                <a:latin typeface="Cambria"/>
                <a:cs typeface="Cambria"/>
              </a:rPr>
              <a:t>2024</a:t>
            </a:r>
            <a:endParaRPr sz="24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3636" rIns="0" bIns="0" rtlCol="0">
            <a:spAutoFit/>
          </a:bodyPr>
          <a:lstStyle/>
          <a:p>
            <a:pPr marL="3615690">
              <a:lnSpc>
                <a:spcPct val="100000"/>
              </a:lnSpc>
              <a:spcBef>
                <a:spcPts val="100"/>
              </a:spcBef>
            </a:pPr>
            <a:r>
              <a:rPr sz="4800" spc="-45" dirty="0">
                <a:latin typeface="Times New Roman"/>
                <a:cs typeface="Times New Roman"/>
              </a:rPr>
              <a:t>OBJECTIVE</a:t>
            </a:r>
            <a:r>
              <a:rPr sz="4800" spc="-225" dirty="0">
                <a:latin typeface="Times New Roman"/>
                <a:cs typeface="Times New Roman"/>
              </a:rPr>
              <a:t> </a:t>
            </a:r>
            <a:r>
              <a:rPr sz="4800" spc="-345" dirty="0">
                <a:latin typeface="Arial"/>
                <a:cs typeface="Arial"/>
              </a:rPr>
              <a:t>–</a:t>
            </a:r>
            <a:endParaRPr sz="480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20164" y="2507944"/>
            <a:ext cx="9618345" cy="1814599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 marR="5080" indent="-6985" algn="ctr">
              <a:lnSpc>
                <a:spcPct val="90000"/>
              </a:lnSpc>
              <a:spcBef>
                <a:spcPts val="590"/>
              </a:spcBef>
            </a:pPr>
            <a:r>
              <a:rPr sz="4000" b="1" spc="1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4000" b="1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PREDICT</a:t>
            </a:r>
            <a:r>
              <a:rPr sz="40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b="1" spc="80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PRICE</a:t>
            </a:r>
            <a:r>
              <a:rPr sz="4000" b="1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4000" b="1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IN" sz="40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MOBILE</a:t>
            </a:r>
            <a:r>
              <a:rPr sz="40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BASED</a:t>
            </a:r>
            <a:r>
              <a:rPr sz="4000" b="1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b="1" spc="55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40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VARIOUS</a:t>
            </a:r>
            <a:r>
              <a:rPr sz="4000" b="1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FEATURES</a:t>
            </a:r>
            <a:r>
              <a:rPr sz="4000" b="1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b="1" spc="45" dirty="0">
                <a:solidFill>
                  <a:srgbClr val="FFFFFF"/>
                </a:solidFill>
                <a:latin typeface="Times New Roman"/>
                <a:cs typeface="Times New Roman"/>
              </a:rPr>
              <a:t>USING </a:t>
            </a:r>
            <a:endParaRPr lang="en-IN" sz="4000" b="1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12700" marR="5080" indent="-6985" algn="ctr">
              <a:lnSpc>
                <a:spcPct val="90000"/>
              </a:lnSpc>
              <a:spcBef>
                <a:spcPts val="590"/>
              </a:spcBef>
            </a:pPr>
            <a:r>
              <a:rPr lang="en-IN" sz="4000" b="1" dirty="0" smtClean="0">
                <a:solidFill>
                  <a:srgbClr val="FFFFFF"/>
                </a:solidFill>
                <a:latin typeface="Times New Roman"/>
                <a:cs typeface="Times New Roman"/>
              </a:rPr>
              <a:t>KNN MODEL </a:t>
            </a:r>
            <a:endParaRPr sz="4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3559" y="541477"/>
            <a:ext cx="11104880" cy="956723"/>
          </a:xfrm>
          <a:prstGeom prst="rect">
            <a:avLst/>
          </a:prstGeom>
        </p:spPr>
        <p:txBody>
          <a:bodyPr vert="horz" wrap="square" lIns="0" tIns="429310" rIns="0" bIns="0" rtlCol="0">
            <a:spAutoFit/>
          </a:bodyPr>
          <a:lstStyle/>
          <a:p>
            <a:pPr marL="3245485">
              <a:lnSpc>
                <a:spcPct val="100000"/>
              </a:lnSpc>
              <a:spcBef>
                <a:spcPts val="105"/>
              </a:spcBef>
            </a:pPr>
            <a:r>
              <a:rPr spc="220" dirty="0">
                <a:latin typeface="Calisto MT" panose="02040603050505030304" pitchFamily="18" charset="0"/>
              </a:rPr>
              <a:t>DATA</a:t>
            </a:r>
            <a:r>
              <a:rPr spc="375" dirty="0">
                <a:latin typeface="Calisto MT" panose="02040603050505030304" pitchFamily="18" charset="0"/>
              </a:rPr>
              <a:t> </a:t>
            </a:r>
            <a:r>
              <a:rPr spc="300" dirty="0">
                <a:latin typeface="Calisto MT" panose="02040603050505030304" pitchFamily="18" charset="0"/>
              </a:rPr>
              <a:t>DESCRIPTION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992835" y="2089454"/>
            <a:ext cx="9702165" cy="32521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2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The</a:t>
            </a:r>
            <a:r>
              <a:rPr sz="2000" b="1" u="sng" spc="-8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data</a:t>
            </a:r>
            <a:r>
              <a:rPr sz="2000" b="1" u="sng" spc="-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contains</a:t>
            </a:r>
            <a:r>
              <a:rPr sz="2000" b="1" u="sng" spc="-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different</a:t>
            </a:r>
            <a:r>
              <a:rPr sz="2000" b="1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attributes</a:t>
            </a:r>
            <a:r>
              <a:rPr sz="2000" b="1" u="sng" spc="-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of</a:t>
            </a:r>
            <a:r>
              <a:rPr sz="2000" b="1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lang="en-IN" sz="20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mobile</a:t>
            </a:r>
            <a:r>
              <a:rPr sz="20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.</a:t>
            </a:r>
            <a:r>
              <a:rPr sz="2000" b="1" u="sng" spc="-3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The</a:t>
            </a:r>
            <a:r>
              <a:rPr sz="2000" b="1" u="sng" spc="-8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detailed</a:t>
            </a:r>
            <a:r>
              <a:rPr sz="2000" b="1" u="sng" spc="-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dictionary</a:t>
            </a:r>
            <a:r>
              <a:rPr sz="2000" b="1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of</a:t>
            </a:r>
            <a:r>
              <a:rPr sz="2000" b="1" u="sng" spc="-7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data</a:t>
            </a:r>
            <a:r>
              <a:rPr sz="2000" b="1" u="sng" spc="-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spc="-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is</a:t>
            </a: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given</a:t>
            </a:r>
            <a:r>
              <a:rPr sz="2000" b="1" u="sng" spc="-4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below-</a:t>
            </a:r>
            <a:endParaRPr sz="2000" dirty="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149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1.</a:t>
            </a:r>
            <a:r>
              <a:rPr sz="2000" b="1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lang="en-IN" sz="2000" b="1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RAM</a:t>
            </a:r>
            <a:endParaRPr sz="2000" dirty="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146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2.</a:t>
            </a:r>
            <a:r>
              <a:rPr sz="2000" b="1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lang="en-IN" sz="2000" b="1" u="sng" spc="-40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Processor</a:t>
            </a:r>
            <a:r>
              <a:rPr lang="en-IN" sz="2000" b="1" u="sng" spc="-20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e</a:t>
            </a:r>
            <a:endParaRPr lang="en-IN" sz="2000" b="1" u="sng" spc="-20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146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3.</a:t>
            </a:r>
            <a:r>
              <a:rPr sz="2000" b="1" u="sng" spc="-7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lang="en-IN" sz="2000" b="1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Battery capacity</a:t>
            </a:r>
            <a:endParaRPr sz="2000" dirty="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149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4.</a:t>
            </a:r>
            <a:r>
              <a:rPr sz="2000" b="1" u="sng" spc="-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lang="en-IN" sz="20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Operating System</a:t>
            </a:r>
          </a:p>
          <a:p>
            <a:pPr marL="240665" indent="-227965">
              <a:lnSpc>
                <a:spcPct val="100000"/>
              </a:lnSpc>
              <a:spcBef>
                <a:spcPts val="149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5.</a:t>
            </a:r>
            <a:r>
              <a:rPr sz="2000" b="1" u="sng" spc="-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lang="en-IN" sz="20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Camera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72584" y="435800"/>
            <a:ext cx="3031109" cy="9675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394835">
              <a:lnSpc>
                <a:spcPct val="100000"/>
              </a:lnSpc>
              <a:spcBef>
                <a:spcPts val="110"/>
              </a:spcBef>
            </a:pPr>
            <a:r>
              <a:rPr spc="220" dirty="0"/>
              <a:t>DATA</a:t>
            </a:r>
            <a:r>
              <a:rPr spc="370" dirty="0"/>
              <a:t> </a:t>
            </a:r>
            <a:r>
              <a:rPr spc="360" dirty="0"/>
              <a:t>SET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504" y="1217460"/>
            <a:ext cx="11631267" cy="52595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19200" y="313181"/>
            <a:ext cx="10210799" cy="5366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463155" algn="l"/>
              </a:tabLst>
            </a:pPr>
            <a:r>
              <a:rPr spc="335" dirty="0">
                <a:latin typeface="Bell MT" panose="02020503060305020303" pitchFamily="18" charset="0"/>
              </a:rPr>
              <a:t>EXPLORATORY</a:t>
            </a:r>
            <a:r>
              <a:rPr spc="345" dirty="0">
                <a:latin typeface="Bell MT" panose="02020503060305020303" pitchFamily="18" charset="0"/>
              </a:rPr>
              <a:t> </a:t>
            </a:r>
            <a:r>
              <a:rPr spc="220" dirty="0">
                <a:latin typeface="Bell MT" panose="02020503060305020303" pitchFamily="18" charset="0"/>
              </a:rPr>
              <a:t>DATA</a:t>
            </a:r>
            <a:r>
              <a:rPr spc="380" dirty="0">
                <a:latin typeface="Bell MT" panose="02020503060305020303" pitchFamily="18" charset="0"/>
              </a:rPr>
              <a:t> </a:t>
            </a:r>
            <a:r>
              <a:rPr spc="290" dirty="0">
                <a:latin typeface="Bell MT" panose="02020503060305020303" pitchFamily="18" charset="0"/>
              </a:rPr>
              <a:t>ANALYSIS</a:t>
            </a:r>
            <a:r>
              <a:rPr dirty="0">
                <a:latin typeface="Bell MT" panose="02020503060305020303" pitchFamily="18" charset="0"/>
              </a:rPr>
              <a:t>	</a:t>
            </a:r>
            <a:r>
              <a:rPr spc="50" dirty="0">
                <a:latin typeface="Bell MT" panose="02020503060305020303" pitchFamily="18" charset="0"/>
              </a:rPr>
              <a:t>(EDA)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1402080" y="1002766"/>
            <a:ext cx="9175750" cy="897890"/>
            <a:chOff x="1402080" y="1002766"/>
            <a:chExt cx="9175750" cy="8978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2080" y="1002766"/>
              <a:ext cx="9175750" cy="5712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2080" y="1328902"/>
              <a:ext cx="3158997" cy="571271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552702" y="1037972"/>
            <a:ext cx="8787130" cy="1008609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Given</a:t>
            </a:r>
            <a:r>
              <a:rPr sz="2000" b="1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5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b="1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b="1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correlation</a:t>
            </a:r>
            <a:r>
              <a:rPr sz="2000" b="1" spc="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matrix</a:t>
            </a:r>
            <a:r>
              <a:rPr sz="2000" b="1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representing</a:t>
            </a:r>
            <a:r>
              <a:rPr sz="2000" b="1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2000" b="1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b="1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columns</a:t>
            </a:r>
            <a:r>
              <a:rPr sz="2000" b="1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consisting</a:t>
            </a:r>
            <a:r>
              <a:rPr sz="2000" b="1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b="1" spc="4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given</a:t>
            </a:r>
            <a:r>
              <a:rPr sz="2000" b="1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b="1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b="1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2000" b="1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70" dirty="0">
                <a:solidFill>
                  <a:srgbClr val="FFFFFF"/>
                </a:solidFill>
                <a:latin typeface="Times New Roman"/>
                <a:cs typeface="Times New Roman"/>
              </a:rPr>
              <a:t>set</a:t>
            </a:r>
            <a:r>
              <a:rPr sz="2000" b="1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endParaRPr lang="en-IN" sz="2000" b="1" spc="-20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1" y="1728190"/>
            <a:ext cx="9906000" cy="46873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533400" y="4953000"/>
            <a:ext cx="10764138" cy="1560041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indent="2540" algn="ctr">
              <a:lnSpc>
                <a:spcPct val="107100"/>
              </a:lnSpc>
              <a:spcBef>
                <a:spcPts val="114"/>
              </a:spcBef>
              <a:tabLst>
                <a:tab pos="1510665" algn="l"/>
              </a:tabLst>
            </a:pPr>
            <a:r>
              <a:rPr lang="en-IN"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THESE CHARTS CLEARLY SHOW HOW THE PRICE OF MOBILE INCREASE PRICE WITH THE INCREASE IN RAM</a:t>
            </a:r>
            <a:endParaRPr sz="3200" dirty="0">
              <a:latin typeface="Times New Roman"/>
              <a:cs typeface="Times New Roman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42" y="555750"/>
            <a:ext cx="5269416" cy="396162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0688" y="490069"/>
            <a:ext cx="5575173" cy="40273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5829115" y="381000"/>
            <a:ext cx="6003622" cy="212186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065" marR="5080" algn="ctr">
              <a:lnSpc>
                <a:spcPct val="107200"/>
              </a:lnSpc>
              <a:spcBef>
                <a:spcPts val="110"/>
              </a:spcBef>
            </a:pPr>
            <a:r>
              <a:rPr sz="3200" spc="80" dirty="0">
                <a:latin typeface="Times New Roman"/>
                <a:cs typeface="Times New Roman"/>
              </a:rPr>
              <a:t>The</a:t>
            </a:r>
            <a:r>
              <a:rPr sz="3200" spc="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correlation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heatmap</a:t>
            </a:r>
            <a:r>
              <a:rPr sz="3200" spc="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represents</a:t>
            </a:r>
            <a:r>
              <a:rPr sz="3200" spc="50" dirty="0">
                <a:latin typeface="Times New Roman"/>
                <a:cs typeface="Times New Roman"/>
              </a:rPr>
              <a:t> </a:t>
            </a:r>
            <a:r>
              <a:rPr sz="3200" spc="40" dirty="0">
                <a:latin typeface="Times New Roman"/>
                <a:cs typeface="Times New Roman"/>
              </a:rPr>
              <a:t>the </a:t>
            </a:r>
            <a:r>
              <a:rPr sz="3200" dirty="0">
                <a:latin typeface="Times New Roman"/>
                <a:cs typeface="Times New Roman"/>
              </a:rPr>
              <a:t>relationship</a:t>
            </a:r>
            <a:r>
              <a:rPr sz="3200" spc="1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between</a:t>
            </a:r>
            <a:r>
              <a:rPr sz="3200" spc="1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various</a:t>
            </a:r>
            <a:r>
              <a:rPr sz="3200" spc="15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dataset </a:t>
            </a:r>
            <a:r>
              <a:rPr sz="3200" dirty="0">
                <a:latin typeface="Times New Roman"/>
                <a:cs typeface="Times New Roman"/>
              </a:rPr>
              <a:t>subparts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having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45" dirty="0">
                <a:latin typeface="Times New Roman"/>
                <a:cs typeface="Times New Roman"/>
              </a:rPr>
              <a:t>integer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value</a:t>
            </a:r>
            <a:r>
              <a:rPr lang="en-IN" sz="3200" spc="-10" dirty="0">
                <a:latin typeface="Times New Roman"/>
                <a:cs typeface="Times New Roman"/>
              </a:rPr>
              <a:t>s</a:t>
            </a:r>
            <a:endParaRPr sz="3200" dirty="0">
              <a:latin typeface="Times New Roman"/>
              <a:cs typeface="Times New Roman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2673106"/>
            <a:ext cx="5622253" cy="39033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 flipH="1">
            <a:off x="152398" y="4484428"/>
            <a:ext cx="502920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  <a:latin typeface="Engravers MT" panose="02090707080505020304" pitchFamily="18" charset="0"/>
              </a:rPr>
              <a:t>This charts show the price ranges as per the Processor 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55" y="205787"/>
            <a:ext cx="5285409" cy="39852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29000" y="148184"/>
            <a:ext cx="5374640" cy="545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u="sng" spc="220" dirty="0"/>
              <a:t>DATA</a:t>
            </a:r>
            <a:r>
              <a:rPr spc="385" dirty="0"/>
              <a:t> </a:t>
            </a:r>
            <a:r>
              <a:rPr u="sng" spc="355" dirty="0"/>
              <a:t>PREPROCESSING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-1295400" y="1016453"/>
            <a:ext cx="7772400" cy="7630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lang="en-IN"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Here we are dealing with the</a:t>
            </a:r>
          </a:p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lang="en-IN"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 missing values(None in our case) :-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981200"/>
            <a:ext cx="2810267" cy="458216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2987033"/>
            <a:ext cx="6554115" cy="87642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 flipH="1">
            <a:off x="4038600" y="1905000"/>
            <a:ext cx="65541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  <a:latin typeface="Engravers MT" panose="02090707080505020304" pitchFamily="18" charset="0"/>
              </a:rPr>
              <a:t>Number of Duplicate value are also Zero :-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99" y="1524000"/>
            <a:ext cx="10858851" cy="4800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 flipH="1">
            <a:off x="304800" y="533400"/>
            <a:ext cx="8534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  <a:latin typeface="Engravers MT" panose="02090707080505020304" pitchFamily="18" charset="0"/>
              </a:rPr>
              <a:t>Normalizing - Here we are removing the unnecessary columns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418591" y="5086299"/>
            <a:ext cx="5558155" cy="38266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065" marR="5080" indent="-55880" algn="ctr">
              <a:lnSpc>
                <a:spcPct val="107100"/>
              </a:lnSpc>
              <a:spcBef>
                <a:spcPts val="110"/>
              </a:spcBef>
            </a:pP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65823" y="5089983"/>
            <a:ext cx="5017770" cy="38202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-58419" algn="ctr">
              <a:lnSpc>
                <a:spcPct val="107100"/>
              </a:lnSpc>
              <a:spcBef>
                <a:spcPts val="105"/>
              </a:spcBef>
            </a:pP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47" y="1243870"/>
            <a:ext cx="7944959" cy="341042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07847" y="676883"/>
            <a:ext cx="853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  <a:latin typeface="Engravers MT" panose="02090707080505020304" pitchFamily="18" charset="0"/>
              </a:rPr>
              <a:t>Data Encoding:-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62400" y="304800"/>
            <a:ext cx="3276600" cy="53732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305" dirty="0">
                <a:latin typeface="Bell MT" panose="02020503060305020303" pitchFamily="18" charset="0"/>
              </a:rPr>
              <a:t>MODELLING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21842" y="1076071"/>
            <a:ext cx="9998710" cy="5263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245"/>
              </a:lnSpc>
              <a:spcBef>
                <a:spcPts val="95"/>
              </a:spcBef>
            </a:pP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The</a:t>
            </a:r>
            <a:r>
              <a:rPr sz="1900" spc="-3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k-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Nearest</a:t>
            </a:r>
            <a:r>
              <a:rPr sz="1900" spc="-1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Neighbor</a:t>
            </a:r>
            <a:r>
              <a:rPr sz="1900" spc="-6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(kNN)</a:t>
            </a:r>
            <a:r>
              <a:rPr sz="1900" spc="-2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algorithm</a:t>
            </a:r>
            <a:r>
              <a:rPr sz="1900" spc="-45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is</a:t>
            </a:r>
            <a:r>
              <a:rPr sz="1900" spc="-45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chosen</a:t>
            </a:r>
            <a:r>
              <a:rPr sz="1900" spc="-3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over</a:t>
            </a:r>
            <a:r>
              <a:rPr sz="1900" spc="-4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linear</a:t>
            </a:r>
            <a:r>
              <a:rPr sz="1900" spc="-35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regression</a:t>
            </a:r>
            <a:r>
              <a:rPr sz="1900" spc="-15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as</a:t>
            </a:r>
            <a:r>
              <a:rPr sz="1900" spc="-4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kNN</a:t>
            </a:r>
            <a:r>
              <a:rPr sz="1900" spc="-5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has</a:t>
            </a:r>
            <a:r>
              <a:rPr sz="1900" spc="-4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several</a:t>
            </a:r>
            <a:endParaRPr sz="1900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marL="12700">
              <a:lnSpc>
                <a:spcPts val="2245"/>
              </a:lnSpc>
            </a:pP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advantages,</a:t>
            </a:r>
            <a:r>
              <a:rPr sz="1900" spc="-114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including:</a:t>
            </a:r>
            <a:endParaRPr sz="1900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marL="252095" indent="-239395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252095" algn="l"/>
              </a:tabLst>
            </a:pP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Simple</a:t>
            </a:r>
            <a:r>
              <a:rPr sz="1900" spc="-25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:-</a:t>
            </a:r>
            <a:endParaRPr sz="1900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marL="12700" marR="358140">
              <a:lnSpc>
                <a:spcPts val="2210"/>
              </a:lnSpc>
              <a:spcBef>
                <a:spcPts val="880"/>
              </a:spcBef>
            </a:pP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kNN</a:t>
            </a:r>
            <a:r>
              <a:rPr sz="1900" spc="-45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is</a:t>
            </a:r>
            <a:r>
              <a:rPr sz="1900" spc="-4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easy</a:t>
            </a:r>
            <a:r>
              <a:rPr sz="1900" spc="-3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to</a:t>
            </a:r>
            <a:r>
              <a:rPr sz="1900" spc="-35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implement</a:t>
            </a:r>
            <a:r>
              <a:rPr sz="1900" spc="-2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and</a:t>
            </a:r>
            <a:r>
              <a:rPr sz="1900" spc="-35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understand,</a:t>
            </a:r>
            <a:r>
              <a:rPr sz="1900" spc="-3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and</a:t>
            </a:r>
            <a:r>
              <a:rPr sz="1900" spc="-35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is</a:t>
            </a:r>
            <a:r>
              <a:rPr sz="1900" spc="-4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often</a:t>
            </a:r>
            <a:r>
              <a:rPr sz="1900" spc="-25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one</a:t>
            </a:r>
            <a:r>
              <a:rPr sz="1900" spc="-3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of</a:t>
            </a:r>
            <a:r>
              <a:rPr sz="1900" spc="-4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the</a:t>
            </a:r>
            <a:r>
              <a:rPr sz="1900" spc="-25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first</a:t>
            </a:r>
            <a:r>
              <a:rPr sz="1900" spc="-5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classifiers</a:t>
            </a:r>
            <a:r>
              <a:rPr sz="1900" spc="-2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that</a:t>
            </a:r>
            <a:r>
              <a:rPr sz="1900" spc="-45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data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scientists</a:t>
            </a:r>
            <a:r>
              <a:rPr sz="1900" spc="-11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learn.</a:t>
            </a:r>
            <a:endParaRPr sz="1900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marL="252095" indent="-239395">
              <a:lnSpc>
                <a:spcPct val="100000"/>
              </a:lnSpc>
              <a:spcBef>
                <a:spcPts val="660"/>
              </a:spcBef>
              <a:buAutoNum type="arabicPeriod" startAt="2"/>
              <a:tabLst>
                <a:tab pos="252095" algn="l"/>
              </a:tabLst>
            </a:pP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Adaptable</a:t>
            </a:r>
            <a:r>
              <a:rPr sz="1900" spc="-105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:-</a:t>
            </a:r>
            <a:endParaRPr sz="1900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kNN</a:t>
            </a:r>
            <a:r>
              <a:rPr sz="1900" spc="-4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can</a:t>
            </a:r>
            <a:r>
              <a:rPr sz="1900" spc="-45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adjust its</a:t>
            </a:r>
            <a:r>
              <a:rPr sz="1900" spc="-35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predictions</a:t>
            </a:r>
            <a:r>
              <a:rPr sz="1900" spc="-15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to</a:t>
            </a:r>
            <a:r>
              <a:rPr sz="1900" spc="-3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include</a:t>
            </a:r>
            <a:r>
              <a:rPr sz="1900" spc="-3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new</a:t>
            </a:r>
            <a:r>
              <a:rPr sz="1900" spc="-25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training</a:t>
            </a:r>
            <a:r>
              <a:rPr sz="1900" spc="-5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samples</a:t>
            </a:r>
            <a:r>
              <a:rPr sz="1900" spc="-1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that</a:t>
            </a:r>
            <a:r>
              <a:rPr sz="1900" spc="-4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are</a:t>
            </a:r>
            <a:r>
              <a:rPr sz="1900" spc="-25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added</a:t>
            </a:r>
            <a:r>
              <a:rPr sz="1900" spc="-3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to</a:t>
            </a:r>
            <a:r>
              <a:rPr sz="1900" spc="-3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its</a:t>
            </a:r>
            <a:r>
              <a:rPr sz="1900" spc="-35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dataset.</a:t>
            </a:r>
            <a:endParaRPr sz="1900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marL="252095" indent="-239395">
              <a:lnSpc>
                <a:spcPct val="100000"/>
              </a:lnSpc>
              <a:spcBef>
                <a:spcPts val="720"/>
              </a:spcBef>
              <a:buAutoNum type="arabicPeriod" startAt="3"/>
              <a:tabLst>
                <a:tab pos="252095" algn="l"/>
              </a:tabLst>
            </a:pP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Interpretable</a:t>
            </a:r>
            <a:r>
              <a:rPr sz="1900" spc="-105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:-</a:t>
            </a:r>
            <a:endParaRPr sz="1900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kNN</a:t>
            </a:r>
            <a:r>
              <a:rPr sz="1900" spc="-5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is</a:t>
            </a:r>
            <a:r>
              <a:rPr sz="1900" spc="-5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interpretable</a:t>
            </a:r>
            <a:r>
              <a:rPr sz="1900" spc="-35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and</a:t>
            </a:r>
            <a:r>
              <a:rPr sz="1900" spc="-45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doesn't</a:t>
            </a:r>
            <a:r>
              <a:rPr sz="1900" spc="-1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make</a:t>
            </a:r>
            <a:r>
              <a:rPr sz="1900" spc="-35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assumptions</a:t>
            </a:r>
            <a:r>
              <a:rPr sz="1900" spc="-5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about</a:t>
            </a:r>
            <a:r>
              <a:rPr sz="1900" spc="-5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data</a:t>
            </a:r>
            <a:r>
              <a:rPr sz="1900" spc="-3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distribution.</a:t>
            </a:r>
            <a:endParaRPr sz="1900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marL="252095" indent="-239395">
              <a:lnSpc>
                <a:spcPct val="100000"/>
              </a:lnSpc>
              <a:spcBef>
                <a:spcPts val="720"/>
              </a:spcBef>
              <a:buAutoNum type="arabicPeriod" startAt="4"/>
              <a:tabLst>
                <a:tab pos="252095" algn="l"/>
              </a:tabLst>
            </a:pP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Effective</a:t>
            </a:r>
            <a:r>
              <a:rPr sz="1900" spc="-75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:-</a:t>
            </a:r>
            <a:endParaRPr sz="1900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marL="12700">
              <a:lnSpc>
                <a:spcPts val="2245"/>
              </a:lnSpc>
              <a:spcBef>
                <a:spcPts val="745"/>
              </a:spcBef>
            </a:pP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kNN</a:t>
            </a:r>
            <a:r>
              <a:rPr sz="1900" spc="-5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can</a:t>
            </a:r>
            <a:r>
              <a:rPr sz="1900" spc="-55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be</a:t>
            </a:r>
            <a:r>
              <a:rPr sz="1900" spc="-3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effective</a:t>
            </a:r>
            <a:r>
              <a:rPr sz="1900" spc="-1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at</a:t>
            </a:r>
            <a:r>
              <a:rPr sz="1900" spc="-5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capturing</a:t>
            </a:r>
            <a:r>
              <a:rPr sz="1900" spc="-4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complex</a:t>
            </a:r>
            <a:r>
              <a:rPr sz="1900" spc="-3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interactions</a:t>
            </a:r>
            <a:r>
              <a:rPr sz="1900" spc="-75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among</a:t>
            </a:r>
            <a:r>
              <a:rPr sz="1900" spc="-4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variables</a:t>
            </a:r>
            <a:r>
              <a:rPr sz="1900" spc="-7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without</a:t>
            </a:r>
            <a:r>
              <a:rPr sz="1900" spc="-3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having</a:t>
            </a:r>
            <a:r>
              <a:rPr sz="1900" spc="-55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to</a:t>
            </a:r>
            <a:endParaRPr sz="1900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marL="12700">
              <a:lnSpc>
                <a:spcPts val="2245"/>
              </a:lnSpc>
            </a:pP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define</a:t>
            </a:r>
            <a:r>
              <a:rPr sz="1900" spc="-35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a</a:t>
            </a:r>
            <a:r>
              <a:rPr sz="1900" spc="-65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separable</a:t>
            </a:r>
            <a:r>
              <a:rPr sz="1900" spc="-55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statistical</a:t>
            </a:r>
            <a:r>
              <a:rPr sz="1900" spc="-75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model.</a:t>
            </a:r>
            <a:endParaRPr sz="1900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marL="252095" indent="-239395">
              <a:lnSpc>
                <a:spcPct val="100000"/>
              </a:lnSpc>
              <a:spcBef>
                <a:spcPts val="720"/>
              </a:spcBef>
              <a:buAutoNum type="arabicPeriod" startAt="5"/>
              <a:tabLst>
                <a:tab pos="252095" algn="l"/>
              </a:tabLst>
            </a:pP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Useful</a:t>
            </a:r>
            <a:r>
              <a:rPr sz="1900" spc="-4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:-</a:t>
            </a:r>
            <a:endParaRPr sz="1900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marL="12700">
              <a:lnSpc>
                <a:spcPts val="2245"/>
              </a:lnSpc>
              <a:spcBef>
                <a:spcPts val="745"/>
              </a:spcBef>
            </a:pP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kNN</a:t>
            </a:r>
            <a:r>
              <a:rPr sz="1900" spc="-45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is</a:t>
            </a:r>
            <a:r>
              <a:rPr sz="1900" spc="-4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most</a:t>
            </a:r>
            <a:r>
              <a:rPr sz="1900" spc="-1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useful</a:t>
            </a:r>
            <a:r>
              <a:rPr sz="1900" spc="-25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when</a:t>
            </a:r>
            <a:r>
              <a:rPr sz="1900" spc="-35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labeled</a:t>
            </a:r>
            <a:r>
              <a:rPr sz="1900" spc="-55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data</a:t>
            </a:r>
            <a:r>
              <a:rPr sz="1900" spc="-25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is</a:t>
            </a:r>
            <a:r>
              <a:rPr sz="1900" spc="-4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too</a:t>
            </a:r>
            <a:r>
              <a:rPr sz="1900" spc="-4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expensive</a:t>
            </a:r>
            <a:r>
              <a:rPr sz="1900" spc="-3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or</a:t>
            </a:r>
            <a:r>
              <a:rPr sz="1900" spc="-35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impossible</a:t>
            </a:r>
            <a:r>
              <a:rPr sz="1900" spc="-3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to</a:t>
            </a:r>
            <a:r>
              <a:rPr sz="1900" spc="-4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obtain,</a:t>
            </a:r>
            <a:r>
              <a:rPr sz="1900" spc="-45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and</a:t>
            </a:r>
            <a:r>
              <a:rPr sz="1900" spc="-4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it</a:t>
            </a:r>
            <a:r>
              <a:rPr sz="1900" spc="-25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can</a:t>
            </a:r>
            <a:endParaRPr sz="1900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marL="12700">
              <a:lnSpc>
                <a:spcPts val="2245"/>
              </a:lnSpc>
            </a:pP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achieve</a:t>
            </a:r>
            <a:r>
              <a:rPr sz="1900" spc="-45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high</a:t>
            </a:r>
            <a:r>
              <a:rPr sz="1900" spc="-3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accuracy</a:t>
            </a:r>
            <a:r>
              <a:rPr sz="1900" spc="-5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in</a:t>
            </a:r>
            <a:r>
              <a:rPr sz="1900" spc="-45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a</a:t>
            </a:r>
            <a:r>
              <a:rPr sz="1900" spc="-2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wide</a:t>
            </a:r>
            <a:r>
              <a:rPr sz="1900" spc="-25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variety</a:t>
            </a:r>
            <a:r>
              <a:rPr sz="1900" spc="-4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of</a:t>
            </a:r>
            <a:r>
              <a:rPr sz="1900" spc="-2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prediction-</a:t>
            </a:r>
            <a:r>
              <a:rPr sz="190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type</a:t>
            </a:r>
            <a:r>
              <a:rPr sz="1900" spc="3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problems.</a:t>
            </a:r>
            <a:endParaRPr sz="1900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1104" y="871702"/>
            <a:ext cx="11456035" cy="571500"/>
            <a:chOff x="451104" y="871702"/>
            <a:chExt cx="11456035" cy="571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1104" y="871702"/>
              <a:ext cx="1016304" cy="57127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49680" y="871702"/>
              <a:ext cx="687158" cy="57127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0" y="871702"/>
              <a:ext cx="924902" cy="57127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29255" y="871702"/>
              <a:ext cx="1318133" cy="5712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32631" y="871702"/>
              <a:ext cx="1177861" cy="57127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92751" y="871702"/>
              <a:ext cx="796848" cy="57127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74919" y="871702"/>
              <a:ext cx="720648" cy="57127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577839" y="871702"/>
              <a:ext cx="607860" cy="57127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967983" y="871702"/>
              <a:ext cx="851725" cy="57127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05015" y="871702"/>
              <a:ext cx="577392" cy="57127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967727" y="871702"/>
              <a:ext cx="1254061" cy="57127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004047" y="871702"/>
              <a:ext cx="705446" cy="57127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491727" y="871702"/>
              <a:ext cx="1738629" cy="57127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012680" y="871702"/>
              <a:ext cx="613981" cy="57127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408920" y="871702"/>
              <a:ext cx="1497965" cy="571271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10562970" y="928573"/>
            <a:ext cx="118110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Times New Roman"/>
                <a:cs typeface="Times New Roman"/>
              </a:rPr>
              <a:t>regression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6" name="object 166"/>
          <p:cNvSpPr txBox="1"/>
          <p:nvPr/>
        </p:nvSpPr>
        <p:spPr>
          <a:xfrm>
            <a:off x="602691" y="905797"/>
            <a:ext cx="11137900" cy="3856184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  <a:tabLst>
                <a:tab pos="1283335" algn="l"/>
                <a:tab pos="1990725" algn="l"/>
                <a:tab pos="3094990" algn="l"/>
                <a:tab pos="4055110" algn="l"/>
                <a:tab pos="4637405" algn="l"/>
                <a:tab pos="5530850" algn="l"/>
                <a:tab pos="6167755" algn="l"/>
                <a:tab pos="6530975" algn="l"/>
                <a:tab pos="7567295" algn="l"/>
                <a:tab pos="8054975" algn="l"/>
                <a:tab pos="9576435" algn="l"/>
              </a:tabLst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There</a:t>
            </a:r>
            <a:r>
              <a:rPr sz="2000" b="1" spc="6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many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different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metrics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	can</a:t>
            </a:r>
            <a:r>
              <a:rPr sz="2000" b="1" spc="4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b="1" spc="65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evaluate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b="1" spc="25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performance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models.</a:t>
            </a:r>
            <a:r>
              <a:rPr sz="2000" b="1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Some</a:t>
            </a:r>
            <a:r>
              <a:rPr sz="2000" b="1" spc="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b="1" spc="5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b="1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most</a:t>
            </a:r>
            <a:r>
              <a:rPr sz="2000" b="1" spc="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common</a:t>
            </a:r>
            <a:r>
              <a:rPr sz="2000" b="1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metrics</a:t>
            </a:r>
            <a:r>
              <a:rPr sz="2000" b="1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include: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  <a:tabLst>
                <a:tab pos="3823335" algn="l"/>
              </a:tabLst>
            </a:pPr>
            <a:r>
              <a:rPr sz="2000" b="1" spc="5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2000" b="1" spc="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metric</a:t>
            </a:r>
            <a:r>
              <a:rPr sz="2000" b="1" spc="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5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b="1" spc="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b="1" spc="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square</a:t>
            </a:r>
            <a:r>
              <a:rPr sz="2000" b="1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root</a:t>
            </a:r>
            <a:r>
              <a:rPr sz="2000" b="1" spc="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	the</a:t>
            </a:r>
            <a:r>
              <a:rPr sz="2000" b="1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MSE.</a:t>
            </a:r>
            <a:r>
              <a:rPr sz="2000" b="1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5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b="1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5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b="1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b="1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2000" b="1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interpretable</a:t>
            </a:r>
            <a:r>
              <a:rPr sz="2000" b="1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metric</a:t>
            </a:r>
            <a:r>
              <a:rPr sz="2000" b="1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than</a:t>
            </a:r>
            <a:r>
              <a:rPr sz="2000" b="1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b="1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MSE,</a:t>
            </a:r>
            <a:r>
              <a:rPr sz="2000" b="1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b="1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7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b="1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b="1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b="1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2000" b="1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units</a:t>
            </a:r>
            <a:r>
              <a:rPr sz="2000" b="1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b="1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b="1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target</a:t>
            </a:r>
            <a:r>
              <a:rPr sz="2000" b="1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variable.</a:t>
            </a:r>
            <a:endParaRPr sz="20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965"/>
              </a:spcBef>
              <a:buSzPct val="50000"/>
              <a:buFont typeface="Symbol"/>
              <a:buChar char=""/>
              <a:tabLst>
                <a:tab pos="356870" algn="l"/>
              </a:tabLst>
            </a:pPr>
            <a:r>
              <a:rPr sz="2000" b="1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Mean</a:t>
            </a:r>
            <a:r>
              <a:rPr sz="2000" b="1" u="heavy" spc="6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absolute</a:t>
            </a:r>
            <a:r>
              <a:rPr sz="2000" b="1" u="heavy" spc="9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heavy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error</a:t>
            </a:r>
            <a:r>
              <a:rPr sz="2000" b="1" u="heavy" spc="4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heavy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(MAE):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  <a:tabLst>
                <a:tab pos="655955" algn="l"/>
                <a:tab pos="1511935" algn="l"/>
                <a:tab pos="2667635" algn="l"/>
                <a:tab pos="3158490" algn="l"/>
                <a:tab pos="4131310" algn="l"/>
                <a:tab pos="5194935" algn="l"/>
                <a:tab pos="5887085" algn="l"/>
                <a:tab pos="6939280" algn="l"/>
                <a:tab pos="7430134" algn="l"/>
                <a:tab pos="8612505" algn="l"/>
                <a:tab pos="9429750" algn="l"/>
                <a:tab pos="9960610" algn="l"/>
                <a:tab pos="10448290" algn="l"/>
              </a:tabLst>
            </a:pPr>
            <a:r>
              <a:rPr sz="2000" b="1" spc="3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metric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measures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b="1" spc="25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average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absolute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error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between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predicted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values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actual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values.</a:t>
            </a:r>
            <a:r>
              <a:rPr sz="2000" b="1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b="1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lower</a:t>
            </a:r>
            <a:r>
              <a:rPr sz="2000" b="1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MAE</a:t>
            </a:r>
            <a:r>
              <a:rPr sz="2000" b="1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indicates</a:t>
            </a:r>
            <a:r>
              <a:rPr sz="2000" b="1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b="1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better</a:t>
            </a:r>
            <a:r>
              <a:rPr sz="2000" b="1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fit.</a:t>
            </a:r>
            <a:endParaRPr sz="20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985"/>
              </a:spcBef>
              <a:buSzPct val="50000"/>
              <a:buFont typeface="Symbol"/>
              <a:buChar char=""/>
              <a:tabLst>
                <a:tab pos="356870" algn="l"/>
              </a:tabLst>
            </a:pPr>
            <a:r>
              <a:rPr sz="2000" b="1" u="heavy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R-</a:t>
            </a:r>
            <a:r>
              <a:rPr sz="2000" b="1" u="heavy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squared: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  <a:tabLst>
                <a:tab pos="4588510" algn="l"/>
              </a:tabLst>
            </a:pPr>
            <a:r>
              <a:rPr sz="2000" b="1" spc="5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2000" b="1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metric</a:t>
            </a:r>
            <a:r>
              <a:rPr sz="2000" b="1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measures</a:t>
            </a:r>
            <a:r>
              <a:rPr sz="2000" b="1" spc="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b="1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proportion</a:t>
            </a:r>
            <a:r>
              <a:rPr sz="2000" b="1" spc="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b="1" spc="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b="1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variance</a:t>
            </a:r>
            <a:r>
              <a:rPr sz="2000" b="1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b="1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b="1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target</a:t>
            </a:r>
            <a:r>
              <a:rPr sz="2000" b="1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variable</a:t>
            </a:r>
            <a:r>
              <a:rPr sz="2000" b="1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b="1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5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b="1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explained</a:t>
            </a:r>
            <a:r>
              <a:rPr sz="2000" b="1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000" b="1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25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model.</a:t>
            </a:r>
            <a:r>
              <a:rPr sz="2000" b="1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b="1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higher</a:t>
            </a:r>
            <a:r>
              <a:rPr sz="2000" b="1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R-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squared</a:t>
            </a:r>
            <a:r>
              <a:rPr sz="2000" b="1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indicates</a:t>
            </a:r>
            <a:r>
              <a:rPr sz="2000" b="1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b="1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better</a:t>
            </a:r>
            <a:r>
              <a:rPr sz="2000" b="1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fit.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19855" y="112712"/>
            <a:ext cx="5387086" cy="9675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73221" y="217373"/>
            <a:ext cx="4836160" cy="545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836420" algn="l"/>
              </a:tabLst>
            </a:pPr>
            <a:r>
              <a:rPr spc="325" dirty="0"/>
              <a:t>MODEL</a:t>
            </a:r>
            <a:r>
              <a:rPr dirty="0"/>
              <a:t>	</a:t>
            </a:r>
            <a:r>
              <a:rPr spc="254" dirty="0"/>
              <a:t>EVALUATION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98189"/>
            <a:ext cx="11277600" cy="476441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81000"/>
            <a:ext cx="11506200" cy="5139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8842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2400" y="381000"/>
            <a:ext cx="11104880" cy="1172166"/>
          </a:xfrm>
          <a:prstGeom prst="rect">
            <a:avLst/>
          </a:prstGeom>
        </p:spPr>
        <p:txBody>
          <a:bodyPr vert="horz" wrap="square" lIns="0" tIns="429310" rIns="0" bIns="0" rtlCol="0">
            <a:spAutoFit/>
          </a:bodyPr>
          <a:lstStyle/>
          <a:p>
            <a:pPr marL="4029710">
              <a:lnSpc>
                <a:spcPct val="100000"/>
              </a:lnSpc>
              <a:spcBef>
                <a:spcPts val="105"/>
              </a:spcBef>
            </a:pPr>
            <a:r>
              <a:rPr sz="4800" spc="320" dirty="0">
                <a:latin typeface="Berlin Sans FB" panose="020E0602020502020306" pitchFamily="34" charset="0"/>
              </a:rPr>
              <a:t>CONCLUSION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95400" y="2362200"/>
            <a:ext cx="9051290" cy="14196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2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4000" spc="95" dirty="0">
                <a:solidFill>
                  <a:srgbClr val="FFFFFF"/>
                </a:solidFill>
                <a:latin typeface="Berlin Sans FB" panose="020E0602020502020306" pitchFamily="34" charset="0"/>
                <a:cs typeface="Cambria"/>
              </a:rPr>
              <a:t>The</a:t>
            </a:r>
            <a:r>
              <a:rPr sz="4000" spc="135" dirty="0">
                <a:solidFill>
                  <a:srgbClr val="FFFFFF"/>
                </a:solidFill>
                <a:latin typeface="Berlin Sans FB" panose="020E0602020502020306" pitchFamily="34" charset="0"/>
                <a:cs typeface="Cambria"/>
              </a:rPr>
              <a:t> </a:t>
            </a:r>
            <a:r>
              <a:rPr sz="4000" spc="130" dirty="0">
                <a:solidFill>
                  <a:srgbClr val="FFFFFF"/>
                </a:solidFill>
                <a:latin typeface="Berlin Sans FB" panose="020E0602020502020306" pitchFamily="34" charset="0"/>
                <a:cs typeface="Cambria"/>
              </a:rPr>
              <a:t>chosen</a:t>
            </a:r>
            <a:r>
              <a:rPr sz="4000" spc="155" dirty="0">
                <a:solidFill>
                  <a:srgbClr val="FFFFFF"/>
                </a:solidFill>
                <a:latin typeface="Berlin Sans FB" panose="020E0602020502020306" pitchFamily="34" charset="0"/>
                <a:cs typeface="Cambria"/>
              </a:rPr>
              <a:t> </a:t>
            </a:r>
            <a:r>
              <a:rPr sz="4000" spc="140" dirty="0">
                <a:solidFill>
                  <a:srgbClr val="FFFFFF"/>
                </a:solidFill>
                <a:latin typeface="Berlin Sans FB" panose="020E0602020502020306" pitchFamily="34" charset="0"/>
                <a:cs typeface="Cambria"/>
              </a:rPr>
              <a:t>model</a:t>
            </a:r>
            <a:r>
              <a:rPr sz="4000" spc="145" dirty="0">
                <a:solidFill>
                  <a:srgbClr val="FFFFFF"/>
                </a:solidFill>
                <a:latin typeface="Berlin Sans FB" panose="020E0602020502020306" pitchFamily="34" charset="0"/>
                <a:cs typeface="Cambria"/>
              </a:rPr>
              <a:t> </a:t>
            </a:r>
            <a:r>
              <a:rPr sz="4000" spc="95" dirty="0">
                <a:solidFill>
                  <a:srgbClr val="FFFFFF"/>
                </a:solidFill>
                <a:latin typeface="Berlin Sans FB" panose="020E0602020502020306" pitchFamily="34" charset="0"/>
                <a:cs typeface="Cambria"/>
              </a:rPr>
              <a:t>successfully</a:t>
            </a:r>
            <a:r>
              <a:rPr sz="4000" spc="145" dirty="0">
                <a:solidFill>
                  <a:srgbClr val="FFFFFF"/>
                </a:solidFill>
                <a:latin typeface="Berlin Sans FB" panose="020E0602020502020306" pitchFamily="34" charset="0"/>
                <a:cs typeface="Cambria"/>
              </a:rPr>
              <a:t> </a:t>
            </a:r>
            <a:r>
              <a:rPr sz="4000" spc="85" dirty="0">
                <a:solidFill>
                  <a:srgbClr val="FFFFFF"/>
                </a:solidFill>
                <a:latin typeface="Berlin Sans FB" panose="020E0602020502020306" pitchFamily="34" charset="0"/>
                <a:cs typeface="Cambria"/>
              </a:rPr>
              <a:t>predicts</a:t>
            </a:r>
            <a:r>
              <a:rPr sz="4000" spc="170" dirty="0">
                <a:solidFill>
                  <a:srgbClr val="FFFFFF"/>
                </a:solidFill>
                <a:latin typeface="Berlin Sans FB" panose="020E0602020502020306" pitchFamily="34" charset="0"/>
                <a:cs typeface="Cambria"/>
              </a:rPr>
              <a:t> </a:t>
            </a:r>
            <a:r>
              <a:rPr sz="4000" spc="55" dirty="0">
                <a:solidFill>
                  <a:srgbClr val="FFFFFF"/>
                </a:solidFill>
                <a:latin typeface="Berlin Sans FB" panose="020E0602020502020306" pitchFamily="34" charset="0"/>
                <a:cs typeface="Cambria"/>
              </a:rPr>
              <a:t>the</a:t>
            </a:r>
            <a:r>
              <a:rPr sz="4000" spc="130" dirty="0">
                <a:solidFill>
                  <a:srgbClr val="FFFFFF"/>
                </a:solidFill>
                <a:latin typeface="Berlin Sans FB" panose="020E0602020502020306" pitchFamily="34" charset="0"/>
                <a:cs typeface="Cambria"/>
              </a:rPr>
              <a:t> </a:t>
            </a:r>
            <a:r>
              <a:rPr lang="en-IN" sz="4000" spc="100" dirty="0">
                <a:solidFill>
                  <a:srgbClr val="FFFFFF"/>
                </a:solidFill>
                <a:latin typeface="Berlin Sans FB" panose="020E0602020502020306" pitchFamily="34" charset="0"/>
                <a:cs typeface="Cambria"/>
              </a:rPr>
              <a:t>Mobile</a:t>
            </a:r>
            <a:r>
              <a:rPr sz="4000" spc="100" dirty="0">
                <a:solidFill>
                  <a:srgbClr val="FFFFFF"/>
                </a:solidFill>
                <a:latin typeface="Berlin Sans FB" panose="020E0602020502020306" pitchFamily="34" charset="0"/>
                <a:cs typeface="Cambria"/>
              </a:rPr>
              <a:t> </a:t>
            </a:r>
            <a:r>
              <a:rPr sz="4000" spc="145" dirty="0">
                <a:solidFill>
                  <a:srgbClr val="FFFFFF"/>
                </a:solidFill>
                <a:latin typeface="Berlin Sans FB" panose="020E0602020502020306" pitchFamily="34" charset="0"/>
                <a:cs typeface="Cambria"/>
              </a:rPr>
              <a:t>prices</a:t>
            </a:r>
            <a:r>
              <a:rPr sz="4000" spc="135" dirty="0">
                <a:solidFill>
                  <a:srgbClr val="FFFFFF"/>
                </a:solidFill>
                <a:latin typeface="Berlin Sans FB" panose="020E0602020502020306" pitchFamily="34" charset="0"/>
                <a:cs typeface="Cambria"/>
              </a:rPr>
              <a:t> </a:t>
            </a:r>
            <a:r>
              <a:rPr sz="4000" spc="114" dirty="0">
                <a:solidFill>
                  <a:srgbClr val="FFFFFF"/>
                </a:solidFill>
                <a:latin typeface="Berlin Sans FB" panose="020E0602020502020306" pitchFamily="34" charset="0"/>
                <a:cs typeface="Cambria"/>
              </a:rPr>
              <a:t>using</a:t>
            </a:r>
            <a:r>
              <a:rPr sz="4000" spc="120" dirty="0">
                <a:solidFill>
                  <a:srgbClr val="FFFFFF"/>
                </a:solidFill>
                <a:latin typeface="Berlin Sans FB" panose="020E0602020502020306" pitchFamily="34" charset="0"/>
                <a:cs typeface="Cambria"/>
              </a:rPr>
              <a:t> </a:t>
            </a:r>
            <a:r>
              <a:rPr sz="4000" spc="60" dirty="0">
                <a:solidFill>
                  <a:srgbClr val="FFFFFF"/>
                </a:solidFill>
                <a:latin typeface="Berlin Sans FB" panose="020E0602020502020306" pitchFamily="34" charset="0"/>
                <a:cs typeface="Cambria"/>
              </a:rPr>
              <a:t>KNN</a:t>
            </a:r>
            <a:r>
              <a:rPr sz="4000" spc="120" dirty="0">
                <a:solidFill>
                  <a:srgbClr val="FFFFFF"/>
                </a:solidFill>
                <a:latin typeface="Berlin Sans FB" panose="020E0602020502020306" pitchFamily="34" charset="0"/>
                <a:cs typeface="Cambria"/>
              </a:rPr>
              <a:t> </a:t>
            </a:r>
            <a:r>
              <a:rPr sz="4000" spc="75" dirty="0">
                <a:solidFill>
                  <a:srgbClr val="FFFFFF"/>
                </a:solidFill>
                <a:latin typeface="Berlin Sans FB" panose="020E0602020502020306" pitchFamily="34" charset="0"/>
                <a:cs typeface="Cambria"/>
              </a:rPr>
              <a:t>regressor.</a:t>
            </a:r>
            <a:endParaRPr sz="4000" dirty="0">
              <a:latin typeface="Berlin Sans FB" panose="020E0602020502020306" pitchFamily="34" charset="0"/>
              <a:cs typeface="Cambr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1020" y="737903"/>
            <a:ext cx="11104880" cy="1049056"/>
          </a:xfrm>
          <a:prstGeom prst="rect">
            <a:avLst/>
          </a:prstGeom>
        </p:spPr>
        <p:txBody>
          <a:bodyPr vert="horz" wrap="square" lIns="0" tIns="429310" rIns="0" bIns="0" rtlCol="0">
            <a:spAutoFit/>
          </a:bodyPr>
          <a:lstStyle/>
          <a:p>
            <a:pPr marL="3813175">
              <a:lnSpc>
                <a:spcPct val="100000"/>
              </a:lnSpc>
              <a:spcBef>
                <a:spcPts val="105"/>
              </a:spcBef>
            </a:pPr>
            <a:r>
              <a:rPr sz="4000" spc="315" dirty="0">
                <a:latin typeface="Berlin Sans FB" panose="020E0602020502020306" pitchFamily="34" charset="0"/>
              </a:rPr>
              <a:t>FUTURE</a:t>
            </a:r>
            <a:r>
              <a:rPr sz="4000" spc="375" dirty="0">
                <a:latin typeface="Berlin Sans FB" panose="020E0602020502020306" pitchFamily="34" charset="0"/>
              </a:rPr>
              <a:t> </a:t>
            </a:r>
            <a:r>
              <a:rPr sz="4000" spc="240" dirty="0">
                <a:latin typeface="Berlin Sans FB" panose="020E0602020502020306" pitchFamily="34" charset="0"/>
              </a:rPr>
              <a:t>WORK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14400" y="2133412"/>
            <a:ext cx="10001250" cy="2496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118110" indent="-228600">
              <a:lnSpc>
                <a:spcPct val="12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3200" dirty="0">
                <a:solidFill>
                  <a:srgbClr val="FFFFFF"/>
                </a:solidFill>
                <a:latin typeface="Bell MT" panose="02020503060305020303" pitchFamily="18" charset="0"/>
                <a:cs typeface="Cambria"/>
              </a:rPr>
              <a:t>For</a:t>
            </a:r>
            <a:r>
              <a:rPr sz="3200" spc="110" dirty="0">
                <a:solidFill>
                  <a:srgbClr val="FFFFFF"/>
                </a:solidFill>
                <a:latin typeface="Bell MT" panose="02020503060305020303" pitchFamily="18" charset="0"/>
                <a:cs typeface="Cambria"/>
              </a:rPr>
              <a:t> </a:t>
            </a:r>
            <a:r>
              <a:rPr sz="3200" spc="70" dirty="0">
                <a:solidFill>
                  <a:srgbClr val="FFFFFF"/>
                </a:solidFill>
                <a:latin typeface="Bell MT" panose="02020503060305020303" pitchFamily="18" charset="0"/>
                <a:cs typeface="Cambria"/>
              </a:rPr>
              <a:t>more</a:t>
            </a:r>
            <a:r>
              <a:rPr sz="3200" spc="165" dirty="0">
                <a:solidFill>
                  <a:srgbClr val="FFFFFF"/>
                </a:solidFill>
                <a:latin typeface="Bell MT" panose="02020503060305020303" pitchFamily="18" charset="0"/>
                <a:cs typeface="Cambria"/>
              </a:rPr>
              <a:t> </a:t>
            </a:r>
            <a:r>
              <a:rPr sz="3200" spc="100" dirty="0">
                <a:solidFill>
                  <a:srgbClr val="FFFFFF"/>
                </a:solidFill>
                <a:latin typeface="Bell MT" panose="02020503060305020303" pitchFamily="18" charset="0"/>
                <a:cs typeface="Cambria"/>
              </a:rPr>
              <a:t>accurate analysis,</a:t>
            </a:r>
            <a:r>
              <a:rPr sz="3200" spc="-150" dirty="0">
                <a:solidFill>
                  <a:srgbClr val="FFFFFF"/>
                </a:solidFill>
                <a:latin typeface="Bell MT" panose="02020503060305020303" pitchFamily="18" charset="0"/>
                <a:cs typeface="Cambria"/>
              </a:rPr>
              <a:t> </a:t>
            </a:r>
            <a:r>
              <a:rPr sz="3200" spc="85" dirty="0">
                <a:solidFill>
                  <a:srgbClr val="FFFFFF"/>
                </a:solidFill>
                <a:latin typeface="Bell MT" panose="02020503060305020303" pitchFamily="18" charset="0"/>
                <a:cs typeface="Cambria"/>
              </a:rPr>
              <a:t>we</a:t>
            </a:r>
            <a:r>
              <a:rPr sz="3200" spc="95" dirty="0">
                <a:solidFill>
                  <a:srgbClr val="FFFFFF"/>
                </a:solidFill>
                <a:latin typeface="Bell MT" panose="02020503060305020303" pitchFamily="18" charset="0"/>
                <a:cs typeface="Cambria"/>
              </a:rPr>
              <a:t> </a:t>
            </a:r>
            <a:r>
              <a:rPr sz="3200" spc="120" dirty="0">
                <a:solidFill>
                  <a:srgbClr val="FFFFFF"/>
                </a:solidFill>
                <a:latin typeface="Bell MT" panose="02020503060305020303" pitchFamily="18" charset="0"/>
                <a:cs typeface="Cambria"/>
              </a:rPr>
              <a:t>can</a:t>
            </a:r>
            <a:r>
              <a:rPr sz="3200" spc="100" dirty="0">
                <a:solidFill>
                  <a:srgbClr val="FFFFFF"/>
                </a:solidFill>
                <a:latin typeface="Bell MT" panose="02020503060305020303" pitchFamily="18" charset="0"/>
                <a:cs typeface="Cambria"/>
              </a:rPr>
              <a:t> </a:t>
            </a:r>
            <a:r>
              <a:rPr sz="3200" spc="120" dirty="0">
                <a:solidFill>
                  <a:srgbClr val="FFFFFF"/>
                </a:solidFill>
                <a:latin typeface="Bell MT" panose="02020503060305020303" pitchFamily="18" charset="0"/>
                <a:cs typeface="Cambria"/>
              </a:rPr>
              <a:t>use</a:t>
            </a:r>
            <a:r>
              <a:rPr sz="3200" spc="85" dirty="0">
                <a:solidFill>
                  <a:srgbClr val="FFFFFF"/>
                </a:solidFill>
                <a:latin typeface="Bell MT" panose="02020503060305020303" pitchFamily="18" charset="0"/>
                <a:cs typeface="Cambria"/>
              </a:rPr>
              <a:t> </a:t>
            </a:r>
            <a:r>
              <a:rPr sz="3200" spc="50" dirty="0">
                <a:solidFill>
                  <a:srgbClr val="FFFFFF"/>
                </a:solidFill>
                <a:latin typeface="Bell MT" panose="02020503060305020303" pitchFamily="18" charset="0"/>
                <a:cs typeface="Cambria"/>
              </a:rPr>
              <a:t>more </a:t>
            </a:r>
            <a:r>
              <a:rPr sz="3200" spc="160" dirty="0">
                <a:solidFill>
                  <a:srgbClr val="FFFFFF"/>
                </a:solidFill>
                <a:latin typeface="Bell MT" panose="02020503060305020303" pitchFamily="18" charset="0"/>
                <a:cs typeface="Cambria"/>
              </a:rPr>
              <a:t>complex </a:t>
            </a:r>
            <a:r>
              <a:rPr sz="3200" spc="95" dirty="0">
                <a:solidFill>
                  <a:srgbClr val="FFFFFF"/>
                </a:solidFill>
                <a:latin typeface="Bell MT" panose="02020503060305020303" pitchFamily="18" charset="0"/>
                <a:cs typeface="Cambria"/>
              </a:rPr>
              <a:t>algorithms,</a:t>
            </a:r>
            <a:r>
              <a:rPr sz="3200" spc="-100" dirty="0">
                <a:solidFill>
                  <a:srgbClr val="FFFFFF"/>
                </a:solidFill>
                <a:latin typeface="Bell MT" panose="02020503060305020303" pitchFamily="18" charset="0"/>
                <a:cs typeface="Cambria"/>
              </a:rPr>
              <a:t> </a:t>
            </a:r>
            <a:r>
              <a:rPr sz="3200" spc="85" dirty="0">
                <a:solidFill>
                  <a:srgbClr val="FFFFFF"/>
                </a:solidFill>
                <a:latin typeface="Bell MT" panose="02020503060305020303" pitchFamily="18" charset="0"/>
                <a:cs typeface="Cambria"/>
              </a:rPr>
              <a:t>we</a:t>
            </a:r>
            <a:r>
              <a:rPr sz="3200" spc="110" dirty="0">
                <a:solidFill>
                  <a:srgbClr val="FFFFFF"/>
                </a:solidFill>
                <a:latin typeface="Bell MT" panose="02020503060305020303" pitchFamily="18" charset="0"/>
                <a:cs typeface="Cambria"/>
              </a:rPr>
              <a:t> </a:t>
            </a:r>
            <a:r>
              <a:rPr sz="3200" spc="120" dirty="0">
                <a:solidFill>
                  <a:srgbClr val="FFFFFF"/>
                </a:solidFill>
                <a:latin typeface="Bell MT" panose="02020503060305020303" pitchFamily="18" charset="0"/>
                <a:cs typeface="Cambria"/>
              </a:rPr>
              <a:t>can </a:t>
            </a:r>
            <a:r>
              <a:rPr sz="3200" spc="114" dirty="0">
                <a:solidFill>
                  <a:srgbClr val="FFFFFF"/>
                </a:solidFill>
                <a:latin typeface="Bell MT" panose="02020503060305020303" pitchFamily="18" charset="0"/>
                <a:cs typeface="Cambria"/>
              </a:rPr>
              <a:t>even</a:t>
            </a:r>
            <a:r>
              <a:rPr sz="3200" spc="135" dirty="0">
                <a:solidFill>
                  <a:srgbClr val="FFFFFF"/>
                </a:solidFill>
                <a:latin typeface="Bell MT" panose="02020503060305020303" pitchFamily="18" charset="0"/>
                <a:cs typeface="Cambria"/>
              </a:rPr>
              <a:t> </a:t>
            </a:r>
            <a:r>
              <a:rPr sz="3200" spc="105" dirty="0">
                <a:solidFill>
                  <a:srgbClr val="FFFFFF"/>
                </a:solidFill>
                <a:latin typeface="Bell MT" panose="02020503060305020303" pitchFamily="18" charset="0"/>
                <a:cs typeface="Cambria"/>
              </a:rPr>
              <a:t>gather</a:t>
            </a:r>
            <a:r>
              <a:rPr sz="3200" spc="130" dirty="0">
                <a:solidFill>
                  <a:srgbClr val="FFFFFF"/>
                </a:solidFill>
                <a:latin typeface="Bell MT" panose="02020503060305020303" pitchFamily="18" charset="0"/>
                <a:cs typeface="Cambria"/>
              </a:rPr>
              <a:t> </a:t>
            </a:r>
            <a:r>
              <a:rPr sz="3200" spc="70" dirty="0">
                <a:solidFill>
                  <a:srgbClr val="FFFFFF"/>
                </a:solidFill>
                <a:latin typeface="Bell MT" panose="02020503060305020303" pitchFamily="18" charset="0"/>
                <a:cs typeface="Cambria"/>
              </a:rPr>
              <a:t>more</a:t>
            </a:r>
            <a:r>
              <a:rPr sz="3200" spc="190" dirty="0">
                <a:solidFill>
                  <a:srgbClr val="FFFFFF"/>
                </a:solidFill>
                <a:latin typeface="Bell MT" panose="02020503060305020303" pitchFamily="18" charset="0"/>
                <a:cs typeface="Cambria"/>
              </a:rPr>
              <a:t> </a:t>
            </a:r>
            <a:r>
              <a:rPr sz="3200" spc="100" dirty="0">
                <a:solidFill>
                  <a:srgbClr val="FFFFFF"/>
                </a:solidFill>
                <a:latin typeface="Bell MT" panose="02020503060305020303" pitchFamily="18" charset="0"/>
                <a:cs typeface="Cambria"/>
              </a:rPr>
              <a:t>data.</a:t>
            </a:r>
            <a:endParaRPr sz="3200" dirty="0">
              <a:latin typeface="Bell MT" panose="02020503060305020303" pitchFamily="18" charset="0"/>
              <a:cs typeface="Cambria"/>
            </a:endParaRPr>
          </a:p>
          <a:p>
            <a:pPr marL="241300" marR="5080" indent="-228600">
              <a:lnSpc>
                <a:spcPct val="120100"/>
              </a:lnSpc>
              <a:spcBef>
                <a:spcPts val="1005"/>
              </a:spcBef>
              <a:buChar char="•"/>
              <a:tabLst>
                <a:tab pos="241300" algn="l"/>
                <a:tab pos="341630" algn="l"/>
              </a:tabLst>
            </a:pPr>
            <a:r>
              <a:rPr sz="3200" dirty="0">
                <a:solidFill>
                  <a:srgbClr val="FFFFFF"/>
                </a:solidFill>
                <a:latin typeface="Bell MT" panose="02020503060305020303" pitchFamily="18" charset="0"/>
                <a:cs typeface="Arial MT"/>
              </a:rPr>
              <a:t>	</a:t>
            </a:r>
            <a:r>
              <a:rPr sz="3200" dirty="0">
                <a:solidFill>
                  <a:srgbClr val="FFFFFF"/>
                </a:solidFill>
                <a:latin typeface="Bell MT" panose="02020503060305020303" pitchFamily="18" charset="0"/>
                <a:cs typeface="Cambria"/>
              </a:rPr>
              <a:t>If</a:t>
            </a:r>
            <a:r>
              <a:rPr sz="3200" spc="90" dirty="0">
                <a:solidFill>
                  <a:srgbClr val="FFFFFF"/>
                </a:solidFill>
                <a:latin typeface="Bell MT" panose="02020503060305020303" pitchFamily="18" charset="0"/>
                <a:cs typeface="Cambria"/>
              </a:rPr>
              <a:t> </a:t>
            </a:r>
            <a:r>
              <a:rPr sz="3200" spc="60" dirty="0">
                <a:solidFill>
                  <a:srgbClr val="FFFFFF"/>
                </a:solidFill>
                <a:latin typeface="Bell MT" panose="02020503060305020303" pitchFamily="18" charset="0"/>
                <a:cs typeface="Cambria"/>
              </a:rPr>
              <a:t>the</a:t>
            </a:r>
            <a:r>
              <a:rPr sz="3200" spc="114" dirty="0">
                <a:solidFill>
                  <a:srgbClr val="FFFFFF"/>
                </a:solidFill>
                <a:latin typeface="Bell MT" panose="02020503060305020303" pitchFamily="18" charset="0"/>
                <a:cs typeface="Cambria"/>
              </a:rPr>
              <a:t> performance</a:t>
            </a:r>
            <a:r>
              <a:rPr sz="3200" spc="180" dirty="0">
                <a:solidFill>
                  <a:srgbClr val="FFFFFF"/>
                </a:solidFill>
                <a:latin typeface="Bell MT" panose="02020503060305020303" pitchFamily="18" charset="0"/>
                <a:cs typeface="Cambria"/>
              </a:rPr>
              <a:t> </a:t>
            </a:r>
            <a:r>
              <a:rPr sz="3200" spc="55" dirty="0">
                <a:solidFill>
                  <a:srgbClr val="FFFFFF"/>
                </a:solidFill>
                <a:latin typeface="Bell MT" panose="02020503060305020303" pitchFamily="18" charset="0"/>
                <a:cs typeface="Cambria"/>
              </a:rPr>
              <a:t>is</a:t>
            </a:r>
            <a:r>
              <a:rPr sz="3200" spc="80" dirty="0">
                <a:solidFill>
                  <a:srgbClr val="FFFFFF"/>
                </a:solidFill>
                <a:latin typeface="Bell MT" panose="02020503060305020303" pitchFamily="18" charset="0"/>
                <a:cs typeface="Cambria"/>
              </a:rPr>
              <a:t> </a:t>
            </a:r>
            <a:r>
              <a:rPr sz="3200" dirty="0">
                <a:solidFill>
                  <a:srgbClr val="FFFFFF"/>
                </a:solidFill>
                <a:latin typeface="Bell MT" panose="02020503060305020303" pitchFamily="18" charset="0"/>
                <a:cs typeface="Cambria"/>
              </a:rPr>
              <a:t>not</a:t>
            </a:r>
            <a:r>
              <a:rPr sz="3200" spc="120" dirty="0">
                <a:solidFill>
                  <a:srgbClr val="FFFFFF"/>
                </a:solidFill>
                <a:latin typeface="Bell MT" panose="02020503060305020303" pitchFamily="18" charset="0"/>
                <a:cs typeface="Cambria"/>
              </a:rPr>
              <a:t> </a:t>
            </a:r>
            <a:r>
              <a:rPr sz="3200" spc="55" dirty="0">
                <a:solidFill>
                  <a:srgbClr val="FFFFFF"/>
                </a:solidFill>
                <a:latin typeface="Bell MT" panose="02020503060305020303" pitchFamily="18" charset="0"/>
                <a:cs typeface="Cambria"/>
              </a:rPr>
              <a:t>satisfactory,</a:t>
            </a:r>
            <a:r>
              <a:rPr sz="3200" spc="-135" dirty="0">
                <a:solidFill>
                  <a:srgbClr val="FFFFFF"/>
                </a:solidFill>
                <a:latin typeface="Bell MT" panose="02020503060305020303" pitchFamily="18" charset="0"/>
                <a:cs typeface="Cambria"/>
              </a:rPr>
              <a:t> </a:t>
            </a:r>
            <a:r>
              <a:rPr sz="3200" spc="70" dirty="0">
                <a:solidFill>
                  <a:srgbClr val="FFFFFF"/>
                </a:solidFill>
                <a:latin typeface="Bell MT" panose="02020503060305020303" pitchFamily="18" charset="0"/>
                <a:cs typeface="Cambria"/>
              </a:rPr>
              <a:t>more</a:t>
            </a:r>
            <a:r>
              <a:rPr sz="3200" spc="140" dirty="0">
                <a:solidFill>
                  <a:srgbClr val="FFFFFF"/>
                </a:solidFill>
                <a:latin typeface="Bell MT" panose="02020503060305020303" pitchFamily="18" charset="0"/>
                <a:cs typeface="Cambria"/>
              </a:rPr>
              <a:t> </a:t>
            </a:r>
            <a:r>
              <a:rPr sz="3200" spc="150" dirty="0">
                <a:solidFill>
                  <a:srgbClr val="FFFFFF"/>
                </a:solidFill>
                <a:latin typeface="Bell MT" panose="02020503060305020303" pitchFamily="18" charset="0"/>
                <a:cs typeface="Cambria"/>
              </a:rPr>
              <a:t>complex </a:t>
            </a:r>
            <a:r>
              <a:rPr sz="3200" spc="130" dirty="0">
                <a:solidFill>
                  <a:srgbClr val="FFFFFF"/>
                </a:solidFill>
                <a:latin typeface="Bell MT" panose="02020503060305020303" pitchFamily="18" charset="0"/>
                <a:cs typeface="Cambria"/>
              </a:rPr>
              <a:t>models</a:t>
            </a:r>
            <a:r>
              <a:rPr sz="3200" spc="145" dirty="0">
                <a:solidFill>
                  <a:srgbClr val="FFFFFF"/>
                </a:solidFill>
                <a:latin typeface="Bell MT" panose="02020503060305020303" pitchFamily="18" charset="0"/>
                <a:cs typeface="Cambria"/>
              </a:rPr>
              <a:t> </a:t>
            </a:r>
            <a:r>
              <a:rPr sz="3200" spc="120" dirty="0">
                <a:solidFill>
                  <a:srgbClr val="FFFFFF"/>
                </a:solidFill>
                <a:latin typeface="Bell MT" panose="02020503060305020303" pitchFamily="18" charset="0"/>
                <a:cs typeface="Cambria"/>
              </a:rPr>
              <a:t>can </a:t>
            </a:r>
            <a:r>
              <a:rPr sz="3200" spc="275" dirty="0">
                <a:solidFill>
                  <a:srgbClr val="FFFFFF"/>
                </a:solidFill>
                <a:latin typeface="Bell MT" panose="02020503060305020303" pitchFamily="18" charset="0"/>
                <a:cs typeface="Cambria"/>
              </a:rPr>
              <a:t>be</a:t>
            </a:r>
            <a:r>
              <a:rPr sz="3200" spc="120" dirty="0">
                <a:solidFill>
                  <a:srgbClr val="FFFFFF"/>
                </a:solidFill>
                <a:latin typeface="Bell MT" panose="02020503060305020303" pitchFamily="18" charset="0"/>
                <a:cs typeface="Cambria"/>
              </a:rPr>
              <a:t> </a:t>
            </a:r>
            <a:r>
              <a:rPr sz="3200" spc="135" dirty="0">
                <a:solidFill>
                  <a:srgbClr val="FFFFFF"/>
                </a:solidFill>
                <a:latin typeface="Bell MT" panose="02020503060305020303" pitchFamily="18" charset="0"/>
                <a:cs typeface="Cambria"/>
              </a:rPr>
              <a:t>explored</a:t>
            </a:r>
            <a:r>
              <a:rPr sz="3200" spc="204" dirty="0">
                <a:solidFill>
                  <a:srgbClr val="FFFFFF"/>
                </a:solidFill>
                <a:latin typeface="Bell MT" panose="02020503060305020303" pitchFamily="18" charset="0"/>
                <a:cs typeface="Cambria"/>
              </a:rPr>
              <a:t> </a:t>
            </a:r>
            <a:r>
              <a:rPr sz="3200" spc="85" dirty="0">
                <a:solidFill>
                  <a:srgbClr val="FFFFFF"/>
                </a:solidFill>
                <a:latin typeface="Bell MT" panose="02020503060305020303" pitchFamily="18" charset="0"/>
                <a:cs typeface="Cambria"/>
              </a:rPr>
              <a:t>subsequently.</a:t>
            </a:r>
            <a:endParaRPr sz="3200" dirty="0">
              <a:latin typeface="Bell MT" panose="02020503060305020303" pitchFamily="18" charset="0"/>
              <a:cs typeface="Cambria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111</TotalTime>
  <Words>324</Words>
  <Application>Microsoft Office PowerPoint</Application>
  <PresentationFormat>Widescreen</PresentationFormat>
  <Paragraphs>58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9" baseType="lpstr">
      <vt:lpstr>Arial</vt:lpstr>
      <vt:lpstr>Arial MT</vt:lpstr>
      <vt:lpstr>Bell MT</vt:lpstr>
      <vt:lpstr>Berlin Sans FB</vt:lpstr>
      <vt:lpstr>Calisto MT</vt:lpstr>
      <vt:lpstr>Cambria</vt:lpstr>
      <vt:lpstr>Century Gothic</vt:lpstr>
      <vt:lpstr>Engravers MT</vt:lpstr>
      <vt:lpstr>Mongolian Baiti</vt:lpstr>
      <vt:lpstr>Symbol</vt:lpstr>
      <vt:lpstr>Times New Roman</vt:lpstr>
      <vt:lpstr>Wingdings 3</vt:lpstr>
      <vt:lpstr>Ion</vt:lpstr>
      <vt:lpstr>PowerPoint Presentation</vt:lpstr>
      <vt:lpstr>OBJECTIVE –</vt:lpstr>
      <vt:lpstr>DATA DESCRIPTION</vt:lpstr>
      <vt:lpstr>DATA SET</vt:lpstr>
      <vt:lpstr>EXPLORATORY DATA ANALYSIS (EDA)</vt:lpstr>
      <vt:lpstr>PowerPoint Presentation</vt:lpstr>
      <vt:lpstr>The correlation heatmap represents the relationship between various dataset subparts having integer values</vt:lpstr>
      <vt:lpstr>DATA PREPROCESSING</vt:lpstr>
      <vt:lpstr>PowerPoint Presentation</vt:lpstr>
      <vt:lpstr>PowerPoint Presentation</vt:lpstr>
      <vt:lpstr>MODELLING</vt:lpstr>
      <vt:lpstr>regression</vt:lpstr>
      <vt:lpstr>MODEL EVALUATION</vt:lpstr>
      <vt:lpstr>PowerPoint Presentation</vt:lpstr>
      <vt:lpstr>CONCLUSION</vt:lpstr>
      <vt:lpstr>FUTURE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Vaibhav Garg</dc:creator>
  <cp:lastModifiedBy>user</cp:lastModifiedBy>
  <cp:revision>13</cp:revision>
  <dcterms:created xsi:type="dcterms:W3CDTF">2024-07-31T16:23:04Z</dcterms:created>
  <dcterms:modified xsi:type="dcterms:W3CDTF">2024-07-31T18:21:59Z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2024-07-31T00:00:00Z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2024-07-31T00:00:00Z</vt:filetime>
  </property>
  <property fmtid="{D5CDD505-2E9C-101B-9397-08002B2CF9AE}" pid="5" name="Producer">
    <vt:lpwstr>www.ilovepdf.com</vt:lpwstr>
  </property>
</Properties>
</file>